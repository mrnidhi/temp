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72" r:id="rId2"/>
    <p:sldId id="273" r:id="rId3"/>
    <p:sldId id="274" r:id="rId4"/>
    <p:sldId id="275" r:id="rId5"/>
    <p:sldId id="270" r:id="rId6"/>
    <p:sldId id="276" r:id="rId7"/>
    <p:sldId id="267" r:id="rId8"/>
    <p:sldId id="271" r:id="rId9"/>
    <p:sldId id="269" r:id="rId10"/>
    <p:sldId id="27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85" d="100"/>
          <a:sy n="85" d="100"/>
        </p:scale>
        <p:origin x="208"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Patients</c:v>
                </c:pt>
              </c:strCache>
            </c:strRef>
          </c:tx>
          <c:spPr>
            <a:solidFill>
              <a:srgbClr val="567A2E"/>
            </a:solidFill>
            <a:effectLst/>
          </c:spPr>
          <c:invertIfNegative val="0"/>
          <c:cat>
            <c:strRef>
              <c:f>Sheet1!$A$2:$A$25</c:f>
              <c:strCache>
                <c:ptCount val="2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strCache>
            </c:strRef>
          </c:cat>
          <c:val>
            <c:numRef>
              <c:f>Sheet1!$B$2:$B$25</c:f>
              <c:numCache>
                <c:formatCode>General</c:formatCode>
                <c:ptCount val="24"/>
                <c:pt idx="0">
                  <c:v>1015</c:v>
                </c:pt>
                <c:pt idx="1">
                  <c:v>731</c:v>
                </c:pt>
                <c:pt idx="2">
                  <c:v>637</c:v>
                </c:pt>
                <c:pt idx="3">
                  <c:v>579</c:v>
                </c:pt>
                <c:pt idx="4">
                  <c:v>524</c:v>
                </c:pt>
                <c:pt idx="5">
                  <c:v>426</c:v>
                </c:pt>
                <c:pt idx="6">
                  <c:v>377</c:v>
                </c:pt>
                <c:pt idx="7">
                  <c:v>347</c:v>
                </c:pt>
                <c:pt idx="8">
                  <c:v>310</c:v>
                </c:pt>
                <c:pt idx="9">
                  <c:v>308</c:v>
                </c:pt>
                <c:pt idx="10">
                  <c:v>294</c:v>
                </c:pt>
                <c:pt idx="11">
                  <c:v>275</c:v>
                </c:pt>
                <c:pt idx="12">
                  <c:v>218</c:v>
                </c:pt>
                <c:pt idx="13">
                  <c:v>168</c:v>
                </c:pt>
                <c:pt idx="14">
                  <c:v>142</c:v>
                </c:pt>
                <c:pt idx="15">
                  <c:v>136</c:v>
                </c:pt>
                <c:pt idx="16">
                  <c:v>109</c:v>
                </c:pt>
                <c:pt idx="17">
                  <c:v>89</c:v>
                </c:pt>
                <c:pt idx="18">
                  <c:v>81</c:v>
                </c:pt>
                <c:pt idx="19">
                  <c:v>65</c:v>
                </c:pt>
                <c:pt idx="20">
                  <c:v>40</c:v>
                </c:pt>
                <c:pt idx="21">
                  <c:v>26</c:v>
                </c:pt>
                <c:pt idx="22">
                  <c:v>26</c:v>
                </c:pt>
                <c:pt idx="23">
                  <c:v>12</c:v>
                </c:pt>
              </c:numCache>
            </c:numRef>
          </c:val>
          <c:extLst>
            <c:ext xmlns:c16="http://schemas.microsoft.com/office/drawing/2014/chart" uri="{C3380CC4-5D6E-409C-BE32-E72D297353CC}">
              <c16:uniqueId val="{00000000-F6D5-2E43-91B6-B028BB2C32F0}"/>
            </c:ext>
          </c:extLst>
        </c:ser>
        <c:dLbls>
          <c:showLegendKey val="0"/>
          <c:showVal val="0"/>
          <c:showCatName val="0"/>
          <c:showSerName val="0"/>
          <c:showPercent val="0"/>
          <c:showBubbleSize val="0"/>
        </c:dLbls>
        <c:gapWidth val="25"/>
        <c:axId val="2094734554"/>
        <c:axId val="2094734552"/>
      </c:bar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00"/>
          <c:min val="0"/>
        </c:scaling>
        <c:delete val="0"/>
        <c:axPos val="l"/>
        <c:majorGridlines>
          <c:spPr>
            <a:ln w="12700" cap="flat">
              <a:solidFill>
                <a:srgbClr val="EEE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5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proposal for a two month enrollment contest that runs alongside the IC plan, from August 1 to September 30, 2026. It covers the CTAM territories and the RADs.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70 treatment slots a month, up from 50. Weekly enrollments have slipped from about 27 to about 21, and the forecast needs 25 or more. Out of every 100 enrollments, about 70 reach the next step and about 50 reach infusion, which is where revenue lands. The standing plan already rewards infusions, so this contest pushes the top of the funnel.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keep the contest fair. Every territory competes against its own baseline. Territories are grouped by size. We score both the count of patients added and percent growth. And a separate quality prize rewards enrollments that actually move forward to treatment.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Regions are close in size, so a region cut tells us little. Territories are very different, with about 85 times between the largest and the smallest. That is why we group by size before we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each territory's average enrollments over the last four quarters, scaled down to the two month window. We rank on patients added and on percent growth inside each size group, average the two ranks, and pay the top two. Ties go to the higher percent. The RADs compete as one group. The quality prize goes to the territory in each group whose patients most often move forward to treatment, with at least five enrollments to qualify, settled about a month after the contest ends.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pot is $30,000 for now, still to be confirmed. Each group pays first place 16.67 percent of the pot, second place 10 percent, and the quality prize 6.67 percent. That is about $5,000, $3,000, and $2,000 per group, and the shares work at any budget.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made up numbers. San Diego grows 83 percent and wins the small group, while Illinois grows 4 percent and places third in the large group. A small territory that grows a lot can beat a big one that barely moves. That is the point of splitting by size.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contest covers 28 territories sorted into three size groups. The names, sizes, and groups shown here are placeholders until the real list arrives. Groups are set from the last four quarters of enrollments and locked the day the contest starts.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scoring on real enrollments from August and September of last year. Small territories swing hardest on percent, because they start from a small base. That is exactly why we group by size and score on count as well as percent.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done. To go live we need the real territory list with enrollment and treatment numbers, the confirmed baseline quarters, locked group cutoffs, and the confirmed prize pot. Then the deck is approved and the contest is announced to the field.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405F"/>
        </a:solidFill>
        <a:effectLst/>
      </p:bgPr>
    </p:bg>
    <p:spTree>
      <p:nvGrpSpPr>
        <p:cNvPr id="1" name=""/>
        <p:cNvGrpSpPr/>
        <p:nvPr/>
      </p:nvGrpSpPr>
      <p:grpSpPr>
        <a:xfrm>
          <a:off x="0" y="0"/>
          <a:ext cx="0" cy="0"/>
          <a:chOff x="0" y="0"/>
          <a:chExt cx="0" cy="0"/>
        </a:xfrm>
      </p:grpSpPr>
      <p:sp>
        <p:nvSpPr>
          <p:cNvPr id="2" name="Shape 0"/>
          <p:cNvSpPr/>
          <p:nvPr/>
        </p:nvSpPr>
        <p:spPr>
          <a:xfrm>
            <a:off x="7680960" y="0"/>
            <a:ext cx="4510735" cy="6858000"/>
          </a:xfrm>
          <a:prstGeom prst="rect">
            <a:avLst/>
          </a:prstGeom>
          <a:solidFill>
            <a:srgbClr val="0F3A55"/>
          </a:solidFill>
          <a:ln/>
        </p:spPr>
        <p:txBody>
          <a:bodyPr/>
          <a:lstStyle/>
          <a:p>
            <a:endParaRPr lang="en-US"/>
          </a:p>
        </p:txBody>
      </p:sp>
      <p:sp>
        <p:nvSpPr>
          <p:cNvPr id="3" name="Shape 1"/>
          <p:cNvSpPr/>
          <p:nvPr/>
        </p:nvSpPr>
        <p:spPr>
          <a:xfrm flipH="1">
            <a:off x="7040880" y="0"/>
            <a:ext cx="822960" cy="6858000"/>
          </a:xfrm>
          <a:prstGeom prst="rtTriangle">
            <a:avLst/>
          </a:prstGeom>
          <a:solidFill>
            <a:srgbClr val="0F3A55"/>
          </a:solidFill>
          <a:ln/>
        </p:spPr>
        <p:txBody>
          <a:bodyPr/>
          <a:lstStyle/>
          <a:p>
            <a:endParaRPr lang="en-US"/>
          </a:p>
        </p:txBody>
      </p:sp>
      <p:sp>
        <p:nvSpPr>
          <p:cNvPr id="4" name="Shape 2"/>
          <p:cNvSpPr/>
          <p:nvPr/>
        </p:nvSpPr>
        <p:spPr>
          <a:xfrm>
            <a:off x="8229600" y="0"/>
            <a:ext cx="3962095" cy="1078992"/>
          </a:xfrm>
          <a:prstGeom prst="rect">
            <a:avLst/>
          </a:prstGeom>
          <a:solidFill>
            <a:srgbClr val="9DC13C"/>
          </a:solidFill>
          <a:ln/>
        </p:spPr>
        <p:txBody>
          <a:bodyPr/>
          <a:lstStyle/>
          <a:p>
            <a:endParaRPr lang="en-US"/>
          </a:p>
        </p:txBody>
      </p:sp>
      <p:sp>
        <p:nvSpPr>
          <p:cNvPr id="5" name="Shape 3"/>
          <p:cNvSpPr/>
          <p:nvPr/>
        </p:nvSpPr>
        <p:spPr>
          <a:xfrm flipH="1" flipV="1">
            <a:off x="7726680" y="0"/>
            <a:ext cx="548640" cy="1078992"/>
          </a:xfrm>
          <a:prstGeom prst="rtTriangle">
            <a:avLst/>
          </a:prstGeom>
          <a:solidFill>
            <a:srgbClr val="9DC13C"/>
          </a:solidFill>
          <a:ln/>
        </p:spPr>
        <p:txBody>
          <a:bodyPr/>
          <a:lstStyle/>
          <a:p>
            <a:endParaRPr lang="en-US"/>
          </a:p>
        </p:txBody>
      </p:sp>
      <p:sp>
        <p:nvSpPr>
          <p:cNvPr id="6" name="Text 4"/>
          <p:cNvSpPr/>
          <p:nvPr/>
        </p:nvSpPr>
        <p:spPr>
          <a:xfrm>
            <a:off x="777240" y="777240"/>
            <a:ext cx="6400800" cy="914400"/>
          </a:xfrm>
          <a:prstGeom prst="rect">
            <a:avLst/>
          </a:prstGeom>
          <a:noFill/>
          <a:ln/>
        </p:spPr>
        <p:txBody>
          <a:bodyPr wrap="square" lIns="0" tIns="0" rIns="0" bIns="0" rtlCol="0" anchor="ctr"/>
          <a:lstStyle/>
          <a:p>
            <a:pPr marL="0" indent="0">
              <a:buNone/>
            </a:pPr>
            <a:r>
              <a:rPr lang="en-US" sz="5000" b="1" kern="0" spc="200" dirty="0">
                <a:solidFill>
                  <a:srgbClr val="FFFFFF"/>
                </a:solidFill>
                <a:latin typeface="Cambria" pitchFamily="34" charset="0"/>
                <a:ea typeface="Cambria" pitchFamily="34" charset="-122"/>
                <a:cs typeface="Cambria" pitchFamily="34" charset="-120"/>
              </a:rPr>
              <a:t>IOVANCE</a:t>
            </a:r>
            <a:endParaRPr lang="en-US" sz="5000" dirty="0"/>
          </a:p>
        </p:txBody>
      </p:sp>
      <p:sp>
        <p:nvSpPr>
          <p:cNvPr id="7" name="Text 5"/>
          <p:cNvSpPr/>
          <p:nvPr/>
        </p:nvSpPr>
        <p:spPr>
          <a:xfrm>
            <a:off x="822960" y="1691640"/>
            <a:ext cx="6400800" cy="365760"/>
          </a:xfrm>
          <a:prstGeom prst="rect">
            <a:avLst/>
          </a:prstGeom>
          <a:noFill/>
          <a:ln/>
        </p:spPr>
        <p:txBody>
          <a:bodyPr wrap="square" lIns="0" tIns="0" rIns="0" bIns="0" rtlCol="0" anchor="ctr"/>
          <a:lstStyle/>
          <a:p>
            <a:pPr marL="0" indent="0">
              <a:buNone/>
            </a:pPr>
            <a:r>
              <a:rPr lang="en-US" sz="1400" kern="0" spc="500" dirty="0">
                <a:solidFill>
                  <a:srgbClr val="CFE3A0"/>
                </a:solidFill>
                <a:latin typeface="Segoe UI" pitchFamily="34" charset="0"/>
                <a:ea typeface="Segoe UI" pitchFamily="34" charset="-122"/>
                <a:cs typeface="Segoe UI" pitchFamily="34" charset="-120"/>
              </a:rPr>
              <a:t>B I O T H E R A P E U T I C S</a:t>
            </a:r>
            <a:endParaRPr lang="en-US" sz="1400" dirty="0"/>
          </a:p>
        </p:txBody>
      </p:sp>
      <p:sp>
        <p:nvSpPr>
          <p:cNvPr id="8" name="Shape 6"/>
          <p:cNvSpPr/>
          <p:nvPr/>
        </p:nvSpPr>
        <p:spPr>
          <a:xfrm>
            <a:off x="822960" y="3017520"/>
            <a:ext cx="128016" cy="1280160"/>
          </a:xfrm>
          <a:prstGeom prst="rect">
            <a:avLst/>
          </a:prstGeom>
          <a:solidFill>
            <a:srgbClr val="9DC13C"/>
          </a:solidFill>
          <a:ln/>
        </p:spPr>
        <p:txBody>
          <a:bodyPr/>
          <a:lstStyle/>
          <a:p>
            <a:endParaRPr lang="en-US"/>
          </a:p>
        </p:txBody>
      </p:sp>
      <p:sp>
        <p:nvSpPr>
          <p:cNvPr id="9" name="Text 7"/>
          <p:cNvSpPr/>
          <p:nvPr/>
        </p:nvSpPr>
        <p:spPr>
          <a:xfrm>
            <a:off x="1097280" y="2971800"/>
            <a:ext cx="6309360" cy="1280160"/>
          </a:xfrm>
          <a:prstGeom prst="rect">
            <a:avLst/>
          </a:prstGeom>
          <a:noFill/>
          <a:ln/>
        </p:spPr>
        <p:txBody>
          <a:bodyPr wrap="square" lIns="0" tIns="0" rIns="0" bIns="0" rtlCol="0" anchor="t"/>
          <a:lstStyle/>
          <a:p>
            <a:pPr marL="0" indent="0">
              <a:lnSpc>
                <a:spcPct val="102000"/>
              </a:lnSpc>
              <a:buNone/>
            </a:pPr>
            <a:r>
              <a:rPr lang="en-US" sz="3000" b="1" dirty="0">
                <a:solidFill>
                  <a:srgbClr val="FFFFFF"/>
                </a:solidFill>
                <a:latin typeface="Segoe UI" pitchFamily="34" charset="0"/>
                <a:ea typeface="Segoe UI" pitchFamily="34" charset="-122"/>
                <a:cs typeface="Segoe UI" pitchFamily="34" charset="-120"/>
              </a:rPr>
              <a:t>Proposed 3Q 2026 AMTAGVI Enrollment Contest</a:t>
            </a:r>
            <a:endParaRPr lang="en-US" sz="3000" dirty="0"/>
          </a:p>
        </p:txBody>
      </p:sp>
      <p:sp>
        <p:nvSpPr>
          <p:cNvPr id="10" name="Text 8"/>
          <p:cNvSpPr/>
          <p:nvPr/>
        </p:nvSpPr>
        <p:spPr>
          <a:xfrm>
            <a:off x="1115568" y="4526280"/>
            <a:ext cx="6309360" cy="365760"/>
          </a:xfrm>
          <a:prstGeom prst="rect">
            <a:avLst/>
          </a:prstGeom>
          <a:noFill/>
          <a:ln/>
        </p:spPr>
        <p:txBody>
          <a:bodyPr wrap="square" lIns="0" tIns="0" rIns="0" bIns="0" rtlCol="0" anchor="ctr"/>
          <a:lstStyle/>
          <a:p>
            <a:pPr marL="0" indent="0">
              <a:buNone/>
            </a:pPr>
            <a:r>
              <a:rPr lang="en-US" sz="1400" dirty="0">
                <a:solidFill>
                  <a:srgbClr val="CFE3A0"/>
                </a:solidFill>
                <a:latin typeface="Segoe UI" pitchFamily="34" charset="0"/>
                <a:ea typeface="Segoe UI" pitchFamily="34" charset="-122"/>
                <a:cs typeface="Segoe UI" pitchFamily="34" charset="-120"/>
              </a:rPr>
              <a:t>A two-month enrollment contest for CTAMs and RADs</a:t>
            </a:r>
            <a:endParaRPr lang="en-US" sz="1400" dirty="0"/>
          </a:p>
        </p:txBody>
      </p:sp>
      <p:sp>
        <p:nvSpPr>
          <p:cNvPr id="11" name="Text 9"/>
          <p:cNvSpPr/>
          <p:nvPr/>
        </p:nvSpPr>
        <p:spPr>
          <a:xfrm>
            <a:off x="1115568" y="4937760"/>
            <a:ext cx="6309360" cy="320040"/>
          </a:xfrm>
          <a:prstGeom prst="rect">
            <a:avLst/>
          </a:prstGeom>
          <a:noFill/>
          <a:ln/>
        </p:spPr>
        <p:txBody>
          <a:bodyPr wrap="square" lIns="0" tIns="0" rIns="0" bIns="0" rtlCol="0" anchor="ctr"/>
          <a:lstStyle/>
          <a:p>
            <a:pPr marL="0" indent="0">
              <a:buNone/>
            </a:pPr>
            <a:r>
              <a:rPr lang="en-US" sz="1200" dirty="0">
                <a:solidFill>
                  <a:srgbClr val="BFD7E6"/>
                </a:solidFill>
                <a:latin typeface="Segoe UI" pitchFamily="34" charset="0"/>
                <a:ea typeface="Segoe UI" pitchFamily="34" charset="-122"/>
                <a:cs typeface="Segoe UI" pitchFamily="34" charset="-120"/>
              </a:rPr>
              <a:t>Runs August 1 to September 30, 2026.  Prepared July 2026.</a:t>
            </a:r>
            <a:endParaRPr lang="en-US" sz="1200" dirty="0"/>
          </a:p>
        </p:txBody>
      </p:sp>
      <p:sp>
        <p:nvSpPr>
          <p:cNvPr id="12" name="Shape 10"/>
          <p:cNvSpPr/>
          <p:nvPr/>
        </p:nvSpPr>
        <p:spPr>
          <a:xfrm>
            <a:off x="0" y="6053328"/>
            <a:ext cx="12191695" cy="804672"/>
          </a:xfrm>
          <a:prstGeom prst="rect">
            <a:avLst/>
          </a:prstGeom>
          <a:solidFill>
            <a:srgbClr val="9DC13C"/>
          </a:solidFill>
          <a:ln/>
        </p:spPr>
        <p:txBody>
          <a:bodyPr/>
          <a:lstStyle/>
          <a:p>
            <a:endParaRPr lang="en-US"/>
          </a:p>
        </p:txBody>
      </p:sp>
      <p:sp>
        <p:nvSpPr>
          <p:cNvPr id="13" name="Shape 11"/>
          <p:cNvSpPr/>
          <p:nvPr/>
        </p:nvSpPr>
        <p:spPr>
          <a:xfrm flipH="1">
            <a:off x="7406640" y="5641848"/>
            <a:ext cx="685800" cy="411480"/>
          </a:xfrm>
          <a:prstGeom prst="rtTriangle">
            <a:avLst/>
          </a:prstGeom>
          <a:solidFill>
            <a:srgbClr val="9DC13C"/>
          </a:solidFill>
          <a:ln/>
        </p:spPr>
        <p:txBody>
          <a:bodyPr/>
          <a:lstStyle/>
          <a:p>
            <a:endParaRPr lang="en-US"/>
          </a:p>
        </p:txBody>
      </p:sp>
      <p:sp>
        <p:nvSpPr>
          <p:cNvPr id="14" name="Shape 12"/>
          <p:cNvSpPr/>
          <p:nvPr/>
        </p:nvSpPr>
        <p:spPr>
          <a:xfrm>
            <a:off x="8074152" y="5641848"/>
            <a:ext cx="4117543" cy="411480"/>
          </a:xfrm>
          <a:prstGeom prst="rect">
            <a:avLst/>
          </a:prstGeom>
          <a:solidFill>
            <a:srgbClr val="9DC13C"/>
          </a:solidFill>
          <a:ln/>
        </p:spPr>
        <p:txBody>
          <a:bodyPr/>
          <a:lstStyle/>
          <a:p>
            <a:endParaRPr lang="en-US"/>
          </a:p>
        </p:txBody>
      </p:sp>
      <p:sp>
        <p:nvSpPr>
          <p:cNvPr id="15" name="Text 13"/>
          <p:cNvSpPr/>
          <p:nvPr/>
        </p:nvSpPr>
        <p:spPr>
          <a:xfrm>
            <a:off x="822960" y="6126480"/>
            <a:ext cx="10515600" cy="411480"/>
          </a:xfrm>
          <a:prstGeom prst="rect">
            <a:avLst/>
          </a:prstGeom>
          <a:noFill/>
          <a:ln/>
        </p:spPr>
        <p:txBody>
          <a:bodyPr wrap="square" lIns="0" tIns="0" rIns="0" bIns="0" rtlCol="0" anchor="ctr"/>
          <a:lstStyle/>
          <a:p>
            <a:pPr marL="0" indent="0">
              <a:buNone/>
            </a:pPr>
            <a:r>
              <a:rPr lang="en-US" sz="1800" kern="0" spc="300" dirty="0">
                <a:solidFill>
                  <a:srgbClr val="FFFFFF"/>
                </a:solidFill>
                <a:latin typeface="Segoe UI" pitchFamily="34" charset="0"/>
                <a:ea typeface="Segoe UI" pitchFamily="34" charset="-122"/>
                <a:cs typeface="Segoe UI" pitchFamily="34" charset="-120"/>
              </a:rPr>
              <a:t>A D V A N C I N G   I M M U N O - O N C O L O G Y</a:t>
            </a:r>
            <a:endParaRPr lang="en-US" sz="1800" dirty="0"/>
          </a:p>
        </p:txBody>
      </p:sp>
      <p:sp>
        <p:nvSpPr>
          <p:cNvPr id="16" name="Text 14"/>
          <p:cNvSpPr/>
          <p:nvPr/>
        </p:nvSpPr>
        <p:spPr>
          <a:xfrm>
            <a:off x="822960" y="6537960"/>
            <a:ext cx="10515600" cy="256032"/>
          </a:xfrm>
          <a:prstGeom prst="rect">
            <a:avLst/>
          </a:prstGeom>
          <a:noFill/>
          <a:ln/>
        </p:spPr>
        <p:txBody>
          <a:bodyPr wrap="square" lIns="0" tIns="0" rIns="0" bIns="0" rtlCol="0" anchor="ctr"/>
          <a:lstStyle/>
          <a:p>
            <a:pPr marL="0" indent="0">
              <a:buNone/>
            </a:pPr>
            <a:r>
              <a:rPr lang="en-US" sz="75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50" dirty="0"/>
          </a:p>
        </p:txBody>
      </p:sp>
    </p:spTree>
    <p:extLst>
      <p:ext uri="{BB962C8B-B14F-4D97-AF65-F5344CB8AC3E}">
        <p14:creationId xmlns:p14="http://schemas.microsoft.com/office/powerpoint/2010/main" val="1403525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BUSINESS CONTEXT</a:t>
            </a:r>
            <a:endParaRPr lang="en-US" sz="1200" dirty="0"/>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Treatment capacity increased, but enrollments have softened</a:t>
            </a:r>
            <a:endParaRPr lang="en-US" sz="2300" dirty="0"/>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2</a:t>
            </a:r>
            <a:endParaRPr lang="en-US" sz="900" dirty="0"/>
          </a:p>
        </p:txBody>
      </p:sp>
      <p:sp>
        <p:nvSpPr>
          <p:cNvPr id="13" name="Shape 11"/>
          <p:cNvSpPr/>
          <p:nvPr/>
        </p:nvSpPr>
        <p:spPr>
          <a:xfrm>
            <a:off x="566928" y="2148840"/>
            <a:ext cx="4343400" cy="1600200"/>
          </a:xfrm>
          <a:prstGeom prst="roundRect">
            <a:avLst>
              <a:gd name="adj" fmla="val 2857"/>
            </a:avLst>
          </a:prstGeom>
          <a:solidFill>
            <a:srgbClr val="F4F7EC"/>
          </a:solidFill>
          <a:ln/>
        </p:spPr>
        <p:txBody>
          <a:bodyPr/>
          <a:lstStyle/>
          <a:p>
            <a:endParaRPr lang="en-US"/>
          </a:p>
        </p:txBody>
      </p:sp>
      <p:sp>
        <p:nvSpPr>
          <p:cNvPr id="14" name="Shape 12"/>
          <p:cNvSpPr/>
          <p:nvPr/>
        </p:nvSpPr>
        <p:spPr>
          <a:xfrm>
            <a:off x="566928" y="2148840"/>
            <a:ext cx="73152" cy="1600200"/>
          </a:xfrm>
          <a:prstGeom prst="rect">
            <a:avLst/>
          </a:prstGeom>
          <a:solidFill>
            <a:srgbClr val="567A2E"/>
          </a:solidFill>
          <a:ln/>
        </p:spPr>
        <p:txBody>
          <a:bodyPr/>
          <a:lstStyle/>
          <a:p>
            <a:endParaRPr lang="en-US"/>
          </a:p>
        </p:txBody>
      </p:sp>
      <p:sp>
        <p:nvSpPr>
          <p:cNvPr id="15" name="Text 13"/>
          <p:cNvSpPr/>
          <p:nvPr/>
        </p:nvSpPr>
        <p:spPr>
          <a:xfrm>
            <a:off x="868680" y="2313432"/>
            <a:ext cx="3840480" cy="274320"/>
          </a:xfrm>
          <a:prstGeom prst="rect">
            <a:avLst/>
          </a:prstGeom>
          <a:noFill/>
          <a:ln/>
        </p:spPr>
        <p:txBody>
          <a:bodyPr wrap="square" lIns="0" tIns="0" rIns="0" bIns="0" rtlCol="0" anchor="ctr"/>
          <a:lstStyle/>
          <a:p>
            <a:pPr marL="0" indent="0">
              <a:buNone/>
            </a:pPr>
            <a:r>
              <a:rPr lang="en-US" sz="1100" b="1" kern="0" spc="100" dirty="0">
                <a:solidFill>
                  <a:srgbClr val="8A8A80"/>
                </a:solidFill>
                <a:latin typeface="Segoe UI" pitchFamily="34" charset="0"/>
                <a:ea typeface="Segoe UI" pitchFamily="34" charset="-122"/>
                <a:cs typeface="Segoe UI" pitchFamily="34" charset="-120"/>
              </a:rPr>
              <a:t>MONTHLY TREATMENT CAPACITY</a:t>
            </a:r>
            <a:endParaRPr lang="en-US" sz="1100" dirty="0"/>
          </a:p>
        </p:txBody>
      </p:sp>
      <p:sp>
        <p:nvSpPr>
          <p:cNvPr id="16" name="Text 14"/>
          <p:cNvSpPr/>
          <p:nvPr/>
        </p:nvSpPr>
        <p:spPr>
          <a:xfrm>
            <a:off x="868680" y="2624328"/>
            <a:ext cx="3840480" cy="685800"/>
          </a:xfrm>
          <a:prstGeom prst="rect">
            <a:avLst/>
          </a:prstGeom>
          <a:noFill/>
          <a:ln/>
        </p:spPr>
        <p:txBody>
          <a:bodyPr wrap="square" lIns="0" tIns="0" rIns="0" bIns="0" rtlCol="0" anchor="ctr"/>
          <a:lstStyle/>
          <a:p>
            <a:pPr marL="0" indent="0">
              <a:buNone/>
            </a:pPr>
            <a:r>
              <a:rPr lang="en-US" sz="4400" b="1" dirty="0">
                <a:solidFill>
                  <a:srgbClr val="17344F"/>
                </a:solidFill>
                <a:latin typeface="Segoe UI" pitchFamily="34" charset="0"/>
                <a:ea typeface="Segoe UI" pitchFamily="34" charset="-122"/>
                <a:cs typeface="Segoe UI" pitchFamily="34" charset="-120"/>
              </a:rPr>
              <a:t>70</a:t>
            </a:r>
            <a:r>
              <a:rPr lang="en-US" sz="1300" dirty="0">
                <a:solidFill>
                  <a:srgbClr val="2B2B2B"/>
                </a:solidFill>
                <a:latin typeface="Segoe UI" pitchFamily="34" charset="0"/>
                <a:ea typeface="Segoe UI" pitchFamily="34" charset="-122"/>
                <a:cs typeface="Segoe UI" pitchFamily="34" charset="-120"/>
              </a:rPr>
              <a:t>  slots a month</a:t>
            </a:r>
            <a:endParaRPr lang="en-US" sz="4400" dirty="0"/>
          </a:p>
        </p:txBody>
      </p:sp>
      <p:sp>
        <p:nvSpPr>
          <p:cNvPr id="17" name="Text 15"/>
          <p:cNvSpPr/>
          <p:nvPr/>
        </p:nvSpPr>
        <p:spPr>
          <a:xfrm>
            <a:off x="868680" y="3319272"/>
            <a:ext cx="3840480" cy="320040"/>
          </a:xfrm>
          <a:prstGeom prst="rect">
            <a:avLst/>
          </a:prstGeom>
          <a:noFill/>
          <a:ln/>
        </p:spPr>
        <p:txBody>
          <a:bodyPr wrap="square" lIns="0" tIns="0" rIns="0" bIns="0" rtlCol="0" anchor="ctr"/>
          <a:lstStyle/>
          <a:p>
            <a:pPr marL="0" indent="0">
              <a:buNone/>
            </a:pPr>
            <a:r>
              <a:rPr lang="en-US" sz="1200" b="1" dirty="0">
                <a:solidFill>
                  <a:srgbClr val="567A2E"/>
                </a:solidFill>
                <a:latin typeface="Segoe UI" pitchFamily="34" charset="0"/>
                <a:ea typeface="Segoe UI" pitchFamily="34" charset="-122"/>
                <a:cs typeface="Segoe UI" pitchFamily="34" charset="-120"/>
              </a:rPr>
              <a:t>Up from 50</a:t>
            </a:r>
            <a:endParaRPr lang="en-US" sz="1200" dirty="0"/>
          </a:p>
        </p:txBody>
      </p:sp>
      <p:sp>
        <p:nvSpPr>
          <p:cNvPr id="18" name="Shape 16"/>
          <p:cNvSpPr/>
          <p:nvPr/>
        </p:nvSpPr>
        <p:spPr>
          <a:xfrm>
            <a:off x="566928" y="4160520"/>
            <a:ext cx="4343400" cy="1600200"/>
          </a:xfrm>
          <a:prstGeom prst="roundRect">
            <a:avLst>
              <a:gd name="adj" fmla="val 2857"/>
            </a:avLst>
          </a:prstGeom>
          <a:solidFill>
            <a:srgbClr val="F4F7EC"/>
          </a:solidFill>
          <a:ln/>
        </p:spPr>
        <p:txBody>
          <a:bodyPr/>
          <a:lstStyle/>
          <a:p>
            <a:endParaRPr lang="en-US"/>
          </a:p>
        </p:txBody>
      </p:sp>
      <p:sp>
        <p:nvSpPr>
          <p:cNvPr id="19" name="Shape 17"/>
          <p:cNvSpPr/>
          <p:nvPr/>
        </p:nvSpPr>
        <p:spPr>
          <a:xfrm>
            <a:off x="566928" y="4160520"/>
            <a:ext cx="73152" cy="1600200"/>
          </a:xfrm>
          <a:prstGeom prst="rect">
            <a:avLst/>
          </a:prstGeom>
          <a:solidFill>
            <a:srgbClr val="567A2E"/>
          </a:solidFill>
          <a:ln/>
        </p:spPr>
        <p:txBody>
          <a:bodyPr/>
          <a:lstStyle/>
          <a:p>
            <a:endParaRPr lang="en-US"/>
          </a:p>
        </p:txBody>
      </p:sp>
      <p:sp>
        <p:nvSpPr>
          <p:cNvPr id="20" name="Text 18"/>
          <p:cNvSpPr/>
          <p:nvPr/>
        </p:nvSpPr>
        <p:spPr>
          <a:xfrm>
            <a:off x="868680" y="4325112"/>
            <a:ext cx="3840480" cy="274320"/>
          </a:xfrm>
          <a:prstGeom prst="rect">
            <a:avLst/>
          </a:prstGeom>
          <a:noFill/>
          <a:ln/>
        </p:spPr>
        <p:txBody>
          <a:bodyPr wrap="square" lIns="0" tIns="0" rIns="0" bIns="0" rtlCol="0" anchor="ctr"/>
          <a:lstStyle/>
          <a:p>
            <a:pPr marL="0" indent="0">
              <a:buNone/>
            </a:pPr>
            <a:r>
              <a:rPr lang="en-US" sz="1100" b="1" kern="0" spc="100" dirty="0">
                <a:solidFill>
                  <a:srgbClr val="8A8A80"/>
                </a:solidFill>
                <a:latin typeface="Segoe UI" pitchFamily="34" charset="0"/>
                <a:ea typeface="Segoe UI" pitchFamily="34" charset="-122"/>
                <a:cs typeface="Segoe UI" pitchFamily="34" charset="-120"/>
              </a:rPr>
              <a:t>WEEKLY ENROLLMENTS</a:t>
            </a:r>
            <a:endParaRPr lang="en-US" sz="1100" dirty="0"/>
          </a:p>
        </p:txBody>
      </p:sp>
      <p:sp>
        <p:nvSpPr>
          <p:cNvPr id="21" name="Text 19"/>
          <p:cNvSpPr/>
          <p:nvPr/>
        </p:nvSpPr>
        <p:spPr>
          <a:xfrm>
            <a:off x="868680" y="4636008"/>
            <a:ext cx="3840480" cy="685800"/>
          </a:xfrm>
          <a:prstGeom prst="rect">
            <a:avLst/>
          </a:prstGeom>
          <a:noFill/>
          <a:ln/>
        </p:spPr>
        <p:txBody>
          <a:bodyPr wrap="square" lIns="0" tIns="0" rIns="0" bIns="0" rtlCol="0" anchor="ctr"/>
          <a:lstStyle/>
          <a:p>
            <a:pPr marL="0" indent="0">
              <a:buNone/>
            </a:pPr>
            <a:r>
              <a:rPr lang="en-US" sz="4400" b="1" dirty="0">
                <a:solidFill>
                  <a:srgbClr val="17344F"/>
                </a:solidFill>
                <a:latin typeface="Segoe UI" pitchFamily="34" charset="0"/>
                <a:ea typeface="Segoe UI" pitchFamily="34" charset="-122"/>
                <a:cs typeface="Segoe UI" pitchFamily="34" charset="-120"/>
              </a:rPr>
              <a:t>21</a:t>
            </a:r>
            <a:r>
              <a:rPr lang="en-US" sz="1300" dirty="0">
                <a:solidFill>
                  <a:srgbClr val="2B2B2B"/>
                </a:solidFill>
                <a:latin typeface="Segoe UI" pitchFamily="34" charset="0"/>
                <a:ea typeface="Segoe UI" pitchFamily="34" charset="-122"/>
                <a:cs typeface="Segoe UI" pitchFamily="34" charset="-120"/>
              </a:rPr>
              <a:t>  a week now</a:t>
            </a:r>
            <a:endParaRPr lang="en-US" sz="4400" dirty="0"/>
          </a:p>
        </p:txBody>
      </p:sp>
      <p:sp>
        <p:nvSpPr>
          <p:cNvPr id="22" name="Text 20"/>
          <p:cNvSpPr/>
          <p:nvPr/>
        </p:nvSpPr>
        <p:spPr>
          <a:xfrm>
            <a:off x="868680" y="5330952"/>
            <a:ext cx="3840480" cy="320040"/>
          </a:xfrm>
          <a:prstGeom prst="rect">
            <a:avLst/>
          </a:prstGeom>
          <a:noFill/>
          <a:ln/>
        </p:spPr>
        <p:txBody>
          <a:bodyPr wrap="square" lIns="0" tIns="0" rIns="0" bIns="0" rtlCol="0" anchor="ctr"/>
          <a:lstStyle/>
          <a:p>
            <a:pPr marL="0" indent="0">
              <a:buNone/>
            </a:pPr>
            <a:r>
              <a:rPr lang="en-US" sz="1200" b="1" dirty="0">
                <a:solidFill>
                  <a:srgbClr val="C0392B"/>
                </a:solidFill>
                <a:latin typeface="Segoe UI" pitchFamily="34" charset="0"/>
                <a:ea typeface="Segoe UI" pitchFamily="34" charset="-122"/>
                <a:cs typeface="Segoe UI" pitchFamily="34" charset="-120"/>
              </a:rPr>
              <a:t>Down from about 27, and the goal is 25 or more</a:t>
            </a:r>
            <a:endParaRPr lang="en-US" sz="1200" dirty="0"/>
          </a:p>
        </p:txBody>
      </p:sp>
      <p:sp>
        <p:nvSpPr>
          <p:cNvPr id="23" name="Text 21"/>
          <p:cNvSpPr/>
          <p:nvPr/>
        </p:nvSpPr>
        <p:spPr>
          <a:xfrm>
            <a:off x="6766560" y="1783080"/>
            <a:ext cx="4206240" cy="274320"/>
          </a:xfrm>
          <a:prstGeom prst="rect">
            <a:avLst/>
          </a:prstGeom>
          <a:noFill/>
          <a:ln/>
        </p:spPr>
        <p:txBody>
          <a:bodyPr wrap="square" lIns="0" tIns="0" rIns="0" bIns="0" rtlCol="0" anchor="ctr"/>
          <a:lstStyle/>
          <a:p>
            <a:pPr marL="0" indent="0" algn="ctr">
              <a:buNone/>
            </a:pPr>
            <a:r>
              <a:rPr lang="en-US" sz="1200" b="1" kern="0" spc="100" dirty="0">
                <a:solidFill>
                  <a:srgbClr val="8A8A80"/>
                </a:solidFill>
                <a:latin typeface="Segoe UI" pitchFamily="34" charset="0"/>
                <a:ea typeface="Segoe UI" pitchFamily="34" charset="-122"/>
                <a:cs typeface="Segoe UI" pitchFamily="34" charset="-120"/>
              </a:rPr>
              <a:t>The enrollment funnel</a:t>
            </a:r>
            <a:endParaRPr lang="en-US" sz="1200" dirty="0"/>
          </a:p>
        </p:txBody>
      </p:sp>
      <p:sp>
        <p:nvSpPr>
          <p:cNvPr id="24" name="Shape 22"/>
          <p:cNvSpPr/>
          <p:nvPr/>
        </p:nvSpPr>
        <p:spPr>
          <a:xfrm>
            <a:off x="6858000" y="2240280"/>
            <a:ext cx="4023360" cy="960120"/>
          </a:xfrm>
          <a:prstGeom prst="rect">
            <a:avLst/>
          </a:prstGeom>
          <a:solidFill>
            <a:srgbClr val="BFD48A"/>
          </a:solidFill>
          <a:ln/>
        </p:spPr>
        <p:txBody>
          <a:bodyPr/>
          <a:lstStyle/>
          <a:p>
            <a:endParaRPr lang="en-US"/>
          </a:p>
        </p:txBody>
      </p:sp>
      <p:sp>
        <p:nvSpPr>
          <p:cNvPr id="25" name="Text 23"/>
          <p:cNvSpPr/>
          <p:nvPr/>
        </p:nvSpPr>
        <p:spPr>
          <a:xfrm>
            <a:off x="6858000" y="2240280"/>
            <a:ext cx="4023360" cy="960120"/>
          </a:xfrm>
          <a:prstGeom prst="rect">
            <a:avLst/>
          </a:prstGeom>
          <a:noFill/>
          <a:ln/>
        </p:spPr>
        <p:txBody>
          <a:bodyPr wrap="square" lIns="0" tIns="0" rIns="0" bIns="0" rtlCol="0" anchor="ctr"/>
          <a:lstStyle/>
          <a:p>
            <a:pPr marL="0" indent="0" algn="ctr">
              <a:buNone/>
            </a:pPr>
            <a:r>
              <a:rPr lang="en-US" sz="2600" b="1" dirty="0">
                <a:solidFill>
                  <a:srgbClr val="2B2B2B"/>
                </a:solidFill>
                <a:latin typeface="Segoe UI" pitchFamily="34" charset="0"/>
                <a:ea typeface="Segoe UI" pitchFamily="34" charset="-122"/>
                <a:cs typeface="Segoe UI" pitchFamily="34" charset="-120"/>
              </a:rPr>
              <a:t>100   </a:t>
            </a:r>
            <a:r>
              <a:rPr lang="en-US" sz="1250" dirty="0">
                <a:solidFill>
                  <a:srgbClr val="2B2B2B"/>
                </a:solidFill>
                <a:latin typeface="Segoe UI" pitchFamily="34" charset="0"/>
                <a:ea typeface="Segoe UI" pitchFamily="34" charset="-122"/>
                <a:cs typeface="Segoe UI" pitchFamily="34" charset="-120"/>
              </a:rPr>
              <a:t>Enrollments</a:t>
            </a:r>
            <a:endParaRPr lang="en-US" sz="2600" dirty="0"/>
          </a:p>
        </p:txBody>
      </p:sp>
      <p:sp>
        <p:nvSpPr>
          <p:cNvPr id="26" name="Shape 24"/>
          <p:cNvSpPr/>
          <p:nvPr/>
        </p:nvSpPr>
        <p:spPr>
          <a:xfrm flipV="1">
            <a:off x="8705088" y="3218688"/>
            <a:ext cx="329184" cy="201168"/>
          </a:xfrm>
          <a:prstGeom prst="triangle">
            <a:avLst/>
          </a:prstGeom>
          <a:solidFill>
            <a:srgbClr val="C9CEC0"/>
          </a:solidFill>
          <a:ln/>
        </p:spPr>
        <p:txBody>
          <a:bodyPr/>
          <a:lstStyle/>
          <a:p>
            <a:endParaRPr lang="en-US"/>
          </a:p>
        </p:txBody>
      </p:sp>
      <p:sp>
        <p:nvSpPr>
          <p:cNvPr id="27" name="Shape 25"/>
          <p:cNvSpPr/>
          <p:nvPr/>
        </p:nvSpPr>
        <p:spPr>
          <a:xfrm>
            <a:off x="7406640" y="3447288"/>
            <a:ext cx="2926080" cy="960120"/>
          </a:xfrm>
          <a:prstGeom prst="rect">
            <a:avLst/>
          </a:prstGeom>
          <a:solidFill>
            <a:srgbClr val="8FB446"/>
          </a:solidFill>
          <a:ln/>
        </p:spPr>
        <p:txBody>
          <a:bodyPr/>
          <a:lstStyle/>
          <a:p>
            <a:endParaRPr lang="en-US"/>
          </a:p>
        </p:txBody>
      </p:sp>
      <p:sp>
        <p:nvSpPr>
          <p:cNvPr id="28" name="Text 26"/>
          <p:cNvSpPr/>
          <p:nvPr/>
        </p:nvSpPr>
        <p:spPr>
          <a:xfrm>
            <a:off x="7406640" y="3447288"/>
            <a:ext cx="2926080" cy="960120"/>
          </a:xfrm>
          <a:prstGeom prst="rect">
            <a:avLst/>
          </a:prstGeom>
          <a:noFill/>
          <a:ln/>
        </p:spPr>
        <p:txBody>
          <a:bodyPr wrap="square" lIns="0" tIns="0" rIns="0" bIns="0" rtlCol="0" anchor="ctr"/>
          <a:lstStyle/>
          <a:p>
            <a:pPr marL="0" indent="0" algn="ctr">
              <a:buNone/>
            </a:pPr>
            <a:r>
              <a:rPr lang="en-US" sz="2600" b="1" dirty="0">
                <a:solidFill>
                  <a:srgbClr val="2B2B2B"/>
                </a:solidFill>
                <a:latin typeface="Segoe UI" pitchFamily="34" charset="0"/>
                <a:ea typeface="Segoe UI" pitchFamily="34" charset="-122"/>
                <a:cs typeface="Segoe UI" pitchFamily="34" charset="-120"/>
              </a:rPr>
              <a:t>70   </a:t>
            </a:r>
            <a:r>
              <a:rPr lang="en-US" sz="1250" dirty="0">
                <a:solidFill>
                  <a:srgbClr val="2B2B2B"/>
                </a:solidFill>
                <a:latin typeface="Segoe UI" pitchFamily="34" charset="0"/>
                <a:ea typeface="Segoe UI" pitchFamily="34" charset="-122"/>
                <a:cs typeface="Segoe UI" pitchFamily="34" charset="-120"/>
              </a:rPr>
              <a:t>Reach the next step</a:t>
            </a:r>
            <a:endParaRPr lang="en-US" sz="2600" dirty="0"/>
          </a:p>
        </p:txBody>
      </p:sp>
      <p:sp>
        <p:nvSpPr>
          <p:cNvPr id="29" name="Shape 27"/>
          <p:cNvSpPr/>
          <p:nvPr/>
        </p:nvSpPr>
        <p:spPr>
          <a:xfrm flipV="1">
            <a:off x="8705088" y="4425696"/>
            <a:ext cx="329184" cy="201168"/>
          </a:xfrm>
          <a:prstGeom prst="triangle">
            <a:avLst/>
          </a:prstGeom>
          <a:solidFill>
            <a:srgbClr val="C9CEC0"/>
          </a:solidFill>
          <a:ln/>
        </p:spPr>
        <p:txBody>
          <a:bodyPr/>
          <a:lstStyle/>
          <a:p>
            <a:endParaRPr lang="en-US"/>
          </a:p>
        </p:txBody>
      </p:sp>
      <p:sp>
        <p:nvSpPr>
          <p:cNvPr id="30" name="Shape 28"/>
          <p:cNvSpPr/>
          <p:nvPr/>
        </p:nvSpPr>
        <p:spPr>
          <a:xfrm>
            <a:off x="7955280" y="4654296"/>
            <a:ext cx="1828800" cy="960120"/>
          </a:xfrm>
          <a:prstGeom prst="rect">
            <a:avLst/>
          </a:prstGeom>
          <a:solidFill>
            <a:srgbClr val="567A2E"/>
          </a:solidFill>
          <a:ln/>
        </p:spPr>
        <p:txBody>
          <a:bodyPr/>
          <a:lstStyle/>
          <a:p>
            <a:endParaRPr lang="en-US"/>
          </a:p>
        </p:txBody>
      </p:sp>
      <p:sp>
        <p:nvSpPr>
          <p:cNvPr id="31" name="Text 29"/>
          <p:cNvSpPr/>
          <p:nvPr/>
        </p:nvSpPr>
        <p:spPr>
          <a:xfrm>
            <a:off x="7955280" y="4654296"/>
            <a:ext cx="1828800" cy="960120"/>
          </a:xfrm>
          <a:prstGeom prst="rect">
            <a:avLst/>
          </a:prstGeom>
          <a:noFill/>
          <a:ln/>
        </p:spPr>
        <p:txBody>
          <a:bodyPr wrap="square" lIns="0" tIns="0" rIns="0" bIns="0" rtlCol="0" anchor="ctr"/>
          <a:lstStyle/>
          <a:p>
            <a:pPr marL="0" indent="0" algn="ctr">
              <a:buNone/>
            </a:pPr>
            <a:r>
              <a:rPr lang="en-US" sz="2600" b="1" dirty="0">
                <a:solidFill>
                  <a:srgbClr val="FFFFFF"/>
                </a:solidFill>
                <a:latin typeface="Segoe UI" pitchFamily="34" charset="0"/>
                <a:ea typeface="Segoe UI" pitchFamily="34" charset="-122"/>
                <a:cs typeface="Segoe UI" pitchFamily="34" charset="-120"/>
              </a:rPr>
              <a:t>50   </a:t>
            </a:r>
            <a:r>
              <a:rPr lang="en-US" sz="1250" dirty="0">
                <a:solidFill>
                  <a:srgbClr val="FFFFFF"/>
                </a:solidFill>
                <a:latin typeface="Segoe UI" pitchFamily="34" charset="0"/>
                <a:ea typeface="Segoe UI" pitchFamily="34" charset="-122"/>
                <a:cs typeface="Segoe UI" pitchFamily="34" charset="-120"/>
              </a:rPr>
              <a:t>Infusions</a:t>
            </a:r>
            <a:endParaRPr lang="en-US" sz="2600" dirty="0"/>
          </a:p>
        </p:txBody>
      </p:sp>
      <p:sp>
        <p:nvSpPr>
          <p:cNvPr id="32" name="Shape 30"/>
          <p:cNvSpPr/>
          <p:nvPr/>
        </p:nvSpPr>
        <p:spPr>
          <a:xfrm>
            <a:off x="5623560" y="2715768"/>
            <a:ext cx="1207008" cy="0"/>
          </a:xfrm>
          <a:prstGeom prst="line">
            <a:avLst/>
          </a:prstGeom>
          <a:noFill/>
          <a:ln w="25400">
            <a:solidFill>
              <a:srgbClr val="2F5D8A"/>
            </a:solidFill>
            <a:prstDash val="solid"/>
            <a:tailEnd type="triangle"/>
          </a:ln>
        </p:spPr>
        <p:txBody>
          <a:bodyPr/>
          <a:lstStyle/>
          <a:p>
            <a:endParaRPr lang="en-US"/>
          </a:p>
        </p:txBody>
      </p:sp>
      <p:sp>
        <p:nvSpPr>
          <p:cNvPr id="33" name="Text 31"/>
          <p:cNvSpPr/>
          <p:nvPr/>
        </p:nvSpPr>
        <p:spPr>
          <a:xfrm>
            <a:off x="4160520" y="2377440"/>
            <a:ext cx="1463040" cy="685800"/>
          </a:xfrm>
          <a:prstGeom prst="rect">
            <a:avLst/>
          </a:prstGeom>
          <a:noFill/>
          <a:ln/>
        </p:spPr>
        <p:txBody>
          <a:bodyPr wrap="square" lIns="0" tIns="0" rIns="0" bIns="0" rtlCol="0" anchor="ctr"/>
          <a:lstStyle/>
          <a:p>
            <a:pPr marL="0" indent="0" algn="r">
              <a:buNone/>
            </a:pPr>
            <a:r>
              <a:rPr lang="en-US" sz="1100" b="1" dirty="0">
                <a:solidFill>
                  <a:srgbClr val="2F5D8A"/>
                </a:solidFill>
                <a:latin typeface="Segoe UI" pitchFamily="34" charset="0"/>
                <a:ea typeface="Segoe UI" pitchFamily="34" charset="-122"/>
                <a:cs typeface="Segoe UI" pitchFamily="34" charset="-120"/>
              </a:rPr>
              <a:t>The contest</a:t>
            </a:r>
            <a:endParaRPr lang="en-US" sz="1100" dirty="0"/>
          </a:p>
          <a:p>
            <a:pPr marL="0" indent="0" algn="r">
              <a:buNone/>
            </a:pPr>
            <a:r>
              <a:rPr lang="en-US" sz="1100" b="1" dirty="0">
                <a:solidFill>
                  <a:srgbClr val="2F5D8A"/>
                </a:solidFill>
                <a:latin typeface="Segoe UI" pitchFamily="34" charset="0"/>
                <a:ea typeface="Segoe UI" pitchFamily="34" charset="-122"/>
                <a:cs typeface="Segoe UI" pitchFamily="34" charset="-120"/>
              </a:rPr>
              <a:t>pushes here</a:t>
            </a:r>
            <a:endParaRPr lang="en-US" sz="1100" dirty="0"/>
          </a:p>
        </p:txBody>
      </p:sp>
      <p:sp>
        <p:nvSpPr>
          <p:cNvPr id="34" name="Text 32"/>
          <p:cNvSpPr/>
          <p:nvPr/>
        </p:nvSpPr>
        <p:spPr>
          <a:xfrm>
            <a:off x="9921240" y="4892040"/>
            <a:ext cx="1554480" cy="548640"/>
          </a:xfrm>
          <a:prstGeom prst="rect">
            <a:avLst/>
          </a:prstGeom>
          <a:noFill/>
          <a:ln/>
        </p:spPr>
        <p:txBody>
          <a:bodyPr wrap="square" lIns="0" tIns="0" rIns="0" bIns="0" rtlCol="0" anchor="ctr"/>
          <a:lstStyle/>
          <a:p>
            <a:pPr marL="0" indent="0" algn="l">
              <a:buNone/>
            </a:pPr>
            <a:r>
              <a:rPr lang="en-US" sz="1050" b="1" dirty="0">
                <a:solidFill>
                  <a:srgbClr val="567A2E"/>
                </a:solidFill>
                <a:latin typeface="Segoe UI" pitchFamily="34" charset="0"/>
                <a:ea typeface="Segoe UI" pitchFamily="34" charset="-122"/>
                <a:cs typeface="Segoe UI" pitchFamily="34" charset="-120"/>
              </a:rPr>
              <a:t>Revenue lands</a:t>
            </a:r>
            <a:endParaRPr lang="en-US" sz="1050" dirty="0"/>
          </a:p>
          <a:p>
            <a:pPr marL="0" indent="0" algn="l">
              <a:buNone/>
            </a:pPr>
            <a:r>
              <a:rPr lang="en-US" sz="1050" b="1" dirty="0">
                <a:solidFill>
                  <a:srgbClr val="567A2E"/>
                </a:solidFill>
                <a:latin typeface="Segoe UI" pitchFamily="34" charset="0"/>
                <a:ea typeface="Segoe UI" pitchFamily="34" charset="-122"/>
                <a:cs typeface="Segoe UI" pitchFamily="34" charset="-120"/>
              </a:rPr>
              <a:t>at this step</a:t>
            </a:r>
            <a:endParaRPr lang="en-US" sz="1050" dirty="0"/>
          </a:p>
        </p:txBody>
      </p:sp>
      <p:sp>
        <p:nvSpPr>
          <p:cNvPr id="35" name="Text 33"/>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Capacity, enrollment, and funnel figures are the team's current numbers for 2H 2026.</a:t>
            </a:r>
            <a:endParaRPr lang="en-US" sz="850" dirty="0"/>
          </a:p>
        </p:txBody>
      </p:sp>
    </p:spTree>
    <p:extLst>
      <p:ext uri="{BB962C8B-B14F-4D97-AF65-F5344CB8AC3E}">
        <p14:creationId xmlns:p14="http://schemas.microsoft.com/office/powerpoint/2010/main" val="1024994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DESIGN PRINCIPLES</a:t>
            </a:r>
            <a:endParaRPr lang="en-US" sz="1200" dirty="0"/>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The contest is designed to reward growth without favoring only the largest territories</a:t>
            </a:r>
            <a:endParaRPr lang="en-US" sz="2300" dirty="0"/>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3</a:t>
            </a:r>
            <a:endParaRPr lang="en-US" sz="900" dirty="0"/>
          </a:p>
        </p:txBody>
      </p:sp>
      <p:sp>
        <p:nvSpPr>
          <p:cNvPr id="13" name="Shape 11"/>
          <p:cNvSpPr/>
          <p:nvPr/>
        </p:nvSpPr>
        <p:spPr>
          <a:xfrm>
            <a:off x="4352544" y="2194560"/>
            <a:ext cx="3474720" cy="3474720"/>
          </a:xfrm>
          <a:prstGeom prst="pie">
            <a:avLst>
              <a:gd name="adj1" fmla="val 10800000"/>
              <a:gd name="adj2" fmla="val 16200000"/>
            </a:avLst>
          </a:prstGeom>
          <a:solidFill>
            <a:srgbClr val="4A6B2E"/>
          </a:solidFill>
          <a:ln/>
        </p:spPr>
        <p:txBody>
          <a:bodyPr/>
          <a:lstStyle/>
          <a:p>
            <a:endParaRPr lang="en-US"/>
          </a:p>
        </p:txBody>
      </p:sp>
      <p:sp>
        <p:nvSpPr>
          <p:cNvPr id="14" name="Shape 12"/>
          <p:cNvSpPr/>
          <p:nvPr/>
        </p:nvSpPr>
        <p:spPr>
          <a:xfrm>
            <a:off x="4352544" y="2194560"/>
            <a:ext cx="3474720" cy="3474720"/>
          </a:xfrm>
          <a:prstGeom prst="pie">
            <a:avLst>
              <a:gd name="adj1" fmla="val 16200000"/>
              <a:gd name="adj2" fmla="val 21600000"/>
            </a:avLst>
          </a:prstGeom>
          <a:solidFill>
            <a:srgbClr val="2E6DA4"/>
          </a:solidFill>
          <a:ln/>
        </p:spPr>
        <p:txBody>
          <a:bodyPr/>
          <a:lstStyle/>
          <a:p>
            <a:endParaRPr lang="en-US"/>
          </a:p>
        </p:txBody>
      </p:sp>
      <p:sp>
        <p:nvSpPr>
          <p:cNvPr id="15" name="Shape 13"/>
          <p:cNvSpPr/>
          <p:nvPr/>
        </p:nvSpPr>
        <p:spPr>
          <a:xfrm>
            <a:off x="4352544" y="2194560"/>
            <a:ext cx="3474720" cy="3474720"/>
          </a:xfrm>
          <a:prstGeom prst="pie">
            <a:avLst>
              <a:gd name="adj1" fmla="val 5400000"/>
              <a:gd name="adj2" fmla="val 10800000"/>
            </a:avLst>
          </a:prstGeom>
          <a:solidFill>
            <a:srgbClr val="1F3A56"/>
          </a:solidFill>
          <a:ln/>
        </p:spPr>
        <p:txBody>
          <a:bodyPr/>
          <a:lstStyle/>
          <a:p>
            <a:endParaRPr lang="en-US"/>
          </a:p>
        </p:txBody>
      </p:sp>
      <p:sp>
        <p:nvSpPr>
          <p:cNvPr id="16" name="Shape 14"/>
          <p:cNvSpPr/>
          <p:nvPr/>
        </p:nvSpPr>
        <p:spPr>
          <a:xfrm>
            <a:off x="4352544" y="2194560"/>
            <a:ext cx="3474720" cy="3474720"/>
          </a:xfrm>
          <a:prstGeom prst="pie">
            <a:avLst>
              <a:gd name="adj1" fmla="val 0"/>
              <a:gd name="adj2" fmla="val 5400000"/>
            </a:avLst>
          </a:prstGeom>
          <a:solidFill>
            <a:srgbClr val="7F8B8F"/>
          </a:solidFill>
          <a:ln/>
        </p:spPr>
        <p:txBody>
          <a:bodyPr/>
          <a:lstStyle/>
          <a:p>
            <a:endParaRPr lang="en-US"/>
          </a:p>
        </p:txBody>
      </p:sp>
      <p:sp>
        <p:nvSpPr>
          <p:cNvPr id="17" name="Text 15"/>
          <p:cNvSpPr/>
          <p:nvPr/>
        </p:nvSpPr>
        <p:spPr>
          <a:xfrm>
            <a:off x="4398264" y="2651760"/>
            <a:ext cx="141732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Segoe UI" pitchFamily="34" charset="0"/>
                <a:ea typeface="Segoe UI" pitchFamily="34" charset="-122"/>
                <a:cs typeface="Segoe UI" pitchFamily="34" charset="-120"/>
              </a:rPr>
              <a:t>Grow over</a:t>
            </a:r>
            <a:endParaRPr lang="en-US" sz="1350" dirty="0"/>
          </a:p>
          <a:p>
            <a:pPr marL="0" indent="0" algn="ctr">
              <a:buNone/>
            </a:pPr>
            <a:r>
              <a:rPr lang="en-US" sz="1350" b="1" dirty="0">
                <a:solidFill>
                  <a:srgbClr val="FFFFFF"/>
                </a:solidFill>
                <a:latin typeface="Segoe UI" pitchFamily="34" charset="0"/>
                <a:ea typeface="Segoe UI" pitchFamily="34" charset="-122"/>
                <a:cs typeface="Segoe UI" pitchFamily="34" charset="-120"/>
              </a:rPr>
              <a:t>Baseline</a:t>
            </a:r>
            <a:endParaRPr lang="en-US" sz="1350" dirty="0"/>
          </a:p>
        </p:txBody>
      </p:sp>
      <p:sp>
        <p:nvSpPr>
          <p:cNvPr id="18" name="Text 16"/>
          <p:cNvSpPr/>
          <p:nvPr/>
        </p:nvSpPr>
        <p:spPr>
          <a:xfrm>
            <a:off x="6409944" y="2697480"/>
            <a:ext cx="1371600" cy="731520"/>
          </a:xfrm>
          <a:prstGeom prst="rect">
            <a:avLst/>
          </a:prstGeom>
          <a:noFill/>
          <a:ln/>
        </p:spPr>
        <p:txBody>
          <a:bodyPr wrap="square" lIns="0" tIns="0" rIns="0" bIns="0" rtlCol="0" anchor="ctr"/>
          <a:lstStyle/>
          <a:p>
            <a:pPr marL="0" indent="0" algn="ctr">
              <a:buNone/>
            </a:pPr>
            <a:r>
              <a:rPr lang="en-US" sz="1350" b="1" dirty="0">
                <a:solidFill>
                  <a:srgbClr val="FFFFFF"/>
                </a:solidFill>
                <a:latin typeface="Segoe UI" pitchFamily="34" charset="0"/>
                <a:ea typeface="Segoe UI" pitchFamily="34" charset="-122"/>
                <a:cs typeface="Segoe UI" pitchFamily="34" charset="-120"/>
              </a:rPr>
              <a:t>Fair by</a:t>
            </a:r>
            <a:endParaRPr lang="en-US" sz="1350" dirty="0"/>
          </a:p>
          <a:p>
            <a:pPr marL="0" indent="0" algn="ctr">
              <a:buNone/>
            </a:pPr>
            <a:r>
              <a:rPr lang="en-US" sz="1350" b="1" dirty="0">
                <a:solidFill>
                  <a:srgbClr val="FFFFFF"/>
                </a:solidFill>
                <a:latin typeface="Segoe UI" pitchFamily="34" charset="0"/>
                <a:ea typeface="Segoe UI" pitchFamily="34" charset="-122"/>
                <a:cs typeface="Segoe UI" pitchFamily="34" charset="-120"/>
              </a:rPr>
              <a:t>Size</a:t>
            </a:r>
            <a:endParaRPr lang="en-US" sz="1350" dirty="0"/>
          </a:p>
        </p:txBody>
      </p:sp>
      <p:sp>
        <p:nvSpPr>
          <p:cNvPr id="19" name="Text 17"/>
          <p:cNvSpPr/>
          <p:nvPr/>
        </p:nvSpPr>
        <p:spPr>
          <a:xfrm>
            <a:off x="4398264" y="4389120"/>
            <a:ext cx="141732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Segoe UI" pitchFamily="34" charset="0"/>
                <a:ea typeface="Segoe UI" pitchFamily="34" charset="-122"/>
                <a:cs typeface="Segoe UI" pitchFamily="34" charset="-120"/>
              </a:rPr>
              <a:t>Count and</a:t>
            </a:r>
            <a:endParaRPr lang="en-US" sz="1350" dirty="0"/>
          </a:p>
          <a:p>
            <a:pPr marL="0" indent="0" algn="ctr">
              <a:buNone/>
            </a:pPr>
            <a:r>
              <a:rPr lang="en-US" sz="1350" b="1" dirty="0">
                <a:solidFill>
                  <a:srgbClr val="FFFFFF"/>
                </a:solidFill>
                <a:latin typeface="Segoe UI" pitchFamily="34" charset="0"/>
                <a:ea typeface="Segoe UI" pitchFamily="34" charset="-122"/>
                <a:cs typeface="Segoe UI" pitchFamily="34" charset="-120"/>
              </a:rPr>
              <a:t>Percent</a:t>
            </a:r>
            <a:endParaRPr lang="en-US" sz="1350" dirty="0"/>
          </a:p>
        </p:txBody>
      </p:sp>
      <p:sp>
        <p:nvSpPr>
          <p:cNvPr id="20" name="Text 18"/>
          <p:cNvSpPr/>
          <p:nvPr/>
        </p:nvSpPr>
        <p:spPr>
          <a:xfrm>
            <a:off x="6409944" y="4434840"/>
            <a:ext cx="1371600" cy="640080"/>
          </a:xfrm>
          <a:prstGeom prst="rect">
            <a:avLst/>
          </a:prstGeom>
          <a:noFill/>
          <a:ln/>
        </p:spPr>
        <p:txBody>
          <a:bodyPr wrap="square" lIns="0" tIns="0" rIns="0" bIns="0" rtlCol="0" anchor="ctr"/>
          <a:lstStyle/>
          <a:p>
            <a:pPr marL="0" indent="0" algn="ctr">
              <a:buNone/>
            </a:pPr>
            <a:r>
              <a:rPr lang="en-US" sz="1350" b="1" dirty="0">
                <a:solidFill>
                  <a:srgbClr val="FFFFFF"/>
                </a:solidFill>
                <a:latin typeface="Segoe UI" pitchFamily="34" charset="0"/>
                <a:ea typeface="Segoe UI" pitchFamily="34" charset="-122"/>
                <a:cs typeface="Segoe UI" pitchFamily="34" charset="-120"/>
              </a:rPr>
              <a:t>Quality</a:t>
            </a:r>
            <a:endParaRPr lang="en-US" sz="1350" dirty="0"/>
          </a:p>
        </p:txBody>
      </p:sp>
      <p:sp>
        <p:nvSpPr>
          <p:cNvPr id="21" name="Shape 19"/>
          <p:cNvSpPr/>
          <p:nvPr/>
        </p:nvSpPr>
        <p:spPr>
          <a:xfrm>
            <a:off x="5312664" y="3154680"/>
            <a:ext cx="1554480" cy="1554480"/>
          </a:xfrm>
          <a:prstGeom prst="ellipse">
            <a:avLst/>
          </a:prstGeom>
          <a:solidFill>
            <a:srgbClr val="FFFFFF"/>
          </a:solidFill>
          <a:ln w="19050">
            <a:solidFill>
              <a:srgbClr val="567A2E"/>
            </a:solidFill>
            <a:prstDash val="solid"/>
          </a:ln>
        </p:spPr>
        <p:txBody>
          <a:bodyPr/>
          <a:lstStyle/>
          <a:p>
            <a:endParaRPr lang="en-US"/>
          </a:p>
        </p:txBody>
      </p:sp>
      <p:sp>
        <p:nvSpPr>
          <p:cNvPr id="22" name="Text 20"/>
          <p:cNvSpPr/>
          <p:nvPr/>
        </p:nvSpPr>
        <p:spPr>
          <a:xfrm>
            <a:off x="5312664" y="3154680"/>
            <a:ext cx="1554480" cy="1554480"/>
          </a:xfrm>
          <a:prstGeom prst="rect">
            <a:avLst/>
          </a:prstGeom>
          <a:noFill/>
          <a:ln/>
        </p:spPr>
        <p:txBody>
          <a:bodyPr wrap="square" lIns="0" tIns="0" rIns="0" bIns="0" rtlCol="0" anchor="ctr"/>
          <a:lstStyle/>
          <a:p>
            <a:pPr marL="0" indent="0" algn="ctr">
              <a:buNone/>
            </a:pPr>
            <a:r>
              <a:rPr lang="en-US" sz="1200" b="1" dirty="0">
                <a:solidFill>
                  <a:srgbClr val="567A2E"/>
                </a:solidFill>
                <a:latin typeface="Segoe UI" pitchFamily="34" charset="0"/>
                <a:ea typeface="Segoe UI" pitchFamily="34" charset="-122"/>
                <a:cs typeface="Segoe UI" pitchFamily="34" charset="-120"/>
              </a:rPr>
              <a:t>Reward</a:t>
            </a:r>
            <a:endParaRPr lang="en-US" sz="1200" dirty="0"/>
          </a:p>
          <a:p>
            <a:pPr marL="0" indent="0" algn="ctr">
              <a:buNone/>
            </a:pPr>
            <a:r>
              <a:rPr lang="en-US" sz="1200" b="1" dirty="0">
                <a:solidFill>
                  <a:srgbClr val="567A2E"/>
                </a:solidFill>
                <a:latin typeface="Segoe UI" pitchFamily="34" charset="0"/>
                <a:ea typeface="Segoe UI" pitchFamily="34" charset="-122"/>
                <a:cs typeface="Segoe UI" pitchFamily="34" charset="-120"/>
              </a:rPr>
              <a:t>enrollment</a:t>
            </a:r>
            <a:endParaRPr lang="en-US" sz="1200" dirty="0"/>
          </a:p>
          <a:p>
            <a:pPr marL="0" indent="0" algn="ctr">
              <a:buNone/>
            </a:pPr>
            <a:r>
              <a:rPr lang="en-US" sz="1200" b="1" dirty="0">
                <a:solidFill>
                  <a:srgbClr val="567A2E"/>
                </a:solidFill>
                <a:latin typeface="Segoe UI" pitchFamily="34" charset="0"/>
                <a:ea typeface="Segoe UI" pitchFamily="34" charset="-122"/>
                <a:cs typeface="Segoe UI" pitchFamily="34" charset="-120"/>
              </a:rPr>
              <a:t>growth</a:t>
            </a:r>
            <a:endParaRPr lang="en-US" sz="1200" dirty="0"/>
          </a:p>
        </p:txBody>
      </p:sp>
      <p:sp>
        <p:nvSpPr>
          <p:cNvPr id="23" name="Shape 21"/>
          <p:cNvSpPr/>
          <p:nvPr/>
        </p:nvSpPr>
        <p:spPr>
          <a:xfrm>
            <a:off x="566928" y="1783080"/>
            <a:ext cx="2514600" cy="1234440"/>
          </a:xfrm>
          <a:prstGeom prst="roundRect">
            <a:avLst>
              <a:gd name="adj" fmla="val 4444"/>
            </a:avLst>
          </a:prstGeom>
          <a:solidFill>
            <a:srgbClr val="F7F9F1"/>
          </a:solidFill>
          <a:ln w="12700">
            <a:solidFill>
              <a:srgbClr val="4A6B2E"/>
            </a:solidFill>
            <a:prstDash val="solid"/>
          </a:ln>
        </p:spPr>
        <p:txBody>
          <a:bodyPr/>
          <a:lstStyle/>
          <a:p>
            <a:endParaRPr lang="en-US"/>
          </a:p>
        </p:txBody>
      </p:sp>
      <p:sp>
        <p:nvSpPr>
          <p:cNvPr id="24" name="Text 22"/>
          <p:cNvSpPr/>
          <p:nvPr/>
        </p:nvSpPr>
        <p:spPr>
          <a:xfrm>
            <a:off x="704088" y="1892808"/>
            <a:ext cx="2240280" cy="274320"/>
          </a:xfrm>
          <a:prstGeom prst="rect">
            <a:avLst/>
          </a:prstGeom>
          <a:noFill/>
          <a:ln/>
        </p:spPr>
        <p:txBody>
          <a:bodyPr wrap="square" lIns="0" tIns="0" rIns="0" bIns="0" rtlCol="0" anchor="ctr"/>
          <a:lstStyle/>
          <a:p>
            <a:pPr marL="0" indent="0">
              <a:buNone/>
            </a:pPr>
            <a:r>
              <a:rPr lang="en-US" sz="1250" b="1" dirty="0">
                <a:solidFill>
                  <a:srgbClr val="4A6B2E"/>
                </a:solidFill>
                <a:latin typeface="Segoe UI" pitchFamily="34" charset="0"/>
                <a:ea typeface="Segoe UI" pitchFamily="34" charset="-122"/>
                <a:cs typeface="Segoe UI" pitchFamily="34" charset="-120"/>
              </a:rPr>
              <a:t>Grow over your own baseline</a:t>
            </a:r>
            <a:endParaRPr lang="en-US" sz="1250" dirty="0"/>
          </a:p>
        </p:txBody>
      </p:sp>
      <p:sp>
        <p:nvSpPr>
          <p:cNvPr id="25" name="Text 23"/>
          <p:cNvSpPr/>
          <p:nvPr/>
        </p:nvSpPr>
        <p:spPr>
          <a:xfrm>
            <a:off x="704088" y="2185416"/>
            <a:ext cx="2240280" cy="777240"/>
          </a:xfrm>
          <a:prstGeom prst="rect">
            <a:avLst/>
          </a:prstGeom>
          <a:noFill/>
          <a:ln/>
        </p:spPr>
        <p:txBody>
          <a:bodyPr wrap="square" lIns="0" tIns="0" rIns="0" bIns="0" rtlCol="0" anchor="t"/>
          <a:lstStyle/>
          <a:p>
            <a:pPr marL="0" indent="0">
              <a:lnSpc>
                <a:spcPct val="100000"/>
              </a:lnSpc>
              <a:buNone/>
            </a:pPr>
            <a:r>
              <a:rPr lang="en-US" sz="1050" dirty="0">
                <a:solidFill>
                  <a:srgbClr val="17344F"/>
                </a:solidFill>
                <a:latin typeface="Segoe UI" pitchFamily="34" charset="0"/>
                <a:ea typeface="Segoe UI" pitchFamily="34" charset="-122"/>
                <a:cs typeface="Segoe UI" pitchFamily="34" charset="-120"/>
              </a:rPr>
              <a:t>Each territory is measured against its own past numbers, so no one wins just for being big or loses for being small.</a:t>
            </a:r>
            <a:endParaRPr lang="en-US" sz="1050" dirty="0"/>
          </a:p>
        </p:txBody>
      </p:sp>
      <p:sp>
        <p:nvSpPr>
          <p:cNvPr id="26" name="Shape 24"/>
          <p:cNvSpPr/>
          <p:nvPr/>
        </p:nvSpPr>
        <p:spPr>
          <a:xfrm>
            <a:off x="9107424" y="1783080"/>
            <a:ext cx="2514600" cy="1234440"/>
          </a:xfrm>
          <a:prstGeom prst="roundRect">
            <a:avLst>
              <a:gd name="adj" fmla="val 4444"/>
            </a:avLst>
          </a:prstGeom>
          <a:solidFill>
            <a:srgbClr val="F7F9F1"/>
          </a:solidFill>
          <a:ln w="12700">
            <a:solidFill>
              <a:srgbClr val="2E6DA4"/>
            </a:solidFill>
            <a:prstDash val="solid"/>
          </a:ln>
        </p:spPr>
        <p:txBody>
          <a:bodyPr/>
          <a:lstStyle/>
          <a:p>
            <a:endParaRPr lang="en-US"/>
          </a:p>
        </p:txBody>
      </p:sp>
      <p:sp>
        <p:nvSpPr>
          <p:cNvPr id="27" name="Text 25"/>
          <p:cNvSpPr/>
          <p:nvPr/>
        </p:nvSpPr>
        <p:spPr>
          <a:xfrm>
            <a:off x="9244584" y="1892808"/>
            <a:ext cx="2240280" cy="274320"/>
          </a:xfrm>
          <a:prstGeom prst="rect">
            <a:avLst/>
          </a:prstGeom>
          <a:noFill/>
          <a:ln/>
        </p:spPr>
        <p:txBody>
          <a:bodyPr wrap="square" lIns="0" tIns="0" rIns="0" bIns="0" rtlCol="0" anchor="ctr"/>
          <a:lstStyle/>
          <a:p>
            <a:pPr marL="0" indent="0">
              <a:buNone/>
            </a:pPr>
            <a:r>
              <a:rPr lang="en-US" sz="1250" b="1" dirty="0">
                <a:solidFill>
                  <a:srgbClr val="2E6DA4"/>
                </a:solidFill>
                <a:latin typeface="Segoe UI" pitchFamily="34" charset="0"/>
                <a:ea typeface="Segoe UI" pitchFamily="34" charset="-122"/>
                <a:cs typeface="Segoe UI" pitchFamily="34" charset="-120"/>
              </a:rPr>
              <a:t>Fair by size</a:t>
            </a:r>
            <a:endParaRPr lang="en-US" sz="1250" dirty="0"/>
          </a:p>
        </p:txBody>
      </p:sp>
      <p:sp>
        <p:nvSpPr>
          <p:cNvPr id="28" name="Text 26"/>
          <p:cNvSpPr/>
          <p:nvPr/>
        </p:nvSpPr>
        <p:spPr>
          <a:xfrm>
            <a:off x="9244584" y="2185416"/>
            <a:ext cx="2240280" cy="777240"/>
          </a:xfrm>
          <a:prstGeom prst="rect">
            <a:avLst/>
          </a:prstGeom>
          <a:noFill/>
          <a:ln/>
        </p:spPr>
        <p:txBody>
          <a:bodyPr wrap="square" lIns="0" tIns="0" rIns="0" bIns="0" rtlCol="0" anchor="t"/>
          <a:lstStyle/>
          <a:p>
            <a:pPr marL="0" indent="0">
              <a:lnSpc>
                <a:spcPct val="100000"/>
              </a:lnSpc>
              <a:buNone/>
            </a:pPr>
            <a:r>
              <a:rPr lang="en-US" sz="1050" dirty="0">
                <a:solidFill>
                  <a:srgbClr val="17344F"/>
                </a:solidFill>
                <a:latin typeface="Segoe UI" pitchFamily="34" charset="0"/>
                <a:ea typeface="Segoe UI" pitchFamily="34" charset="-122"/>
                <a:cs typeface="Segoe UI" pitchFamily="34" charset="-120"/>
              </a:rPr>
              <a:t>We sort territories into large, medium, and small, so you only compete with others your own size.</a:t>
            </a:r>
            <a:endParaRPr lang="en-US" sz="1050" dirty="0"/>
          </a:p>
        </p:txBody>
      </p:sp>
      <p:sp>
        <p:nvSpPr>
          <p:cNvPr id="29" name="Shape 27"/>
          <p:cNvSpPr/>
          <p:nvPr/>
        </p:nvSpPr>
        <p:spPr>
          <a:xfrm>
            <a:off x="566928" y="4572000"/>
            <a:ext cx="2514600" cy="1234440"/>
          </a:xfrm>
          <a:prstGeom prst="roundRect">
            <a:avLst>
              <a:gd name="adj" fmla="val 4444"/>
            </a:avLst>
          </a:prstGeom>
          <a:solidFill>
            <a:srgbClr val="F7F9F1"/>
          </a:solidFill>
          <a:ln w="12700">
            <a:solidFill>
              <a:srgbClr val="1F3A56"/>
            </a:solidFill>
            <a:prstDash val="solid"/>
          </a:ln>
        </p:spPr>
        <p:txBody>
          <a:bodyPr/>
          <a:lstStyle/>
          <a:p>
            <a:endParaRPr lang="en-US"/>
          </a:p>
        </p:txBody>
      </p:sp>
      <p:sp>
        <p:nvSpPr>
          <p:cNvPr id="30" name="Text 28"/>
          <p:cNvSpPr/>
          <p:nvPr/>
        </p:nvSpPr>
        <p:spPr>
          <a:xfrm>
            <a:off x="704088" y="4681728"/>
            <a:ext cx="2240280" cy="274320"/>
          </a:xfrm>
          <a:prstGeom prst="rect">
            <a:avLst/>
          </a:prstGeom>
          <a:noFill/>
          <a:ln/>
        </p:spPr>
        <p:txBody>
          <a:bodyPr wrap="square" lIns="0" tIns="0" rIns="0" bIns="0" rtlCol="0" anchor="ctr"/>
          <a:lstStyle/>
          <a:p>
            <a:pPr marL="0" indent="0">
              <a:buNone/>
            </a:pPr>
            <a:r>
              <a:rPr lang="en-US" sz="1250" b="1" dirty="0">
                <a:solidFill>
                  <a:srgbClr val="1F3A56"/>
                </a:solidFill>
                <a:latin typeface="Segoe UI" pitchFamily="34" charset="0"/>
                <a:ea typeface="Segoe UI" pitchFamily="34" charset="-122"/>
                <a:cs typeface="Segoe UI" pitchFamily="34" charset="-120"/>
              </a:rPr>
              <a:t>Count and percent</a:t>
            </a:r>
            <a:endParaRPr lang="en-US" sz="1250" dirty="0"/>
          </a:p>
        </p:txBody>
      </p:sp>
      <p:sp>
        <p:nvSpPr>
          <p:cNvPr id="31" name="Text 29"/>
          <p:cNvSpPr/>
          <p:nvPr/>
        </p:nvSpPr>
        <p:spPr>
          <a:xfrm>
            <a:off x="704088" y="4974336"/>
            <a:ext cx="2240280" cy="777240"/>
          </a:xfrm>
          <a:prstGeom prst="rect">
            <a:avLst/>
          </a:prstGeom>
          <a:noFill/>
          <a:ln/>
        </p:spPr>
        <p:txBody>
          <a:bodyPr wrap="square" lIns="0" tIns="0" rIns="0" bIns="0" rtlCol="0" anchor="t"/>
          <a:lstStyle/>
          <a:p>
            <a:pPr marL="0" indent="0">
              <a:lnSpc>
                <a:spcPct val="100000"/>
              </a:lnSpc>
              <a:buNone/>
            </a:pPr>
            <a:r>
              <a:rPr lang="en-US" sz="1050" dirty="0">
                <a:solidFill>
                  <a:srgbClr val="17344F"/>
                </a:solidFill>
                <a:latin typeface="Segoe UI" pitchFamily="34" charset="0"/>
                <a:ea typeface="Segoe UI" pitchFamily="34" charset="-122"/>
                <a:cs typeface="Segoe UI" pitchFamily="34" charset="-120"/>
              </a:rPr>
              <a:t>We score both patients added and percent growth, so a big and a small territory both have a real chance.</a:t>
            </a:r>
            <a:endParaRPr lang="en-US" sz="1050" dirty="0"/>
          </a:p>
        </p:txBody>
      </p:sp>
      <p:sp>
        <p:nvSpPr>
          <p:cNvPr id="32" name="Shape 30"/>
          <p:cNvSpPr/>
          <p:nvPr/>
        </p:nvSpPr>
        <p:spPr>
          <a:xfrm>
            <a:off x="9107424" y="4572000"/>
            <a:ext cx="2514600" cy="1234440"/>
          </a:xfrm>
          <a:prstGeom prst="roundRect">
            <a:avLst>
              <a:gd name="adj" fmla="val 4444"/>
            </a:avLst>
          </a:prstGeom>
          <a:solidFill>
            <a:srgbClr val="F7F9F1"/>
          </a:solidFill>
          <a:ln w="12700">
            <a:solidFill>
              <a:srgbClr val="7F8B8F"/>
            </a:solidFill>
            <a:prstDash val="solid"/>
          </a:ln>
        </p:spPr>
        <p:txBody>
          <a:bodyPr/>
          <a:lstStyle/>
          <a:p>
            <a:endParaRPr lang="en-US"/>
          </a:p>
        </p:txBody>
      </p:sp>
      <p:sp>
        <p:nvSpPr>
          <p:cNvPr id="33" name="Text 31"/>
          <p:cNvSpPr/>
          <p:nvPr/>
        </p:nvSpPr>
        <p:spPr>
          <a:xfrm>
            <a:off x="9244584" y="4681728"/>
            <a:ext cx="2240280" cy="274320"/>
          </a:xfrm>
          <a:prstGeom prst="rect">
            <a:avLst/>
          </a:prstGeom>
          <a:noFill/>
          <a:ln/>
        </p:spPr>
        <p:txBody>
          <a:bodyPr wrap="square" lIns="0" tIns="0" rIns="0" bIns="0" rtlCol="0" anchor="ctr"/>
          <a:lstStyle/>
          <a:p>
            <a:pPr marL="0" indent="0">
              <a:buNone/>
            </a:pPr>
            <a:r>
              <a:rPr lang="en-US" sz="1250" b="1" dirty="0">
                <a:solidFill>
                  <a:srgbClr val="7F8B8F"/>
                </a:solidFill>
                <a:latin typeface="Segoe UI" pitchFamily="34" charset="0"/>
                <a:ea typeface="Segoe UI" pitchFamily="34" charset="-122"/>
                <a:cs typeface="Segoe UI" pitchFamily="34" charset="-120"/>
              </a:rPr>
              <a:t>Quality, not chasing numbers</a:t>
            </a:r>
            <a:endParaRPr lang="en-US" sz="1250" dirty="0"/>
          </a:p>
        </p:txBody>
      </p:sp>
      <p:sp>
        <p:nvSpPr>
          <p:cNvPr id="34" name="Text 32"/>
          <p:cNvSpPr/>
          <p:nvPr/>
        </p:nvSpPr>
        <p:spPr>
          <a:xfrm>
            <a:off x="9244584" y="4974336"/>
            <a:ext cx="2240280" cy="777240"/>
          </a:xfrm>
          <a:prstGeom prst="rect">
            <a:avLst/>
          </a:prstGeom>
          <a:noFill/>
          <a:ln/>
        </p:spPr>
        <p:txBody>
          <a:bodyPr wrap="square" lIns="0" tIns="0" rIns="0" bIns="0" rtlCol="0" anchor="t"/>
          <a:lstStyle/>
          <a:p>
            <a:pPr marL="0" indent="0">
              <a:lnSpc>
                <a:spcPct val="100000"/>
              </a:lnSpc>
              <a:buNone/>
            </a:pPr>
            <a:r>
              <a:rPr lang="en-US" sz="1050" dirty="0">
                <a:solidFill>
                  <a:srgbClr val="17344F"/>
                </a:solidFill>
                <a:latin typeface="Segoe UI" pitchFamily="34" charset="0"/>
                <a:ea typeface="Segoe UI" pitchFamily="34" charset="-122"/>
                <a:cs typeface="Segoe UI" pitchFamily="34" charset="-120"/>
              </a:rPr>
              <a:t>A separate prize goes to the territories whose patients actually move forward to treatment.</a:t>
            </a:r>
            <a:endParaRPr lang="en-US" sz="1050" dirty="0"/>
          </a:p>
        </p:txBody>
      </p:sp>
      <p:sp>
        <p:nvSpPr>
          <p:cNvPr id="35" name="Shape 33"/>
          <p:cNvSpPr/>
          <p:nvPr/>
        </p:nvSpPr>
        <p:spPr>
          <a:xfrm>
            <a:off x="3081528" y="2377440"/>
            <a:ext cx="1417320" cy="640080"/>
          </a:xfrm>
          <a:prstGeom prst="line">
            <a:avLst/>
          </a:prstGeom>
          <a:noFill/>
          <a:ln w="12700">
            <a:solidFill>
              <a:srgbClr val="D6DBC9"/>
            </a:solidFill>
            <a:prstDash val="solid"/>
          </a:ln>
        </p:spPr>
        <p:txBody>
          <a:bodyPr/>
          <a:lstStyle/>
          <a:p>
            <a:endParaRPr lang="en-US"/>
          </a:p>
        </p:txBody>
      </p:sp>
      <p:sp>
        <p:nvSpPr>
          <p:cNvPr id="36" name="Shape 34"/>
          <p:cNvSpPr/>
          <p:nvPr/>
        </p:nvSpPr>
        <p:spPr>
          <a:xfrm>
            <a:off x="7680960" y="2377440"/>
            <a:ext cx="1417320" cy="640080"/>
          </a:xfrm>
          <a:prstGeom prst="line">
            <a:avLst/>
          </a:prstGeom>
          <a:noFill/>
          <a:ln w="12700">
            <a:solidFill>
              <a:srgbClr val="D6DBC9"/>
            </a:solidFill>
            <a:prstDash val="solid"/>
          </a:ln>
        </p:spPr>
        <p:txBody>
          <a:bodyPr/>
          <a:lstStyle/>
          <a:p>
            <a:endParaRPr lang="en-US"/>
          </a:p>
        </p:txBody>
      </p:sp>
      <p:sp>
        <p:nvSpPr>
          <p:cNvPr id="37" name="Shape 35"/>
          <p:cNvSpPr/>
          <p:nvPr/>
        </p:nvSpPr>
        <p:spPr>
          <a:xfrm flipV="1">
            <a:off x="3081528" y="4480560"/>
            <a:ext cx="1417320" cy="640080"/>
          </a:xfrm>
          <a:prstGeom prst="line">
            <a:avLst/>
          </a:prstGeom>
          <a:noFill/>
          <a:ln w="12700">
            <a:solidFill>
              <a:srgbClr val="D6DBC9"/>
            </a:solidFill>
            <a:prstDash val="solid"/>
          </a:ln>
        </p:spPr>
        <p:txBody>
          <a:bodyPr/>
          <a:lstStyle/>
          <a:p>
            <a:endParaRPr lang="en-US"/>
          </a:p>
        </p:txBody>
      </p:sp>
      <p:sp>
        <p:nvSpPr>
          <p:cNvPr id="38" name="Shape 36"/>
          <p:cNvSpPr/>
          <p:nvPr/>
        </p:nvSpPr>
        <p:spPr>
          <a:xfrm flipV="1">
            <a:off x="7680960" y="4480560"/>
            <a:ext cx="1417320" cy="640080"/>
          </a:xfrm>
          <a:prstGeom prst="line">
            <a:avLst/>
          </a:prstGeom>
          <a:noFill/>
          <a:ln w="12700">
            <a:solidFill>
              <a:srgbClr val="D6DBC9"/>
            </a:solidFill>
            <a:prstDash val="solid"/>
          </a:ln>
        </p:spPr>
        <p:txBody>
          <a:bodyPr/>
          <a:lstStyle/>
          <a:p>
            <a:endParaRPr lang="en-US"/>
          </a:p>
        </p:txBody>
      </p:sp>
    </p:spTree>
    <p:extLst>
      <p:ext uri="{BB962C8B-B14F-4D97-AF65-F5344CB8AC3E}">
        <p14:creationId xmlns:p14="http://schemas.microsoft.com/office/powerpoint/2010/main" val="1142234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FAIRNESS CHECK</a:t>
            </a:r>
            <a:endParaRPr lang="en-US" sz="1200" dirty="0"/>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Territory scale varies too much for a single national leaderboard</a:t>
            </a:r>
            <a:endParaRPr lang="en-US" sz="2300" dirty="0"/>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4</a:t>
            </a:r>
            <a:endParaRPr lang="en-US" sz="900" dirty="0"/>
          </a:p>
        </p:txBody>
      </p:sp>
      <p:sp>
        <p:nvSpPr>
          <p:cNvPr id="13" name="Text 11"/>
          <p:cNvSpPr/>
          <p:nvPr/>
        </p:nvSpPr>
        <p:spPr>
          <a:xfrm>
            <a:off x="566928" y="1737360"/>
            <a:ext cx="7498080" cy="274320"/>
          </a:xfrm>
          <a:prstGeom prst="rect">
            <a:avLst/>
          </a:prstGeom>
          <a:noFill/>
          <a:ln/>
        </p:spPr>
        <p:txBody>
          <a:bodyPr wrap="square" lIns="0" tIns="0" rIns="0" bIns="0" rtlCol="0" anchor="ctr"/>
          <a:lstStyle/>
          <a:p>
            <a:pPr marL="0" indent="0">
              <a:buNone/>
            </a:pPr>
            <a:r>
              <a:rPr lang="en-US" sz="1200" b="1" kern="0" spc="100" dirty="0">
                <a:solidFill>
                  <a:srgbClr val="8A8A80"/>
                </a:solidFill>
                <a:latin typeface="Segoe UI" pitchFamily="34" charset="0"/>
                <a:ea typeface="Segoe UI" pitchFamily="34" charset="-122"/>
                <a:cs typeface="Segoe UI" pitchFamily="34" charset="-120"/>
              </a:rPr>
              <a:t>Territory size, largest to smallest</a:t>
            </a:r>
            <a:endParaRPr lang="en-US" sz="1200" dirty="0"/>
          </a:p>
        </p:txBody>
      </p:sp>
      <p:graphicFrame>
        <p:nvGraphicFramePr>
          <p:cNvPr id="14" name="Chart 0"/>
          <p:cNvGraphicFramePr/>
          <p:nvPr/>
        </p:nvGraphicFramePr>
        <p:xfrm>
          <a:off x="566928" y="2011680"/>
          <a:ext cx="74980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2"/>
          <p:cNvSpPr/>
          <p:nvPr/>
        </p:nvSpPr>
        <p:spPr>
          <a:xfrm>
            <a:off x="1325880" y="2121408"/>
            <a:ext cx="1737360" cy="548640"/>
          </a:xfrm>
          <a:prstGeom prst="rect">
            <a:avLst/>
          </a:prstGeom>
          <a:noFill/>
          <a:ln/>
        </p:spPr>
        <p:txBody>
          <a:bodyPr wrap="square" lIns="0" tIns="0" rIns="0" bIns="0" rtlCol="0" anchor="t"/>
          <a:lstStyle/>
          <a:p>
            <a:pPr marL="0" indent="0">
              <a:buNone/>
            </a:pPr>
            <a:r>
              <a:rPr lang="en-US" sz="1050" b="1" dirty="0">
                <a:solidFill>
                  <a:srgbClr val="567A2E"/>
                </a:solidFill>
                <a:latin typeface="Segoe UI" pitchFamily="34" charset="0"/>
                <a:ea typeface="Segoe UI" pitchFamily="34" charset="-122"/>
                <a:cs typeface="Segoe UI" pitchFamily="34" charset="-120"/>
              </a:rPr>
              <a:t>About 1,015 patients</a:t>
            </a:r>
            <a:endParaRPr lang="en-US" sz="1050" dirty="0"/>
          </a:p>
          <a:p>
            <a:pPr marL="0" indent="0">
              <a:buNone/>
            </a:pPr>
            <a:r>
              <a:rPr lang="en-US" sz="1050" b="1" dirty="0">
                <a:solidFill>
                  <a:srgbClr val="567A2E"/>
                </a:solidFill>
                <a:latin typeface="Segoe UI" pitchFamily="34" charset="0"/>
                <a:ea typeface="Segoe UI" pitchFamily="34" charset="-122"/>
                <a:cs typeface="Segoe UI" pitchFamily="34" charset="-120"/>
              </a:rPr>
              <a:t>in the largest</a:t>
            </a:r>
            <a:endParaRPr lang="en-US" sz="1050" dirty="0"/>
          </a:p>
        </p:txBody>
      </p:sp>
      <p:sp>
        <p:nvSpPr>
          <p:cNvPr id="16" name="Text 13"/>
          <p:cNvSpPr/>
          <p:nvPr/>
        </p:nvSpPr>
        <p:spPr>
          <a:xfrm>
            <a:off x="6583680" y="4663440"/>
            <a:ext cx="1463040" cy="548640"/>
          </a:xfrm>
          <a:prstGeom prst="rect">
            <a:avLst/>
          </a:prstGeom>
          <a:noFill/>
          <a:ln/>
        </p:spPr>
        <p:txBody>
          <a:bodyPr wrap="square" lIns="0" tIns="0" rIns="0" bIns="0" rtlCol="0" anchor="t"/>
          <a:lstStyle/>
          <a:p>
            <a:pPr marL="0" indent="0" algn="r">
              <a:buNone/>
            </a:pPr>
            <a:r>
              <a:rPr lang="en-US" sz="1050" b="1" dirty="0">
                <a:solidFill>
                  <a:srgbClr val="C0392B"/>
                </a:solidFill>
                <a:latin typeface="Segoe UI" pitchFamily="34" charset="0"/>
                <a:ea typeface="Segoe UI" pitchFamily="34" charset="-122"/>
                <a:cs typeface="Segoe UI" pitchFamily="34" charset="-120"/>
              </a:rPr>
              <a:t>About 12 in</a:t>
            </a:r>
            <a:endParaRPr lang="en-US" sz="1050" dirty="0"/>
          </a:p>
          <a:p>
            <a:pPr marL="0" indent="0" algn="r">
              <a:buNone/>
            </a:pPr>
            <a:r>
              <a:rPr lang="en-US" sz="1050" b="1" dirty="0">
                <a:solidFill>
                  <a:srgbClr val="C0392B"/>
                </a:solidFill>
                <a:latin typeface="Segoe UI" pitchFamily="34" charset="0"/>
                <a:ea typeface="Segoe UI" pitchFamily="34" charset="-122"/>
                <a:cs typeface="Segoe UI" pitchFamily="34" charset="-120"/>
              </a:rPr>
              <a:t>the smallest</a:t>
            </a:r>
            <a:endParaRPr lang="en-US" sz="1050" dirty="0"/>
          </a:p>
        </p:txBody>
      </p:sp>
      <p:sp>
        <p:nvSpPr>
          <p:cNvPr id="17" name="Shape 14"/>
          <p:cNvSpPr/>
          <p:nvPr/>
        </p:nvSpPr>
        <p:spPr>
          <a:xfrm>
            <a:off x="8321040" y="2011680"/>
            <a:ext cx="3310128" cy="1325880"/>
          </a:xfrm>
          <a:prstGeom prst="roundRect">
            <a:avLst>
              <a:gd name="adj" fmla="val 4138"/>
            </a:avLst>
          </a:prstGeom>
          <a:solidFill>
            <a:srgbClr val="F7F9F1"/>
          </a:solidFill>
          <a:ln w="12700">
            <a:solidFill>
              <a:srgbClr val="7F8B8F"/>
            </a:solidFill>
            <a:prstDash val="solid"/>
          </a:ln>
        </p:spPr>
        <p:txBody>
          <a:bodyPr/>
          <a:lstStyle/>
          <a:p>
            <a:endParaRPr lang="en-US"/>
          </a:p>
        </p:txBody>
      </p:sp>
      <p:sp>
        <p:nvSpPr>
          <p:cNvPr id="18" name="Text 15"/>
          <p:cNvSpPr/>
          <p:nvPr/>
        </p:nvSpPr>
        <p:spPr>
          <a:xfrm>
            <a:off x="8503920" y="2148840"/>
            <a:ext cx="3017520" cy="274320"/>
          </a:xfrm>
          <a:prstGeom prst="rect">
            <a:avLst/>
          </a:prstGeom>
          <a:noFill/>
          <a:ln/>
        </p:spPr>
        <p:txBody>
          <a:bodyPr wrap="square" lIns="0" tIns="0" rIns="0" bIns="0" rtlCol="0" anchor="ctr"/>
          <a:lstStyle/>
          <a:p>
            <a:pPr marL="0" indent="0">
              <a:buNone/>
            </a:pPr>
            <a:r>
              <a:rPr lang="en-US" sz="1300" b="1" dirty="0">
                <a:solidFill>
                  <a:srgbClr val="7F8B8F"/>
                </a:solidFill>
                <a:latin typeface="Segoe UI" pitchFamily="34" charset="0"/>
                <a:ea typeface="Segoe UI" pitchFamily="34" charset="-122"/>
                <a:cs typeface="Segoe UI" pitchFamily="34" charset="-120"/>
              </a:rPr>
              <a:t>By region, fairly even</a:t>
            </a:r>
            <a:endParaRPr lang="en-US" sz="1300" dirty="0"/>
          </a:p>
        </p:txBody>
      </p:sp>
      <p:sp>
        <p:nvSpPr>
          <p:cNvPr id="19" name="Text 16"/>
          <p:cNvSpPr/>
          <p:nvPr/>
        </p:nvSpPr>
        <p:spPr>
          <a:xfrm>
            <a:off x="8503920" y="2450592"/>
            <a:ext cx="3017520" cy="777240"/>
          </a:xfrm>
          <a:prstGeom prst="rect">
            <a:avLst/>
          </a:prstGeom>
          <a:noFill/>
          <a:ln/>
        </p:spPr>
        <p:txBody>
          <a:bodyPr wrap="square" lIns="0" tIns="0" rIns="0" bIns="0" rtlCol="0" anchor="t"/>
          <a:lstStyle/>
          <a:p>
            <a:pPr marL="0" indent="0">
              <a:buNone/>
            </a:pPr>
            <a:r>
              <a:rPr lang="en-US" sz="1100" dirty="0">
                <a:solidFill>
                  <a:srgbClr val="17344F"/>
                </a:solidFill>
                <a:latin typeface="Segoe UI" pitchFamily="34" charset="0"/>
                <a:ea typeface="Segoe UI" pitchFamily="34" charset="-122"/>
                <a:cs typeface="Segoe UI" pitchFamily="34" charset="-120"/>
              </a:rPr>
              <a:t>The six regions sit close together. Region is too broad a lens to tell one rep apart from another.</a:t>
            </a:r>
            <a:endParaRPr lang="en-US" sz="1100" dirty="0"/>
          </a:p>
        </p:txBody>
      </p:sp>
      <p:sp>
        <p:nvSpPr>
          <p:cNvPr id="20" name="Shape 17"/>
          <p:cNvSpPr/>
          <p:nvPr/>
        </p:nvSpPr>
        <p:spPr>
          <a:xfrm>
            <a:off x="8321040" y="4069080"/>
            <a:ext cx="3310128" cy="1325880"/>
          </a:xfrm>
          <a:prstGeom prst="roundRect">
            <a:avLst>
              <a:gd name="adj" fmla="val 4138"/>
            </a:avLst>
          </a:prstGeom>
          <a:solidFill>
            <a:srgbClr val="F7F9F1"/>
          </a:solidFill>
          <a:ln w="15875">
            <a:solidFill>
              <a:srgbClr val="567A2E"/>
            </a:solidFill>
            <a:prstDash val="solid"/>
          </a:ln>
        </p:spPr>
        <p:txBody>
          <a:bodyPr/>
          <a:lstStyle/>
          <a:p>
            <a:endParaRPr lang="en-US"/>
          </a:p>
        </p:txBody>
      </p:sp>
      <p:sp>
        <p:nvSpPr>
          <p:cNvPr id="21" name="Text 18"/>
          <p:cNvSpPr/>
          <p:nvPr/>
        </p:nvSpPr>
        <p:spPr>
          <a:xfrm>
            <a:off x="8503920" y="4206240"/>
            <a:ext cx="3017520" cy="274320"/>
          </a:xfrm>
          <a:prstGeom prst="rect">
            <a:avLst/>
          </a:prstGeom>
          <a:noFill/>
          <a:ln/>
        </p:spPr>
        <p:txBody>
          <a:bodyPr wrap="square" lIns="0" tIns="0" rIns="0" bIns="0" rtlCol="0" anchor="ctr"/>
          <a:lstStyle/>
          <a:p>
            <a:pPr marL="0" indent="0">
              <a:buNone/>
            </a:pPr>
            <a:r>
              <a:rPr lang="en-US" sz="1300" b="1" dirty="0">
                <a:solidFill>
                  <a:srgbClr val="567A2E"/>
                </a:solidFill>
                <a:latin typeface="Segoe UI" pitchFamily="34" charset="0"/>
                <a:ea typeface="Segoe UI" pitchFamily="34" charset="-122"/>
                <a:cs typeface="Segoe UI" pitchFamily="34" charset="-120"/>
              </a:rPr>
              <a:t>By territory, very uneven</a:t>
            </a:r>
            <a:endParaRPr lang="en-US" sz="1300" dirty="0"/>
          </a:p>
        </p:txBody>
      </p:sp>
      <p:sp>
        <p:nvSpPr>
          <p:cNvPr id="22" name="Text 19"/>
          <p:cNvSpPr/>
          <p:nvPr/>
        </p:nvSpPr>
        <p:spPr>
          <a:xfrm>
            <a:off x="8503920" y="4507992"/>
            <a:ext cx="3017520" cy="777240"/>
          </a:xfrm>
          <a:prstGeom prst="rect">
            <a:avLst/>
          </a:prstGeom>
          <a:noFill/>
          <a:ln/>
        </p:spPr>
        <p:txBody>
          <a:bodyPr wrap="square" lIns="0" tIns="0" rIns="0" bIns="0" rtlCol="0" anchor="t"/>
          <a:lstStyle/>
          <a:p>
            <a:pPr marL="0" indent="0">
              <a:buNone/>
            </a:pPr>
            <a:r>
              <a:rPr lang="en-US" sz="1100" b="1" dirty="0">
                <a:solidFill>
                  <a:srgbClr val="17344F"/>
                </a:solidFill>
                <a:latin typeface="Segoe UI" pitchFamily="34" charset="0"/>
                <a:ea typeface="Segoe UI" pitchFamily="34" charset="-122"/>
                <a:cs typeface="Segoe UI" pitchFamily="34" charset="-120"/>
              </a:rPr>
              <a:t>About 85 times</a:t>
            </a:r>
            <a:r>
              <a:rPr lang="en-US" sz="1100" dirty="0">
                <a:solidFill>
                  <a:srgbClr val="17344F"/>
                </a:solidFill>
                <a:latin typeface="Segoe UI" pitchFamily="34" charset="0"/>
                <a:ea typeface="Segoe UI" pitchFamily="34" charset="-122"/>
                <a:cs typeface="Segoe UI" pitchFamily="34" charset="-120"/>
              </a:rPr>
              <a:t> separates the largest territory from the smallest. Comparing them head to head would never be fair.</a:t>
            </a:r>
            <a:endParaRPr lang="en-US" sz="1100" dirty="0"/>
          </a:p>
        </p:txBody>
      </p:sp>
      <p:sp>
        <p:nvSpPr>
          <p:cNvPr id="23" name="Shape 20"/>
          <p:cNvSpPr/>
          <p:nvPr/>
        </p:nvSpPr>
        <p:spPr>
          <a:xfrm>
            <a:off x="566928" y="5623560"/>
            <a:ext cx="11064240" cy="548640"/>
          </a:xfrm>
          <a:prstGeom prst="rect">
            <a:avLst/>
          </a:prstGeom>
          <a:solidFill>
            <a:srgbClr val="E7EFD6"/>
          </a:solidFill>
          <a:ln/>
        </p:spPr>
        <p:txBody>
          <a:bodyPr/>
          <a:lstStyle/>
          <a:p>
            <a:endParaRPr lang="en-US"/>
          </a:p>
        </p:txBody>
      </p:sp>
      <p:sp>
        <p:nvSpPr>
          <p:cNvPr id="24" name="Text 21"/>
          <p:cNvSpPr/>
          <p:nvPr/>
        </p:nvSpPr>
        <p:spPr>
          <a:xfrm>
            <a:off x="749808" y="5623560"/>
            <a:ext cx="10698480" cy="548640"/>
          </a:xfrm>
          <a:prstGeom prst="rect">
            <a:avLst/>
          </a:prstGeom>
          <a:noFill/>
          <a:ln/>
        </p:spPr>
        <p:txBody>
          <a:bodyPr wrap="square" lIns="0" tIns="0" rIns="0" bIns="0" rtlCol="0" anchor="ctr"/>
          <a:lstStyle/>
          <a:p>
            <a:pPr marL="0" indent="0">
              <a:buNone/>
            </a:pPr>
            <a:r>
              <a:rPr lang="en-US" sz="1250" b="1" dirty="0">
                <a:solidFill>
                  <a:srgbClr val="567A2E"/>
                </a:solidFill>
                <a:latin typeface="Segoe UI" pitchFamily="34" charset="0"/>
                <a:ea typeface="Segoe UI" pitchFamily="34" charset="-122"/>
                <a:cs typeface="Segoe UI" pitchFamily="34" charset="-120"/>
              </a:rPr>
              <a:t>So we group first.  </a:t>
            </a:r>
            <a:r>
              <a:rPr lang="en-US" sz="1250" dirty="0">
                <a:solidFill>
                  <a:srgbClr val="17344F"/>
                </a:solidFill>
                <a:latin typeface="Segoe UI" pitchFamily="34" charset="0"/>
                <a:ea typeface="Segoe UI" pitchFamily="34" charset="-122"/>
                <a:cs typeface="Segoe UI" pitchFamily="34" charset="-120"/>
              </a:rPr>
              <a:t>If we simply counted enrollments, the biggest territories would win every time and the smaller ones could never catch up.</a:t>
            </a:r>
            <a:endParaRPr lang="en-US" sz="1250" dirty="0"/>
          </a:p>
        </p:txBody>
      </p:sp>
      <p:sp>
        <p:nvSpPr>
          <p:cNvPr id="25" name="Text 22"/>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Territory size uses our claims data as a stand in for how big each patch is. The real groups will be set from the enrollment numbers.</a:t>
            </a:r>
            <a:endParaRPr lang="en-US" sz="850" dirty="0"/>
          </a:p>
        </p:txBody>
      </p:sp>
    </p:spTree>
    <p:extLst>
      <p:ext uri="{BB962C8B-B14F-4D97-AF65-F5344CB8AC3E}">
        <p14:creationId xmlns:p14="http://schemas.microsoft.com/office/powerpoint/2010/main" val="288325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567A2E"/>
                </a:solidFill>
                <a:latin typeface="Segoe UI" pitchFamily="34" charset="0"/>
                <a:cs typeface="Segoe UI" pitchFamily="34" charset="-120"/>
              </a:rPr>
              <a:t>SCORING METHODOLOGY</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Each territory is ranked on both volume growth and percent growth</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5</a:t>
            </a:r>
            <a:endParaRPr lang="en-US" sz="900" dirty="0"/>
          </a:p>
        </p:txBody>
      </p:sp>
      <p:sp>
        <p:nvSpPr>
          <p:cNvPr id="13" name="Text 11"/>
          <p:cNvSpPr/>
          <p:nvPr/>
        </p:nvSpPr>
        <p:spPr>
          <a:xfrm>
            <a:off x="566928" y="1737360"/>
            <a:ext cx="5349240" cy="320040"/>
          </a:xfrm>
          <a:prstGeom prst="rect">
            <a:avLst/>
          </a:prstGeom>
          <a:noFill/>
          <a:ln/>
        </p:spPr>
        <p:txBody>
          <a:bodyPr wrap="square" lIns="0" tIns="0" rIns="0" bIns="0" rtlCol="0" anchor="ctr"/>
          <a:lstStyle/>
          <a:p>
            <a:pPr marL="0" indent="0" algn="ctr">
              <a:buNone/>
            </a:pPr>
            <a:r>
              <a:rPr lang="en-US" sz="1400" b="1" i="1" u="sng" dirty="0">
                <a:solidFill>
                  <a:srgbClr val="17344F"/>
                </a:solidFill>
                <a:latin typeface="Segoe UI" pitchFamily="34" charset="0"/>
                <a:cs typeface="Segoe UI" pitchFamily="34" charset="-120"/>
              </a:rPr>
              <a:t>How each territory scores</a:t>
            </a:r>
          </a:p>
        </p:txBody>
      </p:sp>
      <p:sp>
        <p:nvSpPr>
          <p:cNvPr id="14" name="Shape 12"/>
          <p:cNvSpPr/>
          <p:nvPr/>
        </p:nvSpPr>
        <p:spPr>
          <a:xfrm>
            <a:off x="566928" y="2103120"/>
            <a:ext cx="5349240" cy="3840480"/>
          </a:xfrm>
          <a:prstGeom prst="rect">
            <a:avLst/>
          </a:prstGeom>
          <a:solidFill>
            <a:srgbClr val="FBFCF7"/>
          </a:solidFill>
          <a:ln w="12700">
            <a:solidFill>
              <a:srgbClr val="D6DBC9"/>
            </a:solidFill>
            <a:prstDash val="dash"/>
          </a:ln>
        </p:spPr>
        <p:txBody>
          <a:bodyPr/>
          <a:lstStyle/>
          <a:p>
            <a:endParaRPr lang="en-US"/>
          </a:p>
        </p:txBody>
      </p:sp>
      <p:sp>
        <p:nvSpPr>
          <p:cNvPr id="15" name="Text 13"/>
          <p:cNvSpPr/>
          <p:nvPr/>
        </p:nvSpPr>
        <p:spPr>
          <a:xfrm>
            <a:off x="6291072" y="1737360"/>
            <a:ext cx="5349240" cy="320040"/>
          </a:xfrm>
          <a:prstGeom prst="rect">
            <a:avLst/>
          </a:prstGeom>
          <a:noFill/>
          <a:ln/>
        </p:spPr>
        <p:txBody>
          <a:bodyPr wrap="square" lIns="0" tIns="0" rIns="0" bIns="0" rtlCol="0" anchor="ctr"/>
          <a:lstStyle/>
          <a:p>
            <a:pPr marL="0" indent="0" algn="ctr">
              <a:buNone/>
            </a:pPr>
            <a:r>
              <a:rPr lang="en-US" sz="1400" b="1" i="1" u="sng" dirty="0">
                <a:solidFill>
                  <a:srgbClr val="17344F"/>
                </a:solidFill>
                <a:latin typeface="Segoe UI" pitchFamily="34" charset="0"/>
                <a:cs typeface="Segoe UI" pitchFamily="34" charset="-120"/>
              </a:rPr>
              <a:t>The scoring flow</a:t>
            </a:r>
          </a:p>
        </p:txBody>
      </p:sp>
      <p:sp>
        <p:nvSpPr>
          <p:cNvPr id="16" name="Shape 14"/>
          <p:cNvSpPr/>
          <p:nvPr/>
        </p:nvSpPr>
        <p:spPr>
          <a:xfrm>
            <a:off x="6291072" y="2103120"/>
            <a:ext cx="5349240" cy="3840480"/>
          </a:xfrm>
          <a:prstGeom prst="rect">
            <a:avLst/>
          </a:prstGeom>
          <a:solidFill>
            <a:srgbClr val="FBFCF7"/>
          </a:solidFill>
          <a:ln w="12700">
            <a:solidFill>
              <a:srgbClr val="D6DBC9"/>
            </a:solidFill>
            <a:prstDash val="dash"/>
          </a:ln>
        </p:spPr>
        <p:txBody>
          <a:bodyPr/>
          <a:lstStyle/>
          <a:p>
            <a:endParaRPr lang="en-US"/>
          </a:p>
        </p:txBody>
      </p:sp>
      <p:sp>
        <p:nvSpPr>
          <p:cNvPr id="17" name="Text 15"/>
          <p:cNvSpPr/>
          <p:nvPr/>
        </p:nvSpPr>
        <p:spPr>
          <a:xfrm>
            <a:off x="777240" y="2331720"/>
            <a:ext cx="4892040" cy="347472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250" b="1" dirty="0">
                <a:solidFill>
                  <a:srgbClr val="17344F"/>
                </a:solidFill>
                <a:latin typeface="Segoe UI" pitchFamily="34" charset="0"/>
                <a:cs typeface="Segoe UI" pitchFamily="34" charset="-120"/>
              </a:rPr>
              <a:t>Baseline</a:t>
            </a:r>
            <a:r>
              <a:rPr lang="en-US" sz="1250" dirty="0">
                <a:solidFill>
                  <a:srgbClr val="17344F"/>
                </a:solidFill>
                <a:latin typeface="Segoe UI" pitchFamily="34" charset="0"/>
                <a:cs typeface="Segoe UI" pitchFamily="34" charset="-120"/>
              </a:rPr>
              <a:t>: average enrollments from </a:t>
            </a:r>
            <a:r>
              <a:rPr lang="en-US" sz="1250" b="1" dirty="0">
                <a:solidFill>
                  <a:srgbClr val="17344F"/>
                </a:solidFill>
                <a:latin typeface="Segoe UI" pitchFamily="34" charset="0"/>
                <a:cs typeface="Segoe UI" pitchFamily="34" charset="-120"/>
              </a:rPr>
              <a:t>Q3 2025 through Q2 2026</a:t>
            </a:r>
            <a:r>
              <a:rPr lang="en-US" sz="1250" dirty="0">
                <a:solidFill>
                  <a:srgbClr val="17344F"/>
                </a:solidFill>
                <a:latin typeface="Segoe UI" pitchFamily="34" charset="0"/>
                <a:cs typeface="Segoe UI" pitchFamily="34" charset="-120"/>
              </a:rPr>
              <a:t>, scaled to the two-month contest period.</a:t>
            </a:r>
          </a:p>
          <a:p>
            <a:pPr marL="203200" indent="-203200">
              <a:lnSpc>
                <a:spcPct val="103000"/>
              </a:lnSpc>
              <a:spcAft>
                <a:spcPts val="900"/>
              </a:spcAft>
              <a:buSzPct val="100000"/>
              <a:buChar char="•"/>
            </a:pPr>
            <a:r>
              <a:rPr lang="en-US" sz="1250" b="1" dirty="0">
                <a:solidFill>
                  <a:srgbClr val="17344F"/>
                </a:solidFill>
                <a:latin typeface="Segoe UI" pitchFamily="34" charset="0"/>
                <a:cs typeface="Segoe UI" pitchFamily="34" charset="-120"/>
              </a:rPr>
              <a:t>Volume growth</a:t>
            </a:r>
            <a:r>
              <a:rPr lang="en-US" sz="1250" dirty="0">
                <a:solidFill>
                  <a:srgbClr val="17344F"/>
                </a:solidFill>
                <a:latin typeface="Segoe UI" pitchFamily="34" charset="0"/>
                <a:cs typeface="Segoe UI" pitchFamily="34" charset="-120"/>
              </a:rPr>
              <a:t>: contest enrollments minus baseline.</a:t>
            </a:r>
          </a:p>
          <a:p>
            <a:pPr marL="203200" indent="-203200">
              <a:lnSpc>
                <a:spcPct val="103000"/>
              </a:lnSpc>
              <a:spcAft>
                <a:spcPts val="900"/>
              </a:spcAft>
              <a:buSzPct val="100000"/>
              <a:buChar char="•"/>
            </a:pPr>
            <a:r>
              <a:rPr lang="en-US" sz="1250" b="1" dirty="0">
                <a:solidFill>
                  <a:srgbClr val="17344F"/>
                </a:solidFill>
                <a:latin typeface="Segoe UI" pitchFamily="34" charset="0"/>
                <a:cs typeface="Segoe UI" pitchFamily="34" charset="-120"/>
              </a:rPr>
              <a:t>Percent growth</a:t>
            </a:r>
            <a:r>
              <a:rPr lang="en-US" sz="1250" dirty="0">
                <a:solidFill>
                  <a:srgbClr val="17344F"/>
                </a:solidFill>
                <a:latin typeface="Segoe UI" pitchFamily="34" charset="0"/>
                <a:cs typeface="Segoe UI" pitchFamily="34" charset="-120"/>
              </a:rPr>
              <a:t>: volume growth divided by baseline.</a:t>
            </a:r>
          </a:p>
          <a:p>
            <a:pPr marL="203200" indent="-203200">
              <a:lnSpc>
                <a:spcPct val="103000"/>
              </a:lnSpc>
              <a:spcAft>
                <a:spcPts val="900"/>
              </a:spcAft>
              <a:buSzPct val="100000"/>
              <a:buChar char="•"/>
            </a:pPr>
            <a:r>
              <a:rPr lang="en-US" sz="1250" b="1" dirty="0">
                <a:solidFill>
                  <a:srgbClr val="17344F"/>
                </a:solidFill>
                <a:latin typeface="Segoe UI" pitchFamily="34" charset="0"/>
                <a:cs typeface="Segoe UI" pitchFamily="34" charset="-120"/>
              </a:rPr>
              <a:t>Final score</a:t>
            </a:r>
            <a:r>
              <a:rPr lang="en-US" sz="1250" dirty="0">
                <a:solidFill>
                  <a:srgbClr val="17344F"/>
                </a:solidFill>
                <a:latin typeface="Segoe UI" pitchFamily="34" charset="0"/>
                <a:cs typeface="Segoe UI" pitchFamily="34" charset="-120"/>
              </a:rPr>
              <a:t>: average of the volume-growth rank and percent-growth rank, within the size group.</a:t>
            </a:r>
          </a:p>
          <a:p>
            <a:pPr marL="203200" indent="-203200">
              <a:lnSpc>
                <a:spcPct val="103000"/>
              </a:lnSpc>
              <a:spcAft>
                <a:spcPts val="900"/>
              </a:spcAft>
              <a:buSzPct val="100000"/>
              <a:buChar char="•"/>
            </a:pPr>
            <a:r>
              <a:rPr lang="en-US" sz="1250" b="1" dirty="0">
                <a:solidFill>
                  <a:srgbClr val="17344F"/>
                </a:solidFill>
                <a:latin typeface="Segoe UI" pitchFamily="34" charset="0"/>
                <a:cs typeface="Segoe UI" pitchFamily="34" charset="-120"/>
              </a:rPr>
              <a:t>Top two in each group are paid.</a:t>
            </a:r>
          </a:p>
          <a:p>
            <a:pPr marL="203200" indent="-203200">
              <a:lnSpc>
                <a:spcPct val="103000"/>
              </a:lnSpc>
              <a:buSzPct val="100000"/>
              <a:buChar char="•"/>
            </a:pPr>
            <a:r>
              <a:rPr lang="en-US" sz="1250" b="1" dirty="0">
                <a:solidFill>
                  <a:srgbClr val="17344F"/>
                </a:solidFill>
                <a:latin typeface="Segoe UI" pitchFamily="34" charset="0"/>
                <a:cs typeface="Segoe UI" pitchFamily="34" charset="-120"/>
              </a:rPr>
              <a:t>Tie-breaker</a:t>
            </a:r>
            <a:r>
              <a:rPr lang="en-US" sz="1250" dirty="0">
                <a:solidFill>
                  <a:srgbClr val="17344F"/>
                </a:solidFill>
                <a:latin typeface="Segoe UI" pitchFamily="34" charset="0"/>
                <a:cs typeface="Segoe UI" pitchFamily="34" charset="-120"/>
              </a:rPr>
              <a:t>: the higher percent growth wins.</a:t>
            </a:r>
          </a:p>
        </p:txBody>
      </p:sp>
      <p:sp>
        <p:nvSpPr>
          <p:cNvPr id="18" name="Text 16"/>
          <p:cNvSpPr/>
          <p:nvPr/>
        </p:nvSpPr>
        <p:spPr>
          <a:xfrm>
            <a:off x="6501384" y="2331720"/>
            <a:ext cx="4892040" cy="3474720"/>
          </a:xfrm>
          <a:prstGeom prst="rect">
            <a:avLst/>
          </a:prstGeom>
          <a:noFill/>
          <a:ln/>
        </p:spPr>
        <p:txBody>
          <a:bodyPr wrap="square" lIns="0" tIns="0" rIns="0" bIns="0" rtlCol="0" anchor="t"/>
          <a:lstStyle/>
          <a:p>
            <a:pPr marL="0" indent="0">
              <a:buNone/>
            </a:pPr>
            <a:endParaRPr lang="en-US" sz="1250" dirty="0"/>
          </a:p>
        </p:txBody>
      </p:sp>
      <p:sp>
        <p:nvSpPr>
          <p:cNvPr id="19" name="Text 17"/>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cs typeface="Segoe UI" pitchFamily="34" charset="-120"/>
              </a:rPr>
              <a:t>Enrollment, capacity, baseline, and payout figures are internal planning figures for 2H 2026. Final values subject to leadership approval.</a:t>
            </a:r>
          </a:p>
        </p:txBody>
      </p:sp>
      <p:sp>
        <p:nvSpPr>
          <p:cNvPr id="20" name="Rounded Rectangle 19">
            <a:extLst>
              <a:ext uri="{FF2B5EF4-FFF2-40B4-BE49-F238E27FC236}">
                <a16:creationId xmlns:a16="http://schemas.microsoft.com/office/drawing/2014/main" id="{10B5C973-23BC-E143-930B-4E978CEEFFAE}"/>
              </a:ext>
            </a:extLst>
          </p:cNvPr>
          <p:cNvSpPr/>
          <p:nvPr/>
        </p:nvSpPr>
        <p:spPr>
          <a:xfrm>
            <a:off x="7048500" y="2286000"/>
            <a:ext cx="3810000" cy="457200"/>
          </a:xfrm>
          <a:prstGeom prst="roundRect">
            <a:avLst/>
          </a:prstGeom>
          <a:solidFill>
            <a:srgbClr val="1734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Segoe UI"/>
                <a:cs typeface="Segoe UI"/>
              </a:rPr>
              <a:t>Baseline</a:t>
            </a:r>
          </a:p>
        </p:txBody>
      </p:sp>
      <p:sp>
        <p:nvSpPr>
          <p:cNvPr id="21" name="Rounded Rectangle 20">
            <a:extLst>
              <a:ext uri="{FF2B5EF4-FFF2-40B4-BE49-F238E27FC236}">
                <a16:creationId xmlns:a16="http://schemas.microsoft.com/office/drawing/2014/main" id="{4C5C1675-87A5-9044-8431-C344E667092E}"/>
              </a:ext>
            </a:extLst>
          </p:cNvPr>
          <p:cNvSpPr/>
          <p:nvPr/>
        </p:nvSpPr>
        <p:spPr>
          <a:xfrm>
            <a:off x="7048500" y="2971800"/>
            <a:ext cx="3810000" cy="457200"/>
          </a:xfrm>
          <a:prstGeom prst="roundRect">
            <a:avLst/>
          </a:prstGeom>
          <a:solidFill>
            <a:srgbClr val="17344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Segoe UI"/>
                <a:cs typeface="Segoe UI"/>
              </a:rPr>
              <a:t>Contest enrollments</a:t>
            </a:r>
          </a:p>
        </p:txBody>
      </p:sp>
      <p:sp>
        <p:nvSpPr>
          <p:cNvPr id="22" name="Rounded Rectangle 21">
            <a:extLst>
              <a:ext uri="{FF2B5EF4-FFF2-40B4-BE49-F238E27FC236}">
                <a16:creationId xmlns:a16="http://schemas.microsoft.com/office/drawing/2014/main" id="{2C82BA4E-E9F0-3F4F-B059-6E2D4747CB1A}"/>
              </a:ext>
            </a:extLst>
          </p:cNvPr>
          <p:cNvSpPr/>
          <p:nvPr/>
        </p:nvSpPr>
        <p:spPr>
          <a:xfrm>
            <a:off x="7048500" y="3657600"/>
            <a:ext cx="3810000" cy="660400"/>
          </a:xfrm>
          <a:prstGeom prst="roundRect">
            <a:avLst/>
          </a:prstGeom>
          <a:solidFill>
            <a:srgbClr val="2E6DA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FFFFFF"/>
                </a:solidFill>
                <a:latin typeface="Segoe UI"/>
                <a:cs typeface="Segoe UI"/>
              </a:rPr>
              <a:t>Volume growth
+  Percent growth</a:t>
            </a:r>
          </a:p>
        </p:txBody>
      </p:sp>
      <p:sp>
        <p:nvSpPr>
          <p:cNvPr id="23" name="Rounded Rectangle 22">
            <a:extLst>
              <a:ext uri="{FF2B5EF4-FFF2-40B4-BE49-F238E27FC236}">
                <a16:creationId xmlns:a16="http://schemas.microsoft.com/office/drawing/2014/main" id="{3113072C-3446-3447-A738-E1FD4042E9B1}"/>
              </a:ext>
            </a:extLst>
          </p:cNvPr>
          <p:cNvSpPr/>
          <p:nvPr/>
        </p:nvSpPr>
        <p:spPr>
          <a:xfrm>
            <a:off x="7048500" y="4546600"/>
            <a:ext cx="3810000" cy="457200"/>
          </a:xfrm>
          <a:prstGeom prst="roundRect">
            <a:avLst/>
          </a:prstGeom>
          <a:solidFill>
            <a:srgbClr val="2F5D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FFFFF"/>
                </a:solidFill>
                <a:latin typeface="Segoe UI"/>
                <a:cs typeface="Segoe UI"/>
              </a:rPr>
              <a:t>Average rank in size group</a:t>
            </a:r>
          </a:p>
        </p:txBody>
      </p:sp>
      <p:sp>
        <p:nvSpPr>
          <p:cNvPr id="24" name="Rounded Rectangle 23">
            <a:extLst>
              <a:ext uri="{FF2B5EF4-FFF2-40B4-BE49-F238E27FC236}">
                <a16:creationId xmlns:a16="http://schemas.microsoft.com/office/drawing/2014/main" id="{B1E82063-BDC0-D749-AEE4-A25AB59F23A0}"/>
              </a:ext>
            </a:extLst>
          </p:cNvPr>
          <p:cNvSpPr/>
          <p:nvPr/>
        </p:nvSpPr>
        <p:spPr>
          <a:xfrm>
            <a:off x="7048500" y="5232400"/>
            <a:ext cx="3810000" cy="508000"/>
          </a:xfrm>
          <a:prstGeom prst="roundRect">
            <a:avLst/>
          </a:prstGeom>
          <a:solidFill>
            <a:srgbClr val="567A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Segoe UI"/>
                <a:cs typeface="Segoe UI"/>
              </a:rPr>
              <a:t>Winner</a:t>
            </a:r>
          </a:p>
        </p:txBody>
      </p:sp>
      <p:sp>
        <p:nvSpPr>
          <p:cNvPr id="25" name="Down Arrow 24">
            <a:extLst>
              <a:ext uri="{FF2B5EF4-FFF2-40B4-BE49-F238E27FC236}">
                <a16:creationId xmlns:a16="http://schemas.microsoft.com/office/drawing/2014/main" id="{4BFC14D4-2B72-5741-B88E-9FB7E8E621D6}"/>
              </a:ext>
            </a:extLst>
          </p:cNvPr>
          <p:cNvSpPr/>
          <p:nvPr/>
        </p:nvSpPr>
        <p:spPr>
          <a:xfrm>
            <a:off x="8851900" y="2768600"/>
            <a:ext cx="203200" cy="177800"/>
          </a:xfrm>
          <a:prstGeom prst="downArrow">
            <a:avLst/>
          </a:prstGeom>
          <a:solidFill>
            <a:srgbClr val="7F8B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own Arrow 25">
            <a:extLst>
              <a:ext uri="{FF2B5EF4-FFF2-40B4-BE49-F238E27FC236}">
                <a16:creationId xmlns:a16="http://schemas.microsoft.com/office/drawing/2014/main" id="{51739C6B-63AE-A941-9548-C46E58DF50A4}"/>
              </a:ext>
            </a:extLst>
          </p:cNvPr>
          <p:cNvSpPr/>
          <p:nvPr/>
        </p:nvSpPr>
        <p:spPr>
          <a:xfrm>
            <a:off x="8851900" y="3454400"/>
            <a:ext cx="203200" cy="177800"/>
          </a:xfrm>
          <a:prstGeom prst="downArrow">
            <a:avLst/>
          </a:prstGeom>
          <a:solidFill>
            <a:srgbClr val="7F8B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Down Arrow 26">
            <a:extLst>
              <a:ext uri="{FF2B5EF4-FFF2-40B4-BE49-F238E27FC236}">
                <a16:creationId xmlns:a16="http://schemas.microsoft.com/office/drawing/2014/main" id="{E9058639-73A7-2842-A994-A619446B6C24}"/>
              </a:ext>
            </a:extLst>
          </p:cNvPr>
          <p:cNvSpPr/>
          <p:nvPr/>
        </p:nvSpPr>
        <p:spPr>
          <a:xfrm>
            <a:off x="8851900" y="4356100"/>
            <a:ext cx="203200" cy="177800"/>
          </a:xfrm>
          <a:prstGeom prst="downArrow">
            <a:avLst/>
          </a:prstGeom>
          <a:solidFill>
            <a:srgbClr val="7F8B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Down Arrow 27">
            <a:extLst>
              <a:ext uri="{FF2B5EF4-FFF2-40B4-BE49-F238E27FC236}">
                <a16:creationId xmlns:a16="http://schemas.microsoft.com/office/drawing/2014/main" id="{F562A193-A95C-3144-9C60-C09F813D2CEA}"/>
              </a:ext>
            </a:extLst>
          </p:cNvPr>
          <p:cNvSpPr/>
          <p:nvPr/>
        </p:nvSpPr>
        <p:spPr>
          <a:xfrm>
            <a:off x="8851900" y="5029200"/>
            <a:ext cx="203200" cy="177800"/>
          </a:xfrm>
          <a:prstGeom prst="downArrow">
            <a:avLst/>
          </a:prstGeom>
          <a:solidFill>
            <a:srgbClr val="7F8B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916355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PAYOUT</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The prize pool uses fixed shares, so leadership can adjust the budget without redesigning the contest</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6</a:t>
            </a:r>
            <a:endParaRPr lang="en-US" sz="900" dirty="0"/>
          </a:p>
        </p:txBody>
      </p:sp>
      <p:sp>
        <p:nvSpPr>
          <p:cNvPr id="13" name="Shape 11"/>
          <p:cNvSpPr/>
          <p:nvPr/>
        </p:nvSpPr>
        <p:spPr>
          <a:xfrm>
            <a:off x="566928" y="1874520"/>
            <a:ext cx="2743200" cy="1371600"/>
          </a:xfrm>
          <a:prstGeom prst="roundRect">
            <a:avLst>
              <a:gd name="adj" fmla="val 5333"/>
            </a:avLst>
          </a:prstGeom>
          <a:solidFill>
            <a:srgbClr val="17344F"/>
          </a:solidFill>
          <a:ln/>
        </p:spPr>
        <p:txBody>
          <a:bodyPr/>
          <a:lstStyle/>
          <a:p>
            <a:endParaRPr lang="en-US"/>
          </a:p>
        </p:txBody>
      </p:sp>
      <p:sp>
        <p:nvSpPr>
          <p:cNvPr id="14" name="Text 12"/>
          <p:cNvSpPr/>
          <p:nvPr/>
        </p:nvSpPr>
        <p:spPr>
          <a:xfrm>
            <a:off x="566928" y="2011680"/>
            <a:ext cx="2743200" cy="274320"/>
          </a:xfrm>
          <a:prstGeom prst="rect">
            <a:avLst/>
          </a:prstGeom>
          <a:noFill/>
          <a:ln/>
        </p:spPr>
        <p:txBody>
          <a:bodyPr wrap="square" lIns="0" tIns="0" rIns="0" bIns="0" rtlCol="0" anchor="ctr"/>
          <a:lstStyle/>
          <a:p>
            <a:pPr marL="0" indent="0" algn="ctr">
              <a:buNone/>
            </a:pPr>
            <a:r>
              <a:rPr lang="en-US" sz="1100" b="1" kern="0" spc="200" dirty="0">
                <a:solidFill>
                  <a:srgbClr val="CFE3A0"/>
                </a:solidFill>
                <a:latin typeface="Segoe UI" pitchFamily="34" charset="0"/>
                <a:ea typeface="Segoe UI" pitchFamily="34" charset="-122"/>
                <a:cs typeface="Segoe UI" pitchFamily="34" charset="-120"/>
              </a:rPr>
              <a:t>PRIZE POT</a:t>
            </a:r>
            <a:endParaRPr lang="en-US" sz="1100" dirty="0"/>
          </a:p>
        </p:txBody>
      </p:sp>
      <p:sp>
        <p:nvSpPr>
          <p:cNvPr id="15" name="Text 13"/>
          <p:cNvSpPr/>
          <p:nvPr/>
        </p:nvSpPr>
        <p:spPr>
          <a:xfrm>
            <a:off x="566928" y="2286000"/>
            <a:ext cx="27432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$30,000</a:t>
            </a:r>
            <a:endParaRPr lang="en-US" sz="3600" dirty="0"/>
          </a:p>
        </p:txBody>
      </p:sp>
      <p:sp>
        <p:nvSpPr>
          <p:cNvPr id="16" name="Text 14"/>
          <p:cNvSpPr/>
          <p:nvPr/>
        </p:nvSpPr>
        <p:spPr>
          <a:xfrm>
            <a:off x="566928" y="2907792"/>
            <a:ext cx="2743200" cy="274320"/>
          </a:xfrm>
          <a:prstGeom prst="rect">
            <a:avLst/>
          </a:prstGeom>
          <a:noFill/>
          <a:ln/>
        </p:spPr>
        <p:txBody>
          <a:bodyPr wrap="square" lIns="0" tIns="0" rIns="0" bIns="0" rtlCol="0" anchor="ctr"/>
          <a:lstStyle/>
          <a:p>
            <a:pPr marL="0" indent="0" algn="ctr">
              <a:buNone/>
            </a:pPr>
            <a:r>
              <a:rPr lang="en-US" sz="1050" i="1" dirty="0">
                <a:solidFill>
                  <a:srgbClr val="BFD7E6"/>
                </a:solidFill>
                <a:latin typeface="Segoe UI" pitchFamily="34" charset="0"/>
                <a:ea typeface="Segoe UI" pitchFamily="34" charset="-122"/>
                <a:cs typeface="Segoe UI" pitchFamily="34" charset="-120"/>
              </a:rPr>
              <a:t>illustrative, final confirmation needed</a:t>
            </a:r>
          </a:p>
        </p:txBody>
      </p:sp>
      <p:sp>
        <p:nvSpPr>
          <p:cNvPr id="17" name="Shape 15"/>
          <p:cNvSpPr/>
          <p:nvPr/>
        </p:nvSpPr>
        <p:spPr>
          <a:xfrm>
            <a:off x="3401568" y="2395728"/>
            <a:ext cx="384048" cy="329184"/>
          </a:xfrm>
          <a:prstGeom prst="rightArrow">
            <a:avLst/>
          </a:prstGeom>
          <a:solidFill>
            <a:srgbClr val="8A8A80"/>
          </a:solidFill>
          <a:ln/>
        </p:spPr>
        <p:txBody>
          <a:bodyPr/>
          <a:lstStyle/>
          <a:p>
            <a:endParaRPr lang="en-US"/>
          </a:p>
        </p:txBody>
      </p:sp>
      <p:sp>
        <p:nvSpPr>
          <p:cNvPr id="18" name="Shape 16"/>
          <p:cNvSpPr/>
          <p:nvPr/>
        </p:nvSpPr>
        <p:spPr>
          <a:xfrm>
            <a:off x="3931920" y="1874520"/>
            <a:ext cx="2377440" cy="1371600"/>
          </a:xfrm>
          <a:prstGeom prst="roundRect">
            <a:avLst>
              <a:gd name="adj" fmla="val 4000"/>
            </a:avLst>
          </a:prstGeom>
          <a:solidFill>
            <a:srgbClr val="F7F9F1"/>
          </a:solidFill>
          <a:ln w="15875">
            <a:solidFill>
              <a:srgbClr val="567A2E"/>
            </a:solidFill>
            <a:prstDash val="solid"/>
          </a:ln>
        </p:spPr>
        <p:txBody>
          <a:bodyPr/>
          <a:lstStyle/>
          <a:p>
            <a:endParaRPr lang="en-US"/>
          </a:p>
        </p:txBody>
      </p:sp>
      <p:sp>
        <p:nvSpPr>
          <p:cNvPr id="19" name="Text 17"/>
          <p:cNvSpPr/>
          <p:nvPr/>
        </p:nvSpPr>
        <p:spPr>
          <a:xfrm>
            <a:off x="3931920" y="2011680"/>
            <a:ext cx="2377440" cy="292608"/>
          </a:xfrm>
          <a:prstGeom prst="rect">
            <a:avLst/>
          </a:prstGeom>
          <a:noFill/>
          <a:ln/>
        </p:spPr>
        <p:txBody>
          <a:bodyPr wrap="square" lIns="0" tIns="0" rIns="0" bIns="0" rtlCol="0" anchor="ctr"/>
          <a:lstStyle/>
          <a:p>
            <a:pPr marL="0" indent="0" algn="ctr">
              <a:buNone/>
            </a:pPr>
            <a:r>
              <a:rPr lang="en-US" sz="1300" b="1" dirty="0">
                <a:solidFill>
                  <a:srgbClr val="567A2E"/>
                </a:solidFill>
                <a:latin typeface="Segoe UI" pitchFamily="34" charset="0"/>
                <a:ea typeface="Segoe UI" pitchFamily="34" charset="-122"/>
                <a:cs typeface="Segoe UI" pitchFamily="34" charset="-120"/>
              </a:rPr>
              <a:t>1st place</a:t>
            </a:r>
            <a:endParaRPr lang="en-US" sz="1300" dirty="0"/>
          </a:p>
        </p:txBody>
      </p:sp>
      <p:sp>
        <p:nvSpPr>
          <p:cNvPr id="20" name="Text 18"/>
          <p:cNvSpPr/>
          <p:nvPr/>
        </p:nvSpPr>
        <p:spPr>
          <a:xfrm>
            <a:off x="3931920" y="2304288"/>
            <a:ext cx="2377440" cy="566928"/>
          </a:xfrm>
          <a:prstGeom prst="rect">
            <a:avLst/>
          </a:prstGeom>
          <a:noFill/>
          <a:ln/>
        </p:spPr>
        <p:txBody>
          <a:bodyPr wrap="square" lIns="0" tIns="0" rIns="0" bIns="0" rtlCol="0" anchor="ctr"/>
          <a:lstStyle/>
          <a:p>
            <a:pPr marL="0" indent="0" algn="ctr">
              <a:buNone/>
            </a:pPr>
            <a:r>
              <a:rPr lang="en-US" sz="3200" b="1" dirty="0">
                <a:solidFill>
                  <a:srgbClr val="17344F"/>
                </a:solidFill>
                <a:latin typeface="Segoe UI" pitchFamily="34" charset="0"/>
                <a:ea typeface="Segoe UI" pitchFamily="34" charset="-122"/>
                <a:cs typeface="Segoe UI" pitchFamily="34" charset="-120"/>
              </a:rPr>
              <a:t>16.67%</a:t>
            </a:r>
            <a:endParaRPr lang="en-US" sz="3200" dirty="0"/>
          </a:p>
        </p:txBody>
      </p:sp>
      <p:sp>
        <p:nvSpPr>
          <p:cNvPr id="21" name="Text 19"/>
          <p:cNvSpPr/>
          <p:nvPr/>
        </p:nvSpPr>
        <p:spPr>
          <a:xfrm>
            <a:off x="3931920" y="2889504"/>
            <a:ext cx="2377440" cy="274320"/>
          </a:xfrm>
          <a:prstGeom prst="rect">
            <a:avLst/>
          </a:prstGeom>
          <a:noFill/>
          <a:ln/>
        </p:spPr>
        <p:txBody>
          <a:bodyPr wrap="square" lIns="0" tIns="0" rIns="0" bIns="0" rtlCol="0" anchor="ctr"/>
          <a:lstStyle/>
          <a:p>
            <a:pPr marL="0" indent="0" algn="ctr">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22" name="Shape 20"/>
          <p:cNvSpPr/>
          <p:nvPr/>
        </p:nvSpPr>
        <p:spPr>
          <a:xfrm>
            <a:off x="6537960" y="1874520"/>
            <a:ext cx="2377440" cy="1371600"/>
          </a:xfrm>
          <a:prstGeom prst="roundRect">
            <a:avLst>
              <a:gd name="adj" fmla="val 4000"/>
            </a:avLst>
          </a:prstGeom>
          <a:solidFill>
            <a:srgbClr val="F7F9F1"/>
          </a:solidFill>
          <a:ln w="15875">
            <a:solidFill>
              <a:srgbClr val="2E6DA4"/>
            </a:solidFill>
            <a:prstDash val="solid"/>
          </a:ln>
        </p:spPr>
        <p:txBody>
          <a:bodyPr/>
          <a:lstStyle/>
          <a:p>
            <a:endParaRPr lang="en-US"/>
          </a:p>
        </p:txBody>
      </p:sp>
      <p:sp>
        <p:nvSpPr>
          <p:cNvPr id="23" name="Text 21"/>
          <p:cNvSpPr/>
          <p:nvPr/>
        </p:nvSpPr>
        <p:spPr>
          <a:xfrm>
            <a:off x="6537960" y="2011680"/>
            <a:ext cx="2377440" cy="292608"/>
          </a:xfrm>
          <a:prstGeom prst="rect">
            <a:avLst/>
          </a:prstGeom>
          <a:noFill/>
          <a:ln/>
        </p:spPr>
        <p:txBody>
          <a:bodyPr wrap="square" lIns="0" tIns="0" rIns="0" bIns="0" rtlCol="0" anchor="ctr"/>
          <a:lstStyle/>
          <a:p>
            <a:pPr marL="0" indent="0" algn="ctr">
              <a:buNone/>
            </a:pPr>
            <a:r>
              <a:rPr lang="en-US" sz="1300" b="1" dirty="0">
                <a:solidFill>
                  <a:srgbClr val="2E6DA4"/>
                </a:solidFill>
                <a:latin typeface="Segoe UI" pitchFamily="34" charset="0"/>
                <a:ea typeface="Segoe UI" pitchFamily="34" charset="-122"/>
                <a:cs typeface="Segoe UI" pitchFamily="34" charset="-120"/>
              </a:rPr>
              <a:t>2nd place</a:t>
            </a:r>
            <a:endParaRPr lang="en-US" sz="1300" dirty="0"/>
          </a:p>
        </p:txBody>
      </p:sp>
      <p:sp>
        <p:nvSpPr>
          <p:cNvPr id="24" name="Text 22"/>
          <p:cNvSpPr/>
          <p:nvPr/>
        </p:nvSpPr>
        <p:spPr>
          <a:xfrm>
            <a:off x="6537960" y="2304288"/>
            <a:ext cx="2377440" cy="566928"/>
          </a:xfrm>
          <a:prstGeom prst="rect">
            <a:avLst/>
          </a:prstGeom>
          <a:noFill/>
          <a:ln/>
        </p:spPr>
        <p:txBody>
          <a:bodyPr wrap="square" lIns="0" tIns="0" rIns="0" bIns="0" rtlCol="0" anchor="ctr"/>
          <a:lstStyle/>
          <a:p>
            <a:pPr marL="0" indent="0" algn="ctr">
              <a:buNone/>
            </a:pPr>
            <a:r>
              <a:rPr lang="en-US" sz="3200" b="1" dirty="0">
                <a:solidFill>
                  <a:srgbClr val="17344F"/>
                </a:solidFill>
                <a:latin typeface="Segoe UI" pitchFamily="34" charset="0"/>
                <a:ea typeface="Segoe UI" pitchFamily="34" charset="-122"/>
                <a:cs typeface="Segoe UI" pitchFamily="34" charset="-120"/>
              </a:rPr>
              <a:t>10%</a:t>
            </a:r>
            <a:endParaRPr lang="en-US" sz="3200" dirty="0"/>
          </a:p>
        </p:txBody>
      </p:sp>
      <p:sp>
        <p:nvSpPr>
          <p:cNvPr id="25" name="Text 23"/>
          <p:cNvSpPr/>
          <p:nvPr/>
        </p:nvSpPr>
        <p:spPr>
          <a:xfrm>
            <a:off x="6537960" y="2889504"/>
            <a:ext cx="2377440" cy="274320"/>
          </a:xfrm>
          <a:prstGeom prst="rect">
            <a:avLst/>
          </a:prstGeom>
          <a:noFill/>
          <a:ln/>
        </p:spPr>
        <p:txBody>
          <a:bodyPr wrap="square" lIns="0" tIns="0" rIns="0" bIns="0" rtlCol="0" anchor="ctr"/>
          <a:lstStyle/>
          <a:p>
            <a:pPr marL="0" indent="0" algn="ctr">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26" name="Shape 24"/>
          <p:cNvSpPr/>
          <p:nvPr/>
        </p:nvSpPr>
        <p:spPr>
          <a:xfrm>
            <a:off x="9144000" y="1874520"/>
            <a:ext cx="2377440" cy="1371600"/>
          </a:xfrm>
          <a:prstGeom prst="roundRect">
            <a:avLst>
              <a:gd name="adj" fmla="val 4000"/>
            </a:avLst>
          </a:prstGeom>
          <a:solidFill>
            <a:srgbClr val="F7F9F1"/>
          </a:solidFill>
          <a:ln w="15875">
            <a:solidFill>
              <a:srgbClr val="7F8B8F"/>
            </a:solidFill>
            <a:prstDash val="solid"/>
          </a:ln>
        </p:spPr>
        <p:txBody>
          <a:bodyPr/>
          <a:lstStyle/>
          <a:p>
            <a:endParaRPr lang="en-US"/>
          </a:p>
        </p:txBody>
      </p:sp>
      <p:sp>
        <p:nvSpPr>
          <p:cNvPr id="27" name="Text 25"/>
          <p:cNvSpPr/>
          <p:nvPr/>
        </p:nvSpPr>
        <p:spPr>
          <a:xfrm>
            <a:off x="9144000" y="2011680"/>
            <a:ext cx="2377440" cy="292608"/>
          </a:xfrm>
          <a:prstGeom prst="rect">
            <a:avLst/>
          </a:prstGeom>
          <a:noFill/>
          <a:ln/>
        </p:spPr>
        <p:txBody>
          <a:bodyPr wrap="square" lIns="0" tIns="0" rIns="0" bIns="0" rtlCol="0" anchor="ctr"/>
          <a:lstStyle/>
          <a:p>
            <a:pPr marL="0" indent="0" algn="ctr">
              <a:buNone/>
            </a:pPr>
            <a:r>
              <a:rPr lang="en-US" sz="1300" b="1" dirty="0">
                <a:solidFill>
                  <a:srgbClr val="7F8B8F"/>
                </a:solidFill>
                <a:latin typeface="Segoe UI" pitchFamily="34" charset="0"/>
                <a:ea typeface="Segoe UI" pitchFamily="34" charset="-122"/>
                <a:cs typeface="Segoe UI" pitchFamily="34" charset="-120"/>
              </a:rPr>
              <a:t>Quality prize</a:t>
            </a:r>
            <a:endParaRPr lang="en-US" sz="1300" dirty="0"/>
          </a:p>
        </p:txBody>
      </p:sp>
      <p:sp>
        <p:nvSpPr>
          <p:cNvPr id="28" name="Text 26"/>
          <p:cNvSpPr/>
          <p:nvPr/>
        </p:nvSpPr>
        <p:spPr>
          <a:xfrm>
            <a:off x="9144000" y="2304288"/>
            <a:ext cx="2377440" cy="566928"/>
          </a:xfrm>
          <a:prstGeom prst="rect">
            <a:avLst/>
          </a:prstGeom>
          <a:noFill/>
          <a:ln/>
        </p:spPr>
        <p:txBody>
          <a:bodyPr wrap="square" lIns="0" tIns="0" rIns="0" bIns="0" rtlCol="0" anchor="ctr"/>
          <a:lstStyle/>
          <a:p>
            <a:pPr marL="0" indent="0" algn="ctr">
              <a:buNone/>
            </a:pPr>
            <a:r>
              <a:rPr lang="en-US" sz="3200" b="1" dirty="0">
                <a:solidFill>
                  <a:srgbClr val="17344F"/>
                </a:solidFill>
                <a:latin typeface="Segoe UI" pitchFamily="34" charset="0"/>
                <a:ea typeface="Segoe UI" pitchFamily="34" charset="-122"/>
                <a:cs typeface="Segoe UI" pitchFamily="34" charset="-120"/>
              </a:rPr>
              <a:t>6.67%</a:t>
            </a:r>
            <a:endParaRPr lang="en-US" sz="3200" dirty="0"/>
          </a:p>
        </p:txBody>
      </p:sp>
      <p:sp>
        <p:nvSpPr>
          <p:cNvPr id="29" name="Text 27"/>
          <p:cNvSpPr/>
          <p:nvPr/>
        </p:nvSpPr>
        <p:spPr>
          <a:xfrm>
            <a:off x="9144000" y="2889504"/>
            <a:ext cx="2377440" cy="274320"/>
          </a:xfrm>
          <a:prstGeom prst="rect">
            <a:avLst/>
          </a:prstGeom>
          <a:noFill/>
          <a:ln/>
        </p:spPr>
        <p:txBody>
          <a:bodyPr wrap="square" lIns="0" tIns="0" rIns="0" bIns="0" rtlCol="0" anchor="ctr"/>
          <a:lstStyle/>
          <a:p>
            <a:pPr marL="0" indent="0" algn="ctr">
              <a:buNone/>
            </a:pPr>
            <a:r>
              <a:rPr lang="en-US" sz="1000" dirty="0">
                <a:solidFill>
                  <a:srgbClr val="3D5A66"/>
                </a:solidFill>
                <a:latin typeface="Segoe UI" pitchFamily="34" charset="0"/>
                <a:ea typeface="Segoe UI" pitchFamily="34" charset="-122"/>
                <a:cs typeface="Segoe UI" pitchFamily="34" charset="-120"/>
              </a:rPr>
              <a:t>of the pot, per group</a:t>
            </a:r>
            <a:endParaRPr lang="en-US" sz="1000" dirty="0"/>
          </a:p>
        </p:txBody>
      </p:sp>
      <p:sp>
        <p:nvSpPr>
          <p:cNvPr id="30" name="Text 28"/>
          <p:cNvSpPr/>
          <p:nvPr/>
        </p:nvSpPr>
        <p:spPr>
          <a:xfrm>
            <a:off x="566928" y="3611880"/>
            <a:ext cx="2926080" cy="365760"/>
          </a:xfrm>
          <a:prstGeom prst="rect">
            <a:avLst/>
          </a:prstGeom>
          <a:noFill/>
          <a:ln/>
        </p:spPr>
        <p:txBody>
          <a:bodyPr wrap="square" lIns="0" tIns="0" rIns="0" bIns="0" rtlCol="0" anchor="ctr"/>
          <a:lstStyle/>
          <a:p>
            <a:pPr marL="0" indent="0">
              <a:buNone/>
            </a:pPr>
            <a:r>
              <a:rPr lang="en-US" sz="1200" b="1" dirty="0">
                <a:solidFill>
                  <a:srgbClr val="17344F"/>
                </a:solidFill>
                <a:latin typeface="Segoe UI" pitchFamily="34" charset="0"/>
                <a:ea typeface="Segoe UI" pitchFamily="34" charset="-122"/>
                <a:cs typeface="Segoe UI" pitchFamily="34" charset="-120"/>
              </a:rPr>
              <a:t>Across all three groups:</a:t>
            </a:r>
            <a:endParaRPr lang="en-US" sz="1200" dirty="0"/>
          </a:p>
        </p:txBody>
      </p:sp>
      <p:sp>
        <p:nvSpPr>
          <p:cNvPr id="31" name="Shape 29"/>
          <p:cNvSpPr/>
          <p:nvPr/>
        </p:nvSpPr>
        <p:spPr>
          <a:xfrm>
            <a:off x="3566160" y="3639312"/>
            <a:ext cx="4023360" cy="365760"/>
          </a:xfrm>
          <a:prstGeom prst="rect">
            <a:avLst/>
          </a:prstGeom>
          <a:solidFill>
            <a:srgbClr val="567A2E"/>
          </a:solidFill>
          <a:ln/>
        </p:spPr>
        <p:txBody>
          <a:bodyPr/>
          <a:lstStyle/>
          <a:p>
            <a:endParaRPr lang="en-US"/>
          </a:p>
        </p:txBody>
      </p:sp>
      <p:sp>
        <p:nvSpPr>
          <p:cNvPr id="32" name="Text 30"/>
          <p:cNvSpPr/>
          <p:nvPr/>
        </p:nvSpPr>
        <p:spPr>
          <a:xfrm>
            <a:off x="3566160" y="3639312"/>
            <a:ext cx="40233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1st, 50%</a:t>
            </a:r>
            <a:endParaRPr lang="en-US" sz="1100" dirty="0"/>
          </a:p>
        </p:txBody>
      </p:sp>
      <p:sp>
        <p:nvSpPr>
          <p:cNvPr id="33" name="Shape 31"/>
          <p:cNvSpPr/>
          <p:nvPr/>
        </p:nvSpPr>
        <p:spPr>
          <a:xfrm>
            <a:off x="7589520" y="3639312"/>
            <a:ext cx="2414016" cy="365760"/>
          </a:xfrm>
          <a:prstGeom prst="rect">
            <a:avLst/>
          </a:prstGeom>
          <a:solidFill>
            <a:srgbClr val="2E6DA4"/>
          </a:solidFill>
          <a:ln/>
        </p:spPr>
        <p:txBody>
          <a:bodyPr/>
          <a:lstStyle/>
          <a:p>
            <a:endParaRPr lang="en-US"/>
          </a:p>
        </p:txBody>
      </p:sp>
      <p:sp>
        <p:nvSpPr>
          <p:cNvPr id="34" name="Text 32"/>
          <p:cNvSpPr/>
          <p:nvPr/>
        </p:nvSpPr>
        <p:spPr>
          <a:xfrm>
            <a:off x="7589520" y="3639312"/>
            <a:ext cx="2414016"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2nd, 30%</a:t>
            </a:r>
            <a:endParaRPr lang="en-US" sz="1100" dirty="0"/>
          </a:p>
        </p:txBody>
      </p:sp>
      <p:sp>
        <p:nvSpPr>
          <p:cNvPr id="35" name="Shape 33"/>
          <p:cNvSpPr/>
          <p:nvPr/>
        </p:nvSpPr>
        <p:spPr>
          <a:xfrm>
            <a:off x="10003536" y="3639312"/>
            <a:ext cx="1609344" cy="365760"/>
          </a:xfrm>
          <a:prstGeom prst="rect">
            <a:avLst/>
          </a:prstGeom>
          <a:solidFill>
            <a:srgbClr val="7F8B8F"/>
          </a:solidFill>
          <a:ln/>
        </p:spPr>
        <p:txBody>
          <a:bodyPr/>
          <a:lstStyle/>
          <a:p>
            <a:endParaRPr lang="en-US"/>
          </a:p>
        </p:txBody>
      </p:sp>
      <p:sp>
        <p:nvSpPr>
          <p:cNvPr id="36" name="Text 34"/>
          <p:cNvSpPr/>
          <p:nvPr/>
        </p:nvSpPr>
        <p:spPr>
          <a:xfrm>
            <a:off x="10003536" y="3639312"/>
            <a:ext cx="1609344"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Quality, 20%</a:t>
            </a:r>
            <a:endParaRPr lang="en-US" sz="1100" dirty="0"/>
          </a:p>
        </p:txBody>
      </p:sp>
      <p:sp>
        <p:nvSpPr>
          <p:cNvPr id="37" name="Shape 35"/>
          <p:cNvSpPr/>
          <p:nvPr/>
        </p:nvSpPr>
        <p:spPr>
          <a:xfrm>
            <a:off x="566928" y="4343400"/>
            <a:ext cx="5440680" cy="1325880"/>
          </a:xfrm>
          <a:prstGeom prst="roundRect">
            <a:avLst>
              <a:gd name="adj" fmla="val 4138"/>
            </a:avLst>
          </a:prstGeom>
          <a:solidFill>
            <a:srgbClr val="F7F9F1"/>
          </a:solidFill>
          <a:ln w="9525">
            <a:solidFill>
              <a:srgbClr val="D6DBC9"/>
            </a:solidFill>
            <a:prstDash val="solid"/>
          </a:ln>
        </p:spPr>
        <p:txBody>
          <a:bodyPr/>
          <a:lstStyle/>
          <a:p>
            <a:endParaRPr lang="en-US"/>
          </a:p>
        </p:txBody>
      </p:sp>
      <p:sp>
        <p:nvSpPr>
          <p:cNvPr id="38" name="Text 36"/>
          <p:cNvSpPr/>
          <p:nvPr/>
        </p:nvSpPr>
        <p:spPr>
          <a:xfrm>
            <a:off x="749808" y="4480560"/>
            <a:ext cx="5120640" cy="274320"/>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Keep it competitive</a:t>
            </a:r>
            <a:endParaRPr lang="en-US" sz="1300" dirty="0"/>
          </a:p>
        </p:txBody>
      </p:sp>
      <p:sp>
        <p:nvSpPr>
          <p:cNvPr id="39" name="Text 37"/>
          <p:cNvSpPr/>
          <p:nvPr/>
        </p:nvSpPr>
        <p:spPr>
          <a:xfrm>
            <a:off x="749808" y="4773168"/>
            <a:ext cx="5120640" cy="868680"/>
          </a:xfrm>
          <a:prstGeom prst="rect">
            <a:avLst/>
          </a:prstGeom>
          <a:noFill/>
          <a:ln/>
        </p:spPr>
        <p:txBody>
          <a:bodyPr wrap="square" lIns="0" tIns="0" rIns="0" bIns="0" rtlCol="0" anchor="t"/>
          <a:lstStyle/>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A live leaderboard for each group during the contest</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Track who is turning enrollments into treatment for the quality prize</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Every group has winners, small territories included</a:t>
            </a:r>
            <a:endParaRPr lang="en-US" sz="1100" dirty="0"/>
          </a:p>
        </p:txBody>
      </p:sp>
      <p:sp>
        <p:nvSpPr>
          <p:cNvPr id="40" name="Shape 38"/>
          <p:cNvSpPr/>
          <p:nvPr/>
        </p:nvSpPr>
        <p:spPr>
          <a:xfrm>
            <a:off x="6190488" y="4343400"/>
            <a:ext cx="5440680" cy="1325880"/>
          </a:xfrm>
          <a:prstGeom prst="roundRect">
            <a:avLst>
              <a:gd name="adj" fmla="val 4138"/>
            </a:avLst>
          </a:prstGeom>
          <a:solidFill>
            <a:srgbClr val="F7F9F1"/>
          </a:solidFill>
          <a:ln w="9525">
            <a:solidFill>
              <a:srgbClr val="D6DBC9"/>
            </a:solidFill>
            <a:prstDash val="solid"/>
          </a:ln>
        </p:spPr>
        <p:txBody>
          <a:bodyPr/>
          <a:lstStyle/>
          <a:p>
            <a:endParaRPr lang="en-US"/>
          </a:p>
        </p:txBody>
      </p:sp>
      <p:sp>
        <p:nvSpPr>
          <p:cNvPr id="41" name="Text 39"/>
          <p:cNvSpPr/>
          <p:nvPr/>
        </p:nvSpPr>
        <p:spPr>
          <a:xfrm>
            <a:off x="6373368" y="4480560"/>
            <a:ext cx="5120640" cy="274320"/>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What that means at $30,000</a:t>
            </a:r>
            <a:endParaRPr lang="en-US" sz="1300" dirty="0"/>
          </a:p>
        </p:txBody>
      </p:sp>
      <p:sp>
        <p:nvSpPr>
          <p:cNvPr id="42" name="Text 40"/>
          <p:cNvSpPr/>
          <p:nvPr/>
        </p:nvSpPr>
        <p:spPr>
          <a:xfrm>
            <a:off x="6373368" y="4773168"/>
            <a:ext cx="5120640" cy="868680"/>
          </a:xfrm>
          <a:prstGeom prst="rect">
            <a:avLst/>
          </a:prstGeom>
          <a:noFill/>
          <a:ln/>
        </p:spPr>
        <p:txBody>
          <a:bodyPr wrap="square" lIns="0" tIns="0" rIns="0" bIns="0" rtlCol="0" anchor="t"/>
          <a:lstStyle/>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Per group, first about $5,000, second $3,000, quality about $2,000</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That is $10,000 a group, and three groups makes $30,000</a:t>
            </a:r>
            <a:endParaRPr lang="en-US" sz="1100" dirty="0"/>
          </a:p>
          <a:p>
            <a:pPr marL="177800" indent="-177800">
              <a:lnSpc>
                <a:spcPct val="103000"/>
              </a:lnSpc>
              <a:buSzPct val="100000"/>
              <a:buChar char="•"/>
            </a:pPr>
            <a:r>
              <a:rPr lang="en-US" sz="1100" dirty="0">
                <a:solidFill>
                  <a:srgbClr val="17344F"/>
                </a:solidFill>
                <a:latin typeface="Segoe UI" pitchFamily="34" charset="0"/>
                <a:ea typeface="Segoe UI" pitchFamily="34" charset="-122"/>
                <a:cs typeface="Segoe UI" pitchFamily="34" charset="-120"/>
              </a:rPr>
              <a:t>A bigger or smaller pot uses the very same shares</a:t>
            </a:r>
            <a:endParaRPr lang="en-US" sz="1100" dirty="0"/>
          </a:p>
        </p:txBody>
      </p:sp>
      <p:sp>
        <p:nvSpPr>
          <p:cNvPr id="43" name="Text 41"/>
          <p:cNvSpPr/>
          <p:nvPr/>
        </p:nvSpPr>
        <p:spPr>
          <a:xfrm>
            <a:off x="566928" y="6345936"/>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The pot is set up as a formula, so if leadership picks a different budget every prize updates on its own. The RAD pool is separate and still to be confirmed.</a:t>
            </a:r>
          </a:p>
        </p:txBody>
      </p:sp>
    </p:spTree>
    <p:extLst>
      <p:ext uri="{BB962C8B-B14F-4D97-AF65-F5344CB8AC3E}">
        <p14:creationId xmlns:p14="http://schemas.microsoft.com/office/powerpoint/2010/main" val="85803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567A2E"/>
                </a:solidFill>
                <a:latin typeface="Segoe UI" pitchFamily="34" charset="0"/>
                <a:cs typeface="Segoe UI" pitchFamily="34" charset="-120"/>
              </a:rPr>
              <a:t>EXAMPLE</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A smaller territory can win by growing meaningfully versus its own baseline</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7</a:t>
            </a:r>
            <a:endParaRPr lang="en-US" sz="900" dirty="0"/>
          </a:p>
        </p:txBody>
      </p:sp>
      <p:sp>
        <p:nvSpPr>
          <p:cNvPr id="25" name="Shape 20"/>
          <p:cNvSpPr/>
          <p:nvPr/>
        </p:nvSpPr>
        <p:spPr>
          <a:xfrm>
            <a:off x="566928" y="4983480"/>
            <a:ext cx="11064240" cy="914400"/>
          </a:xfrm>
          <a:prstGeom prst="rect">
            <a:avLst/>
          </a:prstGeom>
          <a:solidFill>
            <a:srgbClr val="E7EFD6"/>
          </a:solidFill>
          <a:ln/>
        </p:spPr>
        <p:txBody>
          <a:bodyPr/>
          <a:lstStyle/>
          <a:p>
            <a:endParaRPr lang="en-US"/>
          </a:p>
        </p:txBody>
      </p:sp>
      <p:sp>
        <p:nvSpPr>
          <p:cNvPr id="26" name="Text 21"/>
          <p:cNvSpPr/>
          <p:nvPr/>
        </p:nvSpPr>
        <p:spPr>
          <a:xfrm>
            <a:off x="749808" y="4983480"/>
            <a:ext cx="10698480" cy="914400"/>
          </a:xfrm>
          <a:prstGeom prst="rect">
            <a:avLst/>
          </a:prstGeom>
          <a:noFill/>
          <a:ln/>
        </p:spPr>
        <p:txBody>
          <a:bodyPr wrap="square" lIns="0" tIns="0" rIns="0" bIns="0" rtlCol="0" anchor="ctr"/>
          <a:lstStyle/>
          <a:p>
            <a:pPr marL="0" indent="0">
              <a:lnSpc>
                <a:spcPct val="104000"/>
              </a:lnSpc>
              <a:buNone/>
            </a:pPr>
            <a:r>
              <a:rPr lang="en-US" sz="1300" b="1" dirty="0">
                <a:solidFill>
                  <a:srgbClr val="567A2E"/>
                </a:solidFill>
                <a:latin typeface="Segoe UI" pitchFamily="34" charset="0"/>
                <a:cs typeface="Segoe UI" pitchFamily="34" charset="-120"/>
              </a:rPr>
              <a:t>How to read it:  </a:t>
            </a:r>
            <a:r>
              <a:rPr lang="en-US" sz="1300" dirty="0">
                <a:solidFill>
                  <a:srgbClr val="17344F"/>
                </a:solidFill>
                <a:latin typeface="Segoe UI" pitchFamily="34" charset="0"/>
                <a:cs typeface="Segoe UI" pitchFamily="34" charset="-120"/>
              </a:rPr>
              <a:t>Indiana / KY starts from the smallest baseline in the group, yet posts the strongest volume and percent growth, so it wins. Carolinas has the largest baseline but the smallest improvement and finishes last. A large territory only wins when it beats its own history.</a:t>
            </a:r>
          </a:p>
        </p:txBody>
      </p:sp>
      <p:sp>
        <p:nvSpPr>
          <p:cNvPr id="27" name="Text 22"/>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cs typeface="Segoe UI" pitchFamily="34" charset="-120"/>
              </a:rPr>
              <a:t>Illustrative example, not real targets. The quality prize is decided separately within each group. Figures are internal planning figures for 2H 2026.</a:t>
            </a:r>
          </a:p>
        </p:txBody>
      </p:sp>
      <p:graphicFrame>
        <p:nvGraphicFramePr>
          <p:cNvPr id="29" name="Table 28">
            <a:extLst>
              <a:ext uri="{FF2B5EF4-FFF2-40B4-BE49-F238E27FC236}">
                <a16:creationId xmlns:a16="http://schemas.microsoft.com/office/drawing/2014/main" id="{4105D225-CAFA-D14F-BEF3-CF9BD7482870}"/>
              </a:ext>
            </a:extLst>
          </p:cNvPr>
          <p:cNvGraphicFramePr>
            <a:graphicFrameLocks noGrp="1"/>
          </p:cNvGraphicFramePr>
          <p:nvPr/>
        </p:nvGraphicFramePr>
        <p:xfrm>
          <a:off x="1143000" y="2489200"/>
          <a:ext cx="9906000" cy="1803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336578399"/>
                    </a:ext>
                  </a:extLst>
                </a:gridCol>
                <a:gridCol w="1117600">
                  <a:extLst>
                    <a:ext uri="{9D8B030D-6E8A-4147-A177-3AD203B41FA5}">
                      <a16:colId xmlns:a16="http://schemas.microsoft.com/office/drawing/2014/main" val="2279979351"/>
                    </a:ext>
                  </a:extLst>
                </a:gridCol>
                <a:gridCol w="1676400">
                  <a:extLst>
                    <a:ext uri="{9D8B030D-6E8A-4147-A177-3AD203B41FA5}">
                      <a16:colId xmlns:a16="http://schemas.microsoft.com/office/drawing/2014/main" val="517591817"/>
                    </a:ext>
                  </a:extLst>
                </a:gridCol>
                <a:gridCol w="1422400">
                  <a:extLst>
                    <a:ext uri="{9D8B030D-6E8A-4147-A177-3AD203B41FA5}">
                      <a16:colId xmlns:a16="http://schemas.microsoft.com/office/drawing/2014/main" val="3924378969"/>
                    </a:ext>
                  </a:extLst>
                </a:gridCol>
                <a:gridCol w="1422400">
                  <a:extLst>
                    <a:ext uri="{9D8B030D-6E8A-4147-A177-3AD203B41FA5}">
                      <a16:colId xmlns:a16="http://schemas.microsoft.com/office/drawing/2014/main" val="3015878379"/>
                    </a:ext>
                  </a:extLst>
                </a:gridCol>
                <a:gridCol w="1092200">
                  <a:extLst>
                    <a:ext uri="{9D8B030D-6E8A-4147-A177-3AD203B41FA5}">
                      <a16:colId xmlns:a16="http://schemas.microsoft.com/office/drawing/2014/main" val="2798858517"/>
                    </a:ext>
                  </a:extLst>
                </a:gridCol>
                <a:gridCol w="889000">
                  <a:extLst>
                    <a:ext uri="{9D8B030D-6E8A-4147-A177-3AD203B41FA5}">
                      <a16:colId xmlns:a16="http://schemas.microsoft.com/office/drawing/2014/main" val="3003254471"/>
                    </a:ext>
                  </a:extLst>
                </a:gridCol>
              </a:tblGrid>
              <a:tr h="508000">
                <a:tc>
                  <a:txBody>
                    <a:bodyPr/>
                    <a:lstStyle/>
                    <a:p>
                      <a:pPr algn="l"/>
                      <a:r>
                        <a:rPr lang="en-US" sz="1300" b="1">
                          <a:solidFill>
                            <a:srgbClr val="FFFFFF"/>
                          </a:solidFill>
                          <a:latin typeface="Segoe UI"/>
                          <a:cs typeface="Segoe UI"/>
                        </a:rPr>
                        <a:t>Territory</a:t>
                      </a:r>
                    </a:p>
                  </a:txBody>
                  <a:tcPr anchor="ctr">
                    <a:solidFill>
                      <a:srgbClr val="17344F"/>
                    </a:solidFill>
                  </a:tcPr>
                </a:tc>
                <a:tc>
                  <a:txBody>
                    <a:bodyPr/>
                    <a:lstStyle/>
                    <a:p>
                      <a:pPr algn="ctr"/>
                      <a:r>
                        <a:rPr lang="en-US" sz="1300" b="1">
                          <a:solidFill>
                            <a:srgbClr val="FFFFFF"/>
                          </a:solidFill>
                          <a:latin typeface="Segoe UI"/>
                          <a:cs typeface="Segoe UI"/>
                        </a:rPr>
                        <a:t>Baseline</a:t>
                      </a:r>
                    </a:p>
                  </a:txBody>
                  <a:tcPr anchor="ctr">
                    <a:solidFill>
                      <a:srgbClr val="17344F"/>
                    </a:solidFill>
                  </a:tcPr>
                </a:tc>
                <a:tc>
                  <a:txBody>
                    <a:bodyPr/>
                    <a:lstStyle/>
                    <a:p>
                      <a:pPr algn="ctr"/>
                      <a:r>
                        <a:rPr lang="en-US" sz="1300" b="1">
                          <a:solidFill>
                            <a:srgbClr val="FFFFFF"/>
                          </a:solidFill>
                          <a:latin typeface="Segoe UI"/>
                          <a:cs typeface="Segoe UI"/>
                        </a:rPr>
                        <a:t>Contest
enrollments</a:t>
                      </a:r>
                    </a:p>
                  </a:txBody>
                  <a:tcPr anchor="ctr">
                    <a:solidFill>
                      <a:srgbClr val="17344F"/>
                    </a:solidFill>
                  </a:tcPr>
                </a:tc>
                <a:tc>
                  <a:txBody>
                    <a:bodyPr/>
                    <a:lstStyle/>
                    <a:p>
                      <a:pPr algn="ctr"/>
                      <a:r>
                        <a:rPr lang="en-US" sz="1300" b="1">
                          <a:solidFill>
                            <a:srgbClr val="FFFFFF"/>
                          </a:solidFill>
                          <a:latin typeface="Segoe UI"/>
                          <a:cs typeface="Segoe UI"/>
                        </a:rPr>
                        <a:t>Volume
growth</a:t>
                      </a:r>
                    </a:p>
                  </a:txBody>
                  <a:tcPr anchor="ctr">
                    <a:solidFill>
                      <a:srgbClr val="17344F"/>
                    </a:solidFill>
                  </a:tcPr>
                </a:tc>
                <a:tc>
                  <a:txBody>
                    <a:bodyPr/>
                    <a:lstStyle/>
                    <a:p>
                      <a:pPr algn="ctr"/>
                      <a:r>
                        <a:rPr lang="en-US" sz="1300" b="1">
                          <a:solidFill>
                            <a:srgbClr val="FFFFFF"/>
                          </a:solidFill>
                          <a:latin typeface="Segoe UI"/>
                          <a:cs typeface="Segoe UI"/>
                        </a:rPr>
                        <a:t>Percent
growth</a:t>
                      </a:r>
                    </a:p>
                  </a:txBody>
                  <a:tcPr anchor="ctr">
                    <a:solidFill>
                      <a:srgbClr val="17344F"/>
                    </a:solidFill>
                  </a:tcPr>
                </a:tc>
                <a:tc>
                  <a:txBody>
                    <a:bodyPr/>
                    <a:lstStyle/>
                    <a:p>
                      <a:pPr algn="ctr"/>
                      <a:r>
                        <a:rPr lang="en-US" sz="1300" b="1">
                          <a:solidFill>
                            <a:srgbClr val="FFFFFF"/>
                          </a:solidFill>
                          <a:latin typeface="Segoe UI"/>
                          <a:cs typeface="Segoe UI"/>
                        </a:rPr>
                        <a:t>Final
score</a:t>
                      </a:r>
                    </a:p>
                  </a:txBody>
                  <a:tcPr anchor="ctr">
                    <a:solidFill>
                      <a:srgbClr val="17344F"/>
                    </a:solidFill>
                  </a:tcPr>
                </a:tc>
                <a:tc>
                  <a:txBody>
                    <a:bodyPr/>
                    <a:lstStyle/>
                    <a:p>
                      <a:pPr algn="ctr"/>
                      <a:r>
                        <a:rPr lang="en-US" sz="1300" b="1">
                          <a:solidFill>
                            <a:srgbClr val="FFFFFF"/>
                          </a:solidFill>
                          <a:latin typeface="Segoe UI"/>
                          <a:cs typeface="Segoe UI"/>
                        </a:rPr>
                        <a:t>Place</a:t>
                      </a:r>
                    </a:p>
                  </a:txBody>
                  <a:tcPr anchor="ctr">
                    <a:solidFill>
                      <a:srgbClr val="17344F"/>
                    </a:solidFill>
                  </a:tcPr>
                </a:tc>
                <a:extLst>
                  <a:ext uri="{0D108BD9-81ED-4DB2-BD59-A6C34878D82A}">
                    <a16:rowId xmlns:a16="http://schemas.microsoft.com/office/drawing/2014/main" val="2318578082"/>
                  </a:ext>
                </a:extLst>
              </a:tr>
              <a:tr h="431800">
                <a:tc>
                  <a:txBody>
                    <a:bodyPr/>
                    <a:lstStyle/>
                    <a:p>
                      <a:pPr algn="l"/>
                      <a:r>
                        <a:rPr lang="en-US" sz="1400" b="1">
                          <a:solidFill>
                            <a:srgbClr val="17344F"/>
                          </a:solidFill>
                          <a:latin typeface="Segoe UI"/>
                          <a:cs typeface="Segoe UI"/>
                        </a:rPr>
                        <a:t>Indiana / KY</a:t>
                      </a:r>
                    </a:p>
                  </a:txBody>
                  <a:tcPr anchor="ctr">
                    <a:solidFill>
                      <a:srgbClr val="E9F2DA"/>
                    </a:solidFill>
                  </a:tcPr>
                </a:tc>
                <a:tc>
                  <a:txBody>
                    <a:bodyPr/>
                    <a:lstStyle/>
                    <a:p>
                      <a:pPr algn="ctr"/>
                      <a:r>
                        <a:rPr lang="en-US" sz="1400" b="1">
                          <a:solidFill>
                            <a:srgbClr val="17344F"/>
                          </a:solidFill>
                          <a:latin typeface="Segoe UI"/>
                          <a:cs typeface="Segoe UI"/>
                        </a:rPr>
                        <a:t>15</a:t>
                      </a:r>
                    </a:p>
                  </a:txBody>
                  <a:tcPr anchor="ctr">
                    <a:solidFill>
                      <a:srgbClr val="E9F2DA"/>
                    </a:solidFill>
                  </a:tcPr>
                </a:tc>
                <a:tc>
                  <a:txBody>
                    <a:bodyPr/>
                    <a:lstStyle/>
                    <a:p>
                      <a:pPr algn="ctr"/>
                      <a:r>
                        <a:rPr lang="en-US" sz="1400" b="1">
                          <a:solidFill>
                            <a:srgbClr val="17344F"/>
                          </a:solidFill>
                          <a:latin typeface="Segoe UI"/>
                          <a:cs typeface="Segoe UI"/>
                        </a:rPr>
                        <a:t>21</a:t>
                      </a:r>
                    </a:p>
                  </a:txBody>
                  <a:tcPr anchor="ctr">
                    <a:solidFill>
                      <a:srgbClr val="E9F2DA"/>
                    </a:solidFill>
                  </a:tcPr>
                </a:tc>
                <a:tc>
                  <a:txBody>
                    <a:bodyPr/>
                    <a:lstStyle/>
                    <a:p>
                      <a:pPr algn="ctr"/>
                      <a:r>
                        <a:rPr lang="en-US" sz="1400" b="1">
                          <a:solidFill>
                            <a:srgbClr val="17344F"/>
                          </a:solidFill>
                          <a:latin typeface="Segoe UI"/>
                          <a:cs typeface="Segoe UI"/>
                        </a:rPr>
                        <a:t>+6</a:t>
                      </a:r>
                    </a:p>
                  </a:txBody>
                  <a:tcPr anchor="ctr">
                    <a:solidFill>
                      <a:srgbClr val="E9F2DA"/>
                    </a:solidFill>
                  </a:tcPr>
                </a:tc>
                <a:tc>
                  <a:txBody>
                    <a:bodyPr/>
                    <a:lstStyle/>
                    <a:p>
                      <a:pPr algn="ctr"/>
                      <a:r>
                        <a:rPr lang="en-US" sz="1400" b="1">
                          <a:solidFill>
                            <a:srgbClr val="17344F"/>
                          </a:solidFill>
                          <a:latin typeface="Segoe UI"/>
                          <a:cs typeface="Segoe UI"/>
                        </a:rPr>
                        <a:t>+40%</a:t>
                      </a:r>
                    </a:p>
                  </a:txBody>
                  <a:tcPr anchor="ctr">
                    <a:solidFill>
                      <a:srgbClr val="E9F2DA"/>
                    </a:solidFill>
                  </a:tcPr>
                </a:tc>
                <a:tc>
                  <a:txBody>
                    <a:bodyPr/>
                    <a:lstStyle/>
                    <a:p>
                      <a:pPr algn="ctr"/>
                      <a:r>
                        <a:rPr lang="en-US" sz="1400" b="1">
                          <a:solidFill>
                            <a:srgbClr val="17344F"/>
                          </a:solidFill>
                          <a:latin typeface="Segoe UI"/>
                          <a:cs typeface="Segoe UI"/>
                        </a:rPr>
                        <a:t>1.0</a:t>
                      </a:r>
                    </a:p>
                  </a:txBody>
                  <a:tcPr anchor="ctr">
                    <a:solidFill>
                      <a:srgbClr val="E9F2DA"/>
                    </a:solidFill>
                  </a:tcPr>
                </a:tc>
                <a:tc>
                  <a:txBody>
                    <a:bodyPr/>
                    <a:lstStyle/>
                    <a:p>
                      <a:pPr algn="ctr"/>
                      <a:r>
                        <a:rPr lang="en-US" sz="1400" b="1">
                          <a:solidFill>
                            <a:srgbClr val="567A2E"/>
                          </a:solidFill>
                          <a:latin typeface="Segoe UI"/>
                          <a:cs typeface="Segoe UI"/>
                        </a:rPr>
                        <a:t>1st</a:t>
                      </a:r>
                    </a:p>
                  </a:txBody>
                  <a:tcPr anchor="ctr">
                    <a:solidFill>
                      <a:srgbClr val="E9F2DA"/>
                    </a:solidFill>
                  </a:tcPr>
                </a:tc>
                <a:extLst>
                  <a:ext uri="{0D108BD9-81ED-4DB2-BD59-A6C34878D82A}">
                    <a16:rowId xmlns:a16="http://schemas.microsoft.com/office/drawing/2014/main" val="882734132"/>
                  </a:ext>
                </a:extLst>
              </a:tr>
              <a:tr h="431800">
                <a:tc>
                  <a:txBody>
                    <a:bodyPr/>
                    <a:lstStyle/>
                    <a:p>
                      <a:pPr algn="l"/>
                      <a:r>
                        <a:rPr lang="en-US" sz="1400" b="0">
                          <a:solidFill>
                            <a:srgbClr val="17344F"/>
                          </a:solidFill>
                          <a:latin typeface="Segoe UI"/>
                          <a:cs typeface="Segoe UI"/>
                        </a:rPr>
                        <a:t>Eastern OH</a:t>
                      </a:r>
                    </a:p>
                  </a:txBody>
                  <a:tcPr anchor="ctr">
                    <a:solidFill>
                      <a:srgbClr val="FFFFFF"/>
                    </a:solidFill>
                  </a:tcPr>
                </a:tc>
                <a:tc>
                  <a:txBody>
                    <a:bodyPr/>
                    <a:lstStyle/>
                    <a:p>
                      <a:pPr algn="ctr"/>
                      <a:r>
                        <a:rPr lang="en-US" sz="1400" b="0">
                          <a:solidFill>
                            <a:srgbClr val="17344F"/>
                          </a:solidFill>
                          <a:latin typeface="Segoe UI"/>
                          <a:cs typeface="Segoe UI"/>
                        </a:rPr>
                        <a:t>18</a:t>
                      </a:r>
                    </a:p>
                  </a:txBody>
                  <a:tcPr anchor="ctr">
                    <a:solidFill>
                      <a:srgbClr val="FFFFFF"/>
                    </a:solidFill>
                  </a:tcPr>
                </a:tc>
                <a:tc>
                  <a:txBody>
                    <a:bodyPr/>
                    <a:lstStyle/>
                    <a:p>
                      <a:pPr algn="ctr"/>
                      <a:r>
                        <a:rPr lang="en-US" sz="1400" b="0">
                          <a:solidFill>
                            <a:srgbClr val="17344F"/>
                          </a:solidFill>
                          <a:latin typeface="Segoe UI"/>
                          <a:cs typeface="Segoe UI"/>
                        </a:rPr>
                        <a:t>22</a:t>
                      </a:r>
                    </a:p>
                  </a:txBody>
                  <a:tcPr anchor="ctr">
                    <a:solidFill>
                      <a:srgbClr val="FFFFFF"/>
                    </a:solidFill>
                  </a:tcPr>
                </a:tc>
                <a:tc>
                  <a:txBody>
                    <a:bodyPr/>
                    <a:lstStyle/>
                    <a:p>
                      <a:pPr algn="ctr"/>
                      <a:r>
                        <a:rPr lang="en-US" sz="1400" b="0">
                          <a:solidFill>
                            <a:srgbClr val="17344F"/>
                          </a:solidFill>
                          <a:latin typeface="Segoe UI"/>
                          <a:cs typeface="Segoe UI"/>
                        </a:rPr>
                        <a:t>+4</a:t>
                      </a:r>
                    </a:p>
                  </a:txBody>
                  <a:tcPr anchor="ctr">
                    <a:solidFill>
                      <a:srgbClr val="FFFFFF"/>
                    </a:solidFill>
                  </a:tcPr>
                </a:tc>
                <a:tc>
                  <a:txBody>
                    <a:bodyPr/>
                    <a:lstStyle/>
                    <a:p>
                      <a:pPr algn="ctr"/>
                      <a:r>
                        <a:rPr lang="en-US" sz="1400" b="0">
                          <a:solidFill>
                            <a:srgbClr val="17344F"/>
                          </a:solidFill>
                          <a:latin typeface="Segoe UI"/>
                          <a:cs typeface="Segoe UI"/>
                        </a:rPr>
                        <a:t>+22%</a:t>
                      </a:r>
                    </a:p>
                  </a:txBody>
                  <a:tcPr anchor="ctr">
                    <a:solidFill>
                      <a:srgbClr val="FFFFFF"/>
                    </a:solidFill>
                  </a:tcPr>
                </a:tc>
                <a:tc>
                  <a:txBody>
                    <a:bodyPr/>
                    <a:lstStyle/>
                    <a:p>
                      <a:pPr algn="ctr"/>
                      <a:r>
                        <a:rPr lang="en-US" sz="1400" b="0">
                          <a:solidFill>
                            <a:srgbClr val="17344F"/>
                          </a:solidFill>
                          <a:latin typeface="Segoe UI"/>
                          <a:cs typeface="Segoe UI"/>
                        </a:rPr>
                        <a:t>2.0</a:t>
                      </a:r>
                    </a:p>
                  </a:txBody>
                  <a:tcPr anchor="ctr">
                    <a:solidFill>
                      <a:srgbClr val="FFFFFF"/>
                    </a:solidFill>
                  </a:tcPr>
                </a:tc>
                <a:tc>
                  <a:txBody>
                    <a:bodyPr/>
                    <a:lstStyle/>
                    <a:p>
                      <a:pPr algn="ctr"/>
                      <a:r>
                        <a:rPr lang="en-US" sz="1400" b="0">
                          <a:solidFill>
                            <a:srgbClr val="17344F"/>
                          </a:solidFill>
                          <a:latin typeface="Segoe UI"/>
                          <a:cs typeface="Segoe UI"/>
                        </a:rPr>
                        <a:t>2nd</a:t>
                      </a:r>
                    </a:p>
                  </a:txBody>
                  <a:tcPr anchor="ctr">
                    <a:solidFill>
                      <a:srgbClr val="FFFFFF"/>
                    </a:solidFill>
                  </a:tcPr>
                </a:tc>
                <a:extLst>
                  <a:ext uri="{0D108BD9-81ED-4DB2-BD59-A6C34878D82A}">
                    <a16:rowId xmlns:a16="http://schemas.microsoft.com/office/drawing/2014/main" val="43928860"/>
                  </a:ext>
                </a:extLst>
              </a:tr>
              <a:tr h="431800">
                <a:tc>
                  <a:txBody>
                    <a:bodyPr/>
                    <a:lstStyle/>
                    <a:p>
                      <a:pPr algn="l"/>
                      <a:r>
                        <a:rPr lang="en-US" sz="1400" b="0">
                          <a:solidFill>
                            <a:srgbClr val="17344F"/>
                          </a:solidFill>
                          <a:latin typeface="Segoe UI"/>
                          <a:cs typeface="Segoe UI"/>
                        </a:rPr>
                        <a:t>Carolinas</a:t>
                      </a:r>
                    </a:p>
                  </a:txBody>
                  <a:tcPr anchor="ctr">
                    <a:solidFill>
                      <a:srgbClr val="FFFFFF"/>
                    </a:solidFill>
                  </a:tcPr>
                </a:tc>
                <a:tc>
                  <a:txBody>
                    <a:bodyPr/>
                    <a:lstStyle/>
                    <a:p>
                      <a:pPr algn="ctr"/>
                      <a:r>
                        <a:rPr lang="en-US" sz="1400" b="0">
                          <a:solidFill>
                            <a:srgbClr val="17344F"/>
                          </a:solidFill>
                          <a:latin typeface="Segoe UI"/>
                          <a:cs typeface="Segoe UI"/>
                        </a:rPr>
                        <a:t>20</a:t>
                      </a:r>
                    </a:p>
                  </a:txBody>
                  <a:tcPr anchor="ctr">
                    <a:solidFill>
                      <a:srgbClr val="FFFFFF"/>
                    </a:solidFill>
                  </a:tcPr>
                </a:tc>
                <a:tc>
                  <a:txBody>
                    <a:bodyPr/>
                    <a:lstStyle/>
                    <a:p>
                      <a:pPr algn="ctr"/>
                      <a:r>
                        <a:rPr lang="en-US" sz="1400" b="0">
                          <a:solidFill>
                            <a:srgbClr val="17344F"/>
                          </a:solidFill>
                          <a:latin typeface="Segoe UI"/>
                          <a:cs typeface="Segoe UI"/>
                        </a:rPr>
                        <a:t>21</a:t>
                      </a:r>
                    </a:p>
                  </a:txBody>
                  <a:tcPr anchor="ctr">
                    <a:solidFill>
                      <a:srgbClr val="FFFFFF"/>
                    </a:solidFill>
                  </a:tcPr>
                </a:tc>
                <a:tc>
                  <a:txBody>
                    <a:bodyPr/>
                    <a:lstStyle/>
                    <a:p>
                      <a:pPr algn="ctr"/>
                      <a:r>
                        <a:rPr lang="en-US" sz="1400" b="0">
                          <a:solidFill>
                            <a:srgbClr val="17344F"/>
                          </a:solidFill>
                          <a:latin typeface="Segoe UI"/>
                          <a:cs typeface="Segoe UI"/>
                        </a:rPr>
                        <a:t>+1</a:t>
                      </a:r>
                    </a:p>
                  </a:txBody>
                  <a:tcPr anchor="ctr">
                    <a:solidFill>
                      <a:srgbClr val="FFFFFF"/>
                    </a:solidFill>
                  </a:tcPr>
                </a:tc>
                <a:tc>
                  <a:txBody>
                    <a:bodyPr/>
                    <a:lstStyle/>
                    <a:p>
                      <a:pPr algn="ctr"/>
                      <a:r>
                        <a:rPr lang="en-US" sz="1400" b="0">
                          <a:solidFill>
                            <a:srgbClr val="17344F"/>
                          </a:solidFill>
                          <a:latin typeface="Segoe UI"/>
                          <a:cs typeface="Segoe UI"/>
                        </a:rPr>
                        <a:t>+5%</a:t>
                      </a:r>
                    </a:p>
                  </a:txBody>
                  <a:tcPr anchor="ctr">
                    <a:solidFill>
                      <a:srgbClr val="FFFFFF"/>
                    </a:solidFill>
                  </a:tcPr>
                </a:tc>
                <a:tc>
                  <a:txBody>
                    <a:bodyPr/>
                    <a:lstStyle/>
                    <a:p>
                      <a:pPr algn="ctr"/>
                      <a:r>
                        <a:rPr lang="en-US" sz="1400" b="0">
                          <a:solidFill>
                            <a:srgbClr val="17344F"/>
                          </a:solidFill>
                          <a:latin typeface="Segoe UI"/>
                          <a:cs typeface="Segoe UI"/>
                        </a:rPr>
                        <a:t>3.0</a:t>
                      </a:r>
                    </a:p>
                  </a:txBody>
                  <a:tcPr anchor="ctr">
                    <a:solidFill>
                      <a:srgbClr val="FFFFFF"/>
                    </a:solidFill>
                  </a:tcPr>
                </a:tc>
                <a:tc>
                  <a:txBody>
                    <a:bodyPr/>
                    <a:lstStyle/>
                    <a:p>
                      <a:pPr algn="ctr"/>
                      <a:r>
                        <a:rPr lang="en-US" sz="1400" b="0">
                          <a:solidFill>
                            <a:srgbClr val="17344F"/>
                          </a:solidFill>
                          <a:latin typeface="Segoe UI"/>
                          <a:cs typeface="Segoe UI"/>
                        </a:rPr>
                        <a:t>3rd</a:t>
                      </a:r>
                    </a:p>
                  </a:txBody>
                  <a:tcPr anchor="ctr">
                    <a:solidFill>
                      <a:srgbClr val="FFFFFF"/>
                    </a:solidFill>
                  </a:tcPr>
                </a:tc>
                <a:extLst>
                  <a:ext uri="{0D108BD9-81ED-4DB2-BD59-A6C34878D82A}">
                    <a16:rowId xmlns:a16="http://schemas.microsoft.com/office/drawing/2014/main" val="3749822191"/>
                  </a:ext>
                </a:extLst>
              </a:tr>
            </a:tbl>
          </a:graphicData>
        </a:graphic>
      </p:graphicFrame>
    </p:spTree>
    <p:extLst>
      <p:ext uri="{BB962C8B-B14F-4D97-AF65-F5344CB8AC3E}">
        <p14:creationId xmlns:p14="http://schemas.microsoft.com/office/powerpoint/2010/main" val="59009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567A2E"/>
                </a:solidFill>
                <a:latin typeface="Segoe UI" pitchFamily="34" charset="0"/>
                <a:cs typeface="Segoe UI" pitchFamily="34" charset="-120"/>
              </a:rPr>
              <a:t>SPECIAL RULES</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RADs and quality prizes are handled separately to keep the core contest clean</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8</a:t>
            </a:r>
            <a:endParaRPr lang="en-US" sz="900" dirty="0"/>
          </a:p>
        </p:txBody>
      </p:sp>
      <p:sp>
        <p:nvSpPr>
          <p:cNvPr id="21" name="Rounded Rectangle 20">
            <a:extLst>
              <a:ext uri="{FF2B5EF4-FFF2-40B4-BE49-F238E27FC236}">
                <a16:creationId xmlns:a16="http://schemas.microsoft.com/office/drawing/2014/main" id="{ADF943CA-8A76-0449-A592-7A2EF75A05D6}"/>
              </a:ext>
            </a:extLst>
          </p:cNvPr>
          <p:cNvSpPr/>
          <p:nvPr/>
        </p:nvSpPr>
        <p:spPr>
          <a:xfrm>
            <a:off x="571500" y="1905000"/>
            <a:ext cx="5461000" cy="3810000"/>
          </a:xfrm>
          <a:prstGeom prst="roundRect">
            <a:avLst/>
          </a:prstGeom>
          <a:solidFill>
            <a:srgbClr val="F7F9F1"/>
          </a:solidFill>
          <a:ln w="12700" cap="flat" cmpd="sng" algn="ctr">
            <a:solidFill>
              <a:srgbClr val="D8DED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ounded Rectangle 22">
            <a:extLst>
              <a:ext uri="{FF2B5EF4-FFF2-40B4-BE49-F238E27FC236}">
                <a16:creationId xmlns:a16="http://schemas.microsoft.com/office/drawing/2014/main" id="{184890BA-E4A1-1145-8A78-43B21C759F42}"/>
              </a:ext>
            </a:extLst>
          </p:cNvPr>
          <p:cNvSpPr/>
          <p:nvPr/>
        </p:nvSpPr>
        <p:spPr>
          <a:xfrm>
            <a:off x="6159500" y="1905000"/>
            <a:ext cx="5461000" cy="3810000"/>
          </a:xfrm>
          <a:prstGeom prst="roundRect">
            <a:avLst/>
          </a:prstGeom>
          <a:solidFill>
            <a:srgbClr val="F7F9F1"/>
          </a:solidFill>
          <a:ln w="12700" cap="flat" cmpd="sng" algn="ctr">
            <a:solidFill>
              <a:srgbClr val="D8DED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 17"/>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cs typeface="Segoe UI" pitchFamily="34" charset="-120"/>
              </a:rPr>
              <a:t>Enrollment, capacity, baseline, and payout figures are internal planning figures for 2H 2026. Final values subject to leadership approval.</a:t>
            </a:r>
          </a:p>
        </p:txBody>
      </p:sp>
      <p:sp>
        <p:nvSpPr>
          <p:cNvPr id="24" name="TextBox 23">
            <a:extLst>
              <a:ext uri="{FF2B5EF4-FFF2-40B4-BE49-F238E27FC236}">
                <a16:creationId xmlns:a16="http://schemas.microsoft.com/office/drawing/2014/main" id="{BFEC5B5B-A76D-FA43-B40E-A578F5C96CB9}"/>
              </a:ext>
            </a:extLst>
          </p:cNvPr>
          <p:cNvSpPr txBox="1"/>
          <p:nvPr/>
        </p:nvSpPr>
        <p:spPr>
          <a:xfrm>
            <a:off x="800100" y="2082800"/>
            <a:ext cx="5003800" cy="355600"/>
          </a:xfrm>
          <a:prstGeom prst="rect">
            <a:avLst/>
          </a:prstGeom>
          <a:noFill/>
        </p:spPr>
        <p:txBody>
          <a:bodyPr vertOverflow="overflow" vert="horz" wrap="square" rtlCol="0" anchor="ctr" anchorCtr="0">
            <a:noAutofit/>
          </a:bodyPr>
          <a:lstStyle/>
          <a:p>
            <a:pPr algn="l"/>
            <a:r>
              <a:rPr lang="en-US" sz="1600" b="1">
                <a:solidFill>
                  <a:srgbClr val="567A2E"/>
                </a:solidFill>
                <a:latin typeface="Segoe UI"/>
                <a:cs typeface="Segoe UI"/>
              </a:rPr>
              <a:t>RAD pool</a:t>
            </a:r>
          </a:p>
        </p:txBody>
      </p:sp>
      <p:sp>
        <p:nvSpPr>
          <p:cNvPr id="26" name="TextBox 25">
            <a:extLst>
              <a:ext uri="{FF2B5EF4-FFF2-40B4-BE49-F238E27FC236}">
                <a16:creationId xmlns:a16="http://schemas.microsoft.com/office/drawing/2014/main" id="{96654D20-A7EA-9346-B7F8-AB977D7C884D}"/>
              </a:ext>
            </a:extLst>
          </p:cNvPr>
          <p:cNvSpPr txBox="1"/>
          <p:nvPr/>
        </p:nvSpPr>
        <p:spPr>
          <a:xfrm>
            <a:off x="6388100" y="2082800"/>
            <a:ext cx="5003800" cy="355600"/>
          </a:xfrm>
          <a:prstGeom prst="rect">
            <a:avLst/>
          </a:prstGeom>
          <a:noFill/>
        </p:spPr>
        <p:txBody>
          <a:bodyPr vertOverflow="overflow" vert="horz" wrap="square" rtlCol="0" anchor="ctr" anchorCtr="0">
            <a:noAutofit/>
          </a:bodyPr>
          <a:lstStyle/>
          <a:p>
            <a:pPr algn="l"/>
            <a:r>
              <a:rPr lang="en-US" sz="1600" b="1">
                <a:solidFill>
                  <a:srgbClr val="567A2E"/>
                </a:solidFill>
                <a:latin typeface="Segoe UI"/>
                <a:cs typeface="Segoe UI"/>
              </a:rPr>
              <a:t>Quality prize</a:t>
            </a:r>
          </a:p>
        </p:txBody>
      </p:sp>
      <p:sp>
        <p:nvSpPr>
          <p:cNvPr id="27" name="TextBox 26">
            <a:extLst>
              <a:ext uri="{FF2B5EF4-FFF2-40B4-BE49-F238E27FC236}">
                <a16:creationId xmlns:a16="http://schemas.microsoft.com/office/drawing/2014/main" id="{A4B6D1EB-353C-EB4B-B0F8-8E41216F534D}"/>
              </a:ext>
            </a:extLst>
          </p:cNvPr>
          <p:cNvSpPr txBox="1"/>
          <p:nvPr/>
        </p:nvSpPr>
        <p:spPr>
          <a:xfrm>
            <a:off x="800100" y="2540000"/>
            <a:ext cx="5003800" cy="3022600"/>
          </a:xfrm>
          <a:prstGeom prst="rect">
            <a:avLst/>
          </a:prstGeom>
          <a:noFill/>
        </p:spPr>
        <p:txBody>
          <a:bodyPr vertOverflow="overflow" vert="horz" wrap="square" rtlCol="0" anchor="t">
            <a:noAutofit/>
          </a:bodyPr>
          <a:lstStyle/>
          <a:p>
            <a:pPr marL="180000" indent="-180000">
              <a:lnSpc>
                <a:spcPct val="104000"/>
              </a:lnSpc>
              <a:spcAft>
                <a:spcPts val="900"/>
              </a:spcAft>
              <a:buSzPct val="90000"/>
              <a:buChar char="•"/>
            </a:pPr>
            <a:r>
              <a:rPr lang="en-US" sz="1300" b="1" dirty="0">
                <a:solidFill>
                  <a:srgbClr val="17344F"/>
                </a:solidFill>
                <a:latin typeface="Segoe UI" pitchFamily="34" charset="0"/>
                <a:cs typeface="Segoe UI" pitchFamily="34" charset="-120"/>
              </a:rPr>
              <a:t>RADs compete in a separate pool</a:t>
            </a:r>
            <a:r>
              <a:rPr lang="en-US" sz="1300" dirty="0">
                <a:solidFill>
                  <a:srgbClr val="17344F"/>
                </a:solidFill>
                <a:latin typeface="Segoe UI" pitchFamily="34" charset="0"/>
                <a:cs typeface="Segoe UI" pitchFamily="34" charset="-120"/>
              </a:rPr>
              <a:t>, with no size tiers.</a:t>
            </a:r>
          </a:p>
          <a:p>
            <a:pPr marL="180000" indent="-180000">
              <a:lnSpc>
                <a:spcPct val="104000"/>
              </a:lnSpc>
              <a:spcAft>
                <a:spcPts val="900"/>
              </a:spcAft>
              <a:buSzPct val="90000"/>
              <a:buChar char="•"/>
            </a:pPr>
            <a:r>
              <a:rPr lang="en-US" sz="1300" b="1" dirty="0">
                <a:solidFill>
                  <a:srgbClr val="17344F"/>
                </a:solidFill>
                <a:latin typeface="Segoe UI" pitchFamily="34" charset="0"/>
                <a:cs typeface="Segoe UI" pitchFamily="34" charset="-120"/>
              </a:rPr>
              <a:t>RAD baseline</a:t>
            </a:r>
            <a:r>
              <a:rPr lang="en-US" sz="1300" dirty="0">
                <a:solidFill>
                  <a:srgbClr val="17344F"/>
                </a:solidFill>
                <a:latin typeface="Segoe UI" pitchFamily="34" charset="0"/>
                <a:cs typeface="Segoe UI" pitchFamily="34" charset="-120"/>
              </a:rPr>
              <a:t> = the sum of the covered territory baselines.</a:t>
            </a:r>
          </a:p>
          <a:p>
            <a:pPr marL="180000" indent="-180000">
              <a:lnSpc>
                <a:spcPct val="104000"/>
              </a:lnSpc>
              <a:spcAft>
                <a:spcPts val="900"/>
              </a:spcAft>
              <a:buSzPct val="90000"/>
              <a:buChar char="•"/>
            </a:pPr>
            <a:r>
              <a:rPr lang="en-US" sz="1300" dirty="0">
                <a:solidFill>
                  <a:srgbClr val="17344F"/>
                </a:solidFill>
                <a:latin typeface="Segoe UI" pitchFamily="34" charset="0"/>
                <a:cs typeface="Segoe UI" pitchFamily="34" charset="-120"/>
              </a:rPr>
              <a:t>RAD payout pool: </a:t>
            </a:r>
            <a:r>
              <a:rPr lang="en-US" sz="1300" b="1" dirty="0">
                <a:solidFill>
                  <a:srgbClr val="C0392B"/>
                </a:solidFill>
                <a:latin typeface="Segoe UI" pitchFamily="34" charset="0"/>
                <a:cs typeface="Segoe UI" pitchFamily="34" charset="-120"/>
              </a:rPr>
              <a:t>Final confirmation needed</a:t>
            </a:r>
            <a:r>
              <a:rPr lang="en-US" sz="1300" dirty="0">
                <a:solidFill>
                  <a:srgbClr val="17344F"/>
                </a:solidFill>
                <a:latin typeface="Segoe UI" pitchFamily="34" charset="0"/>
                <a:cs typeface="Segoe UI" pitchFamily="34" charset="-120"/>
              </a:rPr>
              <a:t>.</a:t>
            </a:r>
          </a:p>
          <a:p>
            <a:pPr marL="180000" indent="-180000">
              <a:lnSpc>
                <a:spcPct val="104000"/>
              </a:lnSpc>
              <a:buSzPct val="90000"/>
              <a:buChar char="•"/>
            </a:pPr>
            <a:r>
              <a:rPr lang="en-US" sz="1300" b="1" dirty="0">
                <a:solidFill>
                  <a:srgbClr val="17344F"/>
                </a:solidFill>
                <a:latin typeface="Segoe UI" pitchFamily="34" charset="0"/>
                <a:cs typeface="Segoe UI" pitchFamily="34" charset="-120"/>
              </a:rPr>
              <a:t>Coverage and overlap rules must be locked before launch.</a:t>
            </a:r>
          </a:p>
        </p:txBody>
      </p:sp>
      <p:sp>
        <p:nvSpPr>
          <p:cNvPr id="28" name="TextBox 27">
            <a:extLst>
              <a:ext uri="{FF2B5EF4-FFF2-40B4-BE49-F238E27FC236}">
                <a16:creationId xmlns:a16="http://schemas.microsoft.com/office/drawing/2014/main" id="{5BBA39D8-3987-2B44-8800-4A770B1BA1D4}"/>
              </a:ext>
            </a:extLst>
          </p:cNvPr>
          <p:cNvSpPr txBox="1"/>
          <p:nvPr/>
        </p:nvSpPr>
        <p:spPr>
          <a:xfrm>
            <a:off x="6388100" y="2540000"/>
            <a:ext cx="5003800" cy="3022600"/>
          </a:xfrm>
          <a:prstGeom prst="rect">
            <a:avLst/>
          </a:prstGeom>
          <a:noFill/>
        </p:spPr>
        <p:txBody>
          <a:bodyPr vertOverflow="overflow" vert="horz" wrap="square" rtlCol="0" anchor="t">
            <a:noAutofit/>
          </a:bodyPr>
          <a:lstStyle/>
          <a:p>
            <a:pPr marL="180000" indent="-180000">
              <a:lnSpc>
                <a:spcPct val="104000"/>
              </a:lnSpc>
              <a:spcAft>
                <a:spcPts val="900"/>
              </a:spcAft>
              <a:buSzPct val="90000"/>
              <a:buChar char="•"/>
            </a:pPr>
            <a:r>
              <a:rPr lang="en-US" sz="1300" dirty="0">
                <a:solidFill>
                  <a:srgbClr val="17344F"/>
                </a:solidFill>
                <a:latin typeface="Segoe UI" pitchFamily="34" charset="0"/>
                <a:cs typeface="Segoe UI" pitchFamily="34" charset="-120"/>
              </a:rPr>
              <a:t>Awarded within each territory size group.</a:t>
            </a:r>
          </a:p>
          <a:p>
            <a:pPr marL="180000" indent="-180000">
              <a:lnSpc>
                <a:spcPct val="104000"/>
              </a:lnSpc>
              <a:spcAft>
                <a:spcPts val="900"/>
              </a:spcAft>
              <a:buSzPct val="90000"/>
              <a:buChar char="•"/>
            </a:pPr>
            <a:r>
              <a:rPr lang="en-US" sz="1300" dirty="0">
                <a:solidFill>
                  <a:srgbClr val="17344F"/>
                </a:solidFill>
                <a:latin typeface="Segoe UI" pitchFamily="34" charset="0"/>
                <a:cs typeface="Segoe UI" pitchFamily="34" charset="-120"/>
              </a:rPr>
              <a:t>Requires a minimum of </a:t>
            </a:r>
            <a:r>
              <a:rPr lang="en-US" sz="1300" b="1" dirty="0">
                <a:solidFill>
                  <a:srgbClr val="17344F"/>
                </a:solidFill>
                <a:latin typeface="Segoe UI" pitchFamily="34" charset="0"/>
                <a:cs typeface="Segoe UI" pitchFamily="34" charset="-120"/>
              </a:rPr>
              <a:t>five enrollments</a:t>
            </a:r>
            <a:r>
              <a:rPr lang="en-US" sz="1300" dirty="0">
                <a:solidFill>
                  <a:srgbClr val="17344F"/>
                </a:solidFill>
                <a:latin typeface="Segoe UI" pitchFamily="34" charset="0"/>
                <a:cs typeface="Segoe UI" pitchFamily="34" charset="-120"/>
              </a:rPr>
              <a:t> to qualify.</a:t>
            </a:r>
          </a:p>
          <a:p>
            <a:pPr marL="180000" indent="-180000">
              <a:lnSpc>
                <a:spcPct val="104000"/>
              </a:lnSpc>
              <a:spcAft>
                <a:spcPts val="900"/>
              </a:spcAft>
              <a:buSzPct val="90000"/>
              <a:buChar char="•"/>
            </a:pPr>
            <a:r>
              <a:rPr lang="en-US" sz="1300" dirty="0">
                <a:solidFill>
                  <a:srgbClr val="17344F"/>
                </a:solidFill>
                <a:latin typeface="Segoe UI" pitchFamily="34" charset="0"/>
                <a:cs typeface="Segoe UI" pitchFamily="34" charset="-120"/>
              </a:rPr>
              <a:t>Based on the share of enrolled patients who </a:t>
            </a:r>
            <a:r>
              <a:rPr lang="en-US" sz="1300" b="1" dirty="0">
                <a:solidFill>
                  <a:srgbClr val="567A2E"/>
                </a:solidFill>
                <a:latin typeface="Segoe UI" pitchFamily="34" charset="0"/>
                <a:cs typeface="Segoe UI" pitchFamily="34" charset="-120"/>
              </a:rPr>
              <a:t>move forward to treatment</a:t>
            </a:r>
            <a:r>
              <a:rPr lang="en-US" sz="1300" dirty="0">
                <a:solidFill>
                  <a:srgbClr val="17344F"/>
                </a:solidFill>
                <a:latin typeface="Segoe UI" pitchFamily="34" charset="0"/>
                <a:cs typeface="Segoe UI" pitchFamily="34" charset="-120"/>
              </a:rPr>
              <a:t>.</a:t>
            </a:r>
          </a:p>
          <a:p>
            <a:pPr marL="180000" indent="-180000">
              <a:lnSpc>
                <a:spcPct val="104000"/>
              </a:lnSpc>
              <a:buSzPct val="90000"/>
              <a:buChar char="•"/>
            </a:pPr>
            <a:r>
              <a:rPr lang="en-US" sz="1300" dirty="0">
                <a:solidFill>
                  <a:srgbClr val="17344F"/>
                </a:solidFill>
                <a:latin typeface="Segoe UI" pitchFamily="34" charset="0"/>
                <a:cs typeface="Segoe UI" pitchFamily="34" charset="-120"/>
              </a:rPr>
              <a:t>Settled about one month after contest close, so patient movement can be observed.</a:t>
            </a:r>
          </a:p>
        </p:txBody>
      </p:sp>
    </p:spTree>
    <p:extLst>
      <p:ext uri="{BB962C8B-B14F-4D97-AF65-F5344CB8AC3E}">
        <p14:creationId xmlns:p14="http://schemas.microsoft.com/office/powerpoint/2010/main" val="3043224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567A2E"/>
                </a:solidFill>
                <a:latin typeface="Segoe UI" pitchFamily="34" charset="0"/>
                <a:cs typeface="Segoe UI" pitchFamily="34" charset="-120"/>
              </a:rPr>
              <a:t>OPERATING MODEL</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The scoring engine is simple enough to update during the contest</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9</a:t>
            </a:r>
            <a:endParaRPr lang="en-US" sz="900" dirty="0"/>
          </a:p>
        </p:txBody>
      </p:sp>
      <p:sp>
        <p:nvSpPr>
          <p:cNvPr id="21" name="Text 18"/>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cs typeface="Segoe UI" pitchFamily="34" charset="-120"/>
              </a:rPr>
              <a:t>Illustrative leaderboard using sample territories. Group shown as Large / Medium / Small. Enrollment, baseline, and payout figures are internal planning figures for 2H 2026, subject to leadership approval.</a:t>
            </a:r>
          </a:p>
        </p:txBody>
      </p:sp>
      <p:sp>
        <p:nvSpPr>
          <p:cNvPr id="24" name="Rounded Rectangle 23">
            <a:extLst>
              <a:ext uri="{FF2B5EF4-FFF2-40B4-BE49-F238E27FC236}">
                <a16:creationId xmlns:a16="http://schemas.microsoft.com/office/drawing/2014/main" id="{7AD7FDA0-B9AB-D44A-9300-972E671DBDC7}"/>
              </a:ext>
            </a:extLst>
          </p:cNvPr>
          <p:cNvSpPr/>
          <p:nvPr/>
        </p:nvSpPr>
        <p:spPr>
          <a:xfrm>
            <a:off x="508000" y="5308600"/>
            <a:ext cx="11176000" cy="558800"/>
          </a:xfrm>
          <a:prstGeom prst="roundRect">
            <a:avLst/>
          </a:prstGeom>
          <a:solidFill>
            <a:srgbClr val="F7F9F1"/>
          </a:solidFill>
          <a:ln w="12700" cap="flat" cmpd="sng" algn="ctr">
            <a:solidFill>
              <a:srgbClr val="D8DED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23" name="Table 22">
            <a:extLst>
              <a:ext uri="{FF2B5EF4-FFF2-40B4-BE49-F238E27FC236}">
                <a16:creationId xmlns:a16="http://schemas.microsoft.com/office/drawing/2014/main" id="{1005A691-A27D-4648-AF20-BD8D196707B3}"/>
              </a:ext>
            </a:extLst>
          </p:cNvPr>
          <p:cNvGraphicFramePr>
            <a:graphicFrameLocks noGrp="1"/>
          </p:cNvGraphicFramePr>
          <p:nvPr/>
        </p:nvGraphicFramePr>
        <p:xfrm>
          <a:off x="508000" y="2235200"/>
          <a:ext cx="11176000" cy="28041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73004547"/>
                    </a:ext>
                  </a:extLst>
                </a:gridCol>
                <a:gridCol w="762000">
                  <a:extLst>
                    <a:ext uri="{9D8B030D-6E8A-4147-A177-3AD203B41FA5}">
                      <a16:colId xmlns:a16="http://schemas.microsoft.com/office/drawing/2014/main" val="1970374198"/>
                    </a:ext>
                  </a:extLst>
                </a:gridCol>
                <a:gridCol w="939800">
                  <a:extLst>
                    <a:ext uri="{9D8B030D-6E8A-4147-A177-3AD203B41FA5}">
                      <a16:colId xmlns:a16="http://schemas.microsoft.com/office/drawing/2014/main" val="157168624"/>
                    </a:ext>
                  </a:extLst>
                </a:gridCol>
                <a:gridCol w="1168400">
                  <a:extLst>
                    <a:ext uri="{9D8B030D-6E8A-4147-A177-3AD203B41FA5}">
                      <a16:colId xmlns:a16="http://schemas.microsoft.com/office/drawing/2014/main" val="1329022119"/>
                    </a:ext>
                  </a:extLst>
                </a:gridCol>
                <a:gridCol w="1066800">
                  <a:extLst>
                    <a:ext uri="{9D8B030D-6E8A-4147-A177-3AD203B41FA5}">
                      <a16:colId xmlns:a16="http://schemas.microsoft.com/office/drawing/2014/main" val="1543156802"/>
                    </a:ext>
                  </a:extLst>
                </a:gridCol>
                <a:gridCol w="1066800">
                  <a:extLst>
                    <a:ext uri="{9D8B030D-6E8A-4147-A177-3AD203B41FA5}">
                      <a16:colId xmlns:a16="http://schemas.microsoft.com/office/drawing/2014/main" val="1507341676"/>
                    </a:ext>
                  </a:extLst>
                </a:gridCol>
                <a:gridCol w="889000">
                  <a:extLst>
                    <a:ext uri="{9D8B030D-6E8A-4147-A177-3AD203B41FA5}">
                      <a16:colId xmlns:a16="http://schemas.microsoft.com/office/drawing/2014/main" val="218360398"/>
                    </a:ext>
                  </a:extLst>
                </a:gridCol>
                <a:gridCol w="1092200">
                  <a:extLst>
                    <a:ext uri="{9D8B030D-6E8A-4147-A177-3AD203B41FA5}">
                      <a16:colId xmlns:a16="http://schemas.microsoft.com/office/drawing/2014/main" val="226562276"/>
                    </a:ext>
                  </a:extLst>
                </a:gridCol>
                <a:gridCol w="787400">
                  <a:extLst>
                    <a:ext uri="{9D8B030D-6E8A-4147-A177-3AD203B41FA5}">
                      <a16:colId xmlns:a16="http://schemas.microsoft.com/office/drawing/2014/main" val="4033873032"/>
                    </a:ext>
                  </a:extLst>
                </a:gridCol>
                <a:gridCol w="736600">
                  <a:extLst>
                    <a:ext uri="{9D8B030D-6E8A-4147-A177-3AD203B41FA5}">
                      <a16:colId xmlns:a16="http://schemas.microsoft.com/office/drawing/2014/main" val="1170210526"/>
                    </a:ext>
                  </a:extLst>
                </a:gridCol>
                <a:gridCol w="1041400">
                  <a:extLst>
                    <a:ext uri="{9D8B030D-6E8A-4147-A177-3AD203B41FA5}">
                      <a16:colId xmlns:a16="http://schemas.microsoft.com/office/drawing/2014/main" val="3627938455"/>
                    </a:ext>
                  </a:extLst>
                </a:gridCol>
              </a:tblGrid>
              <a:tr h="482600">
                <a:tc>
                  <a:txBody>
                    <a:bodyPr/>
                    <a:lstStyle/>
                    <a:p>
                      <a:pPr algn="l"/>
                      <a:r>
                        <a:rPr lang="en-US" sz="1100" b="1">
                          <a:solidFill>
                            <a:srgbClr val="FFFFFF"/>
                          </a:solidFill>
                          <a:latin typeface="Segoe UI"/>
                          <a:cs typeface="Segoe UI"/>
                        </a:rPr>
                        <a:t>Territory</a:t>
                      </a:r>
                    </a:p>
                  </a:txBody>
                  <a:tcPr anchor="ctr">
                    <a:solidFill>
                      <a:srgbClr val="17344F"/>
                    </a:solidFill>
                  </a:tcPr>
                </a:tc>
                <a:tc>
                  <a:txBody>
                    <a:bodyPr/>
                    <a:lstStyle/>
                    <a:p>
                      <a:pPr algn="ctr"/>
                      <a:r>
                        <a:rPr lang="en-US" sz="1100" b="1">
                          <a:solidFill>
                            <a:srgbClr val="FFFFFF"/>
                          </a:solidFill>
                          <a:latin typeface="Segoe UI"/>
                          <a:cs typeface="Segoe UI"/>
                        </a:rPr>
                        <a:t>Group</a:t>
                      </a:r>
                    </a:p>
                  </a:txBody>
                  <a:tcPr anchor="ctr">
                    <a:solidFill>
                      <a:srgbClr val="17344F"/>
                    </a:solidFill>
                  </a:tcPr>
                </a:tc>
                <a:tc>
                  <a:txBody>
                    <a:bodyPr/>
                    <a:lstStyle/>
                    <a:p>
                      <a:pPr algn="ctr"/>
                      <a:r>
                        <a:rPr lang="en-US" sz="1100" b="1">
                          <a:solidFill>
                            <a:srgbClr val="FFFFFF"/>
                          </a:solidFill>
                          <a:latin typeface="Segoe UI"/>
                          <a:cs typeface="Segoe UI"/>
                        </a:rPr>
                        <a:t>Baseline</a:t>
                      </a:r>
                    </a:p>
                  </a:txBody>
                  <a:tcPr anchor="ctr">
                    <a:solidFill>
                      <a:srgbClr val="17344F"/>
                    </a:solidFill>
                  </a:tcPr>
                </a:tc>
                <a:tc>
                  <a:txBody>
                    <a:bodyPr/>
                    <a:lstStyle/>
                    <a:p>
                      <a:pPr algn="ctr"/>
                      <a:r>
                        <a:rPr lang="en-US" sz="1100" b="1">
                          <a:solidFill>
                            <a:srgbClr val="FFFFFF"/>
                          </a:solidFill>
                          <a:latin typeface="Segoe UI"/>
                          <a:cs typeface="Segoe UI"/>
                        </a:rPr>
                        <a:t>Contest
enrollments</a:t>
                      </a:r>
                    </a:p>
                  </a:txBody>
                  <a:tcPr anchor="ctr">
                    <a:solidFill>
                      <a:srgbClr val="17344F"/>
                    </a:solidFill>
                  </a:tcPr>
                </a:tc>
                <a:tc>
                  <a:txBody>
                    <a:bodyPr/>
                    <a:lstStyle/>
                    <a:p>
                      <a:pPr algn="ctr"/>
                      <a:r>
                        <a:rPr lang="en-US" sz="1100" b="1">
                          <a:solidFill>
                            <a:srgbClr val="FFFFFF"/>
                          </a:solidFill>
                          <a:latin typeface="Segoe UI"/>
                          <a:cs typeface="Segoe UI"/>
                        </a:rPr>
                        <a:t>Volume
growth</a:t>
                      </a:r>
                    </a:p>
                  </a:txBody>
                  <a:tcPr anchor="ctr">
                    <a:solidFill>
                      <a:srgbClr val="17344F"/>
                    </a:solidFill>
                  </a:tcPr>
                </a:tc>
                <a:tc>
                  <a:txBody>
                    <a:bodyPr/>
                    <a:lstStyle/>
                    <a:p>
                      <a:pPr algn="ctr"/>
                      <a:r>
                        <a:rPr lang="en-US" sz="1100" b="1">
                          <a:solidFill>
                            <a:srgbClr val="FFFFFF"/>
                          </a:solidFill>
                          <a:latin typeface="Segoe UI"/>
                          <a:cs typeface="Segoe UI"/>
                        </a:rPr>
                        <a:t>Percent
growth</a:t>
                      </a:r>
                    </a:p>
                  </a:txBody>
                  <a:tcPr anchor="ctr">
                    <a:solidFill>
                      <a:srgbClr val="17344F"/>
                    </a:solidFill>
                  </a:tcPr>
                </a:tc>
                <a:tc>
                  <a:txBody>
                    <a:bodyPr/>
                    <a:lstStyle/>
                    <a:p>
                      <a:pPr algn="ctr"/>
                      <a:r>
                        <a:rPr lang="en-US" sz="1100" b="1">
                          <a:solidFill>
                            <a:srgbClr val="FFFFFF"/>
                          </a:solidFill>
                          <a:latin typeface="Segoe UI"/>
                          <a:cs typeface="Segoe UI"/>
                        </a:rPr>
                        <a:t>Final
score</a:t>
                      </a:r>
                    </a:p>
                  </a:txBody>
                  <a:tcPr anchor="ctr">
                    <a:solidFill>
                      <a:srgbClr val="17344F"/>
                    </a:solidFill>
                  </a:tcPr>
                </a:tc>
                <a:tc>
                  <a:txBody>
                    <a:bodyPr/>
                    <a:lstStyle/>
                    <a:p>
                      <a:pPr algn="ctr"/>
                      <a:r>
                        <a:rPr lang="en-US" sz="1100" b="1">
                          <a:solidFill>
                            <a:srgbClr val="FFFFFF"/>
                          </a:solidFill>
                          <a:latin typeface="Segoe UI"/>
                          <a:cs typeface="Segoe UI"/>
                        </a:rPr>
                        <a:t>Payout</a:t>
                      </a:r>
                    </a:p>
                  </a:txBody>
                  <a:tcPr anchor="ctr">
                    <a:solidFill>
                      <a:srgbClr val="17344F"/>
                    </a:solidFill>
                  </a:tcPr>
                </a:tc>
                <a:tc>
                  <a:txBody>
                    <a:bodyPr/>
                    <a:lstStyle/>
                    <a:p>
                      <a:pPr algn="ctr"/>
                      <a:r>
                        <a:rPr lang="en-US" sz="1100" b="1">
                          <a:solidFill>
                            <a:srgbClr val="FFFFFF"/>
                          </a:solidFill>
                          <a:latin typeface="Segoe UI"/>
                          <a:cs typeface="Segoe UI"/>
                        </a:rPr>
                        <a:t>Data
check</a:t>
                      </a:r>
                    </a:p>
                  </a:txBody>
                  <a:tcPr anchor="ctr">
                    <a:solidFill>
                      <a:srgbClr val="17344F"/>
                    </a:solidFill>
                  </a:tcPr>
                </a:tc>
                <a:tc>
                  <a:txBody>
                    <a:bodyPr/>
                    <a:lstStyle/>
                    <a:p>
                      <a:pPr algn="ctr"/>
                      <a:r>
                        <a:rPr lang="en-US" sz="1100" b="1">
                          <a:solidFill>
                            <a:srgbClr val="FFFFFF"/>
                          </a:solidFill>
                          <a:latin typeface="Segoe UI"/>
                          <a:cs typeface="Segoe UI"/>
                        </a:rPr>
                        <a:t>Low-base
flag</a:t>
                      </a:r>
                    </a:p>
                  </a:txBody>
                  <a:tcPr anchor="ctr">
                    <a:solidFill>
                      <a:srgbClr val="17344F"/>
                    </a:solidFill>
                  </a:tcPr>
                </a:tc>
                <a:tc>
                  <a:txBody>
                    <a:bodyPr/>
                    <a:lstStyle/>
                    <a:p>
                      <a:pPr algn="ctr"/>
                      <a:r>
                        <a:rPr lang="en-US" sz="1100" b="1">
                          <a:solidFill>
                            <a:srgbClr val="FFFFFF"/>
                          </a:solidFill>
                          <a:latin typeface="Segoe UI"/>
                          <a:cs typeface="Segoe UI"/>
                        </a:rPr>
                        <a:t>Quality
eligibility</a:t>
                      </a:r>
                    </a:p>
                  </a:txBody>
                  <a:tcPr anchor="ctr">
                    <a:solidFill>
                      <a:srgbClr val="17344F"/>
                    </a:solidFill>
                  </a:tcPr>
                </a:tc>
                <a:extLst>
                  <a:ext uri="{0D108BD9-81ED-4DB2-BD59-A6C34878D82A}">
                    <a16:rowId xmlns:a16="http://schemas.microsoft.com/office/drawing/2014/main" val="3731854723"/>
                  </a:ext>
                </a:extLst>
              </a:tr>
              <a:tr h="368300">
                <a:tc>
                  <a:txBody>
                    <a:bodyPr/>
                    <a:lstStyle/>
                    <a:p>
                      <a:pPr algn="l"/>
                      <a:r>
                        <a:rPr lang="en-US" sz="1200" b="0">
                          <a:solidFill>
                            <a:srgbClr val="17344F"/>
                          </a:solidFill>
                          <a:latin typeface="Segoe UI"/>
                          <a:cs typeface="Segoe UI"/>
                        </a:rPr>
                        <a:t>CT / NYC</a:t>
                      </a:r>
                    </a:p>
                  </a:txBody>
                  <a:tcPr anchor="ctr">
                    <a:solidFill>
                      <a:srgbClr val="FFFFFF"/>
                    </a:solidFill>
                  </a:tcPr>
                </a:tc>
                <a:tc>
                  <a:txBody>
                    <a:bodyPr/>
                    <a:lstStyle/>
                    <a:p>
                      <a:pPr algn="ctr"/>
                      <a:r>
                        <a:rPr lang="en-US" sz="1200" b="0">
                          <a:solidFill>
                            <a:srgbClr val="17344F"/>
                          </a:solidFill>
                          <a:latin typeface="Segoe UI"/>
                          <a:cs typeface="Segoe UI"/>
                        </a:rPr>
                        <a:t>Large</a:t>
                      </a:r>
                    </a:p>
                  </a:txBody>
                  <a:tcPr anchor="ctr">
                    <a:solidFill>
                      <a:srgbClr val="FFFFFF"/>
                    </a:solidFill>
                  </a:tcPr>
                </a:tc>
                <a:tc>
                  <a:txBody>
                    <a:bodyPr/>
                    <a:lstStyle/>
                    <a:p>
                      <a:pPr algn="ctr"/>
                      <a:r>
                        <a:rPr lang="en-US" sz="1200" b="0">
                          <a:solidFill>
                            <a:srgbClr val="17344F"/>
                          </a:solidFill>
                          <a:latin typeface="Segoe UI"/>
                          <a:cs typeface="Segoe UI"/>
                        </a:rPr>
                        <a:t>28</a:t>
                      </a:r>
                    </a:p>
                  </a:txBody>
                  <a:tcPr anchor="ctr">
                    <a:solidFill>
                      <a:srgbClr val="FFFFFF"/>
                    </a:solidFill>
                  </a:tcPr>
                </a:tc>
                <a:tc>
                  <a:txBody>
                    <a:bodyPr/>
                    <a:lstStyle/>
                    <a:p>
                      <a:pPr algn="ctr"/>
                      <a:r>
                        <a:rPr lang="en-US" sz="1200" b="0">
                          <a:solidFill>
                            <a:srgbClr val="17344F"/>
                          </a:solidFill>
                          <a:latin typeface="Segoe UI"/>
                          <a:cs typeface="Segoe UI"/>
                        </a:rPr>
                        <a:t>34</a:t>
                      </a:r>
                    </a:p>
                  </a:txBody>
                  <a:tcPr anchor="ctr">
                    <a:solidFill>
                      <a:srgbClr val="FFFFFF"/>
                    </a:solidFill>
                  </a:tcPr>
                </a:tc>
                <a:tc>
                  <a:txBody>
                    <a:bodyPr/>
                    <a:lstStyle/>
                    <a:p>
                      <a:pPr algn="ctr"/>
                      <a:r>
                        <a:rPr lang="en-US" sz="1200" b="0">
                          <a:solidFill>
                            <a:srgbClr val="17344F"/>
                          </a:solidFill>
                          <a:latin typeface="Segoe UI"/>
                          <a:cs typeface="Segoe UI"/>
                        </a:rPr>
                        <a:t>+6</a:t>
                      </a:r>
                    </a:p>
                  </a:txBody>
                  <a:tcPr anchor="ctr">
                    <a:solidFill>
                      <a:srgbClr val="FFFFFF"/>
                    </a:solidFill>
                  </a:tcPr>
                </a:tc>
                <a:tc>
                  <a:txBody>
                    <a:bodyPr/>
                    <a:lstStyle/>
                    <a:p>
                      <a:pPr algn="ctr"/>
                      <a:r>
                        <a:rPr lang="en-US" sz="1200" b="0">
                          <a:solidFill>
                            <a:srgbClr val="17344F"/>
                          </a:solidFill>
                          <a:latin typeface="Segoe UI"/>
                          <a:cs typeface="Segoe UI"/>
                        </a:rPr>
                        <a:t>+21%</a:t>
                      </a:r>
                    </a:p>
                  </a:txBody>
                  <a:tcPr anchor="ctr">
                    <a:solidFill>
                      <a:srgbClr val="FFFFFF"/>
                    </a:solidFill>
                  </a:tcPr>
                </a:tc>
                <a:tc>
                  <a:txBody>
                    <a:bodyPr/>
                    <a:lstStyle/>
                    <a:p>
                      <a:pPr algn="ctr"/>
                      <a:r>
                        <a:rPr lang="en-US" sz="1200" b="0">
                          <a:solidFill>
                            <a:srgbClr val="17344F"/>
                          </a:solidFill>
                          <a:latin typeface="Segoe UI"/>
                          <a:cs typeface="Segoe UI"/>
                        </a:rPr>
                        <a:t>1.5</a:t>
                      </a:r>
                    </a:p>
                  </a:txBody>
                  <a:tcPr anchor="ctr">
                    <a:solidFill>
                      <a:srgbClr val="FFFFFF"/>
                    </a:solidFill>
                  </a:tcPr>
                </a:tc>
                <a:tc>
                  <a:txBody>
                    <a:bodyPr/>
                    <a:lstStyle/>
                    <a:p>
                      <a:pPr algn="ctr"/>
                      <a:r>
                        <a:rPr lang="en-US" sz="1200" b="1">
                          <a:solidFill>
                            <a:srgbClr val="567A2E"/>
                          </a:solidFill>
                          <a:latin typeface="Segoe UI"/>
                          <a:cs typeface="Segoe UI"/>
                        </a:rPr>
                        <a:t>$5,000</a:t>
                      </a:r>
                    </a:p>
                  </a:txBody>
                  <a:tcPr anchor="ctr">
                    <a:solidFill>
                      <a:srgbClr val="FFFFFF"/>
                    </a:solidFill>
                  </a:tcPr>
                </a:tc>
                <a:tc>
                  <a:txBody>
                    <a:bodyPr/>
                    <a:lstStyle/>
                    <a:p>
                      <a:pPr algn="ctr"/>
                      <a:r>
                        <a:rPr lang="en-US" sz="1200" b="1">
                          <a:solidFill>
                            <a:srgbClr val="567A2E"/>
                          </a:solidFill>
                          <a:latin typeface="Segoe UI"/>
                          <a:cs typeface="Segoe UI"/>
                        </a:rPr>
                        <a:t>OK</a:t>
                      </a:r>
                    </a:p>
                  </a:txBody>
                  <a:tcPr anchor="ctr">
                    <a:solidFill>
                      <a:srgbClr val="FFFFFF"/>
                    </a:solidFill>
                  </a:tcPr>
                </a:tc>
                <a:tc>
                  <a:txBody>
                    <a:bodyPr/>
                    <a:lstStyle/>
                    <a:p>
                      <a:pPr algn="ctr"/>
                      <a:r>
                        <a:rPr lang="en-US" sz="1200" b="0">
                          <a:solidFill>
                            <a:srgbClr val="9AA0A6"/>
                          </a:solidFill>
                          <a:latin typeface="Segoe UI"/>
                          <a:cs typeface="Segoe UI"/>
                        </a:rPr>
                        <a:t>—</a:t>
                      </a:r>
                    </a:p>
                  </a:txBody>
                  <a:tcPr anchor="ctr">
                    <a:solidFill>
                      <a:srgbClr val="FFFFFF"/>
                    </a:solidFill>
                  </a:tcPr>
                </a:tc>
                <a:tc>
                  <a:txBody>
                    <a:bodyPr/>
                    <a:lstStyle/>
                    <a:p>
                      <a:pPr algn="ctr"/>
                      <a:r>
                        <a:rPr lang="en-US" sz="1200" b="1">
                          <a:solidFill>
                            <a:srgbClr val="567A2E"/>
                          </a:solidFill>
                          <a:latin typeface="Segoe UI"/>
                          <a:cs typeface="Segoe UI"/>
                        </a:rPr>
                        <a:t>Eligible</a:t>
                      </a:r>
                    </a:p>
                  </a:txBody>
                  <a:tcPr anchor="ctr">
                    <a:solidFill>
                      <a:srgbClr val="FFFFFF"/>
                    </a:solidFill>
                  </a:tcPr>
                </a:tc>
                <a:extLst>
                  <a:ext uri="{0D108BD9-81ED-4DB2-BD59-A6C34878D82A}">
                    <a16:rowId xmlns:a16="http://schemas.microsoft.com/office/drawing/2014/main" val="4080697101"/>
                  </a:ext>
                </a:extLst>
              </a:tr>
              <a:tr h="368300">
                <a:tc>
                  <a:txBody>
                    <a:bodyPr/>
                    <a:lstStyle/>
                    <a:p>
                      <a:pPr algn="l"/>
                      <a:r>
                        <a:rPr lang="en-US" sz="1200" b="0">
                          <a:solidFill>
                            <a:srgbClr val="17344F"/>
                          </a:solidFill>
                          <a:latin typeface="Segoe UI"/>
                          <a:cs typeface="Segoe UI"/>
                        </a:rPr>
                        <a:t>South FL</a:t>
                      </a:r>
                    </a:p>
                  </a:txBody>
                  <a:tcPr anchor="ctr">
                    <a:solidFill>
                      <a:srgbClr val="F5F7EF"/>
                    </a:solidFill>
                  </a:tcPr>
                </a:tc>
                <a:tc>
                  <a:txBody>
                    <a:bodyPr/>
                    <a:lstStyle/>
                    <a:p>
                      <a:pPr algn="ctr"/>
                      <a:r>
                        <a:rPr lang="en-US" sz="1200" b="0">
                          <a:solidFill>
                            <a:srgbClr val="17344F"/>
                          </a:solidFill>
                          <a:latin typeface="Segoe UI"/>
                          <a:cs typeface="Segoe UI"/>
                        </a:rPr>
                        <a:t>Large</a:t>
                      </a:r>
                    </a:p>
                  </a:txBody>
                  <a:tcPr anchor="ctr">
                    <a:solidFill>
                      <a:srgbClr val="F5F7EF"/>
                    </a:solidFill>
                  </a:tcPr>
                </a:tc>
                <a:tc>
                  <a:txBody>
                    <a:bodyPr/>
                    <a:lstStyle/>
                    <a:p>
                      <a:pPr algn="ctr"/>
                      <a:r>
                        <a:rPr lang="en-US" sz="1200" b="0">
                          <a:solidFill>
                            <a:srgbClr val="17344F"/>
                          </a:solidFill>
                          <a:latin typeface="Segoe UI"/>
                          <a:cs typeface="Segoe UI"/>
                        </a:rPr>
                        <a:t>26</a:t>
                      </a:r>
                    </a:p>
                  </a:txBody>
                  <a:tcPr anchor="ctr">
                    <a:solidFill>
                      <a:srgbClr val="F5F7EF"/>
                    </a:solidFill>
                  </a:tcPr>
                </a:tc>
                <a:tc>
                  <a:txBody>
                    <a:bodyPr/>
                    <a:lstStyle/>
                    <a:p>
                      <a:pPr algn="ctr"/>
                      <a:r>
                        <a:rPr lang="en-US" sz="1200" b="0">
                          <a:solidFill>
                            <a:srgbClr val="17344F"/>
                          </a:solidFill>
                          <a:latin typeface="Segoe UI"/>
                          <a:cs typeface="Segoe UI"/>
                        </a:rPr>
                        <a:t>30</a:t>
                      </a:r>
                    </a:p>
                  </a:txBody>
                  <a:tcPr anchor="ctr">
                    <a:solidFill>
                      <a:srgbClr val="F5F7EF"/>
                    </a:solidFill>
                  </a:tcPr>
                </a:tc>
                <a:tc>
                  <a:txBody>
                    <a:bodyPr/>
                    <a:lstStyle/>
                    <a:p>
                      <a:pPr algn="ctr"/>
                      <a:r>
                        <a:rPr lang="en-US" sz="1200" b="0">
                          <a:solidFill>
                            <a:srgbClr val="17344F"/>
                          </a:solidFill>
                          <a:latin typeface="Segoe UI"/>
                          <a:cs typeface="Segoe UI"/>
                        </a:rPr>
                        <a:t>+4</a:t>
                      </a:r>
                    </a:p>
                  </a:txBody>
                  <a:tcPr anchor="ctr">
                    <a:solidFill>
                      <a:srgbClr val="F5F7EF"/>
                    </a:solidFill>
                  </a:tcPr>
                </a:tc>
                <a:tc>
                  <a:txBody>
                    <a:bodyPr/>
                    <a:lstStyle/>
                    <a:p>
                      <a:pPr algn="ctr"/>
                      <a:r>
                        <a:rPr lang="en-US" sz="1200" b="0">
                          <a:solidFill>
                            <a:srgbClr val="17344F"/>
                          </a:solidFill>
                          <a:latin typeface="Segoe UI"/>
                          <a:cs typeface="Segoe UI"/>
                        </a:rPr>
                        <a:t>+15%</a:t>
                      </a:r>
                    </a:p>
                  </a:txBody>
                  <a:tcPr anchor="ctr">
                    <a:solidFill>
                      <a:srgbClr val="F5F7EF"/>
                    </a:solidFill>
                  </a:tcPr>
                </a:tc>
                <a:tc>
                  <a:txBody>
                    <a:bodyPr/>
                    <a:lstStyle/>
                    <a:p>
                      <a:pPr algn="ctr"/>
                      <a:r>
                        <a:rPr lang="en-US" sz="1200" b="0">
                          <a:solidFill>
                            <a:srgbClr val="17344F"/>
                          </a:solidFill>
                          <a:latin typeface="Segoe UI"/>
                          <a:cs typeface="Segoe UI"/>
                        </a:rPr>
                        <a:t>2.0</a:t>
                      </a:r>
                    </a:p>
                  </a:txBody>
                  <a:tcPr anchor="ctr">
                    <a:solidFill>
                      <a:srgbClr val="F5F7EF"/>
                    </a:solidFill>
                  </a:tcPr>
                </a:tc>
                <a:tc>
                  <a:txBody>
                    <a:bodyPr/>
                    <a:lstStyle/>
                    <a:p>
                      <a:pPr algn="ctr"/>
                      <a:r>
                        <a:rPr lang="en-US" sz="1200" b="1">
                          <a:solidFill>
                            <a:srgbClr val="567A2E"/>
                          </a:solidFill>
                          <a:latin typeface="Segoe UI"/>
                          <a:cs typeface="Segoe UI"/>
                        </a:rPr>
                        <a:t>$3,000</a:t>
                      </a:r>
                    </a:p>
                  </a:txBody>
                  <a:tcPr anchor="ctr">
                    <a:solidFill>
                      <a:srgbClr val="F5F7EF"/>
                    </a:solidFill>
                  </a:tcPr>
                </a:tc>
                <a:tc>
                  <a:txBody>
                    <a:bodyPr/>
                    <a:lstStyle/>
                    <a:p>
                      <a:pPr algn="ctr"/>
                      <a:r>
                        <a:rPr lang="en-US" sz="1200" b="1">
                          <a:solidFill>
                            <a:srgbClr val="567A2E"/>
                          </a:solidFill>
                          <a:latin typeface="Segoe UI"/>
                          <a:cs typeface="Segoe UI"/>
                        </a:rPr>
                        <a:t>OK</a:t>
                      </a:r>
                    </a:p>
                  </a:txBody>
                  <a:tcPr anchor="ctr">
                    <a:solidFill>
                      <a:srgbClr val="F5F7EF"/>
                    </a:solidFill>
                  </a:tcPr>
                </a:tc>
                <a:tc>
                  <a:txBody>
                    <a:bodyPr/>
                    <a:lstStyle/>
                    <a:p>
                      <a:pPr algn="ctr"/>
                      <a:r>
                        <a:rPr lang="en-US" sz="1200" b="0">
                          <a:solidFill>
                            <a:srgbClr val="9AA0A6"/>
                          </a:solidFill>
                          <a:latin typeface="Segoe UI"/>
                          <a:cs typeface="Segoe UI"/>
                        </a:rPr>
                        <a:t>—</a:t>
                      </a:r>
                    </a:p>
                  </a:txBody>
                  <a:tcPr anchor="ctr">
                    <a:solidFill>
                      <a:srgbClr val="F5F7EF"/>
                    </a:solidFill>
                  </a:tcPr>
                </a:tc>
                <a:tc>
                  <a:txBody>
                    <a:bodyPr/>
                    <a:lstStyle/>
                    <a:p>
                      <a:pPr algn="ctr"/>
                      <a:r>
                        <a:rPr lang="en-US" sz="1200" b="1">
                          <a:solidFill>
                            <a:srgbClr val="567A2E"/>
                          </a:solidFill>
                          <a:latin typeface="Segoe UI"/>
                          <a:cs typeface="Segoe UI"/>
                        </a:rPr>
                        <a:t>Eligible</a:t>
                      </a:r>
                    </a:p>
                  </a:txBody>
                  <a:tcPr anchor="ctr">
                    <a:solidFill>
                      <a:srgbClr val="F5F7EF"/>
                    </a:solidFill>
                  </a:tcPr>
                </a:tc>
                <a:extLst>
                  <a:ext uri="{0D108BD9-81ED-4DB2-BD59-A6C34878D82A}">
                    <a16:rowId xmlns:a16="http://schemas.microsoft.com/office/drawing/2014/main" val="3739819787"/>
                  </a:ext>
                </a:extLst>
              </a:tr>
              <a:tr h="368300">
                <a:tc>
                  <a:txBody>
                    <a:bodyPr/>
                    <a:lstStyle/>
                    <a:p>
                      <a:pPr algn="l"/>
                      <a:r>
                        <a:rPr lang="en-US" sz="1200" b="0">
                          <a:solidFill>
                            <a:srgbClr val="17344F"/>
                          </a:solidFill>
                          <a:latin typeface="Segoe UI"/>
                          <a:cs typeface="Segoe UI"/>
                        </a:rPr>
                        <a:t>Indiana / KY</a:t>
                      </a:r>
                    </a:p>
                  </a:txBody>
                  <a:tcPr anchor="ctr">
                    <a:solidFill>
                      <a:srgbClr val="FFFFFF"/>
                    </a:solidFill>
                  </a:tcPr>
                </a:tc>
                <a:tc>
                  <a:txBody>
                    <a:bodyPr/>
                    <a:lstStyle/>
                    <a:p>
                      <a:pPr algn="ctr"/>
                      <a:r>
                        <a:rPr lang="en-US" sz="1200" b="0">
                          <a:solidFill>
                            <a:srgbClr val="17344F"/>
                          </a:solidFill>
                          <a:latin typeface="Segoe UI"/>
                          <a:cs typeface="Segoe UI"/>
                        </a:rPr>
                        <a:t>Med</a:t>
                      </a:r>
                    </a:p>
                  </a:txBody>
                  <a:tcPr anchor="ctr">
                    <a:solidFill>
                      <a:srgbClr val="FFFFFF"/>
                    </a:solidFill>
                  </a:tcPr>
                </a:tc>
                <a:tc>
                  <a:txBody>
                    <a:bodyPr/>
                    <a:lstStyle/>
                    <a:p>
                      <a:pPr algn="ctr"/>
                      <a:r>
                        <a:rPr lang="en-US" sz="1200" b="0">
                          <a:solidFill>
                            <a:srgbClr val="17344F"/>
                          </a:solidFill>
                          <a:latin typeface="Segoe UI"/>
                          <a:cs typeface="Segoe UI"/>
                        </a:rPr>
                        <a:t>15</a:t>
                      </a:r>
                    </a:p>
                  </a:txBody>
                  <a:tcPr anchor="ctr">
                    <a:solidFill>
                      <a:srgbClr val="FFFFFF"/>
                    </a:solidFill>
                  </a:tcPr>
                </a:tc>
                <a:tc>
                  <a:txBody>
                    <a:bodyPr/>
                    <a:lstStyle/>
                    <a:p>
                      <a:pPr algn="ctr"/>
                      <a:r>
                        <a:rPr lang="en-US" sz="1200" b="0">
                          <a:solidFill>
                            <a:srgbClr val="17344F"/>
                          </a:solidFill>
                          <a:latin typeface="Segoe UI"/>
                          <a:cs typeface="Segoe UI"/>
                        </a:rPr>
                        <a:t>21</a:t>
                      </a:r>
                    </a:p>
                  </a:txBody>
                  <a:tcPr anchor="ctr">
                    <a:solidFill>
                      <a:srgbClr val="FFFFFF"/>
                    </a:solidFill>
                  </a:tcPr>
                </a:tc>
                <a:tc>
                  <a:txBody>
                    <a:bodyPr/>
                    <a:lstStyle/>
                    <a:p>
                      <a:pPr algn="ctr"/>
                      <a:r>
                        <a:rPr lang="en-US" sz="1200" b="0">
                          <a:solidFill>
                            <a:srgbClr val="17344F"/>
                          </a:solidFill>
                          <a:latin typeface="Segoe UI"/>
                          <a:cs typeface="Segoe UI"/>
                        </a:rPr>
                        <a:t>+6</a:t>
                      </a:r>
                    </a:p>
                  </a:txBody>
                  <a:tcPr anchor="ctr">
                    <a:solidFill>
                      <a:srgbClr val="FFFFFF"/>
                    </a:solidFill>
                  </a:tcPr>
                </a:tc>
                <a:tc>
                  <a:txBody>
                    <a:bodyPr/>
                    <a:lstStyle/>
                    <a:p>
                      <a:pPr algn="ctr"/>
                      <a:r>
                        <a:rPr lang="en-US" sz="1200" b="0">
                          <a:solidFill>
                            <a:srgbClr val="17344F"/>
                          </a:solidFill>
                          <a:latin typeface="Segoe UI"/>
                          <a:cs typeface="Segoe UI"/>
                        </a:rPr>
                        <a:t>+40%</a:t>
                      </a:r>
                    </a:p>
                  </a:txBody>
                  <a:tcPr anchor="ctr">
                    <a:solidFill>
                      <a:srgbClr val="FFFFFF"/>
                    </a:solidFill>
                  </a:tcPr>
                </a:tc>
                <a:tc>
                  <a:txBody>
                    <a:bodyPr/>
                    <a:lstStyle/>
                    <a:p>
                      <a:pPr algn="ctr"/>
                      <a:r>
                        <a:rPr lang="en-US" sz="1200" b="0">
                          <a:solidFill>
                            <a:srgbClr val="17344F"/>
                          </a:solidFill>
                          <a:latin typeface="Segoe UI"/>
                          <a:cs typeface="Segoe UI"/>
                        </a:rPr>
                        <a:t>1.0</a:t>
                      </a:r>
                    </a:p>
                  </a:txBody>
                  <a:tcPr anchor="ctr">
                    <a:solidFill>
                      <a:srgbClr val="FFFFFF"/>
                    </a:solidFill>
                  </a:tcPr>
                </a:tc>
                <a:tc>
                  <a:txBody>
                    <a:bodyPr/>
                    <a:lstStyle/>
                    <a:p>
                      <a:pPr algn="ctr"/>
                      <a:r>
                        <a:rPr lang="en-US" sz="1200" b="1">
                          <a:solidFill>
                            <a:srgbClr val="567A2E"/>
                          </a:solidFill>
                          <a:latin typeface="Segoe UI"/>
                          <a:cs typeface="Segoe UI"/>
                        </a:rPr>
                        <a:t>$5,000</a:t>
                      </a:r>
                    </a:p>
                  </a:txBody>
                  <a:tcPr anchor="ctr">
                    <a:solidFill>
                      <a:srgbClr val="FFFFFF"/>
                    </a:solidFill>
                  </a:tcPr>
                </a:tc>
                <a:tc>
                  <a:txBody>
                    <a:bodyPr/>
                    <a:lstStyle/>
                    <a:p>
                      <a:pPr algn="ctr"/>
                      <a:r>
                        <a:rPr lang="en-US" sz="1200" b="1">
                          <a:solidFill>
                            <a:srgbClr val="567A2E"/>
                          </a:solidFill>
                          <a:latin typeface="Segoe UI"/>
                          <a:cs typeface="Segoe UI"/>
                        </a:rPr>
                        <a:t>OK</a:t>
                      </a:r>
                    </a:p>
                  </a:txBody>
                  <a:tcPr anchor="ctr">
                    <a:solidFill>
                      <a:srgbClr val="FFFFFF"/>
                    </a:solidFill>
                  </a:tcPr>
                </a:tc>
                <a:tc>
                  <a:txBody>
                    <a:bodyPr/>
                    <a:lstStyle/>
                    <a:p>
                      <a:pPr algn="ctr"/>
                      <a:r>
                        <a:rPr lang="en-US" sz="1200" b="0">
                          <a:solidFill>
                            <a:srgbClr val="9AA0A6"/>
                          </a:solidFill>
                          <a:latin typeface="Segoe UI"/>
                          <a:cs typeface="Segoe UI"/>
                        </a:rPr>
                        <a:t>—</a:t>
                      </a:r>
                    </a:p>
                  </a:txBody>
                  <a:tcPr anchor="ctr">
                    <a:solidFill>
                      <a:srgbClr val="FFFFFF"/>
                    </a:solidFill>
                  </a:tcPr>
                </a:tc>
                <a:tc>
                  <a:txBody>
                    <a:bodyPr/>
                    <a:lstStyle/>
                    <a:p>
                      <a:pPr algn="ctr"/>
                      <a:r>
                        <a:rPr lang="en-US" sz="1200" b="1">
                          <a:solidFill>
                            <a:srgbClr val="567A2E"/>
                          </a:solidFill>
                          <a:latin typeface="Segoe UI"/>
                          <a:cs typeface="Segoe UI"/>
                        </a:rPr>
                        <a:t>Eligible</a:t>
                      </a:r>
                    </a:p>
                  </a:txBody>
                  <a:tcPr anchor="ctr">
                    <a:solidFill>
                      <a:srgbClr val="FFFFFF"/>
                    </a:solidFill>
                  </a:tcPr>
                </a:tc>
                <a:extLst>
                  <a:ext uri="{0D108BD9-81ED-4DB2-BD59-A6C34878D82A}">
                    <a16:rowId xmlns:a16="http://schemas.microsoft.com/office/drawing/2014/main" val="1986128552"/>
                  </a:ext>
                </a:extLst>
              </a:tr>
              <a:tr h="368300">
                <a:tc>
                  <a:txBody>
                    <a:bodyPr/>
                    <a:lstStyle/>
                    <a:p>
                      <a:pPr algn="l"/>
                      <a:r>
                        <a:rPr lang="en-US" sz="1200" b="0">
                          <a:solidFill>
                            <a:srgbClr val="17344F"/>
                          </a:solidFill>
                          <a:latin typeface="Segoe UI"/>
                          <a:cs typeface="Segoe UI"/>
                        </a:rPr>
                        <a:t>Eastern OH</a:t>
                      </a:r>
                    </a:p>
                  </a:txBody>
                  <a:tcPr anchor="ctr">
                    <a:solidFill>
                      <a:srgbClr val="F5F7EF"/>
                    </a:solidFill>
                  </a:tcPr>
                </a:tc>
                <a:tc>
                  <a:txBody>
                    <a:bodyPr/>
                    <a:lstStyle/>
                    <a:p>
                      <a:pPr algn="ctr"/>
                      <a:r>
                        <a:rPr lang="en-US" sz="1200" b="0">
                          <a:solidFill>
                            <a:srgbClr val="17344F"/>
                          </a:solidFill>
                          <a:latin typeface="Segoe UI"/>
                          <a:cs typeface="Segoe UI"/>
                        </a:rPr>
                        <a:t>Med</a:t>
                      </a:r>
                    </a:p>
                  </a:txBody>
                  <a:tcPr anchor="ctr">
                    <a:solidFill>
                      <a:srgbClr val="F5F7EF"/>
                    </a:solidFill>
                  </a:tcPr>
                </a:tc>
                <a:tc>
                  <a:txBody>
                    <a:bodyPr/>
                    <a:lstStyle/>
                    <a:p>
                      <a:pPr algn="ctr"/>
                      <a:r>
                        <a:rPr lang="en-US" sz="1200" b="0">
                          <a:solidFill>
                            <a:srgbClr val="17344F"/>
                          </a:solidFill>
                          <a:latin typeface="Segoe UI"/>
                          <a:cs typeface="Segoe UI"/>
                        </a:rPr>
                        <a:t>18</a:t>
                      </a:r>
                    </a:p>
                  </a:txBody>
                  <a:tcPr anchor="ctr">
                    <a:solidFill>
                      <a:srgbClr val="F5F7EF"/>
                    </a:solidFill>
                  </a:tcPr>
                </a:tc>
                <a:tc>
                  <a:txBody>
                    <a:bodyPr/>
                    <a:lstStyle/>
                    <a:p>
                      <a:pPr algn="ctr"/>
                      <a:r>
                        <a:rPr lang="en-US" sz="1200" b="0">
                          <a:solidFill>
                            <a:srgbClr val="17344F"/>
                          </a:solidFill>
                          <a:latin typeface="Segoe UI"/>
                          <a:cs typeface="Segoe UI"/>
                        </a:rPr>
                        <a:t>22</a:t>
                      </a:r>
                    </a:p>
                  </a:txBody>
                  <a:tcPr anchor="ctr">
                    <a:solidFill>
                      <a:srgbClr val="F5F7EF"/>
                    </a:solidFill>
                  </a:tcPr>
                </a:tc>
                <a:tc>
                  <a:txBody>
                    <a:bodyPr/>
                    <a:lstStyle/>
                    <a:p>
                      <a:pPr algn="ctr"/>
                      <a:r>
                        <a:rPr lang="en-US" sz="1200" b="0">
                          <a:solidFill>
                            <a:srgbClr val="17344F"/>
                          </a:solidFill>
                          <a:latin typeface="Segoe UI"/>
                          <a:cs typeface="Segoe UI"/>
                        </a:rPr>
                        <a:t>+4</a:t>
                      </a:r>
                    </a:p>
                  </a:txBody>
                  <a:tcPr anchor="ctr">
                    <a:solidFill>
                      <a:srgbClr val="F5F7EF"/>
                    </a:solidFill>
                  </a:tcPr>
                </a:tc>
                <a:tc>
                  <a:txBody>
                    <a:bodyPr/>
                    <a:lstStyle/>
                    <a:p>
                      <a:pPr algn="ctr"/>
                      <a:r>
                        <a:rPr lang="en-US" sz="1200" b="0">
                          <a:solidFill>
                            <a:srgbClr val="17344F"/>
                          </a:solidFill>
                          <a:latin typeface="Segoe UI"/>
                          <a:cs typeface="Segoe UI"/>
                        </a:rPr>
                        <a:t>+22%</a:t>
                      </a:r>
                    </a:p>
                  </a:txBody>
                  <a:tcPr anchor="ctr">
                    <a:solidFill>
                      <a:srgbClr val="F5F7EF"/>
                    </a:solidFill>
                  </a:tcPr>
                </a:tc>
                <a:tc>
                  <a:txBody>
                    <a:bodyPr/>
                    <a:lstStyle/>
                    <a:p>
                      <a:pPr algn="ctr"/>
                      <a:r>
                        <a:rPr lang="en-US" sz="1200" b="0">
                          <a:solidFill>
                            <a:srgbClr val="17344F"/>
                          </a:solidFill>
                          <a:latin typeface="Segoe UI"/>
                          <a:cs typeface="Segoe UI"/>
                        </a:rPr>
                        <a:t>2.0</a:t>
                      </a:r>
                    </a:p>
                  </a:txBody>
                  <a:tcPr anchor="ctr">
                    <a:solidFill>
                      <a:srgbClr val="F5F7EF"/>
                    </a:solidFill>
                  </a:tcPr>
                </a:tc>
                <a:tc>
                  <a:txBody>
                    <a:bodyPr/>
                    <a:lstStyle/>
                    <a:p>
                      <a:pPr algn="ctr"/>
                      <a:r>
                        <a:rPr lang="en-US" sz="1200" b="1">
                          <a:solidFill>
                            <a:srgbClr val="567A2E"/>
                          </a:solidFill>
                          <a:latin typeface="Segoe UI"/>
                          <a:cs typeface="Segoe UI"/>
                        </a:rPr>
                        <a:t>$3,000</a:t>
                      </a:r>
                    </a:p>
                  </a:txBody>
                  <a:tcPr anchor="ctr">
                    <a:solidFill>
                      <a:srgbClr val="F5F7EF"/>
                    </a:solidFill>
                  </a:tcPr>
                </a:tc>
                <a:tc>
                  <a:txBody>
                    <a:bodyPr/>
                    <a:lstStyle/>
                    <a:p>
                      <a:pPr algn="ctr"/>
                      <a:r>
                        <a:rPr lang="en-US" sz="1200" b="1">
                          <a:solidFill>
                            <a:srgbClr val="567A2E"/>
                          </a:solidFill>
                          <a:latin typeface="Segoe UI"/>
                          <a:cs typeface="Segoe UI"/>
                        </a:rPr>
                        <a:t>OK</a:t>
                      </a:r>
                    </a:p>
                  </a:txBody>
                  <a:tcPr anchor="ctr">
                    <a:solidFill>
                      <a:srgbClr val="F5F7EF"/>
                    </a:solidFill>
                  </a:tcPr>
                </a:tc>
                <a:tc>
                  <a:txBody>
                    <a:bodyPr/>
                    <a:lstStyle/>
                    <a:p>
                      <a:pPr algn="ctr"/>
                      <a:r>
                        <a:rPr lang="en-US" sz="1200" b="0">
                          <a:solidFill>
                            <a:srgbClr val="9AA0A6"/>
                          </a:solidFill>
                          <a:latin typeface="Segoe UI"/>
                          <a:cs typeface="Segoe UI"/>
                        </a:rPr>
                        <a:t>—</a:t>
                      </a:r>
                    </a:p>
                  </a:txBody>
                  <a:tcPr anchor="ctr">
                    <a:solidFill>
                      <a:srgbClr val="F5F7EF"/>
                    </a:solidFill>
                  </a:tcPr>
                </a:tc>
                <a:tc>
                  <a:txBody>
                    <a:bodyPr/>
                    <a:lstStyle/>
                    <a:p>
                      <a:pPr algn="ctr"/>
                      <a:r>
                        <a:rPr lang="en-US" sz="1200" b="1">
                          <a:solidFill>
                            <a:srgbClr val="567A2E"/>
                          </a:solidFill>
                          <a:latin typeface="Segoe UI"/>
                          <a:cs typeface="Segoe UI"/>
                        </a:rPr>
                        <a:t>Eligible</a:t>
                      </a:r>
                    </a:p>
                  </a:txBody>
                  <a:tcPr anchor="ctr">
                    <a:solidFill>
                      <a:srgbClr val="F5F7EF"/>
                    </a:solidFill>
                  </a:tcPr>
                </a:tc>
                <a:extLst>
                  <a:ext uri="{0D108BD9-81ED-4DB2-BD59-A6C34878D82A}">
                    <a16:rowId xmlns:a16="http://schemas.microsoft.com/office/drawing/2014/main" val="926931352"/>
                  </a:ext>
                </a:extLst>
              </a:tr>
              <a:tr h="368300">
                <a:tc>
                  <a:txBody>
                    <a:bodyPr/>
                    <a:lstStyle/>
                    <a:p>
                      <a:pPr algn="l"/>
                      <a:r>
                        <a:rPr lang="en-US" sz="1200" b="0">
                          <a:solidFill>
                            <a:srgbClr val="17344F"/>
                          </a:solidFill>
                          <a:latin typeface="Segoe UI"/>
                          <a:cs typeface="Segoe UI"/>
                        </a:rPr>
                        <a:t>San Diego / OC</a:t>
                      </a:r>
                    </a:p>
                  </a:txBody>
                  <a:tcPr anchor="ctr">
                    <a:solidFill>
                      <a:srgbClr val="FFFFFF"/>
                    </a:solidFill>
                  </a:tcPr>
                </a:tc>
                <a:tc>
                  <a:txBody>
                    <a:bodyPr/>
                    <a:lstStyle/>
                    <a:p>
                      <a:pPr algn="ctr"/>
                      <a:r>
                        <a:rPr lang="en-US" sz="1200" b="0">
                          <a:solidFill>
                            <a:srgbClr val="17344F"/>
                          </a:solidFill>
                          <a:latin typeface="Segoe UI"/>
                          <a:cs typeface="Segoe UI"/>
                        </a:rPr>
                        <a:t>Small</a:t>
                      </a:r>
                    </a:p>
                  </a:txBody>
                  <a:tcPr anchor="ctr">
                    <a:solidFill>
                      <a:srgbClr val="FFFFFF"/>
                    </a:solidFill>
                  </a:tcPr>
                </a:tc>
                <a:tc>
                  <a:txBody>
                    <a:bodyPr/>
                    <a:lstStyle/>
                    <a:p>
                      <a:pPr algn="ctr"/>
                      <a:r>
                        <a:rPr lang="en-US" sz="1200" b="0">
                          <a:solidFill>
                            <a:srgbClr val="17344F"/>
                          </a:solidFill>
                          <a:latin typeface="Segoe UI"/>
                          <a:cs typeface="Segoe UI"/>
                        </a:rPr>
                        <a:t>6</a:t>
                      </a:r>
                    </a:p>
                  </a:txBody>
                  <a:tcPr anchor="ctr">
                    <a:solidFill>
                      <a:srgbClr val="FFFFFF"/>
                    </a:solidFill>
                  </a:tcPr>
                </a:tc>
                <a:tc>
                  <a:txBody>
                    <a:bodyPr/>
                    <a:lstStyle/>
                    <a:p>
                      <a:pPr algn="ctr"/>
                      <a:r>
                        <a:rPr lang="en-US" sz="1200" b="0">
                          <a:solidFill>
                            <a:srgbClr val="17344F"/>
                          </a:solidFill>
                          <a:latin typeface="Segoe UI"/>
                          <a:cs typeface="Segoe UI"/>
                        </a:rPr>
                        <a:t>11</a:t>
                      </a:r>
                    </a:p>
                  </a:txBody>
                  <a:tcPr anchor="ctr">
                    <a:solidFill>
                      <a:srgbClr val="FFFFFF"/>
                    </a:solidFill>
                  </a:tcPr>
                </a:tc>
                <a:tc>
                  <a:txBody>
                    <a:bodyPr/>
                    <a:lstStyle/>
                    <a:p>
                      <a:pPr algn="ctr"/>
                      <a:r>
                        <a:rPr lang="en-US" sz="1200" b="0">
                          <a:solidFill>
                            <a:srgbClr val="17344F"/>
                          </a:solidFill>
                          <a:latin typeface="Segoe UI"/>
                          <a:cs typeface="Segoe UI"/>
                        </a:rPr>
                        <a:t>+5</a:t>
                      </a:r>
                    </a:p>
                  </a:txBody>
                  <a:tcPr anchor="ctr">
                    <a:solidFill>
                      <a:srgbClr val="FFFFFF"/>
                    </a:solidFill>
                  </a:tcPr>
                </a:tc>
                <a:tc>
                  <a:txBody>
                    <a:bodyPr/>
                    <a:lstStyle/>
                    <a:p>
                      <a:pPr algn="ctr"/>
                      <a:r>
                        <a:rPr lang="en-US" sz="1200" b="0">
                          <a:solidFill>
                            <a:srgbClr val="17344F"/>
                          </a:solidFill>
                          <a:latin typeface="Segoe UI"/>
                          <a:cs typeface="Segoe UI"/>
                        </a:rPr>
                        <a:t>+83%</a:t>
                      </a:r>
                    </a:p>
                  </a:txBody>
                  <a:tcPr anchor="ctr">
                    <a:solidFill>
                      <a:srgbClr val="FFFFFF"/>
                    </a:solidFill>
                  </a:tcPr>
                </a:tc>
                <a:tc>
                  <a:txBody>
                    <a:bodyPr/>
                    <a:lstStyle/>
                    <a:p>
                      <a:pPr algn="ctr"/>
                      <a:r>
                        <a:rPr lang="en-US" sz="1200" b="0">
                          <a:solidFill>
                            <a:srgbClr val="17344F"/>
                          </a:solidFill>
                          <a:latin typeface="Segoe UI"/>
                          <a:cs typeface="Segoe UI"/>
                        </a:rPr>
                        <a:t>1.0</a:t>
                      </a:r>
                    </a:p>
                  </a:txBody>
                  <a:tcPr anchor="ctr">
                    <a:solidFill>
                      <a:srgbClr val="FFFFFF"/>
                    </a:solidFill>
                  </a:tcPr>
                </a:tc>
                <a:tc>
                  <a:txBody>
                    <a:bodyPr/>
                    <a:lstStyle/>
                    <a:p>
                      <a:pPr algn="ctr"/>
                      <a:r>
                        <a:rPr lang="en-US" sz="1200" b="1">
                          <a:solidFill>
                            <a:srgbClr val="567A2E"/>
                          </a:solidFill>
                          <a:latin typeface="Segoe UI"/>
                          <a:cs typeface="Segoe UI"/>
                        </a:rPr>
                        <a:t>$5,000</a:t>
                      </a:r>
                    </a:p>
                  </a:txBody>
                  <a:tcPr anchor="ctr">
                    <a:solidFill>
                      <a:srgbClr val="FFFFFF"/>
                    </a:solidFill>
                  </a:tcPr>
                </a:tc>
                <a:tc>
                  <a:txBody>
                    <a:bodyPr/>
                    <a:lstStyle/>
                    <a:p>
                      <a:pPr algn="ctr"/>
                      <a:r>
                        <a:rPr lang="en-US" sz="1200" b="1">
                          <a:solidFill>
                            <a:srgbClr val="567A2E"/>
                          </a:solidFill>
                          <a:latin typeface="Segoe UI"/>
                          <a:cs typeface="Segoe UI"/>
                        </a:rPr>
                        <a:t>OK</a:t>
                      </a:r>
                    </a:p>
                  </a:txBody>
                  <a:tcPr anchor="ctr">
                    <a:solidFill>
                      <a:srgbClr val="FFFFFF"/>
                    </a:solidFill>
                  </a:tcPr>
                </a:tc>
                <a:tc>
                  <a:txBody>
                    <a:bodyPr/>
                    <a:lstStyle/>
                    <a:p>
                      <a:pPr algn="ctr"/>
                      <a:r>
                        <a:rPr lang="en-US" sz="1200" b="1">
                          <a:solidFill>
                            <a:srgbClr val="C0392B"/>
                          </a:solidFill>
                          <a:latin typeface="Segoe UI"/>
                          <a:cs typeface="Segoe UI"/>
                        </a:rPr>
                        <a:t>Low</a:t>
                      </a:r>
                    </a:p>
                  </a:txBody>
                  <a:tcPr anchor="ctr">
                    <a:solidFill>
                      <a:srgbClr val="FFFFFF"/>
                    </a:solidFill>
                  </a:tcPr>
                </a:tc>
                <a:tc>
                  <a:txBody>
                    <a:bodyPr/>
                    <a:lstStyle/>
                    <a:p>
                      <a:pPr algn="ctr"/>
                      <a:r>
                        <a:rPr lang="en-US" sz="1200" b="1">
                          <a:solidFill>
                            <a:srgbClr val="567A2E"/>
                          </a:solidFill>
                          <a:latin typeface="Segoe UI"/>
                          <a:cs typeface="Segoe UI"/>
                        </a:rPr>
                        <a:t>Eligible</a:t>
                      </a:r>
                    </a:p>
                  </a:txBody>
                  <a:tcPr anchor="ctr">
                    <a:solidFill>
                      <a:srgbClr val="FFFFFF"/>
                    </a:solidFill>
                  </a:tcPr>
                </a:tc>
                <a:extLst>
                  <a:ext uri="{0D108BD9-81ED-4DB2-BD59-A6C34878D82A}">
                    <a16:rowId xmlns:a16="http://schemas.microsoft.com/office/drawing/2014/main" val="3288654686"/>
                  </a:ext>
                </a:extLst>
              </a:tr>
              <a:tr h="368300">
                <a:tc>
                  <a:txBody>
                    <a:bodyPr/>
                    <a:lstStyle/>
                    <a:p>
                      <a:pPr algn="l"/>
                      <a:r>
                        <a:rPr lang="en-US" sz="1200" b="0">
                          <a:solidFill>
                            <a:srgbClr val="17344F"/>
                          </a:solidFill>
                          <a:latin typeface="Segoe UI"/>
                          <a:cs typeface="Segoe UI"/>
                        </a:rPr>
                        <a:t>Michigan</a:t>
                      </a:r>
                    </a:p>
                  </a:txBody>
                  <a:tcPr anchor="ctr">
                    <a:solidFill>
                      <a:srgbClr val="F5F7EF"/>
                    </a:solidFill>
                  </a:tcPr>
                </a:tc>
                <a:tc>
                  <a:txBody>
                    <a:bodyPr/>
                    <a:lstStyle/>
                    <a:p>
                      <a:pPr algn="ctr"/>
                      <a:r>
                        <a:rPr lang="en-US" sz="1200" b="0">
                          <a:solidFill>
                            <a:srgbClr val="17344F"/>
                          </a:solidFill>
                          <a:latin typeface="Segoe UI"/>
                          <a:cs typeface="Segoe UI"/>
                        </a:rPr>
                        <a:t>Small</a:t>
                      </a:r>
                    </a:p>
                  </a:txBody>
                  <a:tcPr anchor="ctr">
                    <a:solidFill>
                      <a:srgbClr val="F5F7EF"/>
                    </a:solidFill>
                  </a:tcPr>
                </a:tc>
                <a:tc>
                  <a:txBody>
                    <a:bodyPr/>
                    <a:lstStyle/>
                    <a:p>
                      <a:pPr algn="ctr"/>
                      <a:r>
                        <a:rPr lang="en-US" sz="1200" b="0">
                          <a:solidFill>
                            <a:srgbClr val="17344F"/>
                          </a:solidFill>
                          <a:latin typeface="Segoe UI"/>
                          <a:cs typeface="Segoe UI"/>
                        </a:rPr>
                        <a:t>8</a:t>
                      </a:r>
                    </a:p>
                  </a:txBody>
                  <a:tcPr anchor="ctr">
                    <a:solidFill>
                      <a:srgbClr val="F5F7EF"/>
                    </a:solidFill>
                  </a:tcPr>
                </a:tc>
                <a:tc>
                  <a:txBody>
                    <a:bodyPr/>
                    <a:lstStyle/>
                    <a:p>
                      <a:pPr algn="ctr"/>
                      <a:r>
                        <a:rPr lang="en-US" sz="1200" b="0">
                          <a:solidFill>
                            <a:srgbClr val="17344F"/>
                          </a:solidFill>
                          <a:latin typeface="Segoe UI"/>
                          <a:cs typeface="Segoe UI"/>
                        </a:rPr>
                        <a:t>11</a:t>
                      </a:r>
                    </a:p>
                  </a:txBody>
                  <a:tcPr anchor="ctr">
                    <a:solidFill>
                      <a:srgbClr val="F5F7EF"/>
                    </a:solidFill>
                  </a:tcPr>
                </a:tc>
                <a:tc>
                  <a:txBody>
                    <a:bodyPr/>
                    <a:lstStyle/>
                    <a:p>
                      <a:pPr algn="ctr"/>
                      <a:r>
                        <a:rPr lang="en-US" sz="1200" b="0">
                          <a:solidFill>
                            <a:srgbClr val="17344F"/>
                          </a:solidFill>
                          <a:latin typeface="Segoe UI"/>
                          <a:cs typeface="Segoe UI"/>
                        </a:rPr>
                        <a:t>+3</a:t>
                      </a:r>
                    </a:p>
                  </a:txBody>
                  <a:tcPr anchor="ctr">
                    <a:solidFill>
                      <a:srgbClr val="F5F7EF"/>
                    </a:solidFill>
                  </a:tcPr>
                </a:tc>
                <a:tc>
                  <a:txBody>
                    <a:bodyPr/>
                    <a:lstStyle/>
                    <a:p>
                      <a:pPr algn="ctr"/>
                      <a:r>
                        <a:rPr lang="en-US" sz="1200" b="0">
                          <a:solidFill>
                            <a:srgbClr val="17344F"/>
                          </a:solidFill>
                          <a:latin typeface="Segoe UI"/>
                          <a:cs typeface="Segoe UI"/>
                        </a:rPr>
                        <a:t>+38%</a:t>
                      </a:r>
                    </a:p>
                  </a:txBody>
                  <a:tcPr anchor="ctr">
                    <a:solidFill>
                      <a:srgbClr val="F5F7EF"/>
                    </a:solidFill>
                  </a:tcPr>
                </a:tc>
                <a:tc>
                  <a:txBody>
                    <a:bodyPr/>
                    <a:lstStyle/>
                    <a:p>
                      <a:pPr algn="ctr"/>
                      <a:r>
                        <a:rPr lang="en-US" sz="1200" b="0">
                          <a:solidFill>
                            <a:srgbClr val="17344F"/>
                          </a:solidFill>
                          <a:latin typeface="Segoe UI"/>
                          <a:cs typeface="Segoe UI"/>
                        </a:rPr>
                        <a:t>2.0</a:t>
                      </a:r>
                    </a:p>
                  </a:txBody>
                  <a:tcPr anchor="ctr">
                    <a:solidFill>
                      <a:srgbClr val="F5F7EF"/>
                    </a:solidFill>
                  </a:tcPr>
                </a:tc>
                <a:tc>
                  <a:txBody>
                    <a:bodyPr/>
                    <a:lstStyle/>
                    <a:p>
                      <a:pPr algn="ctr"/>
                      <a:r>
                        <a:rPr lang="en-US" sz="1200" b="1">
                          <a:solidFill>
                            <a:srgbClr val="567A2E"/>
                          </a:solidFill>
                          <a:latin typeface="Segoe UI"/>
                          <a:cs typeface="Segoe UI"/>
                        </a:rPr>
                        <a:t>$3,000</a:t>
                      </a:r>
                    </a:p>
                  </a:txBody>
                  <a:tcPr anchor="ctr">
                    <a:solidFill>
                      <a:srgbClr val="F5F7EF"/>
                    </a:solidFill>
                  </a:tcPr>
                </a:tc>
                <a:tc>
                  <a:txBody>
                    <a:bodyPr/>
                    <a:lstStyle/>
                    <a:p>
                      <a:pPr algn="ctr"/>
                      <a:r>
                        <a:rPr lang="en-US" sz="1200" b="1">
                          <a:solidFill>
                            <a:srgbClr val="567A2E"/>
                          </a:solidFill>
                          <a:latin typeface="Segoe UI"/>
                          <a:cs typeface="Segoe UI"/>
                        </a:rPr>
                        <a:t>OK</a:t>
                      </a:r>
                    </a:p>
                  </a:txBody>
                  <a:tcPr anchor="ctr">
                    <a:solidFill>
                      <a:srgbClr val="F5F7EF"/>
                    </a:solidFill>
                  </a:tcPr>
                </a:tc>
                <a:tc>
                  <a:txBody>
                    <a:bodyPr/>
                    <a:lstStyle/>
                    <a:p>
                      <a:pPr algn="ctr"/>
                      <a:r>
                        <a:rPr lang="en-US" sz="1200" b="0">
                          <a:solidFill>
                            <a:srgbClr val="9AA0A6"/>
                          </a:solidFill>
                          <a:latin typeface="Segoe UI"/>
                          <a:cs typeface="Segoe UI"/>
                        </a:rPr>
                        <a:t>—</a:t>
                      </a:r>
                    </a:p>
                  </a:txBody>
                  <a:tcPr anchor="ctr">
                    <a:solidFill>
                      <a:srgbClr val="F5F7EF"/>
                    </a:solidFill>
                  </a:tcPr>
                </a:tc>
                <a:tc>
                  <a:txBody>
                    <a:bodyPr/>
                    <a:lstStyle/>
                    <a:p>
                      <a:pPr algn="ctr"/>
                      <a:r>
                        <a:rPr lang="en-US" sz="1200" b="1">
                          <a:solidFill>
                            <a:srgbClr val="567A2E"/>
                          </a:solidFill>
                          <a:latin typeface="Segoe UI"/>
                          <a:cs typeface="Segoe UI"/>
                        </a:rPr>
                        <a:t>Eligible</a:t>
                      </a:r>
                    </a:p>
                  </a:txBody>
                  <a:tcPr anchor="ctr">
                    <a:solidFill>
                      <a:srgbClr val="F5F7EF"/>
                    </a:solidFill>
                  </a:tcPr>
                </a:tc>
                <a:extLst>
                  <a:ext uri="{0D108BD9-81ED-4DB2-BD59-A6C34878D82A}">
                    <a16:rowId xmlns:a16="http://schemas.microsoft.com/office/drawing/2014/main" val="3873554497"/>
                  </a:ext>
                </a:extLst>
              </a:tr>
            </a:tbl>
          </a:graphicData>
        </a:graphic>
      </p:graphicFrame>
      <p:sp>
        <p:nvSpPr>
          <p:cNvPr id="25" name="TextBox 24">
            <a:extLst>
              <a:ext uri="{FF2B5EF4-FFF2-40B4-BE49-F238E27FC236}">
                <a16:creationId xmlns:a16="http://schemas.microsoft.com/office/drawing/2014/main" id="{BCFF6B03-75C5-E140-818D-DFE487DDD181}"/>
              </a:ext>
            </a:extLst>
          </p:cNvPr>
          <p:cNvSpPr txBox="1"/>
          <p:nvPr/>
        </p:nvSpPr>
        <p:spPr>
          <a:xfrm>
            <a:off x="711200" y="5308600"/>
            <a:ext cx="10769600" cy="558800"/>
          </a:xfrm>
          <a:prstGeom prst="rect">
            <a:avLst/>
          </a:prstGeom>
          <a:noFill/>
        </p:spPr>
        <p:txBody>
          <a:bodyPr vertOverflow="overflow" vert="horz" wrap="square" rtlCol="0" anchor="ctr" anchorCtr="0">
            <a:noAutofit/>
          </a:bodyPr>
          <a:lstStyle/>
          <a:p>
            <a:pPr marL="0" indent="0">
              <a:buNone/>
            </a:pPr>
            <a:r>
              <a:rPr lang="en-US" sz="1250" b="1" dirty="0">
                <a:solidFill>
                  <a:srgbClr val="567A2E"/>
                </a:solidFill>
                <a:latin typeface="Segoe UI" pitchFamily="34" charset="0"/>
                <a:cs typeface="Segoe UI" pitchFamily="34" charset="-120"/>
              </a:rPr>
              <a:t>A transparent leaderboard, not a spreadsheet.  </a:t>
            </a:r>
            <a:r>
              <a:rPr lang="en-US" sz="1250" dirty="0">
                <a:solidFill>
                  <a:srgbClr val="17344F"/>
                </a:solidFill>
                <a:latin typeface="Segoe UI" pitchFamily="34" charset="0"/>
                <a:cs typeface="Segoe UI" pitchFamily="34" charset="-120"/>
              </a:rPr>
              <a:t>These are the only fields the team updates during the contest; workbook complexity stays behind the scenes.</a:t>
            </a:r>
          </a:p>
        </p:txBody>
      </p:sp>
    </p:spTree>
    <p:extLst>
      <p:ext uri="{BB962C8B-B14F-4D97-AF65-F5344CB8AC3E}">
        <p14:creationId xmlns:p14="http://schemas.microsoft.com/office/powerpoint/2010/main" val="3948520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NEXT STEPS</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The contest design is ready; leadership needs to lock six launch decisions</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10</a:t>
            </a:r>
            <a:endParaRPr lang="en-US" sz="900" dirty="0"/>
          </a:p>
        </p:txBody>
      </p:sp>
      <p:sp>
        <p:nvSpPr>
          <p:cNvPr id="13" name="Text 11"/>
          <p:cNvSpPr/>
          <p:nvPr/>
        </p:nvSpPr>
        <p:spPr>
          <a:xfrm>
            <a:off x="566928" y="1783080"/>
            <a:ext cx="5212080" cy="292608"/>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The contest in short</a:t>
            </a:r>
            <a:endParaRPr lang="en-US" sz="1300" dirty="0"/>
          </a:p>
        </p:txBody>
      </p:sp>
      <p:sp>
        <p:nvSpPr>
          <p:cNvPr id="14" name="Text 12"/>
          <p:cNvSpPr/>
          <p:nvPr/>
        </p:nvSpPr>
        <p:spPr>
          <a:xfrm>
            <a:off x="566928" y="2148840"/>
            <a:ext cx="5349240" cy="237744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A two month contest on top of the IC plan, August 1 to September 30.</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It rewards each territory for enrolling more than it usually does.</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Fair by size, three groups, scored on count and percent, top two paid.</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A separate quality prize for patients who move forward to treatment.</a:t>
            </a:r>
            <a:endParaRPr lang="en-US" sz="1300" dirty="0"/>
          </a:p>
          <a:p>
            <a:pPr marL="177800" indent="-177800">
              <a:lnSpc>
                <a:spcPct val="103000"/>
              </a:lnSpc>
              <a:spcAft>
                <a:spcPts val="900"/>
              </a:spcAft>
              <a:buSzPct val="100000"/>
              <a:buChar char="•"/>
            </a:pPr>
            <a:r>
              <a:rPr lang="en-US" sz="1300" dirty="0">
                <a:solidFill>
                  <a:srgbClr val="17344F"/>
                </a:solidFill>
                <a:latin typeface="Segoe UI" pitchFamily="34" charset="0"/>
                <a:ea typeface="Segoe UI" pitchFamily="34" charset="-122"/>
                <a:cs typeface="Segoe UI" pitchFamily="34" charset="-120"/>
              </a:rPr>
              <a:t>The RADs are scored as one group of their own.</a:t>
            </a:r>
            <a:endParaRPr lang="en-US" sz="1300" dirty="0"/>
          </a:p>
          <a:p>
            <a:pPr marL="177800" indent="-177800">
              <a:lnSpc>
                <a:spcPct val="103000"/>
              </a:lnSpc>
              <a:buSzPct val="100000"/>
              <a:buChar char="•"/>
            </a:pPr>
            <a:r>
              <a:rPr lang="en-US" sz="1300" dirty="0">
                <a:solidFill>
                  <a:srgbClr val="17344F"/>
                </a:solidFill>
                <a:latin typeface="Segoe UI" pitchFamily="34" charset="0"/>
                <a:ea typeface="Segoe UI" pitchFamily="34" charset="-122"/>
                <a:cs typeface="Segoe UI" pitchFamily="34" charset="-120"/>
              </a:rPr>
              <a:t>The payout uses fixed shares, so any budget works.</a:t>
            </a:r>
            <a:endParaRPr lang="en-US" sz="1300" dirty="0"/>
          </a:p>
        </p:txBody>
      </p:sp>
      <p:sp>
        <p:nvSpPr>
          <p:cNvPr id="15" name="Text 13"/>
          <p:cNvSpPr/>
          <p:nvPr/>
        </p:nvSpPr>
        <p:spPr>
          <a:xfrm>
            <a:off x="566928" y="4617720"/>
            <a:ext cx="2743200" cy="292608"/>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The timeline</a:t>
            </a:r>
            <a:endParaRPr lang="en-US" sz="1300" dirty="0"/>
          </a:p>
        </p:txBody>
      </p:sp>
      <p:sp>
        <p:nvSpPr>
          <p:cNvPr id="16" name="Shape 14"/>
          <p:cNvSpPr/>
          <p:nvPr/>
        </p:nvSpPr>
        <p:spPr>
          <a:xfrm>
            <a:off x="566928" y="4983480"/>
            <a:ext cx="1691640" cy="777240"/>
          </a:xfrm>
          <a:prstGeom prst="roundRect">
            <a:avLst>
              <a:gd name="adj" fmla="val 7059"/>
            </a:avLst>
          </a:prstGeom>
          <a:solidFill>
            <a:srgbClr val="F7F9F1"/>
          </a:solidFill>
          <a:ln w="12700">
            <a:solidFill>
              <a:srgbClr val="2E6DA4"/>
            </a:solidFill>
            <a:prstDash val="solid"/>
          </a:ln>
        </p:spPr>
        <p:txBody>
          <a:bodyPr/>
          <a:lstStyle/>
          <a:p>
            <a:endParaRPr lang="en-US"/>
          </a:p>
        </p:txBody>
      </p:sp>
      <p:sp>
        <p:nvSpPr>
          <p:cNvPr id="17" name="Text 15"/>
          <p:cNvSpPr/>
          <p:nvPr/>
        </p:nvSpPr>
        <p:spPr>
          <a:xfrm>
            <a:off x="676656" y="5084064"/>
            <a:ext cx="1472184" cy="256032"/>
          </a:xfrm>
          <a:prstGeom prst="rect">
            <a:avLst/>
          </a:prstGeom>
          <a:noFill/>
          <a:ln/>
        </p:spPr>
        <p:txBody>
          <a:bodyPr wrap="square" lIns="0" tIns="0" rIns="0" bIns="0" rtlCol="0" anchor="ctr"/>
          <a:lstStyle/>
          <a:p>
            <a:pPr marL="0" indent="0">
              <a:buNone/>
            </a:pPr>
            <a:r>
              <a:rPr lang="en-US" sz="1100" b="1" dirty="0">
                <a:solidFill>
                  <a:srgbClr val="2E6DA4"/>
                </a:solidFill>
                <a:latin typeface="Segoe UI" pitchFamily="34" charset="0"/>
                <a:ea typeface="Segoe UI" pitchFamily="34" charset="-122"/>
                <a:cs typeface="Segoe UI" pitchFamily="34" charset="-120"/>
              </a:rPr>
              <a:t>July</a:t>
            </a:r>
            <a:endParaRPr lang="en-US" sz="1100" dirty="0"/>
          </a:p>
        </p:txBody>
      </p:sp>
      <p:sp>
        <p:nvSpPr>
          <p:cNvPr id="18" name="Text 16"/>
          <p:cNvSpPr/>
          <p:nvPr/>
        </p:nvSpPr>
        <p:spPr>
          <a:xfrm>
            <a:off x="676656" y="5358384"/>
            <a:ext cx="1472184" cy="320040"/>
          </a:xfrm>
          <a:prstGeom prst="rect">
            <a:avLst/>
          </a:prstGeom>
          <a:noFill/>
          <a:ln/>
        </p:spPr>
        <p:txBody>
          <a:bodyPr wrap="square" lIns="0" tIns="0" rIns="0" bIns="0" rtlCol="0" anchor="t"/>
          <a:lstStyle/>
          <a:p>
            <a:pPr marL="0" indent="0">
              <a:buNone/>
            </a:pPr>
            <a:r>
              <a:rPr lang="en-US" sz="950" dirty="0">
                <a:solidFill>
                  <a:srgbClr val="17344F"/>
                </a:solidFill>
                <a:latin typeface="Segoe UI" pitchFamily="34" charset="0"/>
                <a:ea typeface="Segoe UI" pitchFamily="34" charset="-122"/>
                <a:cs typeface="Segoe UI" pitchFamily="34" charset="-120"/>
              </a:rPr>
              <a:t>Approve and announce</a:t>
            </a:r>
            <a:endParaRPr lang="en-US" sz="950" dirty="0"/>
          </a:p>
        </p:txBody>
      </p:sp>
      <p:sp>
        <p:nvSpPr>
          <p:cNvPr id="19" name="Shape 17"/>
          <p:cNvSpPr/>
          <p:nvPr/>
        </p:nvSpPr>
        <p:spPr>
          <a:xfrm>
            <a:off x="2395728" y="4983480"/>
            <a:ext cx="1691640" cy="777240"/>
          </a:xfrm>
          <a:prstGeom prst="roundRect">
            <a:avLst>
              <a:gd name="adj" fmla="val 7059"/>
            </a:avLst>
          </a:prstGeom>
          <a:solidFill>
            <a:srgbClr val="F7F9F1"/>
          </a:solidFill>
          <a:ln w="12700">
            <a:solidFill>
              <a:srgbClr val="567A2E"/>
            </a:solidFill>
            <a:prstDash val="solid"/>
          </a:ln>
        </p:spPr>
        <p:txBody>
          <a:bodyPr/>
          <a:lstStyle/>
          <a:p>
            <a:endParaRPr lang="en-US"/>
          </a:p>
        </p:txBody>
      </p:sp>
      <p:sp>
        <p:nvSpPr>
          <p:cNvPr id="20" name="Text 18"/>
          <p:cNvSpPr/>
          <p:nvPr/>
        </p:nvSpPr>
        <p:spPr>
          <a:xfrm>
            <a:off x="2505456" y="5084064"/>
            <a:ext cx="1472184" cy="256032"/>
          </a:xfrm>
          <a:prstGeom prst="rect">
            <a:avLst/>
          </a:prstGeom>
          <a:noFill/>
          <a:ln/>
        </p:spPr>
        <p:txBody>
          <a:bodyPr wrap="square" lIns="0" tIns="0" rIns="0" bIns="0" rtlCol="0" anchor="ctr"/>
          <a:lstStyle/>
          <a:p>
            <a:pPr marL="0" indent="0">
              <a:buNone/>
            </a:pPr>
            <a:r>
              <a:rPr lang="en-US" sz="1100" b="1" dirty="0">
                <a:solidFill>
                  <a:srgbClr val="567A2E"/>
                </a:solidFill>
                <a:latin typeface="Segoe UI" pitchFamily="34" charset="0"/>
                <a:ea typeface="Segoe UI" pitchFamily="34" charset="-122"/>
                <a:cs typeface="Segoe UI" pitchFamily="34" charset="-120"/>
              </a:rPr>
              <a:t>Aug 1 to Sep 30</a:t>
            </a:r>
            <a:endParaRPr lang="en-US" sz="1100" dirty="0"/>
          </a:p>
        </p:txBody>
      </p:sp>
      <p:sp>
        <p:nvSpPr>
          <p:cNvPr id="21" name="Text 19"/>
          <p:cNvSpPr/>
          <p:nvPr/>
        </p:nvSpPr>
        <p:spPr>
          <a:xfrm>
            <a:off x="2505456" y="5358384"/>
            <a:ext cx="1472184" cy="320040"/>
          </a:xfrm>
          <a:prstGeom prst="rect">
            <a:avLst/>
          </a:prstGeom>
          <a:noFill/>
          <a:ln/>
        </p:spPr>
        <p:txBody>
          <a:bodyPr wrap="square" lIns="0" tIns="0" rIns="0" bIns="0" rtlCol="0" anchor="t"/>
          <a:lstStyle/>
          <a:p>
            <a:pPr marL="0" indent="0">
              <a:buNone/>
            </a:pPr>
            <a:r>
              <a:rPr lang="en-US" sz="950" dirty="0">
                <a:solidFill>
                  <a:srgbClr val="17344F"/>
                </a:solidFill>
                <a:latin typeface="Segoe UI" pitchFamily="34" charset="0"/>
                <a:ea typeface="Segoe UI" pitchFamily="34" charset="-122"/>
                <a:cs typeface="Segoe UI" pitchFamily="34" charset="-120"/>
              </a:rPr>
              <a:t>The contest runs</a:t>
            </a:r>
            <a:endParaRPr lang="en-US" sz="950" dirty="0"/>
          </a:p>
        </p:txBody>
      </p:sp>
      <p:sp>
        <p:nvSpPr>
          <p:cNvPr id="22" name="Shape 20"/>
          <p:cNvSpPr/>
          <p:nvPr/>
        </p:nvSpPr>
        <p:spPr>
          <a:xfrm>
            <a:off x="4224528" y="4983480"/>
            <a:ext cx="1691640" cy="777240"/>
          </a:xfrm>
          <a:prstGeom prst="roundRect">
            <a:avLst>
              <a:gd name="adj" fmla="val 7059"/>
            </a:avLst>
          </a:prstGeom>
          <a:solidFill>
            <a:srgbClr val="F7F9F1"/>
          </a:solidFill>
          <a:ln w="12700">
            <a:solidFill>
              <a:srgbClr val="7F8B8F"/>
            </a:solidFill>
            <a:prstDash val="solid"/>
          </a:ln>
        </p:spPr>
        <p:txBody>
          <a:bodyPr/>
          <a:lstStyle/>
          <a:p>
            <a:endParaRPr lang="en-US"/>
          </a:p>
        </p:txBody>
      </p:sp>
      <p:sp>
        <p:nvSpPr>
          <p:cNvPr id="23" name="Text 21"/>
          <p:cNvSpPr/>
          <p:nvPr/>
        </p:nvSpPr>
        <p:spPr>
          <a:xfrm>
            <a:off x="4334256" y="5084064"/>
            <a:ext cx="1472184" cy="256032"/>
          </a:xfrm>
          <a:prstGeom prst="rect">
            <a:avLst/>
          </a:prstGeom>
          <a:noFill/>
          <a:ln/>
        </p:spPr>
        <p:txBody>
          <a:bodyPr wrap="square" lIns="0" tIns="0" rIns="0" bIns="0" rtlCol="0" anchor="ctr"/>
          <a:lstStyle/>
          <a:p>
            <a:pPr marL="0" indent="0">
              <a:buNone/>
            </a:pPr>
            <a:r>
              <a:rPr lang="en-US" sz="1100" b="1" dirty="0">
                <a:solidFill>
                  <a:srgbClr val="7F8B8F"/>
                </a:solidFill>
                <a:latin typeface="Segoe UI" pitchFamily="34" charset="0"/>
                <a:ea typeface="Segoe UI" pitchFamily="34" charset="-122"/>
                <a:cs typeface="Segoe UI" pitchFamily="34" charset="-120"/>
              </a:rPr>
              <a:t>After October</a:t>
            </a:r>
            <a:endParaRPr lang="en-US" sz="1100" dirty="0"/>
          </a:p>
        </p:txBody>
      </p:sp>
      <p:sp>
        <p:nvSpPr>
          <p:cNvPr id="24" name="Text 22"/>
          <p:cNvSpPr/>
          <p:nvPr/>
        </p:nvSpPr>
        <p:spPr>
          <a:xfrm>
            <a:off x="4334256" y="5358384"/>
            <a:ext cx="1472184" cy="320040"/>
          </a:xfrm>
          <a:prstGeom prst="rect">
            <a:avLst/>
          </a:prstGeom>
          <a:noFill/>
          <a:ln/>
        </p:spPr>
        <p:txBody>
          <a:bodyPr wrap="square" lIns="0" tIns="0" rIns="0" bIns="0" rtlCol="0" anchor="t"/>
          <a:lstStyle/>
          <a:p>
            <a:pPr marL="0" indent="0">
              <a:buNone/>
            </a:pPr>
            <a:r>
              <a:rPr lang="en-US" sz="950" dirty="0">
                <a:solidFill>
                  <a:srgbClr val="17344F"/>
                </a:solidFill>
                <a:latin typeface="Segoe UI" pitchFamily="34" charset="0"/>
                <a:ea typeface="Segoe UI" pitchFamily="34" charset="-122"/>
                <a:cs typeface="Segoe UI" pitchFamily="34" charset="-120"/>
              </a:rPr>
              <a:t>Quality prize paid</a:t>
            </a:r>
            <a:endParaRPr lang="en-US" sz="950" dirty="0"/>
          </a:p>
        </p:txBody>
      </p:sp>
      <p:sp>
        <p:nvSpPr>
          <p:cNvPr id="25" name="Shape 23"/>
          <p:cNvSpPr/>
          <p:nvPr/>
        </p:nvSpPr>
        <p:spPr>
          <a:xfrm>
            <a:off x="6309360" y="1783080"/>
            <a:ext cx="5321808" cy="3977640"/>
          </a:xfrm>
          <a:prstGeom prst="roundRect">
            <a:avLst>
              <a:gd name="adj" fmla="val 1379"/>
            </a:avLst>
          </a:prstGeom>
          <a:solidFill>
            <a:srgbClr val="F7F9F1"/>
          </a:solidFill>
          <a:ln w="9525">
            <a:solidFill>
              <a:srgbClr val="D6DBC9"/>
            </a:solidFill>
            <a:prstDash val="solid"/>
          </a:ln>
        </p:spPr>
        <p:txBody>
          <a:bodyPr/>
          <a:lstStyle/>
          <a:p>
            <a:endParaRPr lang="en-US"/>
          </a:p>
        </p:txBody>
      </p:sp>
      <p:sp>
        <p:nvSpPr>
          <p:cNvPr id="26" name="Text 24"/>
          <p:cNvSpPr/>
          <p:nvPr/>
        </p:nvSpPr>
        <p:spPr>
          <a:xfrm>
            <a:off x="6537960" y="1965960"/>
            <a:ext cx="4937760" cy="310896"/>
          </a:xfrm>
          <a:prstGeom prst="rect">
            <a:avLst/>
          </a:prstGeom>
          <a:noFill/>
          <a:ln/>
        </p:spPr>
        <p:txBody>
          <a:bodyPr wrap="square" lIns="0" tIns="0" rIns="0" bIns="0" rtlCol="0" anchor="ctr"/>
          <a:lstStyle/>
          <a:p>
            <a:pPr marL="0" indent="0">
              <a:buNone/>
            </a:pPr>
            <a:r>
              <a:rPr lang="en-US" sz="1400" b="1" dirty="0">
                <a:solidFill>
                  <a:srgbClr val="2F5D8A"/>
                </a:solidFill>
                <a:latin typeface="Segoe UI" pitchFamily="34" charset="0"/>
                <a:ea typeface="Segoe UI" pitchFamily="34" charset="-122"/>
                <a:cs typeface="Segoe UI" pitchFamily="34" charset="-120"/>
              </a:rPr>
              <a:t>Decisions to lock before launch</a:t>
            </a:r>
          </a:p>
        </p:txBody>
      </p:sp>
      <p:sp>
        <p:nvSpPr>
          <p:cNvPr id="27" name="Shape 25"/>
          <p:cNvSpPr/>
          <p:nvPr/>
        </p:nvSpPr>
        <p:spPr>
          <a:xfrm>
            <a:off x="6537960" y="2451100"/>
            <a:ext cx="237744" cy="237744"/>
          </a:xfrm>
          <a:prstGeom prst="ellipse">
            <a:avLst/>
          </a:prstGeom>
          <a:solidFill>
            <a:srgbClr val="FFFFFF"/>
          </a:solidFill>
          <a:ln w="15875">
            <a:solidFill>
              <a:srgbClr val="567A2E"/>
            </a:solidFill>
            <a:prstDash val="solid"/>
          </a:ln>
        </p:spPr>
        <p:txBody>
          <a:bodyPr/>
          <a:lstStyle/>
          <a:p>
            <a:endParaRPr lang="en-US"/>
          </a:p>
        </p:txBody>
      </p:sp>
      <p:sp>
        <p:nvSpPr>
          <p:cNvPr id="28" name="Text 26"/>
          <p:cNvSpPr/>
          <p:nvPr/>
        </p:nvSpPr>
        <p:spPr>
          <a:xfrm>
            <a:off x="6537960" y="24511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1</a:t>
            </a:r>
            <a:endParaRPr lang="en-US" sz="1100" dirty="0"/>
          </a:p>
        </p:txBody>
      </p:sp>
      <p:sp>
        <p:nvSpPr>
          <p:cNvPr id="29" name="Text 27"/>
          <p:cNvSpPr/>
          <p:nvPr/>
        </p:nvSpPr>
        <p:spPr>
          <a:xfrm>
            <a:off x="6903720" y="23368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Confirm the baseline window: Q3 2025 through Q2 2026</a:t>
            </a:r>
          </a:p>
        </p:txBody>
      </p:sp>
      <p:sp>
        <p:nvSpPr>
          <p:cNvPr id="30" name="Shape 28"/>
          <p:cNvSpPr/>
          <p:nvPr/>
        </p:nvSpPr>
        <p:spPr>
          <a:xfrm>
            <a:off x="6537960" y="2997200"/>
            <a:ext cx="237744" cy="237744"/>
          </a:xfrm>
          <a:prstGeom prst="ellipse">
            <a:avLst/>
          </a:prstGeom>
          <a:solidFill>
            <a:srgbClr val="FFFFFF"/>
          </a:solidFill>
          <a:ln w="15875">
            <a:solidFill>
              <a:srgbClr val="567A2E"/>
            </a:solidFill>
            <a:prstDash val="solid"/>
          </a:ln>
        </p:spPr>
        <p:txBody>
          <a:bodyPr/>
          <a:lstStyle/>
          <a:p>
            <a:endParaRPr lang="en-US"/>
          </a:p>
        </p:txBody>
      </p:sp>
      <p:sp>
        <p:nvSpPr>
          <p:cNvPr id="31" name="Text 29"/>
          <p:cNvSpPr/>
          <p:nvPr/>
        </p:nvSpPr>
        <p:spPr>
          <a:xfrm>
            <a:off x="6537960" y="29972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2</a:t>
            </a:r>
            <a:endParaRPr lang="en-US" sz="1100" dirty="0"/>
          </a:p>
        </p:txBody>
      </p:sp>
      <p:sp>
        <p:nvSpPr>
          <p:cNvPr id="32" name="Text 30"/>
          <p:cNvSpPr/>
          <p:nvPr/>
        </p:nvSpPr>
        <p:spPr>
          <a:xfrm>
            <a:off x="6903720" y="28829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Load the final 28 territories and their enrollment history</a:t>
            </a:r>
          </a:p>
        </p:txBody>
      </p:sp>
      <p:sp>
        <p:nvSpPr>
          <p:cNvPr id="33" name="Shape 31"/>
          <p:cNvSpPr/>
          <p:nvPr/>
        </p:nvSpPr>
        <p:spPr>
          <a:xfrm>
            <a:off x="6537960" y="3543300"/>
            <a:ext cx="237744" cy="237744"/>
          </a:xfrm>
          <a:prstGeom prst="ellipse">
            <a:avLst/>
          </a:prstGeom>
          <a:solidFill>
            <a:srgbClr val="FFFFFF"/>
          </a:solidFill>
          <a:ln w="15875">
            <a:solidFill>
              <a:srgbClr val="567A2E"/>
            </a:solidFill>
            <a:prstDash val="solid"/>
          </a:ln>
        </p:spPr>
        <p:txBody>
          <a:bodyPr/>
          <a:lstStyle/>
          <a:p>
            <a:endParaRPr lang="en-US"/>
          </a:p>
        </p:txBody>
      </p:sp>
      <p:sp>
        <p:nvSpPr>
          <p:cNvPr id="34" name="Text 32"/>
          <p:cNvSpPr/>
          <p:nvPr/>
        </p:nvSpPr>
        <p:spPr>
          <a:xfrm>
            <a:off x="6537960" y="35433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3</a:t>
            </a:r>
            <a:endParaRPr lang="en-US" sz="1100" dirty="0"/>
          </a:p>
        </p:txBody>
      </p:sp>
      <p:sp>
        <p:nvSpPr>
          <p:cNvPr id="35" name="Text 33"/>
          <p:cNvSpPr/>
          <p:nvPr/>
        </p:nvSpPr>
        <p:spPr>
          <a:xfrm>
            <a:off x="6903720" y="34290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Lock the large, medium, and small group cutoffs</a:t>
            </a:r>
          </a:p>
        </p:txBody>
      </p:sp>
      <p:sp>
        <p:nvSpPr>
          <p:cNvPr id="36" name="Shape 34"/>
          <p:cNvSpPr/>
          <p:nvPr/>
        </p:nvSpPr>
        <p:spPr>
          <a:xfrm>
            <a:off x="6537960" y="4089400"/>
            <a:ext cx="237744" cy="237744"/>
          </a:xfrm>
          <a:prstGeom prst="ellipse">
            <a:avLst/>
          </a:prstGeom>
          <a:solidFill>
            <a:srgbClr val="FFFFFF"/>
          </a:solidFill>
          <a:ln w="15875">
            <a:solidFill>
              <a:srgbClr val="567A2E"/>
            </a:solidFill>
            <a:prstDash val="solid"/>
          </a:ln>
        </p:spPr>
        <p:txBody>
          <a:bodyPr/>
          <a:lstStyle/>
          <a:p>
            <a:endParaRPr lang="en-US"/>
          </a:p>
        </p:txBody>
      </p:sp>
      <p:sp>
        <p:nvSpPr>
          <p:cNvPr id="37" name="Text 35"/>
          <p:cNvSpPr/>
          <p:nvPr/>
        </p:nvSpPr>
        <p:spPr>
          <a:xfrm>
            <a:off x="6537960" y="40894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4</a:t>
            </a:r>
            <a:endParaRPr lang="en-US" sz="1100" dirty="0"/>
          </a:p>
        </p:txBody>
      </p:sp>
      <p:sp>
        <p:nvSpPr>
          <p:cNvPr id="38" name="Text 36"/>
          <p:cNvSpPr/>
          <p:nvPr/>
        </p:nvSpPr>
        <p:spPr>
          <a:xfrm>
            <a:off x="6903720" y="39751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Confirm the CTAM prize pot</a:t>
            </a:r>
          </a:p>
        </p:txBody>
      </p:sp>
      <p:sp>
        <p:nvSpPr>
          <p:cNvPr id="39" name="Shape 37"/>
          <p:cNvSpPr/>
          <p:nvPr/>
        </p:nvSpPr>
        <p:spPr>
          <a:xfrm>
            <a:off x="6537960" y="4635500"/>
            <a:ext cx="237744" cy="237744"/>
          </a:xfrm>
          <a:prstGeom prst="ellipse">
            <a:avLst/>
          </a:prstGeom>
          <a:solidFill>
            <a:srgbClr val="FFFFFF"/>
          </a:solidFill>
          <a:ln w="15875">
            <a:solidFill>
              <a:srgbClr val="567A2E"/>
            </a:solidFill>
            <a:prstDash val="solid"/>
          </a:ln>
        </p:spPr>
        <p:txBody>
          <a:bodyPr/>
          <a:lstStyle/>
          <a:p>
            <a:endParaRPr lang="en-US"/>
          </a:p>
        </p:txBody>
      </p:sp>
      <p:sp>
        <p:nvSpPr>
          <p:cNvPr id="40" name="Text 38"/>
          <p:cNvSpPr/>
          <p:nvPr/>
        </p:nvSpPr>
        <p:spPr>
          <a:xfrm>
            <a:off x="6537960" y="46355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5</a:t>
            </a:r>
            <a:endParaRPr lang="en-US" sz="1100" dirty="0"/>
          </a:p>
        </p:txBody>
      </p:sp>
      <p:sp>
        <p:nvSpPr>
          <p:cNvPr id="41" name="Text 39"/>
          <p:cNvSpPr/>
          <p:nvPr/>
        </p:nvSpPr>
        <p:spPr>
          <a:xfrm>
            <a:off x="6903720" y="45212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Confirm the separate RAD payout pool and coverage rules</a:t>
            </a:r>
          </a:p>
        </p:txBody>
      </p:sp>
      <p:sp>
        <p:nvSpPr>
          <p:cNvPr id="42" name="Text 40"/>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Enrollment, capacity, baseline, and payout figures are internal planning figures for 2H 2026. Final values subject to leadership approval.</a:t>
            </a:r>
            <a:endParaRPr lang="en-US" sz="850" dirty="0"/>
          </a:p>
        </p:txBody>
      </p:sp>
      <p:sp>
        <p:nvSpPr>
          <p:cNvPr id="140" name="BoxRow6"/>
          <p:cNvSpPr/>
          <p:nvPr/>
        </p:nvSpPr>
        <p:spPr>
          <a:xfrm>
            <a:off x="6537960" y="5181600"/>
            <a:ext cx="237744" cy="237744"/>
          </a:xfrm>
          <a:prstGeom prst="ellipse">
            <a:avLst/>
          </a:prstGeom>
          <a:solidFill>
            <a:srgbClr val="FFFFFF"/>
          </a:solidFill>
          <a:ln w="15875">
            <a:solidFill>
              <a:srgbClr val="567A2E"/>
            </a:solidFill>
            <a:prstDash val="solid"/>
          </a:ln>
        </p:spPr>
        <p:txBody>
          <a:bodyPr/>
          <a:lstStyle/>
          <a:p>
            <a:endParaRPr lang="en-US"/>
          </a:p>
        </p:txBody>
      </p:sp>
      <p:sp>
        <p:nvSpPr>
          <p:cNvPr id="141" name="NumRow6"/>
          <p:cNvSpPr/>
          <p:nvPr/>
        </p:nvSpPr>
        <p:spPr>
          <a:xfrm>
            <a:off x="6537960" y="5181600"/>
            <a:ext cx="237744" cy="237744"/>
          </a:xfrm>
          <a:prstGeom prst="rect">
            <a:avLst/>
          </a:prstGeom>
          <a:noFill/>
          <a:ln/>
        </p:spPr>
        <p:txBody>
          <a:bodyPr wrap="square" lIns="0" tIns="0" rIns="0" bIns="0" rtlCol="0" anchor="ctr"/>
          <a:lstStyle/>
          <a:p>
            <a:pPr marL="0" indent="0" algn="ctr">
              <a:buNone/>
            </a:pPr>
            <a:r>
              <a:rPr lang="en-US" sz="1100" b="1" dirty="0">
                <a:solidFill>
                  <a:srgbClr val="567A2E"/>
                </a:solidFill>
                <a:latin typeface="Segoe UI" pitchFamily="34" charset="0"/>
                <a:ea typeface="Segoe UI" pitchFamily="34" charset="-122"/>
                <a:cs typeface="Segoe UI" pitchFamily="34" charset="-120"/>
              </a:rPr>
              <a:t>6</a:t>
            </a:r>
          </a:p>
        </p:txBody>
      </p:sp>
      <p:sp>
        <p:nvSpPr>
          <p:cNvPr id="142" name="TextRow6"/>
          <p:cNvSpPr/>
          <p:nvPr/>
        </p:nvSpPr>
        <p:spPr>
          <a:xfrm>
            <a:off x="6903720" y="5067300"/>
            <a:ext cx="4572000" cy="457200"/>
          </a:xfrm>
          <a:prstGeom prst="rect">
            <a:avLst/>
          </a:prstGeom>
          <a:noFill/>
          <a:ln/>
        </p:spPr>
        <p:txBody>
          <a:bodyPr wrap="square" lIns="0" tIns="0" rIns="0" bIns="0" rtlCol="0" anchor="ctr"/>
          <a:lstStyle/>
          <a:p>
            <a:pPr marL="0" indent="0">
              <a:buNone/>
            </a:pPr>
            <a:r>
              <a:rPr lang="en-US" sz="1250" dirty="0">
                <a:solidFill>
                  <a:srgbClr val="17344F"/>
                </a:solidFill>
                <a:latin typeface="Segoe UI" pitchFamily="34" charset="0"/>
                <a:ea typeface="Segoe UI" pitchFamily="34" charset="-122"/>
                <a:cs typeface="Segoe UI" pitchFamily="34" charset="-120"/>
              </a:rPr>
              <a:t>Confirm the quality-prize window and field communication date</a:t>
            </a:r>
          </a:p>
        </p:txBody>
      </p:sp>
    </p:spTree>
    <p:extLst>
      <p:ext uri="{BB962C8B-B14F-4D97-AF65-F5344CB8AC3E}">
        <p14:creationId xmlns:p14="http://schemas.microsoft.com/office/powerpoint/2010/main" val="152715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4C3395-2CF4-7C4C-AF6A-A4A45159D157}">
  <we:reference id="wa200010001" version="1.0.0.1" store="en-US" storeType="OMEX"/>
  <we:alternateReferences>
    <we:reference id="wa200010001" version="1.0.0.1" store="en-US" storeType="OMEX"/>
  </we:alternateReferences>
  <we:properties>
    <we:property name="claude.fileId" value="&quot;6fdb1c44-bde7-4162-86be-44dd48d102d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40</TotalTime>
  <Words>2105</Words>
  <Application>Microsoft Macintosh PowerPoint</Application>
  <PresentationFormat>Widescreen</PresentationFormat>
  <Paragraphs>303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Cambria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3Q 2026 AMTAGVI Enrollment Contest</dc:title>
  <dc:subject>PptxGenJS Presentation</dc:subject>
  <dc:creator>BAI Team</dc:creator>
  <cp:lastModifiedBy>Srinidhi Gowda</cp:lastModifiedBy>
  <cp:revision>2</cp:revision>
  <dcterms:created xsi:type="dcterms:W3CDTF">2026-07-16T16:21:08Z</dcterms:created>
  <dcterms:modified xsi:type="dcterms:W3CDTF">2026-07-16T17:59:53Z</dcterms:modified>
</cp:coreProperties>
</file>