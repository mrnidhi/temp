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89" r:id="rId2"/>
    <p:sldId id="279" r:id="rId3"/>
    <p:sldId id="297" r:id="rId5"/>
    <p:sldId id="291" r:id="rId6"/>
    <p:sldId id="293" r:id="rId9"/>
    <p:sldId id="284" r:id="rId8"/>
    <p:sldId id="292"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81"/>
    <p:restoredTop sz="94610"/>
  </p:normalViewPr>
  <p:slideViewPr>
    <p:cSldViewPr snapToGrid="0" snapToObjects="1">
      <p:cViewPr varScale="1">
        <p:scale>
          <a:sx n="87" d="100"/>
          <a:sy n="87" d="100"/>
        </p:scale>
        <p:origin x="216"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Patients</c:v>
                </c:pt>
              </c:strCache>
            </c:strRef>
          </c:tx>
          <c:spPr>
            <a:solidFill>
              <a:srgbClr val="567A2E"/>
            </a:solidFill>
            <a:effectLst/>
          </c:spPr>
          <c:invertIfNegative val="0"/>
          <c:cat>
            <c:strRef>
              <c:f>Sheet1!$A$2:$A$25</c:f>
              <c:strCache>
                <c:ptCount val="2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strCache>
            </c:strRef>
          </c:cat>
          <c:val>
            <c:numRef>
              <c:f>Sheet1!$B$2:$B$25</c:f>
              <c:numCache>
                <c:formatCode>General</c:formatCode>
                <c:ptCount val="24"/>
                <c:pt idx="0">
                  <c:v>1015</c:v>
                </c:pt>
                <c:pt idx="1">
                  <c:v>731</c:v>
                </c:pt>
                <c:pt idx="2">
                  <c:v>637</c:v>
                </c:pt>
                <c:pt idx="3">
                  <c:v>579</c:v>
                </c:pt>
                <c:pt idx="4">
                  <c:v>524</c:v>
                </c:pt>
                <c:pt idx="5">
                  <c:v>426</c:v>
                </c:pt>
                <c:pt idx="6">
                  <c:v>377</c:v>
                </c:pt>
                <c:pt idx="7">
                  <c:v>347</c:v>
                </c:pt>
                <c:pt idx="8">
                  <c:v>310</c:v>
                </c:pt>
                <c:pt idx="9">
                  <c:v>308</c:v>
                </c:pt>
                <c:pt idx="10">
                  <c:v>294</c:v>
                </c:pt>
                <c:pt idx="11">
                  <c:v>275</c:v>
                </c:pt>
                <c:pt idx="12">
                  <c:v>218</c:v>
                </c:pt>
                <c:pt idx="13">
                  <c:v>168</c:v>
                </c:pt>
                <c:pt idx="14">
                  <c:v>142</c:v>
                </c:pt>
                <c:pt idx="15">
                  <c:v>136</c:v>
                </c:pt>
                <c:pt idx="16">
                  <c:v>109</c:v>
                </c:pt>
                <c:pt idx="17">
                  <c:v>89</c:v>
                </c:pt>
                <c:pt idx="18">
                  <c:v>81</c:v>
                </c:pt>
                <c:pt idx="19">
                  <c:v>65</c:v>
                </c:pt>
                <c:pt idx="20">
                  <c:v>40</c:v>
                </c:pt>
                <c:pt idx="21">
                  <c:v>26</c:v>
                </c:pt>
                <c:pt idx="22">
                  <c:v>26</c:v>
                </c:pt>
                <c:pt idx="23">
                  <c:v>12</c:v>
                </c:pt>
              </c:numCache>
            </c:numRef>
          </c:val>
          <c:extLst>
            <c:ext xmlns:c16="http://schemas.microsoft.com/office/drawing/2014/chart" uri="{C3380CC4-5D6E-409C-BE32-E72D297353CC}">
              <c16:uniqueId val="{00000000-F6D5-2E43-91B6-B028BB2C32F0}"/>
            </c:ext>
          </c:extLst>
        </c:ser>
        <c:dLbls>
          <c:showLegendKey val="0"/>
          <c:showVal val="0"/>
          <c:showCatName val="0"/>
          <c:showSerName val="0"/>
          <c:showPercent val="0"/>
          <c:showBubbleSize val="0"/>
        </c:dLbls>
        <c:gapWidth val="25"/>
        <c:axId val="2094734554"/>
        <c:axId val="2094734552"/>
      </c:barChart>
      <c:catAx>
        <c:axId val="2094734554"/>
        <c:scaling>
          <c:orientation val="minMax"/>
        </c:scaling>
        <c:delete val="0"/>
        <c:axPos val="b"/>
        <c:numFmt formatCode="General" sourceLinked="1"/>
        <c:majorTickMark val="out"/>
        <c:minorTickMark val="none"/>
        <c:tickLblPos val="nextTo"/>
        <c:txPr>
          <a:bodyPr rot="0" spcFirstLastPara="1" vertOverflow="ellipsis" vert="horz" wrap="square" anchor="ctr" anchorCtr="1"/>
          <a:lstStyle/>
          <a:p>
            <a:pPr>
              <a:defRPr sz="1400"/>
            </a:pPr>
            <a:endParaRPr lang="en-US"/>
          </a:p>
        </c:txPr>
        <c:crossAx val="2094734552"/>
        <c:crosses val="autoZero"/>
        <c:auto val="1"/>
        <c:lblAlgn val="ctr"/>
        <c:lblOffset val="100"/>
        <c:noMultiLvlLbl val="1"/>
      </c:catAx>
      <c:valAx>
        <c:axId val="2094734552"/>
        <c:scaling>
          <c:orientation val="minMax"/>
          <c:max val="1100"/>
          <c:min val="0"/>
        </c:scaling>
        <c:delete val="0"/>
        <c:axPos val="l"/>
        <c:majorGridlines>
          <c:spPr>
            <a:ln w="12700" cap="flat">
              <a:solidFill>
                <a:srgbClr val="EEE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A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455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proposal for a two month enrollment contest that runs alongside the IC plan, from August 1 to September 30, 2026. It covers the CTAM territories.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now have 70 treatment slots a month, up from 50. Weekly enrollments have slipped from about 27 to about 21, and the forecast needs 25 or more. Out of every 100 enrollments, about 70 reach TTP and about 50 reach infusion, which is where revenue lands. The standing plan already rewards infusions, so this contest pushes the top of the funnel.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Regions are close in size, so a region cut tells us little. Territories are very different, with about 85 times between the largest and the smallest. That is why we group by size before we score.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each territory's average enrollments over the last three quarters, scaled down to the two month window. We rank on patients added and on percent growth inside each size group, average the two ranks, and pay the top two. Ties go to the higher percent. The quality prize goes to the territory in each group whose patients most often reach TTP, with at least five enrollments to qualify, settled about a month after the contest ends.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pot is $30,000 for now, still to be confirmed. Each group pays first place 16.67 percent of the pot, second place 10 percent, and the quality prize 6.67 percent. That is about $5,000, $3,000, and $2,000 per group, and the shares work at any budget.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made up numbers for one size group. Indiana / KY starts from the smallest baseline at 15. It adds 6 enrollments to reach 21, a 40 percent gain, and finishes first. Eastern OH adds 4 to reach 22, a 22 percent gain, and comes second. Carolinas has the largest baseline at 20 but adds only 1 to reach 21, a 5 percent gain, so it finishes last. A high volume territory only wins when it beats its own history, not by being big.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every territory and the baseline it has to beat. The baseline is its average enrollments across the last three quarters, scaled down to the two month window. We sort on that same average, which puts eight territories in each group. The cutoffs are 15.8 and 10.2 on the quarterly average. The names say how big a territory is, not how good it is. A high volume territory is not a better territory, it just has more patients to work with, which is the whole reason we group before we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5F"/>
        </a:solidFill>
        <a:effectLst/>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0F3A55"/>
          </a:solidFill>
          <a:ln/>
        </p:spPr>
        <p:txBody>
          <a:bodyPr/>
          <a:lstStyle/>
          <a:p>
            <a:endParaRPr lang="en-US"/>
          </a:p>
        </p:txBody>
      </p:sp>
      <p:sp>
        <p:nvSpPr>
          <p:cNvPr id="3" name="Shape 1"/>
          <p:cNvSpPr/>
          <p:nvPr/>
        </p:nvSpPr>
        <p:spPr>
          <a:xfrm flipH="1">
            <a:off x="7040880" y="0"/>
            <a:ext cx="822960" cy="6858000"/>
          </a:xfrm>
          <a:prstGeom prst="rtTriangle">
            <a:avLst/>
          </a:prstGeom>
          <a:solidFill>
            <a:srgbClr val="0F3A55"/>
          </a:solidFill>
          <a:ln/>
        </p:spPr>
        <p:txBody>
          <a:bodyPr/>
          <a:lstStyle/>
          <a:p>
            <a:endParaRPr lang="en-US"/>
          </a:p>
        </p:txBody>
      </p:sp>
      <p:sp>
        <p:nvSpPr>
          <p:cNvPr id="4" name="Shape 2"/>
          <p:cNvSpPr/>
          <p:nvPr/>
        </p:nvSpPr>
        <p:spPr>
          <a:xfrm>
            <a:off x="8229600" y="0"/>
            <a:ext cx="3962095" cy="1078992"/>
          </a:xfrm>
          <a:prstGeom prst="rect">
            <a:avLst/>
          </a:prstGeom>
          <a:solidFill>
            <a:srgbClr val="9DC13C"/>
          </a:solidFill>
          <a:ln/>
        </p:spPr>
        <p:txBody>
          <a:bodyPr/>
          <a:lstStyle/>
          <a:p>
            <a:endParaRPr lang="en-US"/>
          </a:p>
        </p:txBody>
      </p:sp>
      <p:sp>
        <p:nvSpPr>
          <p:cNvPr id="5" name="Shape 3"/>
          <p:cNvSpPr/>
          <p:nvPr/>
        </p:nvSpPr>
        <p:spPr>
          <a:xfrm flipH="1" flipV="1">
            <a:off x="7726680" y="0"/>
            <a:ext cx="548640" cy="1078992"/>
          </a:xfrm>
          <a:prstGeom prst="rtTriangle">
            <a:avLst/>
          </a:prstGeom>
          <a:solidFill>
            <a:srgbClr val="9DC13C"/>
          </a:solidFill>
          <a:ln/>
        </p:spPr>
        <p:txBody>
          <a:bodyPr/>
          <a:lstStyle/>
          <a:p>
            <a:endParaRPr lang="en-US"/>
          </a:p>
        </p:txBody>
      </p:sp>
      <p:sp>
        <p:nvSpPr>
          <p:cNvPr id="6" name="Text 4"/>
          <p:cNvSpPr/>
          <p:nvPr/>
        </p:nvSpPr>
        <p:spPr>
          <a:xfrm>
            <a:off x="777240" y="777240"/>
            <a:ext cx="6400800" cy="914400"/>
          </a:xfrm>
          <a:prstGeom prst="rect">
            <a:avLst/>
          </a:prstGeom>
          <a:noFill/>
          <a:ln/>
        </p:spPr>
        <p:txBody>
          <a:bodyPr wrap="square" lIns="0" tIns="0" rIns="0" bIns="0" rtlCol="0" anchor="ctr"/>
          <a:lstStyle/>
          <a:p>
            <a:pPr marL="0" indent="0">
              <a:buNone/>
            </a:pPr>
            <a:r>
              <a:rPr lang="en-US" sz="5000" b="1" kern="0" spc="200" dirty="0">
                <a:solidFill>
                  <a:srgbClr val="FFFFFF"/>
                </a:solidFill>
                <a:latin typeface="Cambria" pitchFamily="34" charset="0"/>
                <a:ea typeface="Cambria" pitchFamily="34" charset="-122"/>
                <a:cs typeface="Cambria" pitchFamily="34" charset="-120"/>
              </a:rPr>
              <a:t>IOVANCE</a:t>
            </a:r>
            <a:endParaRPr lang="en-US" sz="5000" dirty="0"/>
          </a:p>
        </p:txBody>
      </p:sp>
      <p:sp>
        <p:nvSpPr>
          <p:cNvPr id="7" name="Text 5"/>
          <p:cNvSpPr/>
          <p:nvPr/>
        </p:nvSpPr>
        <p:spPr>
          <a:xfrm>
            <a:off x="822960" y="1691640"/>
            <a:ext cx="6400800" cy="365760"/>
          </a:xfrm>
          <a:prstGeom prst="rect">
            <a:avLst/>
          </a:prstGeom>
          <a:noFill/>
          <a:ln/>
        </p:spPr>
        <p:txBody>
          <a:bodyPr wrap="square" lIns="0" tIns="0" rIns="0" bIns="0" rtlCol="0" anchor="ctr"/>
          <a:lstStyle/>
          <a:p>
            <a:pPr marL="0" indent="0">
              <a:buNone/>
            </a:pPr>
            <a:r>
              <a:rPr lang="en-US" sz="1400" kern="0" spc="500" dirty="0">
                <a:solidFill>
                  <a:srgbClr val="CFE3A0"/>
                </a:solidFill>
                <a:latin typeface="Segoe UI" pitchFamily="34" charset="0"/>
                <a:ea typeface="Segoe UI" pitchFamily="34" charset="-122"/>
                <a:cs typeface="Segoe UI" pitchFamily="34" charset="-120"/>
              </a:rPr>
              <a:t>B I O T H E R A P E U T I C S</a:t>
            </a:r>
            <a:endParaRPr lang="en-US" sz="1400" dirty="0"/>
          </a:p>
        </p:txBody>
      </p:sp>
      <p:sp>
        <p:nvSpPr>
          <p:cNvPr id="8" name="Shape 6"/>
          <p:cNvSpPr/>
          <p:nvPr/>
        </p:nvSpPr>
        <p:spPr>
          <a:xfrm>
            <a:off x="822960" y="3017520"/>
            <a:ext cx="128016" cy="1280160"/>
          </a:xfrm>
          <a:prstGeom prst="rect">
            <a:avLst/>
          </a:prstGeom>
          <a:solidFill>
            <a:srgbClr val="9DC13C"/>
          </a:solidFill>
          <a:ln/>
        </p:spPr>
        <p:txBody>
          <a:bodyPr/>
          <a:lstStyle/>
          <a:p>
            <a:endParaRPr lang="en-US"/>
          </a:p>
        </p:txBody>
      </p:sp>
      <p:sp>
        <p:nvSpPr>
          <p:cNvPr id="9" name="Text 7"/>
          <p:cNvSpPr/>
          <p:nvPr/>
        </p:nvSpPr>
        <p:spPr>
          <a:xfrm>
            <a:off x="1097280" y="2971800"/>
            <a:ext cx="6309360" cy="1280160"/>
          </a:xfrm>
          <a:prstGeom prst="rect">
            <a:avLst/>
          </a:prstGeom>
          <a:noFill/>
          <a:ln/>
        </p:spPr>
        <p:txBody>
          <a:bodyPr wrap="square" lIns="0" tIns="0" rIns="0" bIns="0" rtlCol="0" anchor="t"/>
          <a:lstStyle/>
          <a:p>
            <a:pPr marL="0" indent="0">
              <a:lnSpc>
                <a:spcPct val="102000"/>
              </a:lnSpc>
              <a:buNone/>
            </a:pPr>
            <a:r>
              <a:rPr lang="en-US" sz="3000" b="1" dirty="0">
                <a:solidFill>
                  <a:srgbClr val="FFFFFF"/>
                </a:solidFill>
                <a:latin typeface="Segoe UI" pitchFamily="34" charset="0"/>
                <a:ea typeface="Segoe UI" pitchFamily="34" charset="-122"/>
                <a:cs typeface="Segoe UI" pitchFamily="34" charset="-120"/>
              </a:rPr>
              <a:t>Proposed 3Q 2026 AMTAGVI Enrollment Contest</a:t>
            </a:r>
            <a:endParaRPr lang="en-US" sz="3000" dirty="0"/>
          </a:p>
        </p:txBody>
      </p:sp>
      <p:sp>
        <p:nvSpPr>
          <p:cNvPr id="10" name="Text 8"/>
          <p:cNvSpPr/>
          <p:nvPr/>
        </p:nvSpPr>
        <p:spPr>
          <a:xfrm>
            <a:off x="1115568" y="4526280"/>
            <a:ext cx="6309360" cy="365760"/>
          </a:xfrm>
          <a:prstGeom prst="rect">
            <a:avLst/>
          </a:prstGeom>
          <a:noFill/>
          <a:ln/>
        </p:spPr>
        <p:txBody>
          <a:bodyPr wrap="square" lIns="0" tIns="0" rIns="0" bIns="0" rtlCol="0" anchor="ctr"/>
          <a:lstStyle/>
          <a:p>
            <a:pPr marL="0" indent="0">
              <a:buNone/>
            </a:pPr>
            <a:r>
              <a:rPr lang="en-US" sz="1400" dirty="0">
                <a:solidFill>
                  <a:srgbClr val="CFE3A0"/>
                </a:solidFill>
                <a:latin typeface="Segoe UI" pitchFamily="34" charset="0"/>
                <a:ea typeface="Segoe UI" pitchFamily="34" charset="-122"/>
                <a:cs typeface="Segoe UI" pitchFamily="34" charset="-120"/>
              </a:rPr>
              <a:t>A two-month enrollment contest for CTAMs</a:t>
            </a:r>
            <a:endParaRPr lang="en-US" sz="1400" dirty="0"/>
          </a:p>
        </p:txBody>
      </p:sp>
      <p:sp>
        <p:nvSpPr>
          <p:cNvPr id="11" name="Text 9"/>
          <p:cNvSpPr/>
          <p:nvPr/>
        </p:nvSpPr>
        <p:spPr>
          <a:xfrm>
            <a:off x="1115568" y="4937760"/>
            <a:ext cx="6309360" cy="320040"/>
          </a:xfrm>
          <a:prstGeom prst="rect">
            <a:avLst/>
          </a:prstGeom>
          <a:noFill/>
          <a:ln/>
        </p:spPr>
        <p:txBody>
          <a:bodyPr wrap="square" lIns="0" tIns="0" rIns="0" bIns="0" rtlCol="0" anchor="ctr"/>
          <a:lstStyle/>
          <a:p>
            <a:pPr marL="0" indent="0">
              <a:buNone/>
            </a:pPr>
            <a:r>
              <a:rPr lang="en-US" sz="1200" dirty="0">
                <a:solidFill>
                  <a:srgbClr val="BFD7E6"/>
                </a:solidFill>
                <a:latin typeface="Segoe UI" pitchFamily="34" charset="0"/>
                <a:ea typeface="Segoe UI" pitchFamily="34" charset="-122"/>
                <a:cs typeface="Segoe UI" pitchFamily="34" charset="-120"/>
              </a:rPr>
              <a:t>Runs August 1 to September 30, 2026.  Prepared July 2026.</a:t>
            </a:r>
            <a:endParaRPr lang="en-US" sz="1200" dirty="0"/>
          </a:p>
        </p:txBody>
      </p:sp>
      <p:sp>
        <p:nvSpPr>
          <p:cNvPr id="12" name="Shape 10"/>
          <p:cNvSpPr/>
          <p:nvPr/>
        </p:nvSpPr>
        <p:spPr>
          <a:xfrm>
            <a:off x="0" y="6053328"/>
            <a:ext cx="12191695" cy="804672"/>
          </a:xfrm>
          <a:prstGeom prst="rect">
            <a:avLst/>
          </a:prstGeom>
          <a:solidFill>
            <a:srgbClr val="9DC13C"/>
          </a:solidFill>
          <a:ln/>
        </p:spPr>
        <p:txBody>
          <a:bodyPr/>
          <a:lstStyle/>
          <a:p>
            <a:endParaRPr lang="en-US"/>
          </a:p>
        </p:txBody>
      </p:sp>
      <p:sp>
        <p:nvSpPr>
          <p:cNvPr id="13" name="Shape 11"/>
          <p:cNvSpPr/>
          <p:nvPr/>
        </p:nvSpPr>
        <p:spPr>
          <a:xfrm flipH="1">
            <a:off x="7406640" y="5641848"/>
            <a:ext cx="685800" cy="411480"/>
          </a:xfrm>
          <a:prstGeom prst="rtTriangle">
            <a:avLst/>
          </a:prstGeom>
          <a:solidFill>
            <a:srgbClr val="9DC13C"/>
          </a:solidFill>
          <a:ln/>
        </p:spPr>
        <p:txBody>
          <a:bodyPr/>
          <a:lstStyle/>
          <a:p>
            <a:endParaRPr lang="en-US"/>
          </a:p>
        </p:txBody>
      </p:sp>
      <p:sp>
        <p:nvSpPr>
          <p:cNvPr id="14" name="Shape 12"/>
          <p:cNvSpPr/>
          <p:nvPr/>
        </p:nvSpPr>
        <p:spPr>
          <a:xfrm>
            <a:off x="8074152" y="5641848"/>
            <a:ext cx="4117543" cy="411480"/>
          </a:xfrm>
          <a:prstGeom prst="rect">
            <a:avLst/>
          </a:prstGeom>
          <a:solidFill>
            <a:srgbClr val="9DC13C"/>
          </a:solidFill>
          <a:ln/>
        </p:spPr>
        <p:txBody>
          <a:bodyPr/>
          <a:lstStyle/>
          <a:p>
            <a:endParaRPr lang="en-US"/>
          </a:p>
        </p:txBody>
      </p:sp>
      <p:sp>
        <p:nvSpPr>
          <p:cNvPr id="15" name="Text 13"/>
          <p:cNvSpPr/>
          <p:nvPr/>
        </p:nvSpPr>
        <p:spPr>
          <a:xfrm>
            <a:off x="822960" y="6126480"/>
            <a:ext cx="10515600" cy="411480"/>
          </a:xfrm>
          <a:prstGeom prst="rect">
            <a:avLst/>
          </a:prstGeom>
          <a:noFill/>
          <a:ln/>
        </p:spPr>
        <p:txBody>
          <a:bodyPr wrap="square" lIns="0" tIns="0" rIns="0" bIns="0" rtlCol="0" anchor="ctr"/>
          <a:lstStyle/>
          <a:p>
            <a:pPr marL="0" indent="0">
              <a:buNone/>
            </a:pPr>
            <a:r>
              <a:rPr lang="en-US" sz="1800" kern="0" spc="300" dirty="0">
                <a:solidFill>
                  <a:srgbClr val="FFFFFF"/>
                </a:solidFill>
                <a:latin typeface="Segoe UI" pitchFamily="34" charset="0"/>
                <a:ea typeface="Segoe UI" pitchFamily="34" charset="-122"/>
                <a:cs typeface="Segoe UI" pitchFamily="34" charset="-120"/>
              </a:rPr>
              <a:t>A D V A N C I N G   I M M U N O - O N C O L O G Y</a:t>
            </a:r>
            <a:endParaRPr lang="en-US" sz="1800" dirty="0"/>
          </a:p>
        </p:txBody>
      </p:sp>
      <p:sp>
        <p:nvSpPr>
          <p:cNvPr id="16" name="Text 14"/>
          <p:cNvSpPr/>
          <p:nvPr/>
        </p:nvSpPr>
        <p:spPr>
          <a:xfrm>
            <a:off x="822960" y="6537960"/>
            <a:ext cx="10515600" cy="256032"/>
          </a:xfrm>
          <a:prstGeom prst="rect">
            <a:avLst/>
          </a:prstGeom>
          <a:noFill/>
          <a:ln/>
        </p:spPr>
        <p:txBody>
          <a:bodyPr wrap="square" lIns="0" tIns="0" rIns="0" bIns="0" rtlCol="0" anchor="ctr"/>
          <a:lstStyle/>
          <a:p>
            <a:pPr marL="0" indent="0">
              <a:buNone/>
            </a:pPr>
            <a:r>
              <a:rPr lang="en-US" sz="75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50" dirty="0"/>
          </a:p>
        </p:txBody>
      </p:sp>
    </p:spTree>
    <p:extLst>
      <p:ext uri="{BB962C8B-B14F-4D97-AF65-F5344CB8AC3E}">
        <p14:creationId xmlns:p14="http://schemas.microsoft.com/office/powerpoint/2010/main" val="38283618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BUSINESS CONTEXT</a:t>
            </a:r>
            <a:endParaRPr lang="en-US" sz="1200" dirty="0"/>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Treatment capacity increased, but enrollments have softened</a:t>
            </a:r>
            <a:endParaRPr lang="en-US" sz="2300" dirty="0"/>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566928" y="2148840"/>
            <a:ext cx="4343400" cy="1600200"/>
          </a:xfrm>
          <a:prstGeom prst="roundRect">
            <a:avLst>
              <a:gd name="adj" fmla="val 2857"/>
            </a:avLst>
          </a:prstGeom>
          <a:solidFill>
            <a:srgbClr val="F4F7EC"/>
          </a:solidFill>
          <a:ln/>
        </p:spPr>
        <p:txBody>
          <a:bodyPr/>
          <a:lstStyle/>
          <a:p>
            <a:endParaRPr lang="en-US"/>
          </a:p>
        </p:txBody>
      </p:sp>
      <p:sp>
        <p:nvSpPr>
          <p:cNvPr id="15" name="Text 13"/>
          <p:cNvSpPr/>
          <p:nvPr/>
        </p:nvSpPr>
        <p:spPr>
          <a:xfrm>
            <a:off x="868680" y="2313432"/>
            <a:ext cx="3840480" cy="274320"/>
          </a:xfrm>
          <a:prstGeom prst="rect">
            <a:avLst/>
          </a:prstGeom>
          <a:noFill/>
          <a:ln/>
        </p:spPr>
        <p:txBody>
          <a:bodyPr wrap="square" lIns="0" tIns="0" rIns="0" bIns="0" rtlCol="0" anchor="ctr"/>
          <a:lstStyle/>
          <a:p>
            <a:pPr marL="0" indent="0">
              <a:buNone/>
            </a:pPr>
            <a:r>
              <a:rPr lang="en-US" sz="1100" b="1" kern="0" spc="100" dirty="0">
                <a:solidFill>
                  <a:srgbClr val="8A8A80"/>
                </a:solidFill>
                <a:latin typeface="Segoe UI" pitchFamily="34" charset="0"/>
                <a:ea typeface="Segoe UI" pitchFamily="34" charset="-122"/>
                <a:cs typeface="Segoe UI" pitchFamily="34" charset="-120"/>
              </a:rPr>
              <a:t>Monthly treatment capacity</a:t>
            </a:r>
            <a:endParaRPr lang="en-US" sz="1100" dirty="0"/>
          </a:p>
        </p:txBody>
      </p:sp>
      <p:sp>
        <p:nvSpPr>
          <p:cNvPr id="16" name="Text 14"/>
          <p:cNvSpPr/>
          <p:nvPr/>
        </p:nvSpPr>
        <p:spPr>
          <a:xfrm>
            <a:off x="868680" y="2624328"/>
            <a:ext cx="3840480" cy="685800"/>
          </a:xfrm>
          <a:prstGeom prst="rect">
            <a:avLst/>
          </a:prstGeom>
          <a:noFill/>
          <a:ln/>
        </p:spPr>
        <p:txBody>
          <a:bodyPr wrap="square" lIns="0" tIns="0" rIns="0" bIns="0" rtlCol="0" anchor="ctr"/>
          <a:lstStyle/>
          <a:p>
            <a:pPr marL="0" indent="0">
              <a:buNone/>
            </a:pPr>
            <a:r>
              <a:rPr lang="en-US" sz="4400" b="1" dirty="0">
                <a:solidFill>
                  <a:srgbClr val="567A2E"/>
                </a:solidFill>
                <a:latin typeface="Segoe UI" pitchFamily="34" charset="0"/>
                <a:ea typeface="Segoe UI" pitchFamily="34" charset="-122"/>
                <a:cs typeface="Segoe UI" pitchFamily="34" charset="-120"/>
              </a:rPr>
              <a:t>70</a:t>
            </a:r>
            <a:r>
              <a:rPr lang="en-US" sz="1300" dirty="0">
                <a:solidFill>
                  <a:srgbClr val="2B2B2B"/>
                </a:solidFill>
                <a:latin typeface="Segoe UI" pitchFamily="34" charset="0"/>
                <a:ea typeface="Segoe UI" pitchFamily="34" charset="-122"/>
                <a:cs typeface="Segoe UI" pitchFamily="34" charset="-120"/>
              </a:rPr>
              <a:t>  slots a month</a:t>
            </a:r>
            <a:endParaRPr lang="en-US" sz="4400" dirty="0"/>
          </a:p>
        </p:txBody>
      </p:sp>
      <p:sp>
        <p:nvSpPr>
          <p:cNvPr id="17" name="Text 15"/>
          <p:cNvSpPr/>
          <p:nvPr/>
        </p:nvSpPr>
        <p:spPr>
          <a:xfrm>
            <a:off x="868680" y="3319272"/>
            <a:ext cx="3840480" cy="320040"/>
          </a:xfrm>
          <a:prstGeom prst="rect">
            <a:avLst/>
          </a:prstGeom>
          <a:noFill/>
          <a:ln/>
        </p:spPr>
        <p:txBody>
          <a:bodyPr wrap="square" lIns="0" tIns="0" rIns="0" bIns="0" rtlCol="0" anchor="ctr"/>
          <a:lstStyle/>
          <a:p>
            <a:pPr marL="0" indent="0">
              <a:buNone/>
            </a:pPr>
            <a:r>
              <a:rPr lang="en-US" sz="1200" b="1" dirty="0">
                <a:solidFill>
                  <a:srgbClr val="567A2E"/>
                </a:solidFill>
                <a:latin typeface="Segoe UI" pitchFamily="34" charset="0"/>
                <a:ea typeface="Segoe UI" pitchFamily="34" charset="-122"/>
                <a:cs typeface="Segoe UI" pitchFamily="34" charset="-120"/>
              </a:rPr>
              <a:t>Up from 50</a:t>
            </a:r>
            <a:endParaRPr lang="en-US" sz="1200" dirty="0"/>
          </a:p>
        </p:txBody>
      </p:sp>
      <p:sp>
        <p:nvSpPr>
          <p:cNvPr id="18" name="Shape 16"/>
          <p:cNvSpPr/>
          <p:nvPr/>
        </p:nvSpPr>
        <p:spPr>
          <a:xfrm>
            <a:off x="566928" y="4160520"/>
            <a:ext cx="4343400" cy="1600200"/>
          </a:xfrm>
          <a:prstGeom prst="roundRect">
            <a:avLst>
              <a:gd name="adj" fmla="val 2857"/>
            </a:avLst>
          </a:prstGeom>
          <a:solidFill>
            <a:srgbClr val="F4F7EC"/>
          </a:solidFill>
          <a:ln/>
        </p:spPr>
        <p:txBody>
          <a:bodyPr/>
          <a:lstStyle/>
          <a:p>
            <a:endParaRPr lang="en-US"/>
          </a:p>
        </p:txBody>
      </p:sp>
      <p:sp>
        <p:nvSpPr>
          <p:cNvPr id="20" name="Text 18"/>
          <p:cNvSpPr/>
          <p:nvPr/>
        </p:nvSpPr>
        <p:spPr>
          <a:xfrm>
            <a:off x="868680" y="4325112"/>
            <a:ext cx="3840480" cy="274320"/>
          </a:xfrm>
          <a:prstGeom prst="rect">
            <a:avLst/>
          </a:prstGeom>
          <a:noFill/>
          <a:ln/>
        </p:spPr>
        <p:txBody>
          <a:bodyPr wrap="square" lIns="0" tIns="0" rIns="0" bIns="0" rtlCol="0" anchor="ctr"/>
          <a:lstStyle/>
          <a:p>
            <a:pPr marL="0" indent="0">
              <a:buNone/>
            </a:pPr>
            <a:r>
              <a:rPr lang="en-US" sz="1100" b="1" kern="0" spc="100" dirty="0">
                <a:solidFill>
                  <a:srgbClr val="8A8A80"/>
                </a:solidFill>
                <a:latin typeface="Segoe UI" pitchFamily="34" charset="0"/>
                <a:ea typeface="Segoe UI" pitchFamily="34" charset="-122"/>
                <a:cs typeface="Segoe UI" pitchFamily="34" charset="-120"/>
              </a:rPr>
              <a:t>Weekly enrollments</a:t>
            </a:r>
            <a:endParaRPr lang="en-US" sz="1100" dirty="0"/>
          </a:p>
        </p:txBody>
      </p:sp>
      <p:sp>
        <p:nvSpPr>
          <p:cNvPr id="21" name="Text 19"/>
          <p:cNvSpPr/>
          <p:nvPr/>
        </p:nvSpPr>
        <p:spPr>
          <a:xfrm>
            <a:off x="868680" y="4636008"/>
            <a:ext cx="3840480" cy="685800"/>
          </a:xfrm>
          <a:prstGeom prst="rect">
            <a:avLst/>
          </a:prstGeom>
          <a:noFill/>
          <a:ln/>
        </p:spPr>
        <p:txBody>
          <a:bodyPr wrap="square" lIns="0" tIns="0" rIns="0" bIns="0" rtlCol="0" anchor="ctr"/>
          <a:lstStyle/>
          <a:p>
            <a:pPr marL="0" indent="0">
              <a:buNone/>
            </a:pPr>
            <a:r>
              <a:rPr lang="en-US" sz="4400" b="1" dirty="0">
                <a:solidFill>
                  <a:srgbClr val="C02525"/>
                </a:solidFill>
                <a:latin typeface="Segoe UI" pitchFamily="34" charset="0"/>
                <a:ea typeface="Segoe UI" pitchFamily="34" charset="-122"/>
                <a:cs typeface="Segoe UI" pitchFamily="34" charset="-120"/>
              </a:rPr>
              <a:t>21</a:t>
            </a:r>
            <a:r>
              <a:rPr lang="en-US" sz="1300" dirty="0">
                <a:solidFill>
                  <a:srgbClr val="2B2B2B"/>
                </a:solidFill>
                <a:latin typeface="Segoe UI" pitchFamily="34" charset="0"/>
                <a:ea typeface="Segoe UI" pitchFamily="34" charset="-122"/>
                <a:cs typeface="Segoe UI" pitchFamily="34" charset="-120"/>
              </a:rPr>
              <a:t>  a week now</a:t>
            </a:r>
            <a:endParaRPr lang="en-US" sz="4400" dirty="0"/>
          </a:p>
        </p:txBody>
      </p:sp>
      <p:sp>
        <p:nvSpPr>
          <p:cNvPr id="22" name="Text 20"/>
          <p:cNvSpPr/>
          <p:nvPr/>
        </p:nvSpPr>
        <p:spPr>
          <a:xfrm>
            <a:off x="868680" y="5330952"/>
            <a:ext cx="3840480" cy="320040"/>
          </a:xfrm>
          <a:prstGeom prst="rect">
            <a:avLst/>
          </a:prstGeom>
          <a:noFill/>
          <a:ln/>
        </p:spPr>
        <p:txBody>
          <a:bodyPr wrap="square" lIns="0" tIns="0" rIns="0" bIns="0" rtlCol="0" anchor="ctr"/>
          <a:lstStyle/>
          <a:p>
            <a:pPr marL="0" indent="0">
              <a:buNone/>
            </a:pPr>
            <a:r>
              <a:rPr lang="en-US" sz="1200" b="1" dirty="0">
                <a:solidFill>
                  <a:srgbClr val="C02525"/>
                </a:solidFill>
                <a:latin typeface="Segoe UI" pitchFamily="34" charset="0"/>
                <a:ea typeface="Segoe UI" pitchFamily="34" charset="-122"/>
                <a:cs typeface="Segoe UI" pitchFamily="34" charset="-120"/>
              </a:rPr>
              <a:t>Down from about 27, and the goal is 25 or more</a:t>
            </a:r>
            <a:endParaRPr lang="en-US" sz="1200" dirty="0"/>
          </a:p>
        </p:txBody>
      </p:sp>
      <p:sp>
        <p:nvSpPr>
          <p:cNvPr id="23" name="Text 21"/>
          <p:cNvSpPr/>
          <p:nvPr/>
        </p:nvSpPr>
        <p:spPr>
          <a:xfrm>
            <a:off x="6766560" y="1783080"/>
            <a:ext cx="4206240" cy="274320"/>
          </a:xfrm>
          <a:prstGeom prst="rect">
            <a:avLst/>
          </a:prstGeom>
          <a:noFill/>
          <a:ln/>
        </p:spPr>
        <p:txBody>
          <a:bodyPr wrap="square" lIns="0" tIns="0" rIns="0" bIns="0" rtlCol="0" anchor="ctr"/>
          <a:lstStyle/>
          <a:p>
            <a:pPr marL="0" indent="0" algn="ctr">
              <a:buNone/>
            </a:pPr>
            <a:r>
              <a:rPr lang="en-US" sz="1200" b="1" kern="0" spc="100" dirty="0">
                <a:solidFill>
                  <a:srgbClr val="8A8A80"/>
                </a:solidFill>
                <a:latin typeface="Segoe UI" pitchFamily="34" charset="0"/>
                <a:ea typeface="Segoe UI" pitchFamily="34" charset="-122"/>
                <a:cs typeface="Segoe UI" pitchFamily="34" charset="-120"/>
              </a:rPr>
              <a:t>The enrollment funnel</a:t>
            </a:r>
            <a:endParaRPr lang="en-US" sz="1200" dirty="0"/>
          </a:p>
        </p:txBody>
      </p:sp>
      <p:sp>
        <p:nvSpPr>
          <p:cNvPr id="24" name="Shape 22"/>
          <p:cNvSpPr/>
          <p:nvPr/>
        </p:nvSpPr>
        <p:spPr>
          <a:xfrm>
            <a:off x="6858000" y="2240280"/>
            <a:ext cx="4023360" cy="960120"/>
          </a:xfrm>
          <a:prstGeom prst="rect">
            <a:avLst/>
          </a:prstGeom>
          <a:solidFill>
            <a:srgbClr val="BFD48A"/>
          </a:solidFill>
          <a:ln/>
        </p:spPr>
        <p:txBody>
          <a:bodyPr/>
          <a:lstStyle/>
          <a:p>
            <a:endParaRPr lang="en-US"/>
          </a:p>
        </p:txBody>
      </p:sp>
      <p:sp>
        <p:nvSpPr>
          <p:cNvPr id="25" name="Text 23"/>
          <p:cNvSpPr/>
          <p:nvPr/>
        </p:nvSpPr>
        <p:spPr>
          <a:xfrm>
            <a:off x="6858000" y="2240280"/>
            <a:ext cx="4023360" cy="960120"/>
          </a:xfrm>
          <a:prstGeom prst="rect">
            <a:avLst/>
          </a:prstGeom>
          <a:noFill/>
          <a:ln/>
        </p:spPr>
        <p:txBody>
          <a:bodyPr wrap="square" lIns="0" tIns="0" rIns="0" bIns="0" rtlCol="0" anchor="ctr"/>
          <a:lstStyle/>
          <a:p>
            <a:pPr marL="0" indent="0" algn="ctr">
              <a:buNone/>
            </a:pPr>
            <a:r>
              <a:rPr lang="en-US" sz="2600" b="1" dirty="0">
                <a:solidFill>
                  <a:srgbClr val="2B2B2B"/>
                </a:solidFill>
                <a:latin typeface="Segoe UI" pitchFamily="34" charset="0"/>
                <a:ea typeface="Segoe UI" pitchFamily="34" charset="-122"/>
                <a:cs typeface="Segoe UI" pitchFamily="34" charset="-120"/>
              </a:rPr>
              <a:t>100   </a:t>
            </a:r>
            <a:r>
              <a:rPr lang="en-US" sz="1250" dirty="0">
                <a:solidFill>
                  <a:srgbClr val="2B2B2B"/>
                </a:solidFill>
                <a:latin typeface="Segoe UI" pitchFamily="34" charset="0"/>
                <a:ea typeface="Segoe UI" pitchFamily="34" charset="-122"/>
                <a:cs typeface="Segoe UI" pitchFamily="34" charset="-120"/>
              </a:rPr>
              <a:t>Enrollments</a:t>
            </a:r>
            <a:endParaRPr lang="en-US" sz="2600" dirty="0"/>
          </a:p>
        </p:txBody>
      </p:sp>
      <p:sp>
        <p:nvSpPr>
          <p:cNvPr id="26" name="Shape 24"/>
          <p:cNvSpPr/>
          <p:nvPr/>
        </p:nvSpPr>
        <p:spPr>
          <a:xfrm flipV="1">
            <a:off x="8705088" y="3218688"/>
            <a:ext cx="329184" cy="201168"/>
          </a:xfrm>
          <a:prstGeom prst="triangle">
            <a:avLst/>
          </a:prstGeom>
          <a:solidFill>
            <a:srgbClr val="C9CEC0"/>
          </a:solidFill>
          <a:ln/>
        </p:spPr>
        <p:txBody>
          <a:bodyPr/>
          <a:lstStyle/>
          <a:p>
            <a:endParaRPr lang="en-US"/>
          </a:p>
        </p:txBody>
      </p:sp>
      <p:sp>
        <p:nvSpPr>
          <p:cNvPr id="27" name="Shape 25"/>
          <p:cNvSpPr/>
          <p:nvPr/>
        </p:nvSpPr>
        <p:spPr>
          <a:xfrm>
            <a:off x="7406640" y="3447288"/>
            <a:ext cx="2926080" cy="960120"/>
          </a:xfrm>
          <a:prstGeom prst="rect">
            <a:avLst/>
          </a:prstGeom>
          <a:solidFill>
            <a:srgbClr val="8FB446"/>
          </a:solidFill>
          <a:ln/>
        </p:spPr>
        <p:txBody>
          <a:bodyPr/>
          <a:lstStyle/>
          <a:p>
            <a:endParaRPr lang="en-US"/>
          </a:p>
        </p:txBody>
      </p:sp>
      <p:sp>
        <p:nvSpPr>
          <p:cNvPr id="28" name="Text 26"/>
          <p:cNvSpPr/>
          <p:nvPr/>
        </p:nvSpPr>
        <p:spPr>
          <a:xfrm>
            <a:off x="7406640" y="3447288"/>
            <a:ext cx="2926080" cy="960120"/>
          </a:xfrm>
          <a:prstGeom prst="rect">
            <a:avLst/>
          </a:prstGeom>
          <a:noFill/>
          <a:ln/>
        </p:spPr>
        <p:txBody>
          <a:bodyPr wrap="square" lIns="0" tIns="0" rIns="0" bIns="0" rtlCol="0" anchor="ctr"/>
          <a:lstStyle/>
          <a:p>
            <a:pPr marL="0" indent="0" algn="ctr">
              <a:buNone/>
            </a:pPr>
            <a:r>
              <a:rPr lang="en-US" sz="2600" b="1" dirty="0">
                <a:solidFill>
                  <a:srgbClr val="2B2B2B"/>
                </a:solidFill>
                <a:latin typeface="Segoe UI" pitchFamily="34" charset="0"/>
                <a:ea typeface="Segoe UI" pitchFamily="34" charset="-122"/>
                <a:cs typeface="Segoe UI" pitchFamily="34" charset="-120"/>
              </a:rPr>
              <a:t>70   </a:t>
            </a:r>
            <a:r>
              <a:rPr lang="en-US" sz="1250" dirty="0">
                <a:solidFill>
                  <a:srgbClr val="2B2B2B"/>
                </a:solidFill>
                <a:latin typeface="Segoe UI" pitchFamily="34" charset="0"/>
                <a:ea typeface="Segoe UI" pitchFamily="34" charset="-122"/>
                <a:cs typeface="Segoe UI" pitchFamily="34" charset="-120"/>
              </a:rPr>
              <a:t>Reach TTP</a:t>
            </a:r>
            <a:endParaRPr lang="en-US" sz="2600" dirty="0"/>
          </a:p>
        </p:txBody>
      </p:sp>
      <p:sp>
        <p:nvSpPr>
          <p:cNvPr id="29" name="Shape 27"/>
          <p:cNvSpPr/>
          <p:nvPr/>
        </p:nvSpPr>
        <p:spPr>
          <a:xfrm flipV="1">
            <a:off x="8705088" y="4425696"/>
            <a:ext cx="329184" cy="201168"/>
          </a:xfrm>
          <a:prstGeom prst="triangle">
            <a:avLst/>
          </a:prstGeom>
          <a:solidFill>
            <a:srgbClr val="C9CEC0"/>
          </a:solidFill>
          <a:ln/>
        </p:spPr>
        <p:txBody>
          <a:bodyPr/>
          <a:lstStyle/>
          <a:p>
            <a:endParaRPr lang="en-US"/>
          </a:p>
        </p:txBody>
      </p:sp>
      <p:sp>
        <p:nvSpPr>
          <p:cNvPr id="30" name="Shape 28"/>
          <p:cNvSpPr/>
          <p:nvPr/>
        </p:nvSpPr>
        <p:spPr>
          <a:xfrm>
            <a:off x="7955280" y="4654296"/>
            <a:ext cx="1828800" cy="960120"/>
          </a:xfrm>
          <a:prstGeom prst="rect">
            <a:avLst/>
          </a:prstGeom>
          <a:solidFill>
            <a:srgbClr val="567A2E"/>
          </a:solidFill>
          <a:ln/>
        </p:spPr>
        <p:txBody>
          <a:bodyPr/>
          <a:lstStyle/>
          <a:p>
            <a:endParaRPr lang="en-US"/>
          </a:p>
        </p:txBody>
      </p:sp>
      <p:sp>
        <p:nvSpPr>
          <p:cNvPr id="31" name="Text 29"/>
          <p:cNvSpPr/>
          <p:nvPr/>
        </p:nvSpPr>
        <p:spPr>
          <a:xfrm>
            <a:off x="7955280" y="4654296"/>
            <a:ext cx="1828800" cy="960120"/>
          </a:xfrm>
          <a:prstGeom prst="rect">
            <a:avLst/>
          </a:prstGeom>
          <a:noFill/>
          <a:ln/>
        </p:spPr>
        <p:txBody>
          <a:bodyPr wrap="square" lIns="0" tIns="0" rIns="0" bIns="0" rtlCol="0" anchor="ctr"/>
          <a:lstStyle/>
          <a:p>
            <a:pPr marL="0" indent="0" algn="ctr">
              <a:buNone/>
            </a:pPr>
            <a:r>
              <a:rPr lang="en-US" sz="2600" b="1" dirty="0">
                <a:solidFill>
                  <a:srgbClr val="FFFFFF"/>
                </a:solidFill>
                <a:latin typeface="Segoe UI" pitchFamily="34" charset="0"/>
                <a:ea typeface="Segoe UI" pitchFamily="34" charset="-122"/>
                <a:cs typeface="Segoe UI" pitchFamily="34" charset="-120"/>
              </a:rPr>
              <a:t>50   </a:t>
            </a:r>
            <a:r>
              <a:rPr lang="en-US" sz="1250" dirty="0">
                <a:solidFill>
                  <a:srgbClr val="FFFFFF"/>
                </a:solidFill>
                <a:latin typeface="Segoe UI" pitchFamily="34" charset="0"/>
                <a:ea typeface="Segoe UI" pitchFamily="34" charset="-122"/>
                <a:cs typeface="Segoe UI" pitchFamily="34" charset="-120"/>
              </a:rPr>
              <a:t>Infusions</a:t>
            </a:r>
            <a:endParaRPr lang="en-US" sz="2600" dirty="0"/>
          </a:p>
        </p:txBody>
      </p:sp>
      <p:sp>
        <p:nvSpPr>
          <p:cNvPr id="32" name="Shape 30"/>
          <p:cNvSpPr/>
          <p:nvPr/>
        </p:nvSpPr>
        <p:spPr>
          <a:xfrm>
            <a:off x="5623560" y="2715768"/>
            <a:ext cx="1207008" cy="0"/>
          </a:xfrm>
          <a:prstGeom prst="line">
            <a:avLst/>
          </a:prstGeom>
          <a:noFill/>
          <a:ln w="25400">
            <a:solidFill>
              <a:srgbClr val="2F5D8A"/>
            </a:solidFill>
            <a:prstDash val="solid"/>
            <a:tailEnd type="triangle"/>
          </a:ln>
        </p:spPr>
        <p:txBody>
          <a:bodyPr/>
          <a:lstStyle/>
          <a:p>
            <a:endParaRPr lang="en-US"/>
          </a:p>
        </p:txBody>
      </p:sp>
      <p:sp>
        <p:nvSpPr>
          <p:cNvPr id="33" name="Text 31"/>
          <p:cNvSpPr/>
          <p:nvPr/>
        </p:nvSpPr>
        <p:spPr>
          <a:xfrm>
            <a:off x="4160520" y="2377440"/>
            <a:ext cx="1463040" cy="685800"/>
          </a:xfrm>
          <a:prstGeom prst="rect">
            <a:avLst/>
          </a:prstGeom>
          <a:noFill/>
          <a:ln/>
        </p:spPr>
        <p:txBody>
          <a:bodyPr wrap="square" lIns="0" tIns="0" rIns="0" bIns="0" rtlCol="0" anchor="ctr"/>
          <a:lstStyle/>
          <a:p>
            <a:pPr marL="0" indent="0" algn="r">
              <a:buNone/>
            </a:pPr>
            <a:r>
              <a:rPr lang="en-US" sz="1100" b="1" dirty="0">
                <a:solidFill>
                  <a:srgbClr val="2F5D8A"/>
                </a:solidFill>
                <a:latin typeface="Segoe UI" pitchFamily="34" charset="0"/>
                <a:ea typeface="Segoe UI" pitchFamily="34" charset="-122"/>
                <a:cs typeface="Segoe UI" pitchFamily="34" charset="-120"/>
              </a:rPr>
              <a:t>The contest</a:t>
            </a:r>
            <a:endParaRPr lang="en-US" sz="1100" dirty="0"/>
          </a:p>
          <a:p>
            <a:pPr marL="0" indent="0" algn="r">
              <a:buNone/>
            </a:pPr>
            <a:r>
              <a:rPr lang="en-US" sz="1100" b="1" dirty="0">
                <a:solidFill>
                  <a:srgbClr val="2F5D8A"/>
                </a:solidFill>
                <a:latin typeface="Segoe UI" pitchFamily="34" charset="0"/>
                <a:ea typeface="Segoe UI" pitchFamily="34" charset="-122"/>
                <a:cs typeface="Segoe UI" pitchFamily="34" charset="-120"/>
              </a:rPr>
              <a:t>pushes here</a:t>
            </a:r>
            <a:endParaRPr lang="en-US" sz="1100" dirty="0"/>
          </a:p>
        </p:txBody>
      </p:sp>
      <p:sp>
        <p:nvSpPr>
          <p:cNvPr id="34" name="Text 32"/>
          <p:cNvSpPr/>
          <p:nvPr/>
        </p:nvSpPr>
        <p:spPr>
          <a:xfrm>
            <a:off x="9893808" y="4681728"/>
            <a:ext cx="1719072" cy="914400"/>
          </a:xfrm>
          <a:prstGeom prst="rect">
            <a:avLst/>
          </a:prstGeom>
          <a:noFill/>
          <a:ln/>
        </p:spPr>
        <p:txBody>
          <a:bodyPr wrap="square" lIns="0" tIns="0" rIns="0" bIns="0" rtlCol="0" anchor="ctr"/>
          <a:lstStyle/>
          <a:p>
            <a:pPr marL="0" indent="0" algn="l">
              <a:buNone/>
            </a:pPr>
            <a:r>
              <a:rPr lang="en-US" sz="1050" b="1" dirty="0">
                <a:solidFill>
                  <a:srgbClr val="567A2E"/>
                </a:solidFill>
                <a:latin typeface="Segoe UI" pitchFamily="34" charset="0"/>
                <a:ea typeface="Segoe UI" pitchFamily="34" charset="-122"/>
                <a:cs typeface="Segoe UI" pitchFamily="34" charset="-120"/>
              </a:rPr>
              <a:t>Revenue lands here. The IC plan already rewards this step.</a:t>
            </a:r>
            <a:endParaRPr lang="en-US" sz="1050" dirty="0"/>
          </a:p>
        </p:txBody>
      </p:sp>
      <p:sp>
        <p:nvSpPr>
          <p:cNvPr id="35" name="Text 33"/>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ea typeface="Segoe UI" pitchFamily="34" charset="-122"/>
                <a:cs typeface="Segoe UI" pitchFamily="34" charset="-120"/>
              </a:rPr>
              <a:t>Capacity, enrollment, and funnel figures are the team's current numbers for 2H 2026.</a:t>
            </a:r>
            <a:endParaRPr lang="en-US" sz="850" dirty="0"/>
          </a:p>
        </p:txBody>
      </p:sp>
    </p:spTree>
    <p:extLst>
      <p:ext uri="{BB962C8B-B14F-4D97-AF65-F5344CB8AC3E}">
        <p14:creationId xmlns:p14="http://schemas.microsoft.com/office/powerpoint/2010/main" val="11794012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FAIRNESS CHECK</a:t>
            </a:r>
            <a:endParaRPr lang="en-US" sz="1200" dirty="0"/>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Territory scale varies too much for a single national leaderboard</a:t>
            </a:r>
            <a:endParaRPr lang="en-US" sz="2300" dirty="0"/>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3</a:t>
            </a:r>
            <a:endParaRPr lang="en-US" sz="900" dirty="0"/>
          </a:p>
        </p:txBody>
      </p:sp>
      <p:sp>
        <p:nvSpPr>
          <p:cNvPr id="13" name="Text 11"/>
          <p:cNvSpPr/>
          <p:nvPr/>
        </p:nvSpPr>
        <p:spPr>
          <a:xfrm>
            <a:off x="571500" y="1676400"/>
            <a:ext cx="5080000" cy="274320"/>
          </a:xfrm>
          <a:prstGeom prst="rect">
            <a:avLst/>
          </a:prstGeom>
          <a:noFill/>
          <a:ln/>
        </p:spPr>
        <p:txBody>
          <a:bodyPr wrap="square" lIns="0" tIns="0" rIns="0" bIns="0" rtlCol="0" anchor="ctr"/>
          <a:lstStyle/>
          <a:p>
            <a:r>
              <a:rPr lang="en-US" sz="1100" b="1" spc="80" dirty="0">
                <a:solidFill>
                  <a:srgbClr val="B04A3A"/>
                </a:solidFill>
                <a:latin typeface="Segoe UI"/>
              </a:rPr>
              <a:t>BEFORE: one national list</a:t>
            </a:r>
          </a:p>
        </p:txBody>
      </p:sp>
      <p:graphicFrame>
        <p:nvGraphicFramePr>
          <p:cNvPr id="14" name="Chart 0"/>
          <p:cNvGraphicFramePr/>
          <p:nvPr/>
        </p:nvGraphicFramePr>
        <p:xfrm>
          <a:off x="571500" y="2006600"/>
          <a:ext cx="5080000" cy="31750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566928" y="5623560"/>
            <a:ext cx="11064240" cy="548640"/>
          </a:xfrm>
          <a:prstGeom prst="rect">
            <a:avLst/>
          </a:prstGeom>
          <a:solidFill>
            <a:srgbClr val="E7EFD6"/>
          </a:solidFill>
          <a:ln/>
        </p:spPr>
        <p:txBody>
          <a:bodyPr/>
          <a:lstStyle/>
          <a:p>
            <a:endParaRPr lang="en-US"/>
          </a:p>
        </p:txBody>
      </p:sp>
      <p:sp>
        <p:nvSpPr>
          <p:cNvPr id="24" name="Text 21"/>
          <p:cNvSpPr/>
          <p:nvPr/>
        </p:nvSpPr>
        <p:spPr>
          <a:xfrm>
            <a:off x="749808" y="5623560"/>
            <a:ext cx="10698480" cy="548640"/>
          </a:xfrm>
          <a:prstGeom prst="rect">
            <a:avLst/>
          </a:prstGeom>
          <a:noFill/>
          <a:ln/>
        </p:spPr>
        <p:txBody>
          <a:bodyPr wrap="square" lIns="0" tIns="0" rIns="0" bIns="0" rtlCol="0" anchor="ctr"/>
          <a:lstStyle/>
          <a:p>
            <a:pPr marL="0" indent="0">
              <a:buNone/>
            </a:pPr>
            <a:r>
              <a:rPr lang="en-US" sz="1250" b="1" dirty="0">
                <a:solidFill>
                  <a:srgbClr val="567A2E"/>
                </a:solidFill>
                <a:latin typeface="Segoe UI" pitchFamily="34" charset="0"/>
                <a:ea typeface="Segoe UI" pitchFamily="34" charset="-122"/>
                <a:cs typeface="Segoe UI" pitchFamily="34" charset="-120"/>
              </a:rPr>
              <a:t>So we group first.  </a:t>
            </a:r>
            <a:r>
              <a:rPr lang="en-US" sz="1250" dirty="0">
                <a:solidFill>
                  <a:srgbClr val="17344F"/>
                </a:solidFill>
                <a:latin typeface="Segoe UI" pitchFamily="34" charset="0"/>
                <a:ea typeface="Segoe UI" pitchFamily="34" charset="-122"/>
                <a:cs typeface="Segoe UI" pitchFamily="34" charset="-120"/>
              </a:rPr>
              <a:t>If we simply counted enrollments, the biggest territories would win every time and the smaller ones could never catch up.</a:t>
            </a:r>
            <a:endParaRPr lang="en-US" sz="1250" dirty="0"/>
          </a:p>
        </p:txBody>
      </p:sp>
      <p:sp>
        <p:nvSpPr>
          <p:cNvPr id="25" name="Text 22"/>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ea typeface="Segoe UI" pitchFamily="34" charset="-122"/>
                <a:cs typeface="Segoe UI" pitchFamily="34" charset="-120"/>
              </a:rPr>
              <a:t>Territory size uses our claims data as a stand in for how big each patch is. The real groups will be set from the enrollment numbers.</a:t>
            </a:r>
            <a:endParaRPr lang="en-US" sz="850" dirty="0"/>
          </a:p>
        </p:txBody>
      </p:sp>
      <p:sp>
        <p:nvSpPr>
          <p:cNvPr id="200" name="TierCard200"/>
          <p:cNvSpPr/>
          <p:nvPr/>
        </p:nvSpPr>
        <p:spPr>
          <a:xfrm>
            <a:off x="6540500" y="2006600"/>
            <a:ext cx="5080000" cy="1041400"/>
          </a:xfrm>
          <a:prstGeom prst="roundRect">
            <a:avLst>
              <a:gd name="adj" fmla="val 8000"/>
            </a:avLst>
          </a:prstGeom>
          <a:solidFill>
            <a:srgbClr val="F2F6EC"/>
          </a:solidFill>
          <a:ln w="12700">
            <a:solidFill>
              <a:srgbClr val="567A2E"/>
            </a:solidFill>
          </a:ln>
        </p:spPr>
        <p:txBody>
          <a:bodyPr/>
          <a:lstStyle/>
          <a:p>
            <a:endParaRPr/>
          </a:p>
        </p:txBody>
      </p:sp>
      <p:sp>
        <p:nvSpPr>
          <p:cNvPr id="201" name="TierBar201"/>
          <p:cNvSpPr/>
          <p:nvPr/>
        </p:nvSpPr>
        <p:spPr>
          <a:xfrm>
            <a:off x="6540500" y="2006600"/>
            <a:ext cx="88900" cy="1041400"/>
          </a:xfrm>
          <a:prstGeom prst="rect">
            <a:avLst/>
          </a:prstGeom>
          <a:solidFill>
            <a:srgbClr val="567A2E"/>
          </a:solidFill>
          <a:ln>
            <a:noFill/>
          </a:ln>
        </p:spPr>
        <p:txBody>
          <a:bodyPr/>
          <a:lstStyle/>
          <a:p>
            <a:endParaRPr/>
          </a:p>
        </p:txBody>
      </p:sp>
      <p:sp>
        <p:nvSpPr>
          <p:cNvPr id="202" name="TierText202"/>
          <p:cNvSpPr txBox="1"/>
          <p:nvPr/>
        </p:nvSpPr>
        <p:spPr>
          <a:xfrm>
            <a:off x="6769100" y="2133600"/>
            <a:ext cx="4699000" cy="812800"/>
          </a:xfrm>
          <a:prstGeom prst="rect">
            <a:avLst/>
          </a:prstGeom>
          <a:noFill/>
        </p:spPr>
        <p:txBody>
          <a:bodyPr wrap="square" lIns="0" tIns="0" rIns="0" bIns="0" anchor="ctr">
            <a:normAutofit/>
          </a:bodyPr>
          <a:lstStyle/>
          <a:p>
            <a:pPr algn="l"/>
            <a:r>
              <a:rPr lang="en-US" sz="1300" b="1" dirty="0">
                <a:solidFill>
                  <a:srgbClr val="567A2E"/>
                </a:solidFill>
                <a:latin typeface="Segoe UI"/>
              </a:rPr>
              <a:t>High-volume group</a:t>
            </a:r>
          </a:p>
          <a:p>
            <a:pPr algn="l"/>
            <a:r>
              <a:rPr lang="en-US" sz="1000" dirty="0">
                <a:solidFill>
                  <a:srgbClr val="3F4A52"/>
                </a:solidFill>
                <a:latin typeface="Segoe UI"/>
              </a:rPr>
              <a:t>Largest territories compete only against each other.</a:t>
            </a:r>
          </a:p>
        </p:txBody>
      </p:sp>
      <p:sp>
        <p:nvSpPr>
          <p:cNvPr id="203" name="TierCard203"/>
          <p:cNvSpPr/>
          <p:nvPr/>
        </p:nvSpPr>
        <p:spPr>
          <a:xfrm>
            <a:off x="6540500" y="3149600"/>
            <a:ext cx="5080000" cy="1041400"/>
          </a:xfrm>
          <a:prstGeom prst="roundRect">
            <a:avLst>
              <a:gd name="adj" fmla="val 8000"/>
            </a:avLst>
          </a:prstGeom>
          <a:solidFill>
            <a:srgbClr val="EAF2F9"/>
          </a:solidFill>
          <a:ln w="12700">
            <a:solidFill>
              <a:srgbClr val="2E6DA4"/>
            </a:solidFill>
          </a:ln>
        </p:spPr>
        <p:txBody>
          <a:bodyPr/>
          <a:lstStyle/>
          <a:p>
            <a:endParaRPr/>
          </a:p>
        </p:txBody>
      </p:sp>
      <p:sp>
        <p:nvSpPr>
          <p:cNvPr id="204" name="TierBar204"/>
          <p:cNvSpPr/>
          <p:nvPr/>
        </p:nvSpPr>
        <p:spPr>
          <a:xfrm>
            <a:off x="6540500" y="3149600"/>
            <a:ext cx="88900" cy="1041400"/>
          </a:xfrm>
          <a:prstGeom prst="rect">
            <a:avLst/>
          </a:prstGeom>
          <a:solidFill>
            <a:srgbClr val="2E6DA4"/>
          </a:solidFill>
          <a:ln>
            <a:noFill/>
          </a:ln>
        </p:spPr>
        <p:txBody>
          <a:bodyPr/>
          <a:lstStyle/>
          <a:p>
            <a:endParaRPr/>
          </a:p>
        </p:txBody>
      </p:sp>
      <p:sp>
        <p:nvSpPr>
          <p:cNvPr id="205" name="TierText205"/>
          <p:cNvSpPr txBox="1"/>
          <p:nvPr/>
        </p:nvSpPr>
        <p:spPr>
          <a:xfrm>
            <a:off x="6769100" y="3276600"/>
            <a:ext cx="4699000" cy="812800"/>
          </a:xfrm>
          <a:prstGeom prst="rect">
            <a:avLst/>
          </a:prstGeom>
          <a:noFill/>
        </p:spPr>
        <p:txBody>
          <a:bodyPr wrap="square" lIns="0" tIns="0" rIns="0" bIns="0" anchor="ctr">
            <a:normAutofit/>
          </a:bodyPr>
          <a:lstStyle/>
          <a:p>
            <a:pPr algn="l"/>
            <a:r>
              <a:rPr lang="en-US" sz="1300" b="1" dirty="0">
                <a:solidFill>
                  <a:srgbClr val="2E6DA4"/>
                </a:solidFill>
                <a:latin typeface="Segoe UI"/>
              </a:rPr>
              <a:t>Medium-volume group</a:t>
            </a:r>
          </a:p>
          <a:p>
            <a:pPr algn="l"/>
            <a:r>
              <a:rPr lang="en-US" sz="1000" dirty="0">
                <a:solidFill>
                  <a:srgbClr val="3F4A52"/>
                </a:solidFill>
                <a:latin typeface="Segoe UI"/>
              </a:rPr>
              <a:t>Mid-size territories are ranked only within their own group.</a:t>
            </a:r>
          </a:p>
        </p:txBody>
      </p:sp>
      <p:sp>
        <p:nvSpPr>
          <p:cNvPr id="206" name="TierCard206"/>
          <p:cNvSpPr/>
          <p:nvPr/>
        </p:nvSpPr>
        <p:spPr>
          <a:xfrm>
            <a:off x="6540500" y="4292600"/>
            <a:ext cx="5080000" cy="1041400"/>
          </a:xfrm>
          <a:prstGeom prst="roundRect">
            <a:avLst>
              <a:gd name="adj" fmla="val 8000"/>
            </a:avLst>
          </a:prstGeom>
          <a:solidFill>
            <a:srgbClr val="EAEEF2"/>
          </a:solidFill>
          <a:ln w="12700">
            <a:solidFill>
              <a:srgbClr val="17344F"/>
            </a:solidFill>
          </a:ln>
        </p:spPr>
        <p:txBody>
          <a:bodyPr/>
          <a:lstStyle/>
          <a:p>
            <a:endParaRPr/>
          </a:p>
        </p:txBody>
      </p:sp>
      <p:sp>
        <p:nvSpPr>
          <p:cNvPr id="207" name="TierBar207"/>
          <p:cNvSpPr/>
          <p:nvPr/>
        </p:nvSpPr>
        <p:spPr>
          <a:xfrm>
            <a:off x="6540500" y="4292600"/>
            <a:ext cx="88900" cy="1041400"/>
          </a:xfrm>
          <a:prstGeom prst="rect">
            <a:avLst/>
          </a:prstGeom>
          <a:solidFill>
            <a:srgbClr val="17344F"/>
          </a:solidFill>
          <a:ln>
            <a:noFill/>
          </a:ln>
        </p:spPr>
        <p:txBody>
          <a:bodyPr/>
          <a:lstStyle/>
          <a:p>
            <a:endParaRPr/>
          </a:p>
        </p:txBody>
      </p:sp>
      <p:sp>
        <p:nvSpPr>
          <p:cNvPr id="208" name="TierText208"/>
          <p:cNvSpPr txBox="1"/>
          <p:nvPr/>
        </p:nvSpPr>
        <p:spPr>
          <a:xfrm>
            <a:off x="6769100" y="4419600"/>
            <a:ext cx="4699000" cy="812800"/>
          </a:xfrm>
          <a:prstGeom prst="rect">
            <a:avLst/>
          </a:prstGeom>
          <a:noFill/>
        </p:spPr>
        <p:txBody>
          <a:bodyPr wrap="square" lIns="0" tIns="0" rIns="0" bIns="0" anchor="ctr">
            <a:normAutofit/>
          </a:bodyPr>
          <a:lstStyle/>
          <a:p>
            <a:pPr algn="l"/>
            <a:r>
              <a:rPr lang="en-US" sz="1300" b="1" dirty="0">
                <a:solidFill>
                  <a:srgbClr val="17344F"/>
                </a:solidFill>
                <a:latin typeface="Segoe UI"/>
              </a:rPr>
              <a:t>Low-volume group</a:t>
            </a:r>
          </a:p>
          <a:p>
            <a:pPr algn="l"/>
            <a:r>
              <a:rPr lang="en-US" sz="1000" dirty="0">
                <a:solidFill>
                  <a:srgbClr val="3F4A52"/>
                </a:solidFill>
                <a:latin typeface="Segoe UI"/>
              </a:rPr>
              <a:t>Smallest territories get a fair shot at winning.</a:t>
            </a:r>
          </a:p>
        </p:txBody>
      </p:sp>
      <p:sp>
        <p:nvSpPr>
          <p:cNvPr id="209" name="GroupArrow"/>
          <p:cNvSpPr/>
          <p:nvPr/>
        </p:nvSpPr>
        <p:spPr>
          <a:xfrm>
            <a:off x="5778500" y="3238500"/>
            <a:ext cx="660400" cy="508000"/>
          </a:xfrm>
          <a:prstGeom prst="rightArrow">
            <a:avLst/>
          </a:prstGeom>
          <a:solidFill>
            <a:srgbClr val="567A2E"/>
          </a:solidFill>
          <a:ln>
            <a:noFill/>
          </a:ln>
        </p:spPr>
        <p:txBody>
          <a:bodyPr/>
          <a:lstStyle/>
          <a:p>
            <a:endParaRPr/>
          </a:p>
        </p:txBody>
      </p:sp>
      <p:sp>
        <p:nvSpPr>
          <p:cNvPr id="210" name="ArrowCaption"/>
          <p:cNvSpPr txBox="1"/>
          <p:nvPr/>
        </p:nvSpPr>
        <p:spPr>
          <a:xfrm>
            <a:off x="5562600" y="2794000"/>
            <a:ext cx="1092200" cy="381000"/>
          </a:xfrm>
          <a:prstGeom prst="rect">
            <a:avLst/>
          </a:prstGeom>
          <a:noFill/>
        </p:spPr>
        <p:txBody>
          <a:bodyPr wrap="square" lIns="0" tIns="0" rIns="0" bIns="0" anchor="b"/>
          <a:lstStyle/>
          <a:p>
            <a:pPr algn="ctr"/>
            <a:r>
              <a:rPr lang="en-US" sz="1000" b="1" dirty="0">
                <a:solidFill>
                  <a:srgbClr val="567A2E"/>
                </a:solidFill>
                <a:latin typeface="Segoe UI"/>
              </a:rPr>
              <a:t>Group by size</a:t>
            </a:r>
          </a:p>
        </p:txBody>
      </p:sp>
      <p:sp>
        <p:nvSpPr>
          <p:cNvPr id="211" name="AfterLabel"/>
          <p:cNvSpPr txBox="1"/>
          <p:nvPr/>
        </p:nvSpPr>
        <p:spPr>
          <a:xfrm>
            <a:off x="6540500" y="1676400"/>
            <a:ext cx="5080000" cy="279400"/>
          </a:xfrm>
          <a:prstGeom prst="rect">
            <a:avLst/>
          </a:prstGeom>
          <a:noFill/>
        </p:spPr>
        <p:txBody>
          <a:bodyPr wrap="square" lIns="0" tIns="0" rIns="0" bIns="0"/>
          <a:lstStyle/>
          <a:p>
            <a:r>
              <a:rPr lang="en-US" sz="1100" b="1" spc="80" dirty="0">
                <a:solidFill>
                  <a:srgbClr val="567A2E"/>
                </a:solidFill>
                <a:latin typeface="Segoe UI"/>
              </a:rPr>
              <a:t>AFTER: grouped by size</a:t>
            </a:r>
          </a:p>
        </p:txBody>
      </p:sp>
      <p:sp>
        <p:nvSpPr>
          <p:cNvPr id="260" name="GapCallout"/>
          <p:cNvSpPr txBox="1"/>
          <p:nvPr/>
        </p:nvSpPr>
        <p:spPr>
          <a:xfrm>
            <a:off x="1524000" y="2349500"/>
            <a:ext cx="2413000" cy="711200"/>
          </a:xfrm>
          <a:prstGeom prst="rect">
            <a:avLst/>
          </a:prstGeom>
          <a:noFill/>
        </p:spPr>
        <p:txBody>
          <a:bodyPr wrap="square" lIns="0" tIns="0" rIns="0" bIns="0"/>
          <a:lstStyle/>
          <a:p>
            <a:r>
              <a:rPr lang="en-US" sz="2000" b="1" dirty="0">
                <a:solidFill>
                  <a:srgbClr val="B04A3A"/>
                </a:solidFill>
                <a:latin typeface="Segoe UI"/>
              </a:rPr>
              <a:t>85 times the gap</a:t>
            </a:r>
          </a:p>
          <a:p>
            <a:r>
              <a:rPr lang="en-US" sz="1000" dirty="0">
                <a:solidFill>
                  <a:srgbClr val="3F4A52"/>
                </a:solidFill>
                <a:latin typeface="Segoe UI"/>
              </a:rPr>
              <a:t>1,015 patients (largest) vs ~12 (smallest)</a:t>
            </a:r>
          </a:p>
        </p:txBody>
      </p:sp>
    </p:spTree>
    <p:extLst>
      <p:ext uri="{BB962C8B-B14F-4D97-AF65-F5344CB8AC3E}">
        <p14:creationId xmlns:p14="http://schemas.microsoft.com/office/powerpoint/2010/main" val="1660653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SCORING METHODOLOGY</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Each territory is ranked on both volume growth and percent growth</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4</a:t>
            </a:r>
            <a:endParaRPr lang="en-US" sz="900" dirty="0"/>
          </a:p>
        </p:txBody>
      </p:sp>
      <p:sp>
        <p:nvSpPr>
          <p:cNvPr id="13" name="Text 11"/>
          <p:cNvSpPr/>
          <p:nvPr/>
        </p:nvSpPr>
        <p:spPr>
          <a:xfrm>
            <a:off x="566928" y="1737360"/>
            <a:ext cx="5349240" cy="320040"/>
          </a:xfrm>
          <a:prstGeom prst="rect">
            <a:avLst/>
          </a:prstGeom>
          <a:noFill/>
          <a:ln/>
        </p:spPr>
        <p:txBody>
          <a:bodyPr wrap="square" lIns="0" tIns="0" rIns="0" bIns="0" rtlCol="0" anchor="ctr"/>
          <a:lstStyle/>
          <a:p>
            <a:pPr marL="0" indent="0" algn="ctr">
              <a:buNone/>
            </a:pPr>
            <a:r>
              <a:rPr lang="en-US" sz="1400" b="1" i="1" u="sng" dirty="0">
                <a:solidFill>
                  <a:srgbClr val="17344F"/>
                </a:solidFill>
                <a:latin typeface="Segoe UI" pitchFamily="34" charset="0"/>
                <a:cs typeface="Segoe UI" pitchFamily="34" charset="-120"/>
              </a:rPr>
              <a:t>How each territory scores</a:t>
            </a:r>
          </a:p>
        </p:txBody>
      </p:sp>
      <p:sp>
        <p:nvSpPr>
          <p:cNvPr id="14" name="Shape 12"/>
          <p:cNvSpPr/>
          <p:nvPr/>
        </p:nvSpPr>
        <p:spPr>
          <a:xfrm>
            <a:off x="566928" y="2103120"/>
            <a:ext cx="5349240" cy="3840480"/>
          </a:xfrm>
          <a:prstGeom prst="rect">
            <a:avLst/>
          </a:prstGeom>
          <a:solidFill>
            <a:srgbClr val="FBFCF7"/>
          </a:solidFill>
          <a:ln w="12700">
            <a:solidFill>
              <a:srgbClr val="D6DBC9"/>
            </a:solidFill>
            <a:prstDash val="dash"/>
          </a:ln>
        </p:spPr>
        <p:txBody>
          <a:bodyPr/>
          <a:lstStyle/>
          <a:p>
            <a:endParaRPr lang="en-US"/>
          </a:p>
        </p:txBody>
      </p:sp>
      <p:sp>
        <p:nvSpPr>
          <p:cNvPr id="15" name="Text 13"/>
          <p:cNvSpPr/>
          <p:nvPr/>
        </p:nvSpPr>
        <p:spPr>
          <a:xfrm>
            <a:off x="6291072" y="1737360"/>
            <a:ext cx="5349240" cy="320040"/>
          </a:xfrm>
          <a:prstGeom prst="rect">
            <a:avLst/>
          </a:prstGeom>
          <a:noFill/>
          <a:ln/>
        </p:spPr>
        <p:txBody>
          <a:bodyPr wrap="square" lIns="0" tIns="0" rIns="0" bIns="0" rtlCol="0" anchor="ctr"/>
          <a:lstStyle/>
          <a:p>
            <a:pPr marL="0" indent="0" algn="ctr">
              <a:buNone/>
            </a:pPr>
            <a:r>
              <a:rPr lang="en-US" sz="1400" b="1" i="1" u="sng" dirty="0">
                <a:solidFill>
                  <a:srgbClr val="17344F"/>
                </a:solidFill>
                <a:latin typeface="Segoe UI" pitchFamily="34" charset="0"/>
                <a:cs typeface="Segoe UI" pitchFamily="34" charset="-120"/>
              </a:rPr>
              <a:t>The scoring flow</a:t>
            </a:r>
          </a:p>
        </p:txBody>
      </p:sp>
      <p:sp>
        <p:nvSpPr>
          <p:cNvPr id="16" name="Shape 14"/>
          <p:cNvSpPr/>
          <p:nvPr/>
        </p:nvSpPr>
        <p:spPr>
          <a:xfrm>
            <a:off x="6291072" y="2103120"/>
            <a:ext cx="5349240" cy="3840480"/>
          </a:xfrm>
          <a:prstGeom prst="rect">
            <a:avLst/>
          </a:prstGeom>
          <a:solidFill>
            <a:srgbClr val="FBFCF7"/>
          </a:solidFill>
          <a:ln w="12700">
            <a:solidFill>
              <a:srgbClr val="D6DBC9"/>
            </a:solidFill>
            <a:prstDash val="dash"/>
          </a:ln>
        </p:spPr>
        <p:txBody>
          <a:bodyPr/>
          <a:lstStyle/>
          <a:p>
            <a:endParaRPr lang="en-US"/>
          </a:p>
        </p:txBody>
      </p:sp>
      <p:sp>
        <p:nvSpPr>
          <p:cNvPr id="17" name="Text 15"/>
          <p:cNvSpPr/>
          <p:nvPr/>
        </p:nvSpPr>
        <p:spPr>
          <a:xfrm>
            <a:off x="777240" y="2331720"/>
            <a:ext cx="4892040" cy="3474720"/>
          </a:xfrm>
          <a:prstGeom prst="rect">
            <a:avLst/>
          </a:prstGeom>
          <a:noFill/>
          <a:ln/>
        </p:spPr>
        <p:txBody>
          <a:bodyPr wrap="square" lIns="0" tIns="0" rIns="0" bIns="0" rtlCol="0" anchor="t"/>
          <a:lstStyle/>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Baseline</a:t>
            </a:r>
            <a:r>
              <a:rPr lang="en-US" sz="1250" dirty="0">
                <a:solidFill>
                  <a:srgbClr val="17344F"/>
                </a:solidFill>
                <a:latin typeface="Segoe UI" pitchFamily="34" charset="0"/>
                <a:cs typeface="Segoe UI" pitchFamily="34" charset="-120"/>
              </a:rPr>
              <a:t>: average enrollments from </a:t>
            </a:r>
            <a:r>
              <a:rPr lang="en-US" sz="1250" b="1" dirty="0">
                <a:solidFill>
                  <a:srgbClr val="17344F"/>
                </a:solidFill>
                <a:latin typeface="Segoe UI" pitchFamily="34" charset="0"/>
                <a:cs typeface="Segoe UI" pitchFamily="34" charset="-120"/>
              </a:rPr>
              <a:t>4Q 2025, 1Q 2026, and 2Q 2026</a:t>
            </a:r>
            <a:r>
              <a:rPr lang="en-US" sz="1250" dirty="0">
                <a:solidFill>
                  <a:srgbClr val="17344F"/>
                </a:solidFill>
                <a:latin typeface="Segoe UI" pitchFamily="34" charset="0"/>
                <a:cs typeface="Segoe UI" pitchFamily="34" charset="-120"/>
              </a:rPr>
              <a:t>, scaled to the two-month contest period.</a:t>
            </a:r>
          </a:p>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Volume growth</a:t>
            </a:r>
            <a:r>
              <a:rPr lang="en-US" sz="1250" dirty="0">
                <a:solidFill>
                  <a:srgbClr val="17344F"/>
                </a:solidFill>
                <a:latin typeface="Segoe UI" pitchFamily="34" charset="0"/>
                <a:cs typeface="Segoe UI" pitchFamily="34" charset="-120"/>
              </a:rPr>
              <a:t>: contest enrollments minus baseline.</a:t>
            </a:r>
          </a:p>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Percent growth</a:t>
            </a:r>
            <a:r>
              <a:rPr lang="en-US" sz="1250" dirty="0">
                <a:solidFill>
                  <a:srgbClr val="17344F"/>
                </a:solidFill>
                <a:latin typeface="Segoe UI" pitchFamily="34" charset="0"/>
                <a:cs typeface="Segoe UI" pitchFamily="34" charset="-120"/>
              </a:rPr>
              <a:t>: volume growth divided by baseline.</a:t>
            </a:r>
          </a:p>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Final score</a:t>
            </a:r>
            <a:r>
              <a:rPr lang="en-US" sz="1250" dirty="0">
                <a:solidFill>
                  <a:srgbClr val="17344F"/>
                </a:solidFill>
                <a:latin typeface="Segoe UI" pitchFamily="34" charset="0"/>
                <a:cs typeface="Segoe UI" pitchFamily="34" charset="-120"/>
              </a:rPr>
              <a:t>: average of the volume-growth rank and percent-growth rank, within the size group.</a:t>
            </a:r>
          </a:p>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Top two in each group are paid.</a:t>
            </a:r>
          </a:p>
          <a:p>
            <a:pPr marL="203200" indent="-203200">
              <a:lnSpc>
                <a:spcPct val="103000"/>
              </a:lnSpc>
              <a:buSzPct val="100000"/>
              <a:buChar char="•"/>
            </a:pPr>
            <a:r>
              <a:rPr lang="en-US" sz="1250" b="1" dirty="0">
                <a:solidFill>
                  <a:srgbClr val="17344F"/>
                </a:solidFill>
                <a:latin typeface="Segoe UI" pitchFamily="34" charset="0"/>
                <a:cs typeface="Segoe UI" pitchFamily="34" charset="-120"/>
              </a:rPr>
              <a:t>Tie-breaker</a:t>
            </a:r>
            <a:r>
              <a:rPr lang="en-US" sz="1250" dirty="0">
                <a:solidFill>
                  <a:srgbClr val="17344F"/>
                </a:solidFill>
                <a:latin typeface="Segoe UI" pitchFamily="34" charset="0"/>
                <a:cs typeface="Segoe UI" pitchFamily="34" charset="-120"/>
              </a:rPr>
              <a:t>: the higher percent growth wins.</a:t>
            </a:r>
          </a:p>
          <a:p>
            <a:pPr marL="203200" indent="-203200">
              <a:lnSpc>
                <a:spcPct val="103000"/>
              </a:lnSpc>
              <a:spcAft>
                <a:spcPts val="900"/>
              </a:spcAft>
              <a:buSzPct val="100000"/>
              <a:buChar char="•"/>
            </a:pPr>
            <a:r>
              <a:rPr lang="en-US" sz="1250" b="1" dirty="0">
                <a:solidFill>
                  <a:srgbClr val="17344F"/>
                </a:solidFill>
                <a:latin typeface="Segoe UI" pitchFamily="34" charset="0"/>
                <a:cs typeface="Segoe UI" pitchFamily="34" charset="-120"/>
              </a:rPr>
              <a:t>Quality prize</a:t>
            </a:r>
            <a:r>
              <a:rPr lang="en-US" sz="1250" dirty="0">
                <a:solidFill>
                  <a:srgbClr val="17344F"/>
                </a:solidFill>
                <a:latin typeface="Segoe UI" pitchFamily="34" charset="0"/>
                <a:cs typeface="Segoe UI" pitchFamily="34" charset="-120"/>
              </a:rPr>
              <a:t>: goes to the territory in each group with the highest share of enrollments reaching TTP, with at least five enrollments to qualify.</a:t>
            </a:r>
          </a:p>
        </p:txBody>
      </p:sp>
      <p:sp>
        <p:nvSpPr>
          <p:cNvPr id="18" name="Text 16"/>
          <p:cNvSpPr/>
          <p:nvPr/>
        </p:nvSpPr>
        <p:spPr>
          <a:xfrm>
            <a:off x="6501384" y="2331720"/>
            <a:ext cx="4892040" cy="3474720"/>
          </a:xfrm>
          <a:prstGeom prst="rect">
            <a:avLst/>
          </a:prstGeom>
          <a:noFill/>
          <a:ln/>
        </p:spPr>
        <p:txBody>
          <a:bodyPr wrap="square" lIns="0" tIns="0" rIns="0" bIns="0" rtlCol="0" anchor="t"/>
          <a:lstStyle/>
          <a:p>
            <a:pPr marL="0" indent="0">
              <a:buNone/>
            </a:pPr>
            <a:endParaRPr lang="en-US" sz="1250" dirty="0"/>
          </a:p>
        </p:txBody>
      </p:sp>
      <p:sp>
        <p:nvSpPr>
          <p:cNvPr id="19" name="Text 17"/>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cs typeface="Segoe UI" pitchFamily="34" charset="-120"/>
              </a:rPr>
              <a:t>Enrollment, capacity, baseline, and payout figures are internal planning figures for 2H 2026. Final values subject to leadership approval.</a:t>
            </a:r>
          </a:p>
        </p:txBody>
      </p:sp>
      <p:sp>
        <p:nvSpPr>
          <p:cNvPr id="20" name="Rounded Rectangle 19">
            <a:extLst>
              <a:ext uri="{FF2B5EF4-FFF2-40B4-BE49-F238E27FC236}">
                <a16:creationId xmlns:a16="http://schemas.microsoft.com/office/drawing/2014/main" id="{10B5C973-23BC-E143-930B-4E978CEEFFAE}"/>
              </a:ext>
            </a:extLst>
          </p:cNvPr>
          <p:cNvSpPr/>
          <p:nvPr/>
        </p:nvSpPr>
        <p:spPr>
          <a:xfrm>
            <a:off x="7048500" y="2286000"/>
            <a:ext cx="3810000" cy="457200"/>
          </a:xfrm>
          <a:prstGeom prst="roundRect">
            <a:avLst/>
          </a:prstGeom>
          <a:solidFill>
            <a:srgbClr val="1734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 b="1">
                <a:solidFill>
                  <a:srgbClr val="FFFFFF"/>
                </a:solidFill>
                <a:latin typeface="Segoe UI"/>
                <a:cs typeface="Segoe UI"/>
              </a:rPr>
              <a:t>Baseline</a:t>
            </a:r>
          </a:p>
        </p:txBody>
      </p:sp>
      <p:sp>
        <p:nvSpPr>
          <p:cNvPr id="21" name="Rounded Rectangle 20">
            <a:extLst>
              <a:ext uri="{FF2B5EF4-FFF2-40B4-BE49-F238E27FC236}">
                <a16:creationId xmlns:a16="http://schemas.microsoft.com/office/drawing/2014/main" id="{4C5C1675-87A5-9044-8431-C344E667092E}"/>
              </a:ext>
            </a:extLst>
          </p:cNvPr>
          <p:cNvSpPr/>
          <p:nvPr/>
        </p:nvSpPr>
        <p:spPr>
          <a:xfrm>
            <a:off x="7048500" y="2971800"/>
            <a:ext cx="3810000" cy="457200"/>
          </a:xfrm>
          <a:prstGeom prst="roundRect">
            <a:avLst/>
          </a:prstGeom>
          <a:solidFill>
            <a:srgbClr val="1734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 b="1">
                <a:solidFill>
                  <a:srgbClr val="FFFFFF"/>
                </a:solidFill>
                <a:latin typeface="Segoe UI"/>
                <a:cs typeface="Segoe UI"/>
              </a:rPr>
              <a:t>Contest enrollments</a:t>
            </a:r>
          </a:p>
        </p:txBody>
      </p:sp>
      <p:sp>
        <p:nvSpPr>
          <p:cNvPr id="22" name="Rounded Rectangle 21">
            <a:extLst>
              <a:ext uri="{FF2B5EF4-FFF2-40B4-BE49-F238E27FC236}">
                <a16:creationId xmlns:a16="http://schemas.microsoft.com/office/drawing/2014/main" id="{2C82BA4E-E9F0-3F4F-B059-6E2D4747CB1A}"/>
              </a:ext>
            </a:extLst>
          </p:cNvPr>
          <p:cNvSpPr/>
          <p:nvPr/>
        </p:nvSpPr>
        <p:spPr>
          <a:xfrm>
            <a:off x="7048500" y="3657600"/>
            <a:ext cx="3810000" cy="660400"/>
          </a:xfrm>
          <a:prstGeom prst="roundRect">
            <a:avLst/>
          </a:prstGeom>
          <a:solidFill>
            <a:srgbClr val="2E6DA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200" b="1">
                <a:solidFill>
                  <a:srgbClr val="FFFFFF"/>
                </a:solidFill>
                <a:latin typeface="Segoe UI"/>
                <a:cs typeface="Segoe UI"/>
              </a:rPr>
              <a:t>Volume growth
+  Percent growth</a:t>
            </a:r>
          </a:p>
        </p:txBody>
      </p:sp>
      <p:sp>
        <p:nvSpPr>
          <p:cNvPr id="23" name="Rounded Rectangle 22">
            <a:extLst>
              <a:ext uri="{FF2B5EF4-FFF2-40B4-BE49-F238E27FC236}">
                <a16:creationId xmlns:a16="http://schemas.microsoft.com/office/drawing/2014/main" id="{3113072C-3446-3447-A738-E1FD4042E9B1}"/>
              </a:ext>
            </a:extLst>
          </p:cNvPr>
          <p:cNvSpPr/>
          <p:nvPr/>
        </p:nvSpPr>
        <p:spPr>
          <a:xfrm>
            <a:off x="7048500" y="4546600"/>
            <a:ext cx="3810000" cy="457200"/>
          </a:xfrm>
          <a:prstGeom prst="roundRect">
            <a:avLst/>
          </a:prstGeom>
          <a:solidFill>
            <a:srgbClr val="2F5D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FFFFF"/>
                </a:solidFill>
                <a:latin typeface="Segoe UI"/>
                <a:cs typeface="Segoe UI"/>
              </a:rPr>
              <a:t>Average rank in size group</a:t>
            </a:r>
          </a:p>
        </p:txBody>
      </p:sp>
      <p:sp>
        <p:nvSpPr>
          <p:cNvPr id="24" name="Rounded Rectangle 23">
            <a:extLst>
              <a:ext uri="{FF2B5EF4-FFF2-40B4-BE49-F238E27FC236}">
                <a16:creationId xmlns:a16="http://schemas.microsoft.com/office/drawing/2014/main" id="{B1E82063-BDC0-D749-AEE4-A25AB59F23A0}"/>
              </a:ext>
            </a:extLst>
          </p:cNvPr>
          <p:cNvSpPr/>
          <p:nvPr/>
        </p:nvSpPr>
        <p:spPr>
          <a:xfrm>
            <a:off x="7048500" y="5232400"/>
            <a:ext cx="3810000" cy="508000"/>
          </a:xfrm>
          <a:prstGeom prst="roundRect">
            <a:avLst/>
          </a:prstGeom>
          <a:solidFill>
            <a:srgbClr val="567A2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Segoe UI"/>
                <a:cs typeface="Segoe UI"/>
              </a:rPr>
              <a:t>Winner</a:t>
            </a:r>
          </a:p>
        </p:txBody>
      </p:sp>
      <p:sp>
        <p:nvSpPr>
          <p:cNvPr id="25" name="Down Arrow 24">
            <a:extLst>
              <a:ext uri="{FF2B5EF4-FFF2-40B4-BE49-F238E27FC236}">
                <a16:creationId xmlns:a16="http://schemas.microsoft.com/office/drawing/2014/main" id="{4BFC14D4-2B72-5741-B88E-9FB7E8E621D6}"/>
              </a:ext>
            </a:extLst>
          </p:cNvPr>
          <p:cNvSpPr/>
          <p:nvPr/>
        </p:nvSpPr>
        <p:spPr>
          <a:xfrm>
            <a:off x="8851900" y="2768600"/>
            <a:ext cx="203200" cy="177800"/>
          </a:xfrm>
          <a:prstGeom prst="downArrow">
            <a:avLst/>
          </a:prstGeom>
          <a:solidFill>
            <a:srgbClr val="7F8B8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Down Arrow 25">
            <a:extLst>
              <a:ext uri="{FF2B5EF4-FFF2-40B4-BE49-F238E27FC236}">
                <a16:creationId xmlns:a16="http://schemas.microsoft.com/office/drawing/2014/main" id="{51739C6B-63AE-A941-9548-C46E58DF50A4}"/>
              </a:ext>
            </a:extLst>
          </p:cNvPr>
          <p:cNvSpPr/>
          <p:nvPr/>
        </p:nvSpPr>
        <p:spPr>
          <a:xfrm>
            <a:off x="8851900" y="3454400"/>
            <a:ext cx="203200" cy="177800"/>
          </a:xfrm>
          <a:prstGeom prst="downArrow">
            <a:avLst/>
          </a:prstGeom>
          <a:solidFill>
            <a:srgbClr val="7F8B8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Down Arrow 26">
            <a:extLst>
              <a:ext uri="{FF2B5EF4-FFF2-40B4-BE49-F238E27FC236}">
                <a16:creationId xmlns:a16="http://schemas.microsoft.com/office/drawing/2014/main" id="{E9058639-73A7-2842-A994-A619446B6C24}"/>
              </a:ext>
            </a:extLst>
          </p:cNvPr>
          <p:cNvSpPr/>
          <p:nvPr/>
        </p:nvSpPr>
        <p:spPr>
          <a:xfrm>
            <a:off x="8851900" y="4356100"/>
            <a:ext cx="203200" cy="177800"/>
          </a:xfrm>
          <a:prstGeom prst="downArrow">
            <a:avLst/>
          </a:prstGeom>
          <a:solidFill>
            <a:srgbClr val="7F8B8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Down Arrow 27">
            <a:extLst>
              <a:ext uri="{FF2B5EF4-FFF2-40B4-BE49-F238E27FC236}">
                <a16:creationId xmlns:a16="http://schemas.microsoft.com/office/drawing/2014/main" id="{F562A193-A95C-3144-9C60-C09F813D2CEA}"/>
              </a:ext>
            </a:extLst>
          </p:cNvPr>
          <p:cNvSpPr/>
          <p:nvPr/>
        </p:nvSpPr>
        <p:spPr>
          <a:xfrm>
            <a:off x="8851900" y="5029200"/>
            <a:ext cx="203200" cy="177800"/>
          </a:xfrm>
          <a:prstGeom prst="downArrow">
            <a:avLst/>
          </a:prstGeom>
          <a:solidFill>
            <a:srgbClr val="7F8B8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38603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THE BASELINES</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Here is every territory and the baseline it has to beat, inside its volume group</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5</a:t>
            </a:r>
            <a:endParaRPr lang="en-US" sz="900" dirty="0"/>
          </a:p>
        </p:txBody>
      </p:sp>
      <p:sp>
        <p:nvSpPr>
          <p:cNvPr id="13" name="TextBox 12"/>
          <p:cNvSpPr txBox="1"/>
          <p:nvPr/>
        </p:nvSpPr>
        <p:spPr>
          <a:xfrm>
            <a:off x="566928" y="1755648"/>
            <a:ext cx="3474720" cy="274320"/>
          </a:xfrm>
          <a:prstGeom prst="rect">
            <a:avLst/>
          </a:prstGeom>
          <a:noFill/>
        </p:spPr>
        <p:txBody>
          <a:bodyPr wrap="none" lIns="0" tIns="0" bIns="0">
            <a:spAutoFit/>
          </a:bodyPr>
          <a:lstStyle/>
          <a:p>
            <a:r>
              <a:rPr sz="1400" b="1">
                <a:solidFill>
                  <a:srgbClr val="567A2E"/>
                </a:solidFill>
                <a:latin typeface="Segoe UI"/>
              </a:rPr>
              <a:t>High volume</a:t>
            </a:r>
          </a:p>
        </p:txBody>
      </p:sp>
      <p:sp>
        <p:nvSpPr>
          <p:cNvPr id="14" name="TextBox 13"/>
          <p:cNvSpPr txBox="1"/>
          <p:nvPr/>
        </p:nvSpPr>
        <p:spPr>
          <a:xfrm>
            <a:off x="566928" y="2029968"/>
            <a:ext cx="3474720" cy="237744"/>
          </a:xfrm>
          <a:prstGeom prst="rect">
            <a:avLst/>
          </a:prstGeom>
          <a:noFill/>
        </p:spPr>
        <p:txBody>
          <a:bodyPr wrap="none" lIns="0" tIns="0" bIns="0">
            <a:spAutoFit/>
          </a:bodyPr>
          <a:lstStyle/>
          <a:p>
            <a:r>
              <a:rPr sz="900">
                <a:solidFill>
                  <a:srgbClr val="7F8B8F"/>
                </a:solidFill>
                <a:latin typeface="Segoe UI"/>
              </a:rPr>
              <a:t>Quarterly average of 15.8 and above</a:t>
            </a:r>
          </a:p>
        </p:txBody>
      </p:sp>
      <p:graphicFrame>
        <p:nvGraphicFramePr>
          <p:cNvPr id="15" name="Table 14"/>
          <p:cNvGraphicFramePr>
            <a:graphicFrameLocks noGrp="1"/>
          </p:cNvGraphicFramePr>
          <p:nvPr/>
        </p:nvGraphicFramePr>
        <p:xfrm>
          <a:off x="566928" y="2359152"/>
          <a:ext cx="3474720" cy="2798064"/>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0">
                          <a:solidFill>
                            <a:srgbClr val="000000"/>
                          </a:solidFill>
                          <a:latin typeface="Segoe UI"/>
                        </a:rPr>
                        <a:t>South FL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14.9</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CT / NYC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13.6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Pittsburgh / Cleveland</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12.9</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South TX / LA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12.2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Mid-Atlantic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Los Angeles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10.7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Pacific Northwest</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10.7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Philly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10.7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bl>
          </a:graphicData>
        </a:graphic>
      </p:graphicFrame>
      <p:sp>
        <p:nvSpPr>
          <p:cNvPr id="16" name="TextBox 15"/>
          <p:cNvSpPr txBox="1"/>
          <p:nvPr/>
        </p:nvSpPr>
        <p:spPr>
          <a:xfrm>
            <a:off x="4352544" y="1755648"/>
            <a:ext cx="3474720" cy="274320"/>
          </a:xfrm>
          <a:prstGeom prst="rect">
            <a:avLst/>
          </a:prstGeom>
          <a:noFill/>
        </p:spPr>
        <p:txBody>
          <a:bodyPr wrap="none" lIns="0" tIns="0" bIns="0">
            <a:spAutoFit/>
          </a:bodyPr>
          <a:lstStyle/>
          <a:p>
            <a:r>
              <a:rPr sz="1400" b="1">
                <a:solidFill>
                  <a:srgbClr val="567A2E"/>
                </a:solidFill>
                <a:latin typeface="Segoe UI"/>
              </a:rPr>
              <a:t>Medium volume</a:t>
            </a:r>
          </a:p>
        </p:txBody>
      </p:sp>
      <p:sp>
        <p:nvSpPr>
          <p:cNvPr id="17" name="TextBox 16"/>
          <p:cNvSpPr txBox="1"/>
          <p:nvPr/>
        </p:nvSpPr>
        <p:spPr>
          <a:xfrm>
            <a:off x="4352544" y="2029968"/>
            <a:ext cx="3474720" cy="237744"/>
          </a:xfrm>
          <a:prstGeom prst="rect">
            <a:avLst/>
          </a:prstGeom>
          <a:noFill/>
        </p:spPr>
        <p:txBody>
          <a:bodyPr wrap="none" lIns="0" tIns="0" bIns="0">
            <a:spAutoFit/>
          </a:bodyPr>
          <a:lstStyle/>
          <a:p>
            <a:r>
              <a:rPr sz="900">
                <a:solidFill>
                  <a:srgbClr val="7F8B8F"/>
                </a:solidFill>
                <a:latin typeface="Segoe UI"/>
              </a:rPr>
              <a:t>Quarterly average of 10.2 to 15.8</a:t>
            </a:r>
          </a:p>
        </p:txBody>
      </p:sp>
      <p:graphicFrame>
        <p:nvGraphicFramePr>
          <p:cNvPr id="18" name="Table 17"/>
          <p:cNvGraphicFramePr>
            <a:graphicFrameLocks noGrp="1"/>
          </p:cNvGraphicFramePr>
          <p:nvPr/>
        </p:nvGraphicFramePr>
        <p:xfrm>
          <a:off x="4352544" y="2359152"/>
          <a:ext cx="3474720" cy="2798064"/>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0">
                          <a:solidFill>
                            <a:srgbClr val="000000"/>
                          </a:solidFill>
                          <a:latin typeface="Segoe UI"/>
                        </a:rPr>
                        <a:t>Chicago / IN</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10.4</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Rocky Mountains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10.2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Great South</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9.3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Desert Plains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8.9</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New England</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OH / MI</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8.0</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MN / WI</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7.3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IN / KY / Cincy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7.3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bl>
          </a:graphicData>
        </a:graphic>
      </p:graphicFrame>
      <p:sp>
        <p:nvSpPr>
          <p:cNvPr id="19" name="TextBox 18"/>
          <p:cNvSpPr txBox="1"/>
          <p:nvPr/>
        </p:nvSpPr>
        <p:spPr>
          <a:xfrm>
            <a:off x="8138159" y="1755648"/>
            <a:ext cx="3474720" cy="274320"/>
          </a:xfrm>
          <a:prstGeom prst="rect">
            <a:avLst/>
          </a:prstGeom>
          <a:noFill/>
        </p:spPr>
        <p:txBody>
          <a:bodyPr wrap="none" lIns="0" tIns="0" bIns="0">
            <a:spAutoFit/>
          </a:bodyPr>
          <a:lstStyle/>
          <a:p>
            <a:r>
              <a:rPr sz="1400" b="1">
                <a:solidFill>
                  <a:srgbClr val="567A2E"/>
                </a:solidFill>
                <a:latin typeface="Segoe UI"/>
              </a:rPr>
              <a:t>Low volume</a:t>
            </a:r>
          </a:p>
        </p:txBody>
      </p:sp>
      <p:sp>
        <p:nvSpPr>
          <p:cNvPr id="20" name="TextBox 19"/>
          <p:cNvSpPr txBox="1"/>
          <p:nvPr/>
        </p:nvSpPr>
        <p:spPr>
          <a:xfrm>
            <a:off x="8138159" y="2029968"/>
            <a:ext cx="3474720" cy="237744"/>
          </a:xfrm>
          <a:prstGeom prst="rect">
            <a:avLst/>
          </a:prstGeom>
          <a:noFill/>
        </p:spPr>
        <p:txBody>
          <a:bodyPr wrap="none" lIns="0" tIns="0" bIns="0">
            <a:spAutoFit/>
          </a:bodyPr>
          <a:lstStyle/>
          <a:p>
            <a:r>
              <a:rPr sz="900">
                <a:solidFill>
                  <a:srgbClr val="7F8B8F"/>
                </a:solidFill>
                <a:latin typeface="Segoe UI"/>
              </a:rPr>
              <a:t>Quarterly average below 10.2</a:t>
            </a:r>
          </a:p>
        </p:txBody>
      </p:sp>
      <p:graphicFrame>
        <p:nvGraphicFramePr>
          <p:cNvPr id="21" name="Table 20"/>
          <p:cNvGraphicFramePr>
            <a:graphicFrameLocks noGrp="1"/>
          </p:cNvGraphicFramePr>
          <p:nvPr/>
        </p:nvGraphicFramePr>
        <p:xfrm>
          <a:off x="8138159" y="2359152"/>
          <a:ext cx="3474720" cy="2798064"/>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0">
                          <a:solidFill>
                            <a:srgbClr val="000000"/>
                          </a:solidFill>
                          <a:latin typeface="Segoe UI"/>
                        </a:rPr>
                        <a:t>Northern Cal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5.8</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Carolinas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5.1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North TX / OK</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3.6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AR / MO / Tulsa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2.9</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Northern NJ &amp; NYC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2.4</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North FL / GA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2.2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Midwest</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San Diego / OC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0.7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bl>
          </a:graphicData>
        </a:graphic>
      </p:graphicFrame>
      <p:sp>
        <p:nvSpPr>
          <p:cNvPr id="22" name="TextBox 21"/>
          <p:cNvSpPr txBox="1"/>
          <p:nvPr/>
        </p:nvSpPr>
        <p:spPr>
          <a:xfrm>
            <a:off x="566928" y="6217920"/>
            <a:ext cx="8686800" cy="256032"/>
          </a:xfrm>
          <a:prstGeom prst="rect">
            <a:avLst/>
          </a:prstGeom>
          <a:noFill/>
        </p:spPr>
        <p:txBody>
          <a:bodyPr wrap="square" lIns="0" tIns="0">
            <a:spAutoFit/>
          </a:bodyPr>
          <a:lstStyle/>
          <a:p>
            <a:r>
              <a:rPr sz="900" i="1">
                <a:solidFill>
                  <a:srgbClr val="7F8B8F"/>
                </a:solidFill>
                <a:latin typeface="Segoe UI"/>
              </a:rPr>
              <a:t>Baseline is each territory's average enrollments across 4Q 2025, 1Q 2026, and 2Q 2026, scaled to the two month contest window. Groups are set from that same average and lock the day the contest starts.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EXAMPLE</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A smaller territory can win by growing meaningfully versus its own baseline</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6</a:t>
            </a:r>
            <a:endParaRPr lang="en-US" sz="900" dirty="0"/>
          </a:p>
        </p:txBody>
      </p:sp>
      <p:sp>
        <p:nvSpPr>
          <p:cNvPr id="25" name="Shape 20"/>
          <p:cNvSpPr/>
          <p:nvPr/>
        </p:nvSpPr>
        <p:spPr>
          <a:xfrm>
            <a:off x="566928" y="4590288"/>
            <a:ext cx="11064240" cy="914400"/>
          </a:xfrm>
          <a:prstGeom prst="rect">
            <a:avLst/>
          </a:prstGeom>
          <a:solidFill>
            <a:srgbClr val="E7EFD6"/>
          </a:solidFill>
          <a:ln/>
        </p:spPr>
        <p:txBody>
          <a:bodyPr/>
          <a:lstStyle/>
          <a:p>
            <a:endParaRPr lang="en-US"/>
          </a:p>
        </p:txBody>
      </p:sp>
      <p:sp>
        <p:nvSpPr>
          <p:cNvPr id="26" name="Text 21"/>
          <p:cNvSpPr/>
          <p:nvPr/>
        </p:nvSpPr>
        <p:spPr>
          <a:xfrm>
            <a:off x="749808" y="4590288"/>
            <a:ext cx="10698480" cy="914400"/>
          </a:xfrm>
          <a:prstGeom prst="rect">
            <a:avLst/>
          </a:prstGeom>
          <a:noFill/>
          <a:ln/>
        </p:spPr>
        <p:txBody>
          <a:bodyPr wrap="square" lIns="0" tIns="0" rIns="0" bIns="0" rtlCol="0" anchor="ctr"/>
          <a:lstStyle/>
          <a:p>
            <a:pPr marL="0" indent="0">
              <a:lnSpc>
                <a:spcPct val="104000"/>
              </a:lnSpc>
              <a:buNone/>
            </a:pPr>
            <a:r>
              <a:rPr lang="en-US" sz="1300" b="1" dirty="0">
                <a:solidFill>
                  <a:srgbClr val="567A2E"/>
                </a:solidFill>
                <a:latin typeface="Segoe UI" pitchFamily="34" charset="0"/>
                <a:cs typeface="Segoe UI" pitchFamily="34" charset="-120"/>
              </a:rPr>
              <a:t>How to read it:  </a:t>
            </a:r>
            <a:r>
              <a:rPr lang="en-US" sz="1300" dirty="0">
                <a:solidFill>
                  <a:srgbClr val="17344F"/>
                </a:solidFill>
                <a:latin typeface="Segoe UI" pitchFamily="34" charset="0"/>
                <a:cs typeface="Segoe UI" pitchFamily="34" charset="-120"/>
              </a:rPr>
              <a:t>Indiana / KY starts from the smallest baseline in the group, yet posts the strongest volume and percent growth, so it wins. Carolinas has the largest baseline but the smallest improvement and finishes last. A high volume territory only wins when it beats its own history.</a:t>
            </a:r>
          </a:p>
        </p:txBody>
      </p:sp>
      <p:sp>
        <p:nvSpPr>
          <p:cNvPr id="27" name="Text 22"/>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cs typeface="Segoe UI" pitchFamily="34" charset="-120"/>
              </a:rPr>
              <a:t>Illustrative example, not real targets. The quality prize is decided separately within each group. Figures are internal planning figures for 2H 2026.</a:t>
            </a:r>
          </a:p>
        </p:txBody>
      </p:sp>
      <p:graphicFrame>
        <p:nvGraphicFramePr>
          <p:cNvPr id="29" name="Table 28">
            <a:extLst>
              <a:ext uri="{FF2B5EF4-FFF2-40B4-BE49-F238E27FC236}">
                <a16:creationId xmlns:a16="http://schemas.microsoft.com/office/drawing/2014/main" id="{4105D225-CAFA-D14F-BEF3-CF9BD7482870}"/>
              </a:ext>
            </a:extLst>
          </p:cNvPr>
          <p:cNvGraphicFramePr>
            <a:graphicFrameLocks noGrp="1"/>
          </p:cNvGraphicFramePr>
          <p:nvPr/>
        </p:nvGraphicFramePr>
        <p:xfrm>
          <a:off x="1143000" y="2377440"/>
          <a:ext cx="9906000" cy="1803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336578399"/>
                    </a:ext>
                  </a:extLst>
                </a:gridCol>
                <a:gridCol w="1117600">
                  <a:extLst>
                    <a:ext uri="{9D8B030D-6E8A-4147-A177-3AD203B41FA5}">
                      <a16:colId xmlns:a16="http://schemas.microsoft.com/office/drawing/2014/main" val="2279979351"/>
                    </a:ext>
                  </a:extLst>
                </a:gridCol>
                <a:gridCol w="1676400">
                  <a:extLst>
                    <a:ext uri="{9D8B030D-6E8A-4147-A177-3AD203B41FA5}">
                      <a16:colId xmlns:a16="http://schemas.microsoft.com/office/drawing/2014/main" val="517591817"/>
                    </a:ext>
                  </a:extLst>
                </a:gridCol>
                <a:gridCol w="1422400">
                  <a:extLst>
                    <a:ext uri="{9D8B030D-6E8A-4147-A177-3AD203B41FA5}">
                      <a16:colId xmlns:a16="http://schemas.microsoft.com/office/drawing/2014/main" val="3924378969"/>
                    </a:ext>
                  </a:extLst>
                </a:gridCol>
                <a:gridCol w="1422400">
                  <a:extLst>
                    <a:ext uri="{9D8B030D-6E8A-4147-A177-3AD203B41FA5}">
                      <a16:colId xmlns:a16="http://schemas.microsoft.com/office/drawing/2014/main" val="3015878379"/>
                    </a:ext>
                  </a:extLst>
                </a:gridCol>
                <a:gridCol w="1092200">
                  <a:extLst>
                    <a:ext uri="{9D8B030D-6E8A-4147-A177-3AD203B41FA5}">
                      <a16:colId xmlns:a16="http://schemas.microsoft.com/office/drawing/2014/main" val="2798858517"/>
                    </a:ext>
                  </a:extLst>
                </a:gridCol>
                <a:gridCol w="889000">
                  <a:extLst>
                    <a:ext uri="{9D8B030D-6E8A-4147-A177-3AD203B41FA5}">
                      <a16:colId xmlns:a16="http://schemas.microsoft.com/office/drawing/2014/main" val="3003254471"/>
                    </a:ext>
                  </a:extLst>
                </a:gridCol>
              </a:tblGrid>
              <a:tr h="508000">
                <a:tc>
                  <a:txBody>
                    <a:bodyPr/>
                    <a:lstStyle/>
                    <a:p>
                      <a:pPr algn="l"/>
                      <a:r>
                        <a:rPr lang="en-US" sz="1300" b="1" i="1">
                          <a:solidFill>
                            <a:srgbClr val="FFFFFF"/>
                          </a:solidFill>
                          <a:latin typeface="Segoe UI"/>
                          <a:cs typeface="Segoe UI"/>
                        </a:rPr>
                        <a:t>Territory</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Baseline</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Contest
enrollments</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Volume
growth</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Percent
growth</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Final
score</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ctr"/>
                      <a:r>
                        <a:rPr lang="en-US" sz="1300" b="1" i="1">
                          <a:solidFill>
                            <a:srgbClr val="FFFFFF"/>
                          </a:solidFill>
                          <a:latin typeface="Segoe UI"/>
                          <a:cs typeface="Segoe UI"/>
                        </a:rPr>
                        <a:t>Place</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2318578082"/>
                  </a:ext>
                </a:extLst>
              </a:tr>
              <a:tr h="431800">
                <a:tc>
                  <a:txBody>
                    <a:bodyPr/>
                    <a:lstStyle/>
                    <a:p>
                      <a:pPr algn="l"/>
                      <a:r>
                        <a:rPr lang="en-US" sz="1400" b="1">
                          <a:solidFill>
                            <a:srgbClr val="000000"/>
                          </a:solidFill>
                          <a:latin typeface="Segoe UI"/>
                          <a:cs typeface="Segoe UI"/>
                        </a:rPr>
                        <a:t>Indiana / KY</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15</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21</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+6</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+40%</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1.0</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1">
                          <a:solidFill>
                            <a:srgbClr val="000000"/>
                          </a:solidFill>
                          <a:latin typeface="Segoe UI"/>
                          <a:cs typeface="Segoe UI"/>
                        </a:rPr>
                        <a:t>1st</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882734132"/>
                  </a:ext>
                </a:extLst>
              </a:tr>
              <a:tr h="431800">
                <a:tc>
                  <a:txBody>
                    <a:bodyPr/>
                    <a:lstStyle/>
                    <a:p>
                      <a:pPr algn="l"/>
                      <a:r>
                        <a:rPr lang="en-US" sz="1400" b="0">
                          <a:solidFill>
                            <a:srgbClr val="000000"/>
                          </a:solidFill>
                          <a:latin typeface="Segoe UI"/>
                          <a:cs typeface="Segoe UI"/>
                        </a:rPr>
                        <a:t>Eastern OH</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18</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22</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+4</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+22%</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2.0</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2nd</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43928860"/>
                  </a:ext>
                </a:extLst>
              </a:tr>
              <a:tr h="431800">
                <a:tc>
                  <a:txBody>
                    <a:bodyPr/>
                    <a:lstStyle/>
                    <a:p>
                      <a:pPr algn="l"/>
                      <a:r>
                        <a:rPr lang="en-US" sz="1400" b="0">
                          <a:solidFill>
                            <a:srgbClr val="000000"/>
                          </a:solidFill>
                          <a:latin typeface="Segoe UI"/>
                          <a:cs typeface="Segoe UI"/>
                        </a:rPr>
                        <a:t>Carolinas</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20</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21</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+1</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+5%</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3.0</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ctr"/>
                      <a:r>
                        <a:rPr lang="en-US" sz="1400" b="0">
                          <a:solidFill>
                            <a:srgbClr val="000000"/>
                          </a:solidFill>
                          <a:latin typeface="Segoe UI"/>
                          <a:cs typeface="Segoe UI"/>
                        </a:rPr>
                        <a:t>3rd</a:t>
                      </a:r>
                    </a:p>
                  </a:txBody>
                  <a:tcPr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3749822191"/>
                  </a:ext>
                </a:extLst>
              </a:tr>
            </a:tbl>
          </a:graphicData>
        </a:graphic>
      </p:graphicFrame>
    </p:spTree>
    <p:extLst>
      <p:ext uri="{BB962C8B-B14F-4D97-AF65-F5344CB8AC3E}">
        <p14:creationId xmlns:p14="http://schemas.microsoft.com/office/powerpoint/2010/main" val="2167900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PAYOUT</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The prize pool uses fixed shares, so leadership can adjust the budget without redesigning the contest</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7</a:t>
            </a:r>
            <a:endParaRPr lang="en-US" sz="900" dirty="0"/>
          </a:p>
        </p:txBody>
      </p:sp>
      <p:sp>
        <p:nvSpPr>
          <p:cNvPr id="13" name="Shape 11"/>
          <p:cNvSpPr/>
          <p:nvPr/>
        </p:nvSpPr>
        <p:spPr>
          <a:xfrm>
            <a:off x="566928" y="1874520"/>
            <a:ext cx="2743200" cy="1371600"/>
          </a:xfrm>
          <a:prstGeom prst="roundRect">
            <a:avLst>
              <a:gd name="adj" fmla="val 5333"/>
            </a:avLst>
          </a:prstGeom>
          <a:solidFill>
            <a:srgbClr val="17344F"/>
          </a:solidFill>
          <a:ln/>
        </p:spPr>
        <p:txBody>
          <a:bodyPr/>
          <a:lstStyle/>
          <a:p>
            <a:endParaRPr lang="en-US"/>
          </a:p>
        </p:txBody>
      </p:sp>
      <p:sp>
        <p:nvSpPr>
          <p:cNvPr id="14" name="Text 12"/>
          <p:cNvSpPr/>
          <p:nvPr/>
        </p:nvSpPr>
        <p:spPr>
          <a:xfrm>
            <a:off x="566928" y="2011680"/>
            <a:ext cx="2743200" cy="274320"/>
          </a:xfrm>
          <a:prstGeom prst="rect">
            <a:avLst/>
          </a:prstGeom>
          <a:noFill/>
          <a:ln/>
        </p:spPr>
        <p:txBody>
          <a:bodyPr wrap="square" lIns="0" tIns="0" rIns="0" bIns="0" rtlCol="0" anchor="ctr"/>
          <a:lstStyle/>
          <a:p>
            <a:pPr marL="0" indent="0" algn="ctr">
              <a:buNone/>
            </a:pPr>
            <a:r>
              <a:rPr lang="en-US" sz="1100" b="1" kern="0" spc="200" dirty="0">
                <a:solidFill>
                  <a:srgbClr val="CFE3A0"/>
                </a:solidFill>
                <a:latin typeface="Segoe UI" pitchFamily="34" charset="0"/>
                <a:ea typeface="Segoe UI" pitchFamily="34" charset="-122"/>
                <a:cs typeface="Segoe UI" pitchFamily="34" charset="-120"/>
              </a:rPr>
              <a:t>PRIZE POT</a:t>
            </a:r>
            <a:endParaRPr lang="en-US" sz="1100" dirty="0"/>
          </a:p>
        </p:txBody>
      </p:sp>
      <p:sp>
        <p:nvSpPr>
          <p:cNvPr id="15" name="Text 13"/>
          <p:cNvSpPr/>
          <p:nvPr/>
        </p:nvSpPr>
        <p:spPr>
          <a:xfrm>
            <a:off x="566928" y="2286000"/>
            <a:ext cx="274320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Segoe UI" pitchFamily="34" charset="0"/>
                <a:ea typeface="Segoe UI" pitchFamily="34" charset="-122"/>
                <a:cs typeface="Segoe UI" pitchFamily="34" charset="-120"/>
              </a:rPr>
              <a:t>$30,000</a:t>
            </a:r>
            <a:endParaRPr lang="en-US" sz="3600" dirty="0"/>
          </a:p>
        </p:txBody>
      </p:sp>
      <p:sp>
        <p:nvSpPr>
          <p:cNvPr id="16" name="Text 14"/>
          <p:cNvSpPr/>
          <p:nvPr/>
        </p:nvSpPr>
        <p:spPr>
          <a:xfrm>
            <a:off x="566928" y="2907792"/>
            <a:ext cx="2743200" cy="274320"/>
          </a:xfrm>
          <a:prstGeom prst="rect">
            <a:avLst/>
          </a:prstGeom>
          <a:noFill/>
          <a:ln/>
        </p:spPr>
        <p:txBody>
          <a:bodyPr wrap="square" lIns="0" tIns="0" rIns="0" bIns="0" rtlCol="0" anchor="ctr"/>
          <a:lstStyle/>
          <a:p>
            <a:pPr marL="0" indent="0" algn="ctr">
              <a:buNone/>
            </a:pPr>
            <a:r>
              <a:rPr lang="en-US" sz="1050" i="1" dirty="0">
                <a:solidFill>
                  <a:srgbClr val="BFD7E6"/>
                </a:solidFill>
                <a:latin typeface="Segoe UI" pitchFamily="34" charset="0"/>
                <a:ea typeface="Segoe UI" pitchFamily="34" charset="-122"/>
                <a:cs typeface="Segoe UI" pitchFamily="34" charset="-120"/>
              </a:rPr>
              <a:t>illustrative, final confirmation needed</a:t>
            </a:r>
          </a:p>
        </p:txBody>
      </p:sp>
      <p:sp>
        <p:nvSpPr>
          <p:cNvPr id="17" name="Shape 15"/>
          <p:cNvSpPr/>
          <p:nvPr/>
        </p:nvSpPr>
        <p:spPr>
          <a:xfrm>
            <a:off x="3401568" y="2395728"/>
            <a:ext cx="384048" cy="329184"/>
          </a:xfrm>
          <a:prstGeom prst="rightArrow">
            <a:avLst/>
          </a:prstGeom>
          <a:solidFill>
            <a:srgbClr val="8A8A80"/>
          </a:solidFill>
          <a:ln/>
        </p:spPr>
        <p:txBody>
          <a:bodyPr/>
          <a:lstStyle/>
          <a:p>
            <a:endParaRPr lang="en-US"/>
          </a:p>
        </p:txBody>
      </p:sp>
      <p:sp>
        <p:nvSpPr>
          <p:cNvPr id="18" name="Shape 16"/>
          <p:cNvSpPr/>
          <p:nvPr/>
        </p:nvSpPr>
        <p:spPr>
          <a:xfrm>
            <a:off x="3931920" y="1874520"/>
            <a:ext cx="2377440" cy="1371600"/>
          </a:xfrm>
          <a:prstGeom prst="roundRect">
            <a:avLst>
              <a:gd name="adj" fmla="val 4000"/>
            </a:avLst>
          </a:prstGeom>
          <a:solidFill>
            <a:srgbClr val="F7F9F1"/>
          </a:solidFill>
          <a:ln w="15875">
            <a:solidFill>
              <a:srgbClr val="567A2E"/>
            </a:solidFill>
            <a:prstDash val="solid"/>
          </a:ln>
        </p:spPr>
        <p:txBody>
          <a:bodyPr/>
          <a:lstStyle/>
          <a:p>
            <a:endParaRPr lang="en-US"/>
          </a:p>
        </p:txBody>
      </p:sp>
      <p:sp>
        <p:nvSpPr>
          <p:cNvPr id="19" name="Text 17"/>
          <p:cNvSpPr/>
          <p:nvPr/>
        </p:nvSpPr>
        <p:spPr>
          <a:xfrm>
            <a:off x="3931920" y="2011680"/>
            <a:ext cx="2377440" cy="292608"/>
          </a:xfrm>
          <a:prstGeom prst="rect">
            <a:avLst/>
          </a:prstGeom>
          <a:noFill/>
          <a:ln/>
        </p:spPr>
        <p:txBody>
          <a:bodyPr wrap="square" lIns="0" tIns="0" rIns="0" bIns="0" rtlCol="0" anchor="ctr"/>
          <a:lstStyle/>
          <a:p>
            <a:pPr marL="0" indent="0" algn="ctr">
              <a:buNone/>
            </a:pPr>
            <a:r>
              <a:rPr lang="en-US" sz="1300" b="1" dirty="0">
                <a:solidFill>
                  <a:srgbClr val="567A2E"/>
                </a:solidFill>
                <a:latin typeface="Segoe UI" pitchFamily="34" charset="0"/>
                <a:ea typeface="Segoe UI" pitchFamily="34" charset="-122"/>
                <a:cs typeface="Segoe UI" pitchFamily="34" charset="-120"/>
              </a:rPr>
              <a:t>1st place</a:t>
            </a:r>
            <a:endParaRPr lang="en-US" sz="1300" dirty="0"/>
          </a:p>
        </p:txBody>
      </p:sp>
      <p:sp>
        <p:nvSpPr>
          <p:cNvPr id="20" name="Text 18"/>
          <p:cNvSpPr/>
          <p:nvPr/>
        </p:nvSpPr>
        <p:spPr>
          <a:xfrm>
            <a:off x="3931920" y="2304288"/>
            <a:ext cx="2377440" cy="566928"/>
          </a:xfrm>
          <a:prstGeom prst="rect">
            <a:avLst/>
          </a:prstGeom>
          <a:noFill/>
          <a:ln/>
        </p:spPr>
        <p:txBody>
          <a:bodyPr wrap="square" lIns="0" tIns="0" rIns="0" bIns="0" rtlCol="0" anchor="ctr"/>
          <a:lstStyle/>
          <a:p>
            <a:pPr marL="0" indent="0" algn="ctr">
              <a:buNone/>
            </a:pPr>
            <a:r>
              <a:rPr lang="en-US" sz="3200" b="1" dirty="0">
                <a:solidFill>
                  <a:srgbClr val="17344F"/>
                </a:solidFill>
                <a:latin typeface="Segoe UI" pitchFamily="34" charset="0"/>
                <a:ea typeface="Segoe UI" pitchFamily="34" charset="-122"/>
                <a:cs typeface="Segoe UI" pitchFamily="34" charset="-120"/>
              </a:rPr>
              <a:t>16.67%</a:t>
            </a:r>
            <a:endParaRPr lang="en-US" sz="3200" dirty="0"/>
          </a:p>
        </p:txBody>
      </p:sp>
      <p:sp>
        <p:nvSpPr>
          <p:cNvPr id="21" name="Text 19"/>
          <p:cNvSpPr/>
          <p:nvPr/>
        </p:nvSpPr>
        <p:spPr>
          <a:xfrm>
            <a:off x="3931920" y="2889504"/>
            <a:ext cx="2377440" cy="274320"/>
          </a:xfrm>
          <a:prstGeom prst="rect">
            <a:avLst/>
          </a:prstGeom>
          <a:noFill/>
          <a:ln/>
        </p:spPr>
        <p:txBody>
          <a:bodyPr wrap="square" lIns="0" tIns="0" rIns="0" bIns="0" rtlCol="0" anchor="ctr"/>
          <a:lstStyle/>
          <a:p>
            <a:pPr marL="0" indent="0" algn="ctr">
              <a:buNone/>
            </a:pPr>
            <a:r>
              <a:rPr lang="en-US" sz="1000" dirty="0">
                <a:solidFill>
                  <a:srgbClr val="3D5A66"/>
                </a:solidFill>
                <a:latin typeface="Segoe UI" pitchFamily="34" charset="0"/>
                <a:ea typeface="Segoe UI" pitchFamily="34" charset="-122"/>
                <a:cs typeface="Segoe UI" pitchFamily="34" charset="-120"/>
              </a:rPr>
              <a:t>of the pot, per group</a:t>
            </a:r>
            <a:endParaRPr lang="en-US" sz="1000" dirty="0"/>
          </a:p>
        </p:txBody>
      </p:sp>
      <p:sp>
        <p:nvSpPr>
          <p:cNvPr id="22" name="Shape 20"/>
          <p:cNvSpPr/>
          <p:nvPr/>
        </p:nvSpPr>
        <p:spPr>
          <a:xfrm>
            <a:off x="6537960" y="1874520"/>
            <a:ext cx="2377440" cy="1371600"/>
          </a:xfrm>
          <a:prstGeom prst="roundRect">
            <a:avLst>
              <a:gd name="adj" fmla="val 4000"/>
            </a:avLst>
          </a:prstGeom>
          <a:solidFill>
            <a:srgbClr val="F7F9F1"/>
          </a:solidFill>
          <a:ln w="15875">
            <a:solidFill>
              <a:srgbClr val="2E6DA4"/>
            </a:solidFill>
            <a:prstDash val="solid"/>
          </a:ln>
        </p:spPr>
        <p:txBody>
          <a:bodyPr/>
          <a:lstStyle/>
          <a:p>
            <a:endParaRPr lang="en-US"/>
          </a:p>
        </p:txBody>
      </p:sp>
      <p:sp>
        <p:nvSpPr>
          <p:cNvPr id="23" name="Text 21"/>
          <p:cNvSpPr/>
          <p:nvPr/>
        </p:nvSpPr>
        <p:spPr>
          <a:xfrm>
            <a:off x="6537960" y="2011680"/>
            <a:ext cx="2377440" cy="292608"/>
          </a:xfrm>
          <a:prstGeom prst="rect">
            <a:avLst/>
          </a:prstGeom>
          <a:noFill/>
          <a:ln/>
        </p:spPr>
        <p:txBody>
          <a:bodyPr wrap="square" lIns="0" tIns="0" rIns="0" bIns="0" rtlCol="0" anchor="ctr"/>
          <a:lstStyle/>
          <a:p>
            <a:pPr marL="0" indent="0" algn="ctr">
              <a:buNone/>
            </a:pPr>
            <a:r>
              <a:rPr lang="en-US" sz="1300" b="1" dirty="0">
                <a:solidFill>
                  <a:srgbClr val="2E6DA4"/>
                </a:solidFill>
                <a:latin typeface="Segoe UI" pitchFamily="34" charset="0"/>
                <a:ea typeface="Segoe UI" pitchFamily="34" charset="-122"/>
                <a:cs typeface="Segoe UI" pitchFamily="34" charset="-120"/>
              </a:rPr>
              <a:t>2nd place</a:t>
            </a:r>
            <a:endParaRPr lang="en-US" sz="1300" dirty="0"/>
          </a:p>
        </p:txBody>
      </p:sp>
      <p:sp>
        <p:nvSpPr>
          <p:cNvPr id="24" name="Text 22"/>
          <p:cNvSpPr/>
          <p:nvPr/>
        </p:nvSpPr>
        <p:spPr>
          <a:xfrm>
            <a:off x="6537960" y="2304288"/>
            <a:ext cx="2377440" cy="566928"/>
          </a:xfrm>
          <a:prstGeom prst="rect">
            <a:avLst/>
          </a:prstGeom>
          <a:noFill/>
          <a:ln/>
        </p:spPr>
        <p:txBody>
          <a:bodyPr wrap="square" lIns="0" tIns="0" rIns="0" bIns="0" rtlCol="0" anchor="ctr"/>
          <a:lstStyle/>
          <a:p>
            <a:pPr marL="0" indent="0" algn="ctr">
              <a:buNone/>
            </a:pPr>
            <a:r>
              <a:rPr lang="en-US" sz="3200" b="1" dirty="0">
                <a:solidFill>
                  <a:srgbClr val="17344F"/>
                </a:solidFill>
                <a:latin typeface="Segoe UI" pitchFamily="34" charset="0"/>
                <a:ea typeface="Segoe UI" pitchFamily="34" charset="-122"/>
                <a:cs typeface="Segoe UI" pitchFamily="34" charset="-120"/>
              </a:rPr>
              <a:t>10%</a:t>
            </a:r>
            <a:endParaRPr lang="en-US" sz="3200" dirty="0"/>
          </a:p>
        </p:txBody>
      </p:sp>
      <p:sp>
        <p:nvSpPr>
          <p:cNvPr id="25" name="Text 23"/>
          <p:cNvSpPr/>
          <p:nvPr/>
        </p:nvSpPr>
        <p:spPr>
          <a:xfrm>
            <a:off x="6537960" y="2889504"/>
            <a:ext cx="2377440" cy="274320"/>
          </a:xfrm>
          <a:prstGeom prst="rect">
            <a:avLst/>
          </a:prstGeom>
          <a:noFill/>
          <a:ln/>
        </p:spPr>
        <p:txBody>
          <a:bodyPr wrap="square" lIns="0" tIns="0" rIns="0" bIns="0" rtlCol="0" anchor="ctr"/>
          <a:lstStyle/>
          <a:p>
            <a:pPr marL="0" indent="0" algn="ctr">
              <a:buNone/>
            </a:pPr>
            <a:r>
              <a:rPr lang="en-US" sz="1000" dirty="0">
                <a:solidFill>
                  <a:srgbClr val="3D5A66"/>
                </a:solidFill>
                <a:latin typeface="Segoe UI" pitchFamily="34" charset="0"/>
                <a:ea typeface="Segoe UI" pitchFamily="34" charset="-122"/>
                <a:cs typeface="Segoe UI" pitchFamily="34" charset="-120"/>
              </a:rPr>
              <a:t>of the pot, per group</a:t>
            </a:r>
            <a:endParaRPr lang="en-US" sz="1000" dirty="0"/>
          </a:p>
        </p:txBody>
      </p:sp>
      <p:sp>
        <p:nvSpPr>
          <p:cNvPr id="26" name="Shape 24"/>
          <p:cNvSpPr/>
          <p:nvPr/>
        </p:nvSpPr>
        <p:spPr>
          <a:xfrm>
            <a:off x="9144000" y="1874520"/>
            <a:ext cx="2377440" cy="1371600"/>
          </a:xfrm>
          <a:prstGeom prst="roundRect">
            <a:avLst>
              <a:gd name="adj" fmla="val 4000"/>
            </a:avLst>
          </a:prstGeom>
          <a:solidFill>
            <a:srgbClr val="F7F9F1"/>
          </a:solidFill>
          <a:ln w="15875">
            <a:solidFill>
              <a:srgbClr val="7F8B8F"/>
            </a:solidFill>
            <a:prstDash val="solid"/>
          </a:ln>
        </p:spPr>
        <p:txBody>
          <a:bodyPr/>
          <a:lstStyle/>
          <a:p>
            <a:endParaRPr lang="en-US"/>
          </a:p>
        </p:txBody>
      </p:sp>
      <p:sp>
        <p:nvSpPr>
          <p:cNvPr id="27" name="Text 25"/>
          <p:cNvSpPr/>
          <p:nvPr/>
        </p:nvSpPr>
        <p:spPr>
          <a:xfrm>
            <a:off x="9144000" y="2011680"/>
            <a:ext cx="2377440" cy="292608"/>
          </a:xfrm>
          <a:prstGeom prst="rect">
            <a:avLst/>
          </a:prstGeom>
          <a:noFill/>
          <a:ln/>
        </p:spPr>
        <p:txBody>
          <a:bodyPr wrap="square" lIns="0" tIns="0" rIns="0" bIns="0" rtlCol="0" anchor="ctr"/>
          <a:lstStyle/>
          <a:p>
            <a:pPr marL="0" indent="0" algn="ctr">
              <a:buNone/>
            </a:pPr>
            <a:r>
              <a:rPr lang="en-US" sz="1300" b="1" dirty="0">
                <a:solidFill>
                  <a:srgbClr val="7F8B8F"/>
                </a:solidFill>
                <a:latin typeface="Segoe UI" pitchFamily="34" charset="0"/>
                <a:ea typeface="Segoe UI" pitchFamily="34" charset="-122"/>
                <a:cs typeface="Segoe UI" pitchFamily="34" charset="-120"/>
              </a:rPr>
              <a:t>Quality prize</a:t>
            </a:r>
            <a:endParaRPr lang="en-US" sz="1300" dirty="0"/>
          </a:p>
        </p:txBody>
      </p:sp>
      <p:sp>
        <p:nvSpPr>
          <p:cNvPr id="28" name="Text 26"/>
          <p:cNvSpPr/>
          <p:nvPr/>
        </p:nvSpPr>
        <p:spPr>
          <a:xfrm>
            <a:off x="9144000" y="2304288"/>
            <a:ext cx="2377440" cy="566928"/>
          </a:xfrm>
          <a:prstGeom prst="rect">
            <a:avLst/>
          </a:prstGeom>
          <a:noFill/>
          <a:ln/>
        </p:spPr>
        <p:txBody>
          <a:bodyPr wrap="square" lIns="0" tIns="0" rIns="0" bIns="0" rtlCol="0" anchor="ctr"/>
          <a:lstStyle/>
          <a:p>
            <a:pPr marL="0" indent="0" algn="ctr">
              <a:buNone/>
            </a:pPr>
            <a:r>
              <a:rPr lang="en-US" sz="3200" b="1" dirty="0">
                <a:solidFill>
                  <a:srgbClr val="17344F"/>
                </a:solidFill>
                <a:latin typeface="Segoe UI" pitchFamily="34" charset="0"/>
                <a:ea typeface="Segoe UI" pitchFamily="34" charset="-122"/>
                <a:cs typeface="Segoe UI" pitchFamily="34" charset="-120"/>
              </a:rPr>
              <a:t>6.67%</a:t>
            </a:r>
            <a:endParaRPr lang="en-US" sz="3200" dirty="0"/>
          </a:p>
        </p:txBody>
      </p:sp>
      <p:sp>
        <p:nvSpPr>
          <p:cNvPr id="29" name="Text 27"/>
          <p:cNvSpPr/>
          <p:nvPr/>
        </p:nvSpPr>
        <p:spPr>
          <a:xfrm>
            <a:off x="9144000" y="2889504"/>
            <a:ext cx="2377440" cy="274320"/>
          </a:xfrm>
          <a:prstGeom prst="rect">
            <a:avLst/>
          </a:prstGeom>
          <a:noFill/>
          <a:ln/>
        </p:spPr>
        <p:txBody>
          <a:bodyPr wrap="square" lIns="0" tIns="0" rIns="0" bIns="0" rtlCol="0" anchor="ctr"/>
          <a:lstStyle/>
          <a:p>
            <a:pPr marL="0" indent="0" algn="ctr">
              <a:buNone/>
            </a:pPr>
            <a:r>
              <a:rPr lang="en-US" sz="1000" dirty="0">
                <a:solidFill>
                  <a:srgbClr val="3D5A66"/>
                </a:solidFill>
                <a:latin typeface="Segoe UI" pitchFamily="34" charset="0"/>
                <a:ea typeface="Segoe UI" pitchFamily="34" charset="-122"/>
                <a:cs typeface="Segoe UI" pitchFamily="34" charset="-120"/>
              </a:rPr>
              <a:t>of the pot, per group</a:t>
            </a:r>
            <a:endParaRPr lang="en-US" sz="1000" dirty="0"/>
          </a:p>
        </p:txBody>
      </p:sp>
      <p:sp>
        <p:nvSpPr>
          <p:cNvPr id="30" name="Text 28"/>
          <p:cNvSpPr/>
          <p:nvPr/>
        </p:nvSpPr>
        <p:spPr>
          <a:xfrm>
            <a:off x="566928" y="3611880"/>
            <a:ext cx="2926080" cy="365760"/>
          </a:xfrm>
          <a:prstGeom prst="rect">
            <a:avLst/>
          </a:prstGeom>
          <a:noFill/>
          <a:ln/>
        </p:spPr>
        <p:txBody>
          <a:bodyPr wrap="square" lIns="0" tIns="0" rIns="0" bIns="0" rtlCol="0" anchor="ctr"/>
          <a:lstStyle/>
          <a:p>
            <a:pPr marL="0" indent="0">
              <a:buNone/>
            </a:pPr>
            <a:r>
              <a:rPr lang="en-US" sz="1200" b="1" dirty="0">
                <a:solidFill>
                  <a:srgbClr val="17344F"/>
                </a:solidFill>
                <a:latin typeface="Segoe UI" pitchFamily="34" charset="0"/>
                <a:ea typeface="Segoe UI" pitchFamily="34" charset="-122"/>
                <a:cs typeface="Segoe UI" pitchFamily="34" charset="-120"/>
              </a:rPr>
              <a:t>Across all three groups:</a:t>
            </a:r>
            <a:endParaRPr lang="en-US" sz="1200" dirty="0"/>
          </a:p>
        </p:txBody>
      </p:sp>
      <p:sp>
        <p:nvSpPr>
          <p:cNvPr id="31" name="Shape 29"/>
          <p:cNvSpPr/>
          <p:nvPr/>
        </p:nvSpPr>
        <p:spPr>
          <a:xfrm>
            <a:off x="3566160" y="3639312"/>
            <a:ext cx="4023360" cy="365760"/>
          </a:xfrm>
          <a:prstGeom prst="rect">
            <a:avLst/>
          </a:prstGeom>
          <a:solidFill>
            <a:srgbClr val="567A2E"/>
          </a:solidFill>
          <a:ln/>
        </p:spPr>
        <p:txBody>
          <a:bodyPr/>
          <a:lstStyle/>
          <a:p>
            <a:endParaRPr lang="en-US"/>
          </a:p>
        </p:txBody>
      </p:sp>
      <p:sp>
        <p:nvSpPr>
          <p:cNvPr id="32" name="Text 30"/>
          <p:cNvSpPr/>
          <p:nvPr/>
        </p:nvSpPr>
        <p:spPr>
          <a:xfrm>
            <a:off x="3566160" y="3639312"/>
            <a:ext cx="40233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1st, 50%</a:t>
            </a:r>
            <a:endParaRPr lang="en-US" sz="1100" dirty="0"/>
          </a:p>
        </p:txBody>
      </p:sp>
      <p:sp>
        <p:nvSpPr>
          <p:cNvPr id="33" name="Shape 31"/>
          <p:cNvSpPr/>
          <p:nvPr/>
        </p:nvSpPr>
        <p:spPr>
          <a:xfrm>
            <a:off x="7589520" y="3639312"/>
            <a:ext cx="2414016" cy="365760"/>
          </a:xfrm>
          <a:prstGeom prst="rect">
            <a:avLst/>
          </a:prstGeom>
          <a:solidFill>
            <a:srgbClr val="2E6DA4"/>
          </a:solidFill>
          <a:ln/>
        </p:spPr>
        <p:txBody>
          <a:bodyPr/>
          <a:lstStyle/>
          <a:p>
            <a:endParaRPr lang="en-US"/>
          </a:p>
        </p:txBody>
      </p:sp>
      <p:sp>
        <p:nvSpPr>
          <p:cNvPr id="34" name="Text 32"/>
          <p:cNvSpPr/>
          <p:nvPr/>
        </p:nvSpPr>
        <p:spPr>
          <a:xfrm>
            <a:off x="7589520" y="3639312"/>
            <a:ext cx="2414016"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2nd, 30%</a:t>
            </a:r>
            <a:endParaRPr lang="en-US" sz="1100" dirty="0"/>
          </a:p>
        </p:txBody>
      </p:sp>
      <p:sp>
        <p:nvSpPr>
          <p:cNvPr id="35" name="Shape 33"/>
          <p:cNvSpPr/>
          <p:nvPr/>
        </p:nvSpPr>
        <p:spPr>
          <a:xfrm>
            <a:off x="10003536" y="3639312"/>
            <a:ext cx="1609344" cy="365760"/>
          </a:xfrm>
          <a:prstGeom prst="rect">
            <a:avLst/>
          </a:prstGeom>
          <a:solidFill>
            <a:srgbClr val="7F8B8F"/>
          </a:solidFill>
          <a:ln/>
        </p:spPr>
        <p:txBody>
          <a:bodyPr/>
          <a:lstStyle/>
          <a:p>
            <a:endParaRPr lang="en-US"/>
          </a:p>
        </p:txBody>
      </p:sp>
      <p:sp>
        <p:nvSpPr>
          <p:cNvPr id="36" name="Text 34"/>
          <p:cNvSpPr/>
          <p:nvPr/>
        </p:nvSpPr>
        <p:spPr>
          <a:xfrm>
            <a:off x="10003536" y="3639312"/>
            <a:ext cx="1609344"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Quality, 20%</a:t>
            </a:r>
            <a:endParaRPr lang="en-US" sz="1100" dirty="0"/>
          </a:p>
        </p:txBody>
      </p:sp>
      <p:sp>
        <p:nvSpPr>
          <p:cNvPr id="37" name="Shape 35"/>
          <p:cNvSpPr/>
          <p:nvPr/>
        </p:nvSpPr>
        <p:spPr>
          <a:xfrm>
            <a:off x="566928" y="4343400"/>
            <a:ext cx="5440680" cy="1325880"/>
          </a:xfrm>
          <a:prstGeom prst="roundRect">
            <a:avLst>
              <a:gd name="adj" fmla="val 4138"/>
            </a:avLst>
          </a:prstGeom>
          <a:solidFill>
            <a:srgbClr val="F7F9F1"/>
          </a:solidFill>
          <a:ln w="9525">
            <a:solidFill>
              <a:srgbClr val="D6DBC9"/>
            </a:solidFill>
            <a:prstDash val="solid"/>
          </a:ln>
        </p:spPr>
        <p:txBody>
          <a:bodyPr/>
          <a:lstStyle/>
          <a:p>
            <a:endParaRPr lang="en-US"/>
          </a:p>
        </p:txBody>
      </p:sp>
      <p:sp>
        <p:nvSpPr>
          <p:cNvPr id="38" name="Text 36"/>
          <p:cNvSpPr/>
          <p:nvPr/>
        </p:nvSpPr>
        <p:spPr>
          <a:xfrm>
            <a:off x="749808" y="4480560"/>
            <a:ext cx="5120640" cy="274320"/>
          </a:xfrm>
          <a:prstGeom prst="rect">
            <a:avLst/>
          </a:prstGeom>
          <a:noFill/>
          <a:ln/>
        </p:spPr>
        <p:txBody>
          <a:bodyPr wrap="square" lIns="0" tIns="0" rIns="0" bIns="0" rtlCol="0" anchor="ctr"/>
          <a:lstStyle/>
          <a:p>
            <a:pPr marL="0" indent="0">
              <a:buNone/>
            </a:pPr>
            <a:r>
              <a:rPr lang="en-US" sz="1300" b="1" dirty="0">
                <a:solidFill>
                  <a:srgbClr val="2F5D8A"/>
                </a:solidFill>
                <a:latin typeface="Segoe UI" pitchFamily="34" charset="0"/>
                <a:ea typeface="Segoe UI" pitchFamily="34" charset="-122"/>
                <a:cs typeface="Segoe UI" pitchFamily="34" charset="-120"/>
              </a:rPr>
              <a:t>Keep it competitive</a:t>
            </a:r>
            <a:endParaRPr lang="en-US" sz="1300" dirty="0"/>
          </a:p>
        </p:txBody>
      </p:sp>
      <p:sp>
        <p:nvSpPr>
          <p:cNvPr id="39" name="Text 37"/>
          <p:cNvSpPr/>
          <p:nvPr/>
        </p:nvSpPr>
        <p:spPr>
          <a:xfrm>
            <a:off x="749808" y="4773168"/>
            <a:ext cx="5120640" cy="868680"/>
          </a:xfrm>
          <a:prstGeom prst="rect">
            <a:avLst/>
          </a:prstGeom>
          <a:noFill/>
          <a:ln/>
        </p:spPr>
        <p:txBody>
          <a:bodyPr wrap="square" lIns="0" tIns="0" rIns="0" bIns="0" rtlCol="0" anchor="t"/>
          <a:lstStyle/>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A live leaderboard for each group during the contest</a:t>
            </a:r>
            <a:endParaRPr lang="en-US" sz="1100" dirty="0"/>
          </a:p>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Track who is moving enrollments to TTP for the quality prize</a:t>
            </a:r>
            <a:endParaRPr lang="en-US" sz="1100" dirty="0"/>
          </a:p>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Every group has winners, low volume territories included</a:t>
            </a:r>
            <a:endParaRPr lang="en-US" sz="1100" dirty="0"/>
          </a:p>
        </p:txBody>
      </p:sp>
      <p:sp>
        <p:nvSpPr>
          <p:cNvPr id="40" name="Shape 38"/>
          <p:cNvSpPr/>
          <p:nvPr/>
        </p:nvSpPr>
        <p:spPr>
          <a:xfrm>
            <a:off x="6190488" y="4343400"/>
            <a:ext cx="5440680" cy="1325880"/>
          </a:xfrm>
          <a:prstGeom prst="roundRect">
            <a:avLst>
              <a:gd name="adj" fmla="val 4138"/>
            </a:avLst>
          </a:prstGeom>
          <a:solidFill>
            <a:srgbClr val="F7F9F1"/>
          </a:solidFill>
          <a:ln w="9525">
            <a:solidFill>
              <a:srgbClr val="D6DBC9"/>
            </a:solidFill>
            <a:prstDash val="solid"/>
          </a:ln>
        </p:spPr>
        <p:txBody>
          <a:bodyPr/>
          <a:lstStyle/>
          <a:p>
            <a:endParaRPr lang="en-US"/>
          </a:p>
        </p:txBody>
      </p:sp>
      <p:sp>
        <p:nvSpPr>
          <p:cNvPr id="41" name="Text 39"/>
          <p:cNvSpPr/>
          <p:nvPr/>
        </p:nvSpPr>
        <p:spPr>
          <a:xfrm>
            <a:off x="6373368" y="4480560"/>
            <a:ext cx="5120640" cy="274320"/>
          </a:xfrm>
          <a:prstGeom prst="rect">
            <a:avLst/>
          </a:prstGeom>
          <a:noFill/>
          <a:ln/>
        </p:spPr>
        <p:txBody>
          <a:bodyPr wrap="square" lIns="0" tIns="0" rIns="0" bIns="0" rtlCol="0" anchor="ctr"/>
          <a:lstStyle/>
          <a:p>
            <a:pPr marL="0" indent="0">
              <a:buNone/>
            </a:pPr>
            <a:r>
              <a:rPr lang="en-US" sz="1300" b="1" dirty="0">
                <a:solidFill>
                  <a:srgbClr val="2F5D8A"/>
                </a:solidFill>
                <a:latin typeface="Segoe UI" pitchFamily="34" charset="0"/>
                <a:ea typeface="Segoe UI" pitchFamily="34" charset="-122"/>
                <a:cs typeface="Segoe UI" pitchFamily="34" charset="-120"/>
              </a:rPr>
              <a:t>What that means at $30,000</a:t>
            </a:r>
            <a:endParaRPr lang="en-US" sz="1300" dirty="0"/>
          </a:p>
        </p:txBody>
      </p:sp>
      <p:sp>
        <p:nvSpPr>
          <p:cNvPr id="42" name="Text 40"/>
          <p:cNvSpPr/>
          <p:nvPr/>
        </p:nvSpPr>
        <p:spPr>
          <a:xfrm>
            <a:off x="6373368" y="4773168"/>
            <a:ext cx="5120640" cy="868680"/>
          </a:xfrm>
          <a:prstGeom prst="rect">
            <a:avLst/>
          </a:prstGeom>
          <a:noFill/>
          <a:ln/>
        </p:spPr>
        <p:txBody>
          <a:bodyPr wrap="square" lIns="0" tIns="0" rIns="0" bIns="0" rtlCol="0" anchor="t"/>
          <a:lstStyle/>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Per group, first about $5,000, second $3,000, quality about $2,000</a:t>
            </a:r>
            <a:endParaRPr lang="en-US" sz="1100" dirty="0"/>
          </a:p>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That is $10,000 a group, and three groups makes $30,000</a:t>
            </a:r>
            <a:endParaRPr lang="en-US" sz="1100" dirty="0"/>
          </a:p>
          <a:p>
            <a:pPr marL="177800" indent="-177800">
              <a:lnSpc>
                <a:spcPct val="103000"/>
              </a:lnSpc>
              <a:buSzPct val="100000"/>
              <a:buChar char="•"/>
            </a:pPr>
            <a:r>
              <a:rPr lang="en-US" sz="1100" dirty="0">
                <a:solidFill>
                  <a:srgbClr val="17344F"/>
                </a:solidFill>
                <a:latin typeface="Segoe UI" pitchFamily="34" charset="0"/>
                <a:ea typeface="Segoe UI" pitchFamily="34" charset="-122"/>
                <a:cs typeface="Segoe UI" pitchFamily="34" charset="-120"/>
              </a:rPr>
              <a:t>A bigger or smaller pot uses the very same shares</a:t>
            </a:r>
            <a:endParaRPr lang="en-US" sz="1100" dirty="0"/>
          </a:p>
        </p:txBody>
      </p:sp>
      <p:sp>
        <p:nvSpPr>
          <p:cNvPr id="43" name="Text 41"/>
          <p:cNvSpPr/>
          <p:nvPr/>
        </p:nvSpPr>
        <p:spPr>
          <a:xfrm>
            <a:off x="566928" y="6345936"/>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ea typeface="Segoe UI" pitchFamily="34" charset="-122"/>
                <a:cs typeface="Segoe UI" pitchFamily="34" charset="-120"/>
              </a:rPr>
              <a:t>The pot is set up as a formula, so if leadership picks a different budget every prize updates on its own.</a:t>
            </a:r>
          </a:p>
        </p:txBody>
      </p:sp>
    </p:spTree>
    <p:extLst>
      <p:ext uri="{BB962C8B-B14F-4D97-AF65-F5344CB8AC3E}">
        <p14:creationId xmlns:p14="http://schemas.microsoft.com/office/powerpoint/2010/main" val="23156095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94C3395-2CF4-7C4C-AF6A-A4A45159D157}">
  <we:reference id="wa200010001" version="1.0.0.1" store="en-US" storeType="OMEX"/>
  <we:alternateReferences>
    <we:reference id="wa200010001" version="1.0.0.1" store="en-US" storeType="OMEX"/>
  </we:alternateReferences>
  <we:properties>
    <we:property name="claude.fileId" value="&quot;6fdb1c44-bde7-4162-86be-44dd48d102d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161</TotalTime>
  <Words>2016</Words>
  <Application>Microsoft Macintosh PowerPoint</Application>
  <PresentationFormat>Widescreen</PresentationFormat>
  <Paragraphs>314</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Cambria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Proposed 3Q 2026 AMTAGVI Enrollment Contest</dc:title>
  <dc:subject>PptxGenJS Presentation</dc:subject>
  <dc:creator>BAI Team</dc:creator>
  <cp:lastModifiedBy>Srinidhi Gowda</cp:lastModifiedBy>
  <cp:revision>5</cp:revision>
  <dcterms:created xsi:type="dcterms:W3CDTF">2026-07-16T16:21:08Z</dcterms:created>
  <dcterms:modified xsi:type="dcterms:W3CDTF">2026-07-17T14:41:08Z</dcterms:modified>
</cp:coreProperties>
</file>