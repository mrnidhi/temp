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3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63840" y="0"/>
            <a:ext cx="4325112" cy="1051560"/>
          </a:xfrm>
          <a:prstGeom prst="rect">
            <a:avLst/>
          </a:prstGeom>
          <a:solidFill>
            <a:srgbClr val="9DC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16752"/>
            <a:ext cx="12191695" cy="566928"/>
          </a:xfrm>
          <a:prstGeom prst="rect">
            <a:avLst/>
          </a:prstGeom>
          <a:solidFill>
            <a:srgbClr val="9DC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6400800" cy="822960"/>
          </a:xfrm>
          <a:prstGeom prst="rect">
            <a:avLst/>
          </a:prstGeom>
          <a:noFill/>
        </p:spPr>
        <p:txBody>
          <a:bodyPr wrap="square" anchor="t" lIns="0" rIns="0" tIns="0" bIns="0">
            <a:spAutoFit/>
          </a:bodyPr>
          <a:lstStyle/>
          <a:p>
            <a:pPr algn="l"/>
            <a:r>
              <a:rPr sz="4000" b="1" i="0">
                <a:solidFill>
                  <a:srgbClr val="FFFFFF"/>
                </a:solidFill>
                <a:latin typeface="Segoe UI"/>
              </a:rPr>
              <a:t>I</a:t>
            </a:r>
            <a:r>
              <a:rPr sz="4000" b="1" i="0">
                <a:solidFill>
                  <a:srgbClr val="9DC13C"/>
                </a:solidFill>
                <a:latin typeface="Segoe UI"/>
              </a:rPr>
              <a:t>O</a:t>
            </a:r>
            <a:r>
              <a:rPr sz="4000" b="1" i="0">
                <a:solidFill>
                  <a:srgbClr val="FFFFFF"/>
                </a:solidFill>
                <a:latin typeface="Segoe UI"/>
              </a:rPr>
              <a:t>VANCE</a:t>
            </a:r>
          </a:p>
          <a:p>
            <a:pPr algn="l"/>
            <a:r>
              <a:rPr sz="1200" b="1" i="0">
                <a:solidFill>
                  <a:srgbClr val="9DC13C"/>
                </a:solidFill>
                <a:latin typeface="Segoe UI"/>
              </a:rPr>
              <a:t>B I O T H E R A P E U T I C S</a:t>
            </a:r>
          </a:p>
        </p:txBody>
      </p:sp>
      <p:sp>
        <p:nvSpPr>
          <p:cNvPr id="6" name="TextBox 5"/>
          <p:cNvSpPr txBox="1"/>
          <p:nvPr/>
        </p:nvSpPr>
        <p:spPr>
          <a:xfrm>
            <a:off x="822960" y="3017520"/>
            <a:ext cx="9692640" cy="1645920"/>
          </a:xfrm>
          <a:prstGeom prst="rect">
            <a:avLst/>
          </a:prstGeom>
          <a:noFill/>
        </p:spPr>
        <p:txBody>
          <a:bodyPr wrap="square" anchor="t" lIns="0" rIns="0" tIns="0" bIns="0">
            <a:spAutoFit/>
          </a:bodyPr>
          <a:lstStyle/>
          <a:p>
            <a:pPr algn="l"/>
            <a:r>
              <a:rPr sz="3000" b="1" i="0">
                <a:solidFill>
                  <a:srgbClr val="FFFFFF"/>
                </a:solidFill>
                <a:latin typeface="Segoe UI"/>
              </a:rPr>
              <a:t>Redesigning the P&amp;PR scorecard so a centre review reads in one look</a:t>
            </a:r>
          </a:p>
        </p:txBody>
      </p:sp>
      <p:sp>
        <p:nvSpPr>
          <p:cNvPr id="7" name="TextBox 6"/>
          <p:cNvSpPr txBox="1"/>
          <p:nvPr/>
        </p:nvSpPr>
        <p:spPr>
          <a:xfrm>
            <a:off x="822960" y="4663440"/>
            <a:ext cx="7315200" cy="365760"/>
          </a:xfrm>
          <a:prstGeom prst="rect">
            <a:avLst/>
          </a:prstGeom>
          <a:noFill/>
        </p:spPr>
        <p:txBody>
          <a:bodyPr wrap="square" anchor="t" lIns="0" rIns="0" tIns="0" bIns="0">
            <a:spAutoFit/>
          </a:bodyPr>
          <a:lstStyle/>
          <a:p>
            <a:pPr algn="l"/>
            <a:r>
              <a:rPr sz="1200" b="0" i="0">
                <a:solidFill>
                  <a:srgbClr val="9DC13C"/>
                </a:solidFill>
                <a:latin typeface="Segoe UI"/>
              </a:rPr>
              <a:t>Business Analytics and Insights  |  July 2026</a:t>
            </a:r>
          </a:p>
        </p:txBody>
      </p:sp>
      <p:sp>
        <p:nvSpPr>
          <p:cNvPr id="8" name="TextBox 7"/>
          <p:cNvSpPr txBox="1"/>
          <p:nvPr/>
        </p:nvSpPr>
        <p:spPr>
          <a:xfrm>
            <a:off x="822960" y="6126480"/>
            <a:ext cx="8229600" cy="365760"/>
          </a:xfrm>
          <a:prstGeom prst="rect">
            <a:avLst/>
          </a:prstGeom>
          <a:noFill/>
        </p:spPr>
        <p:txBody>
          <a:bodyPr wrap="square" anchor="t" lIns="0" rIns="0" tIns="0" bIns="0">
            <a:spAutoFit/>
          </a:bodyPr>
          <a:lstStyle/>
          <a:p>
            <a:pPr algn="l"/>
            <a:r>
              <a:rPr sz="1300" b="1" i="0">
                <a:solidFill>
                  <a:srgbClr val="FFFFFF"/>
                </a:solidFill>
                <a:latin typeface="Segoe UI"/>
              </a:rPr>
              <a:t>A D V A N C I N G   I M M U N O - O N C O L O G Y</a:t>
            </a:r>
          </a:p>
        </p:txBody>
      </p:sp>
      <p:sp>
        <p:nvSpPr>
          <p:cNvPr id="9" name="TextBox 8"/>
          <p:cNvSpPr txBox="1"/>
          <p:nvPr/>
        </p:nvSpPr>
        <p:spPr>
          <a:xfrm>
            <a:off x="822960" y="6620256"/>
            <a:ext cx="8229600" cy="182880"/>
          </a:xfrm>
          <a:prstGeom prst="rect">
            <a:avLst/>
          </a:prstGeom>
          <a:noFill/>
        </p:spPr>
        <p:txBody>
          <a:bodyPr wrap="square" anchor="t" lIns="0" rIns="0" tIns="0" bIns="0">
            <a:spAutoFit/>
          </a:bodyPr>
          <a:lstStyle/>
          <a:p>
            <a:pPr algn="l"/>
            <a:r>
              <a:rPr sz="800" b="0" i="0">
                <a:solidFill>
                  <a:srgbClr val="FFFFFF"/>
                </a:solidFill>
                <a:latin typeface="Segoe UI"/>
              </a:rPr>
              <a:t>© 2025, Iovance Biotherapeutics, Inc.  |  Confidential for Internal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anchor="t" lIns="0" rIns="0" tIns="0" bIns="0">
            <a:spAutoFit/>
          </a:bodyPr>
          <a:lstStyle/>
          <a:p>
            <a:pPr algn="l"/>
            <a:r>
              <a:rPr sz="1100" b="1" i="0">
                <a:solidFill>
                  <a:srgbClr val="2F5D8A"/>
                </a:solidFill>
                <a:latin typeface="Segoe UI"/>
              </a:rPr>
              <a:t>P&amp;PR Scorecard  |  The problem today</a:t>
            </a:r>
          </a:p>
        </p:txBody>
      </p:sp>
      <p:sp>
        <p:nvSpPr>
          <p:cNvPr id="3" name="TextBox 2"/>
          <p:cNvSpPr txBox="1"/>
          <p:nvPr/>
        </p:nvSpPr>
        <p:spPr>
          <a:xfrm>
            <a:off x="566928" y="676656"/>
            <a:ext cx="10561320" cy="786384"/>
          </a:xfrm>
          <a:prstGeom prst="rect">
            <a:avLst/>
          </a:prstGeom>
          <a:noFill/>
        </p:spPr>
        <p:txBody>
          <a:bodyPr wrap="square" anchor="t" lIns="0" rIns="0" tIns="0" bIns="0">
            <a:spAutoFit/>
          </a:bodyPr>
          <a:lstStyle/>
          <a:p>
            <a:pPr algn="l"/>
            <a:r>
              <a:rPr sz="2100" b="1" i="0">
                <a:solidFill>
                  <a:srgbClr val="17344F"/>
                </a:solidFill>
                <a:latin typeface="Segoe UI"/>
              </a:rPr>
              <a:t>One centre review takes over an hour by hand, and two reps can get two different answers</a:t>
            </a:r>
          </a:p>
        </p:txBody>
      </p:sp>
      <p:sp>
        <p:nvSpPr>
          <p:cNvPr id="4" name="Rectangle 3"/>
          <p:cNvSpPr/>
          <p:nvPr/>
        </p:nvSpPr>
        <p:spPr>
          <a:xfrm>
            <a:off x="25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8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65392"/>
            <a:ext cx="6400800" cy="228600"/>
          </a:xfrm>
          <a:prstGeom prst="rect">
            <a:avLst/>
          </a:prstGeom>
          <a:noFill/>
        </p:spPr>
        <p:txBody>
          <a:bodyPr wrap="square" anchor="t" lIns="0" rIns="0" tIns="0" bIns="0">
            <a:spAutoFit/>
          </a:bodyPr>
          <a:lstStyle/>
          <a:p>
            <a:pPr algn="l"/>
            <a:r>
              <a:rPr sz="850" b="0" i="0">
                <a:solidFill>
                  <a:srgbClr val="FFFFFF"/>
                </a:solidFill>
                <a:latin typeface="Segoe UI"/>
              </a:rPr>
              <a:t>© 2025, Iovance Biotherapeutics, Inc.  |  Confidential for Internal Use Only</a:t>
            </a:r>
          </a:p>
        </p:txBody>
      </p:sp>
      <p:sp>
        <p:nvSpPr>
          <p:cNvPr id="8" name="TextBox 7"/>
          <p:cNvSpPr txBox="1"/>
          <p:nvPr/>
        </p:nvSpPr>
        <p:spPr>
          <a:xfrm>
            <a:off x="9966960" y="6556248"/>
            <a:ext cx="1554480" cy="237744"/>
          </a:xfrm>
          <a:prstGeom prst="rect">
            <a:avLst/>
          </a:prstGeom>
          <a:noFill/>
        </p:spPr>
        <p:txBody>
          <a:bodyPr wrap="square" anchor="t" lIns="0" rIns="0" tIns="0" bIns="0">
            <a:spAutoFit/>
          </a:bodyPr>
          <a:lstStyle/>
          <a:p>
            <a:pPr algn="r"/>
            <a:r>
              <a:rPr sz="1100" b="1" i="0">
                <a:solidFill>
                  <a:srgbClr val="FFFFFF"/>
                </a:solidFill>
                <a:latin typeface="Segoe UI"/>
              </a:rPr>
              <a:t>I O V A N C E</a:t>
            </a:r>
          </a:p>
        </p:txBody>
      </p:sp>
      <p:sp>
        <p:nvSpPr>
          <p:cNvPr id="9" name="Rectangle 8"/>
          <p:cNvSpPr/>
          <p:nvPr/>
        </p:nvSpPr>
        <p:spPr>
          <a:xfrm>
            <a:off x="11686032" y="6556248"/>
            <a:ext cx="237744"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6032" y="6583680"/>
            <a:ext cx="237744" cy="182880"/>
          </a:xfrm>
          <a:prstGeom prst="rect">
            <a:avLst/>
          </a:prstGeom>
          <a:noFill/>
        </p:spPr>
        <p:txBody>
          <a:bodyPr wrap="square" anchor="t" lIns="0" rIns="0" tIns="0" bIns="0">
            <a:spAutoFit/>
          </a:bodyPr>
          <a:lstStyle/>
          <a:p>
            <a:pPr algn="ctr"/>
            <a:r>
              <a:rPr sz="800" b="1" i="0">
                <a:solidFill>
                  <a:srgbClr val="567A2E"/>
                </a:solidFill>
                <a:latin typeface="Segoe UI"/>
              </a:rPr>
              <a:t>2</a:t>
            </a:r>
          </a:p>
        </p:txBody>
      </p:sp>
      <p:sp>
        <p:nvSpPr>
          <p:cNvPr id="11" name="Rectangle 10"/>
          <p:cNvSpPr/>
          <p:nvPr/>
        </p:nvSpPr>
        <p:spPr>
          <a:xfrm>
            <a:off x="566928" y="1965960"/>
            <a:ext cx="2606040" cy="1298448"/>
          </a:xfrm>
          <a:prstGeom prst="rect">
            <a:avLst/>
          </a:prstGeom>
          <a:solidFill>
            <a:srgbClr val="F2F5F8"/>
          </a:solidFill>
          <a:ln w="6350">
            <a:solidFill>
              <a:srgbClr val="8A97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21408"/>
            <a:ext cx="2194560" cy="274320"/>
          </a:xfrm>
          <a:prstGeom prst="rect">
            <a:avLst/>
          </a:prstGeom>
          <a:noFill/>
        </p:spPr>
        <p:txBody>
          <a:bodyPr wrap="square" anchor="t" lIns="0" rIns="0" tIns="0" bIns="0">
            <a:spAutoFit/>
          </a:bodyPr>
          <a:lstStyle/>
          <a:p>
            <a:pPr algn="l"/>
            <a:r>
              <a:rPr sz="1400" b="1" i="0">
                <a:solidFill>
                  <a:srgbClr val="567A2E"/>
                </a:solidFill>
                <a:latin typeface="Segoe UI"/>
              </a:rPr>
              <a:t>Download</a:t>
            </a:r>
          </a:p>
        </p:txBody>
      </p:sp>
      <p:sp>
        <p:nvSpPr>
          <p:cNvPr id="13" name="TextBox 12"/>
          <p:cNvSpPr txBox="1"/>
          <p:nvPr/>
        </p:nvSpPr>
        <p:spPr>
          <a:xfrm>
            <a:off x="768096" y="2487168"/>
            <a:ext cx="2286000" cy="731520"/>
          </a:xfrm>
          <a:prstGeom prst="rect">
            <a:avLst/>
          </a:prstGeom>
          <a:noFill/>
        </p:spPr>
        <p:txBody>
          <a:bodyPr wrap="square" anchor="t" lIns="0" rIns="0" tIns="0" bIns="0">
            <a:spAutoFit/>
          </a:bodyPr>
          <a:lstStyle/>
          <a:p>
            <a:pPr algn="l"/>
            <a:r>
              <a:rPr sz="1100" b="0" i="0">
                <a:solidFill>
                  <a:srgbClr val="26333D"/>
                </a:solidFill>
                <a:latin typeface="Segoe UI"/>
              </a:rPr>
              <a:t>Pull the balanced scorecard
and six more reports out of
Infinity, one at a time</a:t>
            </a:r>
          </a:p>
        </p:txBody>
      </p:sp>
      <p:sp>
        <p:nvSpPr>
          <p:cNvPr id="14" name="Rectangle 13"/>
          <p:cNvSpPr/>
          <p:nvPr/>
        </p:nvSpPr>
        <p:spPr>
          <a:xfrm>
            <a:off x="3328416" y="1965960"/>
            <a:ext cx="2606040" cy="1298448"/>
          </a:xfrm>
          <a:prstGeom prst="rect">
            <a:avLst/>
          </a:prstGeom>
          <a:solidFill>
            <a:srgbClr val="F2F5F8"/>
          </a:solidFill>
          <a:ln w="6350">
            <a:solidFill>
              <a:srgbClr val="8A97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9584" y="2121408"/>
            <a:ext cx="2194560" cy="274320"/>
          </a:xfrm>
          <a:prstGeom prst="rect">
            <a:avLst/>
          </a:prstGeom>
          <a:noFill/>
        </p:spPr>
        <p:txBody>
          <a:bodyPr wrap="square" anchor="t" lIns="0" rIns="0" tIns="0" bIns="0">
            <a:spAutoFit/>
          </a:bodyPr>
          <a:lstStyle/>
          <a:p>
            <a:pPr algn="l"/>
            <a:r>
              <a:rPr sz="1400" b="1" i="0">
                <a:solidFill>
                  <a:srgbClr val="567A2E"/>
                </a:solidFill>
                <a:latin typeface="Segoe UI"/>
              </a:rPr>
              <a:t>Paste</a:t>
            </a:r>
          </a:p>
        </p:txBody>
      </p:sp>
      <p:sp>
        <p:nvSpPr>
          <p:cNvPr id="16" name="TextBox 15"/>
          <p:cNvSpPr txBox="1"/>
          <p:nvPr/>
        </p:nvSpPr>
        <p:spPr>
          <a:xfrm>
            <a:off x="3529584" y="2487168"/>
            <a:ext cx="2286000" cy="731520"/>
          </a:xfrm>
          <a:prstGeom prst="rect">
            <a:avLst/>
          </a:prstGeom>
          <a:noFill/>
        </p:spPr>
        <p:txBody>
          <a:bodyPr wrap="square" anchor="t" lIns="0" rIns="0" tIns="0" bIns="0">
            <a:spAutoFit/>
          </a:bodyPr>
          <a:lstStyle/>
          <a:p>
            <a:pPr algn="l"/>
            <a:r>
              <a:rPr sz="1100" b="0" i="0">
                <a:solidFill>
                  <a:srgbClr val="26333D"/>
                </a:solidFill>
                <a:latin typeface="Segoe UI"/>
              </a:rPr>
              <a:t>Drop them into an Excel that
computes launch-to-date
against quartiles</a:t>
            </a:r>
          </a:p>
        </p:txBody>
      </p:sp>
      <p:sp>
        <p:nvSpPr>
          <p:cNvPr id="17" name="Rectangle 16"/>
          <p:cNvSpPr/>
          <p:nvPr/>
        </p:nvSpPr>
        <p:spPr>
          <a:xfrm>
            <a:off x="6089904" y="1965960"/>
            <a:ext cx="2606040" cy="1298448"/>
          </a:xfrm>
          <a:prstGeom prst="rect">
            <a:avLst/>
          </a:prstGeom>
          <a:solidFill>
            <a:srgbClr val="F2F5F8"/>
          </a:solidFill>
          <a:ln w="6350">
            <a:solidFill>
              <a:srgbClr val="8A97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2121408"/>
            <a:ext cx="2194560" cy="274320"/>
          </a:xfrm>
          <a:prstGeom prst="rect">
            <a:avLst/>
          </a:prstGeom>
          <a:noFill/>
        </p:spPr>
        <p:txBody>
          <a:bodyPr wrap="square" anchor="t" lIns="0" rIns="0" tIns="0" bIns="0">
            <a:spAutoFit/>
          </a:bodyPr>
          <a:lstStyle/>
          <a:p>
            <a:pPr algn="l"/>
            <a:r>
              <a:rPr sz="1400" b="1" i="0">
                <a:solidFill>
                  <a:srgbClr val="567A2E"/>
                </a:solidFill>
                <a:latin typeface="Segoe UI"/>
              </a:rPr>
              <a:t>Rebuild</a:t>
            </a:r>
          </a:p>
        </p:txBody>
      </p:sp>
      <p:sp>
        <p:nvSpPr>
          <p:cNvPr id="19" name="TextBox 18"/>
          <p:cNvSpPr txBox="1"/>
          <p:nvPr/>
        </p:nvSpPr>
        <p:spPr>
          <a:xfrm>
            <a:off x="6291072" y="2487168"/>
            <a:ext cx="2286000" cy="731520"/>
          </a:xfrm>
          <a:prstGeom prst="rect">
            <a:avLst/>
          </a:prstGeom>
          <a:noFill/>
        </p:spPr>
        <p:txBody>
          <a:bodyPr wrap="square" anchor="t" lIns="0" rIns="0" tIns="0" bIns="0">
            <a:spAutoFit/>
          </a:bodyPr>
          <a:lstStyle/>
          <a:p>
            <a:pPr algn="l"/>
            <a:r>
              <a:rPr sz="1100" b="0" i="0">
                <a:solidFill>
                  <a:srgbClr val="26333D"/>
                </a:solidFill>
                <a:latin typeface="Segoe UI"/>
              </a:rPr>
              <a:t>Retype the numbers onto a
slide, reshaped for whichever
region asked</a:t>
            </a:r>
          </a:p>
        </p:txBody>
      </p:sp>
      <p:sp>
        <p:nvSpPr>
          <p:cNvPr id="20" name="Rectangle 19"/>
          <p:cNvSpPr/>
          <p:nvPr/>
        </p:nvSpPr>
        <p:spPr>
          <a:xfrm>
            <a:off x="8851392" y="1965960"/>
            <a:ext cx="2606040" cy="1298448"/>
          </a:xfrm>
          <a:prstGeom prst="rect">
            <a:avLst/>
          </a:prstGeom>
          <a:solidFill>
            <a:srgbClr val="F2F5F8"/>
          </a:solidFill>
          <a:ln w="6350">
            <a:solidFill>
              <a:srgbClr val="8A97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0" y="2121408"/>
            <a:ext cx="2194560" cy="274320"/>
          </a:xfrm>
          <a:prstGeom prst="rect">
            <a:avLst/>
          </a:prstGeom>
          <a:noFill/>
        </p:spPr>
        <p:txBody>
          <a:bodyPr wrap="square" anchor="t" lIns="0" rIns="0" tIns="0" bIns="0">
            <a:spAutoFit/>
          </a:bodyPr>
          <a:lstStyle/>
          <a:p>
            <a:pPr algn="l"/>
            <a:r>
              <a:rPr sz="1400" b="1" i="0">
                <a:solidFill>
                  <a:srgbClr val="567A2E"/>
                </a:solidFill>
                <a:latin typeface="Segoe UI"/>
              </a:rPr>
              <a:t>Repeat</a:t>
            </a:r>
          </a:p>
        </p:txBody>
      </p:sp>
      <p:sp>
        <p:nvSpPr>
          <p:cNvPr id="22" name="TextBox 21"/>
          <p:cNvSpPr txBox="1"/>
          <p:nvPr/>
        </p:nvSpPr>
        <p:spPr>
          <a:xfrm>
            <a:off x="9052560" y="2487168"/>
            <a:ext cx="2286000" cy="731520"/>
          </a:xfrm>
          <a:prstGeom prst="rect">
            <a:avLst/>
          </a:prstGeom>
          <a:noFill/>
        </p:spPr>
        <p:txBody>
          <a:bodyPr wrap="square" anchor="t" lIns="0" rIns="0" tIns="0" bIns="0">
            <a:spAutoFit/>
          </a:bodyPr>
          <a:lstStyle/>
          <a:p>
            <a:pPr algn="l"/>
            <a:r>
              <a:rPr sz="1100" b="0" i="0">
                <a:solidFill>
                  <a:srgbClr val="26333D"/>
                </a:solidFill>
                <a:latin typeface="Segoe UI"/>
              </a:rPr>
              <a:t>Do it again for the next
centre. Eighty-five centres,
no two decks alike</a:t>
            </a:r>
          </a:p>
        </p:txBody>
      </p:sp>
      <p:sp>
        <p:nvSpPr>
          <p:cNvPr id="23" name="Rectangle 22"/>
          <p:cNvSpPr/>
          <p:nvPr/>
        </p:nvSpPr>
        <p:spPr>
          <a:xfrm>
            <a:off x="566928" y="3749039"/>
            <a:ext cx="10881360" cy="1298448"/>
          </a:xfrm>
          <a:prstGeom prst="rect">
            <a:avLst/>
          </a:prstGeom>
          <a:solidFill>
            <a:srgbClr val="FFFFFF"/>
          </a:solidFill>
          <a:ln w="15875">
            <a:solidFill>
              <a:srgbClr val="173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931920"/>
            <a:ext cx="10332720" cy="1005840"/>
          </a:xfrm>
          <a:prstGeom prst="rect">
            <a:avLst/>
          </a:prstGeom>
          <a:noFill/>
        </p:spPr>
        <p:txBody>
          <a:bodyPr wrap="square" anchor="t" lIns="0" rIns="0" tIns="0" bIns="0">
            <a:spAutoFit/>
          </a:bodyPr>
          <a:lstStyle/>
          <a:p>
            <a:pPr algn="l">
              <a:spcAft>
                <a:spcPts val="600"/>
              </a:spcAft>
            </a:pPr>
            <a:r>
              <a:rPr sz="1300" b="1" i="0">
                <a:solidFill>
                  <a:srgbClr val="17344F"/>
                </a:solidFill>
                <a:latin typeface="Segoe UI"/>
              </a:rPr>
              <a:t>What it costs</a:t>
            </a:r>
          </a:p>
          <a:p>
            <a:pPr algn="l">
              <a:spcAft>
                <a:spcPts val="600"/>
              </a:spcAft>
            </a:pPr>
            <a:r>
              <a:rPr sz="1200" b="0" i="0">
                <a:solidFill>
                  <a:srgbClr val="26333D"/>
                </a:solidFill>
                <a:latin typeface="Segoe UI"/>
              </a:rPr>
              <a:t>About an hour and a half per centre, and the output is not uniform. In Kolin's words the reps get different answers, he gives one number and somebody else gives another. The quartile columns were meant to help and they do the opposite: he says they confuse the sales folks and they confuse the people in the treatment centres, and the team is actively moving away from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anchor="t" lIns="0" rIns="0" tIns="0" bIns="0">
            <a:spAutoFit/>
          </a:bodyPr>
          <a:lstStyle/>
          <a:p>
            <a:pPr algn="l"/>
            <a:r>
              <a:rPr sz="1100" b="1" i="0">
                <a:solidFill>
                  <a:srgbClr val="2F5D8A"/>
                </a:solidFill>
                <a:latin typeface="Segoe UI"/>
              </a:rPr>
              <a:t>P&amp;PR Scorecard  |  Who reads it</a:t>
            </a:r>
          </a:p>
        </p:txBody>
      </p:sp>
      <p:sp>
        <p:nvSpPr>
          <p:cNvPr id="3" name="TextBox 2"/>
          <p:cNvSpPr txBox="1"/>
          <p:nvPr/>
        </p:nvSpPr>
        <p:spPr>
          <a:xfrm>
            <a:off x="566928" y="676656"/>
            <a:ext cx="10561320" cy="786384"/>
          </a:xfrm>
          <a:prstGeom prst="rect">
            <a:avLst/>
          </a:prstGeom>
          <a:noFill/>
        </p:spPr>
        <p:txBody>
          <a:bodyPr wrap="square" anchor="t" lIns="0" rIns="0" tIns="0" bIns="0">
            <a:spAutoFit/>
          </a:bodyPr>
          <a:lstStyle/>
          <a:p>
            <a:pPr algn="l"/>
            <a:r>
              <a:rPr sz="2100" b="1" i="0">
                <a:solidFill>
                  <a:srgbClr val="17344F"/>
                </a:solidFill>
                <a:latin typeface="Segoe UI"/>
              </a:rPr>
              <a:t>A centre asks three questions, and the table has to answer all three on its own</a:t>
            </a:r>
          </a:p>
        </p:txBody>
      </p:sp>
      <p:sp>
        <p:nvSpPr>
          <p:cNvPr id="4" name="Rectangle 3"/>
          <p:cNvSpPr/>
          <p:nvPr/>
        </p:nvSpPr>
        <p:spPr>
          <a:xfrm>
            <a:off x="25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8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65392"/>
            <a:ext cx="6400800" cy="228600"/>
          </a:xfrm>
          <a:prstGeom prst="rect">
            <a:avLst/>
          </a:prstGeom>
          <a:noFill/>
        </p:spPr>
        <p:txBody>
          <a:bodyPr wrap="square" anchor="t" lIns="0" rIns="0" tIns="0" bIns="0">
            <a:spAutoFit/>
          </a:bodyPr>
          <a:lstStyle/>
          <a:p>
            <a:pPr algn="l"/>
            <a:r>
              <a:rPr sz="850" b="0" i="0">
                <a:solidFill>
                  <a:srgbClr val="FFFFFF"/>
                </a:solidFill>
                <a:latin typeface="Segoe UI"/>
              </a:rPr>
              <a:t>© 2025, Iovance Biotherapeutics, Inc.  |  Confidential for Internal Use Only</a:t>
            </a:r>
          </a:p>
        </p:txBody>
      </p:sp>
      <p:sp>
        <p:nvSpPr>
          <p:cNvPr id="8" name="TextBox 7"/>
          <p:cNvSpPr txBox="1"/>
          <p:nvPr/>
        </p:nvSpPr>
        <p:spPr>
          <a:xfrm>
            <a:off x="9966960" y="6556248"/>
            <a:ext cx="1554480" cy="237744"/>
          </a:xfrm>
          <a:prstGeom prst="rect">
            <a:avLst/>
          </a:prstGeom>
          <a:noFill/>
        </p:spPr>
        <p:txBody>
          <a:bodyPr wrap="square" anchor="t" lIns="0" rIns="0" tIns="0" bIns="0">
            <a:spAutoFit/>
          </a:bodyPr>
          <a:lstStyle/>
          <a:p>
            <a:pPr algn="r"/>
            <a:r>
              <a:rPr sz="1100" b="1" i="0">
                <a:solidFill>
                  <a:srgbClr val="FFFFFF"/>
                </a:solidFill>
                <a:latin typeface="Segoe UI"/>
              </a:rPr>
              <a:t>I O V A N C E</a:t>
            </a:r>
          </a:p>
        </p:txBody>
      </p:sp>
      <p:sp>
        <p:nvSpPr>
          <p:cNvPr id="9" name="Rectangle 8"/>
          <p:cNvSpPr/>
          <p:nvPr/>
        </p:nvSpPr>
        <p:spPr>
          <a:xfrm>
            <a:off x="11686032" y="6556248"/>
            <a:ext cx="237744"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6032" y="6583680"/>
            <a:ext cx="237744" cy="182880"/>
          </a:xfrm>
          <a:prstGeom prst="rect">
            <a:avLst/>
          </a:prstGeom>
          <a:noFill/>
        </p:spPr>
        <p:txBody>
          <a:bodyPr wrap="square" anchor="t" lIns="0" rIns="0" tIns="0" bIns="0">
            <a:spAutoFit/>
          </a:bodyPr>
          <a:lstStyle/>
          <a:p>
            <a:pPr algn="ctr"/>
            <a:r>
              <a:rPr sz="800" b="1" i="0">
                <a:solidFill>
                  <a:srgbClr val="567A2E"/>
                </a:solidFill>
                <a:latin typeface="Segoe UI"/>
              </a:rPr>
              <a:t>3</a:t>
            </a:r>
          </a:p>
        </p:txBody>
      </p:sp>
      <p:sp>
        <p:nvSpPr>
          <p:cNvPr id="11" name="Rectangle 10"/>
          <p:cNvSpPr/>
          <p:nvPr/>
        </p:nvSpPr>
        <p:spPr>
          <a:xfrm>
            <a:off x="566928" y="1828800"/>
            <a:ext cx="3520440" cy="2514600"/>
          </a:xfrm>
          <a:prstGeom prst="rect">
            <a:avLst/>
          </a:prstGeom>
          <a:solidFill>
            <a:srgbClr val="FFFFFF"/>
          </a:solidFill>
          <a:ln w="12700">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057400"/>
            <a:ext cx="3017520" cy="365760"/>
          </a:xfrm>
          <a:prstGeom prst="rect">
            <a:avLst/>
          </a:prstGeom>
          <a:noFill/>
        </p:spPr>
        <p:txBody>
          <a:bodyPr wrap="square" anchor="t" lIns="0" rIns="0" tIns="0" bIns="0">
            <a:spAutoFit/>
          </a:bodyPr>
          <a:lstStyle/>
          <a:p>
            <a:pPr algn="l"/>
            <a:r>
              <a:rPr sz="1600" b="1" i="0">
                <a:solidFill>
                  <a:srgbClr val="17344F"/>
                </a:solidFill>
                <a:latin typeface="Segoe UI"/>
              </a:rPr>
              <a:t>How am I doing?</a:t>
            </a:r>
          </a:p>
        </p:txBody>
      </p:sp>
      <p:sp>
        <p:nvSpPr>
          <p:cNvPr id="13" name="TextBox 12"/>
          <p:cNvSpPr txBox="1"/>
          <p:nvPr/>
        </p:nvSpPr>
        <p:spPr>
          <a:xfrm>
            <a:off x="822960" y="2542032"/>
            <a:ext cx="3017520" cy="914400"/>
          </a:xfrm>
          <a:prstGeom prst="rect">
            <a:avLst/>
          </a:prstGeom>
          <a:noFill/>
        </p:spPr>
        <p:txBody>
          <a:bodyPr wrap="square" anchor="t" lIns="0" rIns="0" tIns="0" bIns="0">
            <a:spAutoFit/>
          </a:bodyPr>
          <a:lstStyle/>
          <a:p>
            <a:pPr algn="l"/>
            <a:r>
              <a:rPr sz="1150" b="0" i="0">
                <a:solidFill>
                  <a:srgbClr val="26333D"/>
                </a:solidFill>
                <a:latin typeface="Segoe UI"/>
              </a:rPr>
              <a:t>Their own volume and timings,
launch to date and by year</a:t>
            </a:r>
          </a:p>
        </p:txBody>
      </p:sp>
      <p:sp>
        <p:nvSpPr>
          <p:cNvPr id="14" name="Rectangle 13"/>
          <p:cNvSpPr/>
          <p:nvPr/>
        </p:nvSpPr>
        <p:spPr>
          <a:xfrm>
            <a:off x="822960" y="3493008"/>
            <a:ext cx="3017520" cy="65836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611880"/>
            <a:ext cx="2743200" cy="548640"/>
          </a:xfrm>
          <a:prstGeom prst="rect">
            <a:avLst/>
          </a:prstGeom>
          <a:noFill/>
        </p:spPr>
        <p:txBody>
          <a:bodyPr wrap="square" anchor="t" lIns="0" rIns="0" tIns="0" bIns="0">
            <a:spAutoFit/>
          </a:bodyPr>
          <a:lstStyle/>
          <a:p>
            <a:pPr algn="l"/>
            <a:r>
              <a:rPr sz="1050" b="1" i="0">
                <a:solidFill>
                  <a:srgbClr val="567A2E"/>
                </a:solidFill>
                <a:latin typeface="Segoe UI"/>
              </a:rPr>
              <a:t>Launch to Date, 2024, 2025,
2026 YTD</a:t>
            </a:r>
          </a:p>
        </p:txBody>
      </p:sp>
      <p:sp>
        <p:nvSpPr>
          <p:cNvPr id="16" name="Rectangle 15"/>
          <p:cNvSpPr/>
          <p:nvPr/>
        </p:nvSpPr>
        <p:spPr>
          <a:xfrm>
            <a:off x="4251960" y="1828800"/>
            <a:ext cx="3520440" cy="2514600"/>
          </a:xfrm>
          <a:prstGeom prst="rect">
            <a:avLst/>
          </a:prstGeom>
          <a:solidFill>
            <a:srgbClr val="FFFFFF"/>
          </a:solidFill>
          <a:ln w="12700">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2057400"/>
            <a:ext cx="3017520" cy="365760"/>
          </a:xfrm>
          <a:prstGeom prst="rect">
            <a:avLst/>
          </a:prstGeom>
          <a:noFill/>
        </p:spPr>
        <p:txBody>
          <a:bodyPr wrap="square" anchor="t" lIns="0" rIns="0" tIns="0" bIns="0">
            <a:spAutoFit/>
          </a:bodyPr>
          <a:lstStyle/>
          <a:p>
            <a:pPr algn="l"/>
            <a:r>
              <a:rPr sz="1600" b="1" i="0">
                <a:solidFill>
                  <a:srgbClr val="17344F"/>
                </a:solidFill>
                <a:latin typeface="Segoe UI"/>
              </a:rPr>
              <a:t>Compared with whom?</a:t>
            </a:r>
          </a:p>
        </p:txBody>
      </p:sp>
      <p:sp>
        <p:nvSpPr>
          <p:cNvPr id="18" name="TextBox 17"/>
          <p:cNvSpPr txBox="1"/>
          <p:nvPr/>
        </p:nvSpPr>
        <p:spPr>
          <a:xfrm>
            <a:off x="4507992" y="2542032"/>
            <a:ext cx="3017520" cy="914400"/>
          </a:xfrm>
          <a:prstGeom prst="rect">
            <a:avLst/>
          </a:prstGeom>
          <a:noFill/>
        </p:spPr>
        <p:txBody>
          <a:bodyPr wrap="square" anchor="t" lIns="0" rIns="0" tIns="0" bIns="0">
            <a:spAutoFit/>
          </a:bodyPr>
          <a:lstStyle/>
          <a:p>
            <a:pPr algn="l"/>
            <a:r>
              <a:rPr sz="1150" b="0" i="0">
                <a:solidFill>
                  <a:srgbClr val="26333D"/>
                </a:solidFill>
                <a:latin typeface="Segoe UI"/>
              </a:rPr>
              <a:t>One blinded peer group, matched
to their size. Never a named list
of other centres</a:t>
            </a:r>
          </a:p>
        </p:txBody>
      </p:sp>
      <p:sp>
        <p:nvSpPr>
          <p:cNvPr id="19" name="Rectangle 18"/>
          <p:cNvSpPr/>
          <p:nvPr/>
        </p:nvSpPr>
        <p:spPr>
          <a:xfrm>
            <a:off x="4507992" y="3493008"/>
            <a:ext cx="3017520" cy="65836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3611880"/>
            <a:ext cx="2743200" cy="548640"/>
          </a:xfrm>
          <a:prstGeom prst="rect">
            <a:avLst/>
          </a:prstGeom>
          <a:noFill/>
        </p:spPr>
        <p:txBody>
          <a:bodyPr wrap="square" anchor="t" lIns="0" rIns="0" tIns="0" bIns="0">
            <a:spAutoFit/>
          </a:bodyPr>
          <a:lstStyle/>
          <a:p>
            <a:pPr algn="l"/>
            <a:r>
              <a:rPr sz="1050" b="1" i="0">
                <a:solidFill>
                  <a:srgbClr val="567A2E"/>
                </a:solidFill>
                <a:latin typeface="Segoe UI"/>
              </a:rPr>
              <a:t>Top 10, Top 40, or New.
One arm, not all three</a:t>
            </a:r>
          </a:p>
        </p:txBody>
      </p:sp>
      <p:sp>
        <p:nvSpPr>
          <p:cNvPr id="21" name="Rectangle 20"/>
          <p:cNvSpPr/>
          <p:nvPr/>
        </p:nvSpPr>
        <p:spPr>
          <a:xfrm>
            <a:off x="7936992" y="1828800"/>
            <a:ext cx="3520440" cy="2514600"/>
          </a:xfrm>
          <a:prstGeom prst="rect">
            <a:avLst/>
          </a:prstGeom>
          <a:solidFill>
            <a:srgbClr val="FFFFFF"/>
          </a:solidFill>
          <a:ln w="12700">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93024" y="2057400"/>
            <a:ext cx="3017520" cy="365760"/>
          </a:xfrm>
          <a:prstGeom prst="rect">
            <a:avLst/>
          </a:prstGeom>
          <a:noFill/>
        </p:spPr>
        <p:txBody>
          <a:bodyPr wrap="square" anchor="t" lIns="0" rIns="0" tIns="0" bIns="0">
            <a:spAutoFit/>
          </a:bodyPr>
          <a:lstStyle/>
          <a:p>
            <a:pPr algn="l"/>
            <a:r>
              <a:rPr sz="1600" b="1" i="0">
                <a:solidFill>
                  <a:srgbClr val="17344F"/>
                </a:solidFill>
                <a:latin typeface="Segoe UI"/>
              </a:rPr>
              <a:t>Am I getting better?</a:t>
            </a:r>
          </a:p>
        </p:txBody>
      </p:sp>
      <p:sp>
        <p:nvSpPr>
          <p:cNvPr id="23" name="TextBox 22"/>
          <p:cNvSpPr txBox="1"/>
          <p:nvPr/>
        </p:nvSpPr>
        <p:spPr>
          <a:xfrm>
            <a:off x="8193024" y="2542032"/>
            <a:ext cx="3017520" cy="914400"/>
          </a:xfrm>
          <a:prstGeom prst="rect">
            <a:avLst/>
          </a:prstGeom>
          <a:noFill/>
        </p:spPr>
        <p:txBody>
          <a:bodyPr wrap="square" anchor="t" lIns="0" rIns="0" tIns="0" bIns="0">
            <a:spAutoFit/>
          </a:bodyPr>
          <a:lstStyle/>
          <a:p>
            <a:pPr algn="l"/>
            <a:r>
              <a:rPr sz="1150" b="0" i="0">
                <a:solidFill>
                  <a:srgbClr val="26333D"/>
                </a:solidFill>
                <a:latin typeface="Segoe UI"/>
              </a:rPr>
              <a:t>The last four quarters, so a centre
can see its own direction rather
than only its rank</a:t>
            </a:r>
          </a:p>
        </p:txBody>
      </p:sp>
      <p:sp>
        <p:nvSpPr>
          <p:cNvPr id="24" name="Rectangle 23"/>
          <p:cNvSpPr/>
          <p:nvPr/>
        </p:nvSpPr>
        <p:spPr>
          <a:xfrm>
            <a:off x="8193024" y="3493008"/>
            <a:ext cx="3017520" cy="65836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8472" y="3611880"/>
            <a:ext cx="2743200" cy="548640"/>
          </a:xfrm>
          <a:prstGeom prst="rect">
            <a:avLst/>
          </a:prstGeom>
          <a:noFill/>
        </p:spPr>
        <p:txBody>
          <a:bodyPr wrap="square" anchor="t" lIns="0" rIns="0" tIns="0" bIns="0">
            <a:spAutoFit/>
          </a:bodyPr>
          <a:lstStyle/>
          <a:p>
            <a:pPr algn="l"/>
            <a:r>
              <a:rPr sz="1050" b="1" i="0">
                <a:solidFill>
                  <a:srgbClr val="567A2E"/>
                </a:solidFill>
                <a:latin typeface="Segoe UI"/>
              </a:rPr>
              <a:t>Q3'26 QTD, Q2'26,
Q1'26, Q4'25</a:t>
            </a:r>
          </a:p>
        </p:txBody>
      </p:sp>
      <p:sp>
        <p:nvSpPr>
          <p:cNvPr id="26" name="TextBox 25"/>
          <p:cNvSpPr txBox="1"/>
          <p:nvPr/>
        </p:nvSpPr>
        <p:spPr>
          <a:xfrm>
            <a:off x="566928" y="4709160"/>
            <a:ext cx="10881360" cy="914400"/>
          </a:xfrm>
          <a:prstGeom prst="rect">
            <a:avLst/>
          </a:prstGeom>
          <a:noFill/>
        </p:spPr>
        <p:txBody>
          <a:bodyPr wrap="square" anchor="t" lIns="0" rIns="0" tIns="0" bIns="0">
            <a:spAutoFit/>
          </a:bodyPr>
          <a:lstStyle/>
          <a:p>
            <a:pPr algn="l"/>
            <a:r>
              <a:rPr sz="1300" b="0" i="0">
                <a:solidFill>
                  <a:srgbClr val="26333D"/>
                </a:solidFill>
                <a:latin typeface="Segoe UI"/>
              </a:rPr>
              <a:t>The template already answers all three. What it does not do is survive being rebuilt by hand every time, which is where the differing answers come from.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anchor="t" lIns="0" rIns="0" tIns="0" bIns="0">
            <a:spAutoFit/>
          </a:bodyPr>
          <a:lstStyle/>
          <a:p>
            <a:pPr algn="l"/>
            <a:r>
              <a:rPr sz="1100" b="1" i="0">
                <a:solidFill>
                  <a:srgbClr val="2F5D8A"/>
                </a:solidFill>
                <a:latin typeface="Segoe UI"/>
              </a:rPr>
              <a:t>P&amp;PR Scorecard  |  The target</a:t>
            </a:r>
          </a:p>
        </p:txBody>
      </p:sp>
      <p:sp>
        <p:nvSpPr>
          <p:cNvPr id="3" name="TextBox 2"/>
          <p:cNvSpPr txBox="1"/>
          <p:nvPr/>
        </p:nvSpPr>
        <p:spPr>
          <a:xfrm>
            <a:off x="566928" y="676656"/>
            <a:ext cx="10561320" cy="786384"/>
          </a:xfrm>
          <a:prstGeom prst="rect">
            <a:avLst/>
          </a:prstGeom>
          <a:noFill/>
        </p:spPr>
        <p:txBody>
          <a:bodyPr wrap="square" anchor="t" lIns="0" rIns="0" tIns="0" bIns="0">
            <a:spAutoFit/>
          </a:bodyPr>
          <a:lstStyle/>
          <a:p>
            <a:pPr algn="l"/>
            <a:r>
              <a:rPr sz="2100" b="1" i="0">
                <a:solidFill>
                  <a:srgbClr val="17344F"/>
                </a:solidFill>
                <a:latin typeface="Segoe UI"/>
              </a:rPr>
              <a:t>The target: three labelled blocks, one boxed comparison arm, and colour that groups rather than decorates</a:t>
            </a:r>
          </a:p>
        </p:txBody>
      </p:sp>
      <p:sp>
        <p:nvSpPr>
          <p:cNvPr id="4" name="Rectangle 3"/>
          <p:cNvSpPr/>
          <p:nvPr/>
        </p:nvSpPr>
        <p:spPr>
          <a:xfrm>
            <a:off x="25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8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65392"/>
            <a:ext cx="6400800" cy="228600"/>
          </a:xfrm>
          <a:prstGeom prst="rect">
            <a:avLst/>
          </a:prstGeom>
          <a:noFill/>
        </p:spPr>
        <p:txBody>
          <a:bodyPr wrap="square" anchor="t" lIns="0" rIns="0" tIns="0" bIns="0">
            <a:spAutoFit/>
          </a:bodyPr>
          <a:lstStyle/>
          <a:p>
            <a:pPr algn="l"/>
            <a:r>
              <a:rPr sz="850" b="0" i="0">
                <a:solidFill>
                  <a:srgbClr val="FFFFFF"/>
                </a:solidFill>
                <a:latin typeface="Segoe UI"/>
              </a:rPr>
              <a:t>© 2025, Iovance Biotherapeutics, Inc.  |  Confidential for Internal Use Only</a:t>
            </a:r>
          </a:p>
        </p:txBody>
      </p:sp>
      <p:sp>
        <p:nvSpPr>
          <p:cNvPr id="8" name="TextBox 7"/>
          <p:cNvSpPr txBox="1"/>
          <p:nvPr/>
        </p:nvSpPr>
        <p:spPr>
          <a:xfrm>
            <a:off x="9966960" y="6556248"/>
            <a:ext cx="1554480" cy="237744"/>
          </a:xfrm>
          <a:prstGeom prst="rect">
            <a:avLst/>
          </a:prstGeom>
          <a:noFill/>
        </p:spPr>
        <p:txBody>
          <a:bodyPr wrap="square" anchor="t" lIns="0" rIns="0" tIns="0" bIns="0">
            <a:spAutoFit/>
          </a:bodyPr>
          <a:lstStyle/>
          <a:p>
            <a:pPr algn="r"/>
            <a:r>
              <a:rPr sz="1100" b="1" i="0">
                <a:solidFill>
                  <a:srgbClr val="FFFFFF"/>
                </a:solidFill>
                <a:latin typeface="Segoe UI"/>
              </a:rPr>
              <a:t>I O V A N C E</a:t>
            </a:r>
          </a:p>
        </p:txBody>
      </p:sp>
      <p:sp>
        <p:nvSpPr>
          <p:cNvPr id="9" name="Rectangle 8"/>
          <p:cNvSpPr/>
          <p:nvPr/>
        </p:nvSpPr>
        <p:spPr>
          <a:xfrm>
            <a:off x="11686032" y="6556248"/>
            <a:ext cx="237744"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6032" y="6583680"/>
            <a:ext cx="237744" cy="182880"/>
          </a:xfrm>
          <a:prstGeom prst="rect">
            <a:avLst/>
          </a:prstGeom>
          <a:noFill/>
        </p:spPr>
        <p:txBody>
          <a:bodyPr wrap="square" anchor="t" lIns="0" rIns="0" tIns="0" bIns="0">
            <a:spAutoFit/>
          </a:bodyPr>
          <a:lstStyle/>
          <a:p>
            <a:pPr algn="ctr"/>
            <a:r>
              <a:rPr sz="800" b="1" i="0">
                <a:solidFill>
                  <a:srgbClr val="567A2E"/>
                </a:solidFill>
                <a:latin typeface="Segoe UI"/>
              </a:rPr>
              <a:t>4</a:t>
            </a:r>
          </a:p>
        </p:txBody>
      </p:sp>
      <p:sp>
        <p:nvSpPr>
          <p:cNvPr id="11" name="Rectangle 10"/>
          <p:cNvSpPr/>
          <p:nvPr/>
        </p:nvSpPr>
        <p:spPr>
          <a:xfrm>
            <a:off x="566928" y="1965960"/>
            <a:ext cx="3441069" cy="210677"/>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83516"/>
            <a:ext cx="3386205" cy="210677"/>
          </a:xfrm>
          <a:prstGeom prst="rect">
            <a:avLst/>
          </a:prstGeom>
          <a:noFill/>
        </p:spPr>
        <p:txBody>
          <a:bodyPr wrap="square" anchor="ctr" lIns="0" rIns="0" tIns="0" bIns="0">
            <a:spAutoFit/>
          </a:bodyPr>
          <a:lstStyle/>
          <a:p>
            <a:pPr algn="ctr"/>
            <a:r>
              <a:rPr sz="816" b="1" i="1">
                <a:solidFill>
                  <a:srgbClr val="000000"/>
                </a:solidFill>
                <a:latin typeface="Segoe UI"/>
              </a:rPr>
              <a:t>Uk Albert B Chandler Hospital</a:t>
            </a:r>
          </a:p>
        </p:txBody>
      </p:sp>
      <p:sp>
        <p:nvSpPr>
          <p:cNvPr id="13" name="Rectangle 12"/>
          <p:cNvSpPr/>
          <p:nvPr/>
        </p:nvSpPr>
        <p:spPr>
          <a:xfrm>
            <a:off x="4007997" y="1965960"/>
            <a:ext cx="2177000" cy="210677"/>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35429" y="1983516"/>
            <a:ext cx="2122136" cy="210677"/>
          </a:xfrm>
          <a:prstGeom prst="rect">
            <a:avLst/>
          </a:prstGeom>
          <a:noFill/>
        </p:spPr>
        <p:txBody>
          <a:bodyPr wrap="square" anchor="ctr" lIns="0" rIns="0" tIns="0" bIns="0">
            <a:spAutoFit/>
          </a:bodyPr>
          <a:lstStyle/>
          <a:p>
            <a:pPr algn="ctr"/>
            <a:r>
              <a:rPr sz="768" b="0" i="0">
                <a:solidFill>
                  <a:srgbClr val="000000"/>
                </a:solidFill>
                <a:latin typeface="Segoe UI"/>
              </a:rPr>
              <a:t/>
            </a:r>
          </a:p>
        </p:txBody>
      </p:sp>
      <p:sp>
        <p:nvSpPr>
          <p:cNvPr id="15" name="Rectangle 14"/>
          <p:cNvSpPr/>
          <p:nvPr/>
        </p:nvSpPr>
        <p:spPr>
          <a:xfrm>
            <a:off x="6184997" y="1965960"/>
            <a:ext cx="1632750" cy="210677"/>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2429" y="1983516"/>
            <a:ext cx="1577886" cy="210677"/>
          </a:xfrm>
          <a:prstGeom prst="rect">
            <a:avLst/>
          </a:prstGeom>
          <a:noFill/>
        </p:spPr>
        <p:txBody>
          <a:bodyPr wrap="square" anchor="ctr" lIns="0" rIns="0" tIns="0" bIns="0">
            <a:spAutoFit/>
          </a:bodyPr>
          <a:lstStyle/>
          <a:p>
            <a:pPr algn="ctr"/>
            <a:r>
              <a:rPr sz="768" b="1" i="1">
                <a:solidFill>
                  <a:srgbClr val="000000"/>
                </a:solidFill>
                <a:latin typeface="Segoe UI"/>
              </a:rPr>
              <a:t>YTD National Metrics</a:t>
            </a:r>
          </a:p>
        </p:txBody>
      </p:sp>
      <p:sp>
        <p:nvSpPr>
          <p:cNvPr id="17" name="Rectangle 16"/>
          <p:cNvSpPr/>
          <p:nvPr/>
        </p:nvSpPr>
        <p:spPr>
          <a:xfrm>
            <a:off x="7817747" y="1965960"/>
            <a:ext cx="2177000" cy="210677"/>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45179" y="1983516"/>
            <a:ext cx="2122136" cy="210677"/>
          </a:xfrm>
          <a:prstGeom prst="rect">
            <a:avLst/>
          </a:prstGeom>
          <a:noFill/>
        </p:spPr>
        <p:txBody>
          <a:bodyPr wrap="square" anchor="ctr" lIns="0" rIns="0" tIns="0" bIns="0">
            <a:spAutoFit/>
          </a:bodyPr>
          <a:lstStyle/>
          <a:p>
            <a:pPr algn="ctr"/>
            <a:r>
              <a:rPr sz="768" b="1" i="1">
                <a:solidFill>
                  <a:srgbClr val="000000"/>
                </a:solidFill>
                <a:latin typeface="Segoe UI"/>
              </a:rPr>
              <a:t>Quarterly ATC Metrics</a:t>
            </a:r>
          </a:p>
        </p:txBody>
      </p:sp>
      <p:sp>
        <p:nvSpPr>
          <p:cNvPr id="19" name="Rectangle 18"/>
          <p:cNvSpPr/>
          <p:nvPr/>
        </p:nvSpPr>
        <p:spPr>
          <a:xfrm>
            <a:off x="566928" y="2176637"/>
            <a:ext cx="1141171" cy="326549"/>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2194193"/>
            <a:ext cx="1086307" cy="326549"/>
          </a:xfrm>
          <a:prstGeom prst="rect">
            <a:avLst/>
          </a:prstGeom>
          <a:noFill/>
        </p:spPr>
        <p:txBody>
          <a:bodyPr wrap="square" anchor="ctr" lIns="0" rIns="0" tIns="0" bIns="0">
            <a:spAutoFit/>
          </a:bodyPr>
          <a:lstStyle/>
          <a:p>
            <a:pPr algn="ctr"/>
            <a:r>
              <a:rPr sz="768" b="1" i="1">
                <a:solidFill>
                  <a:srgbClr val="000000"/>
                </a:solidFill>
                <a:latin typeface="Segoe UI"/>
              </a:rPr>
              <a:t>Category</a:t>
            </a:r>
          </a:p>
        </p:txBody>
      </p:sp>
      <p:sp>
        <p:nvSpPr>
          <p:cNvPr id="21" name="Rectangle 20"/>
          <p:cNvSpPr/>
          <p:nvPr/>
        </p:nvSpPr>
        <p:spPr>
          <a:xfrm>
            <a:off x="1708099" y="2176637"/>
            <a:ext cx="2299898" cy="326549"/>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5531" y="2194193"/>
            <a:ext cx="2245034" cy="326549"/>
          </a:xfrm>
          <a:prstGeom prst="rect">
            <a:avLst/>
          </a:prstGeom>
          <a:noFill/>
        </p:spPr>
        <p:txBody>
          <a:bodyPr wrap="square" anchor="ctr" lIns="0" rIns="0" tIns="0" bIns="0">
            <a:spAutoFit/>
          </a:bodyPr>
          <a:lstStyle/>
          <a:p>
            <a:pPr algn="ctr"/>
            <a:r>
              <a:rPr sz="768" b="1" i="1">
                <a:solidFill>
                  <a:srgbClr val="000000"/>
                </a:solidFill>
                <a:latin typeface="Segoe UI"/>
              </a:rPr>
              <a:t>Metric</a:t>
            </a:r>
          </a:p>
        </p:txBody>
      </p:sp>
      <p:sp>
        <p:nvSpPr>
          <p:cNvPr id="23" name="Rectangle 22"/>
          <p:cNvSpPr/>
          <p:nvPr/>
        </p:nvSpPr>
        <p:spPr>
          <a:xfrm>
            <a:off x="4007997" y="2176637"/>
            <a:ext cx="544250" cy="326549"/>
          </a:xfrm>
          <a:prstGeom prst="rect">
            <a:avLst/>
          </a:prstGeom>
          <a:solidFill>
            <a:srgbClr val="D8E4B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3542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Launch to
Date</a:t>
            </a:r>
          </a:p>
        </p:txBody>
      </p:sp>
      <p:sp>
        <p:nvSpPr>
          <p:cNvPr id="25" name="Rectangle 24"/>
          <p:cNvSpPr/>
          <p:nvPr/>
        </p:nvSpPr>
        <p:spPr>
          <a:xfrm>
            <a:off x="4552247" y="2176637"/>
            <a:ext cx="544250" cy="326549"/>
          </a:xfrm>
          <a:prstGeom prst="rect">
            <a:avLst/>
          </a:prstGeom>
          <a:solidFill>
            <a:srgbClr val="D8E4B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967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2024</a:t>
            </a:r>
          </a:p>
        </p:txBody>
      </p:sp>
      <p:sp>
        <p:nvSpPr>
          <p:cNvPr id="27" name="Rectangle 26"/>
          <p:cNvSpPr/>
          <p:nvPr/>
        </p:nvSpPr>
        <p:spPr>
          <a:xfrm>
            <a:off x="5096497" y="2176637"/>
            <a:ext cx="544250" cy="326549"/>
          </a:xfrm>
          <a:prstGeom prst="rect">
            <a:avLst/>
          </a:prstGeom>
          <a:solidFill>
            <a:srgbClr val="D8E4B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392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2025</a:t>
            </a:r>
          </a:p>
        </p:txBody>
      </p:sp>
      <p:sp>
        <p:nvSpPr>
          <p:cNvPr id="29" name="Rectangle 28"/>
          <p:cNvSpPr/>
          <p:nvPr/>
        </p:nvSpPr>
        <p:spPr>
          <a:xfrm>
            <a:off x="5640747" y="2176637"/>
            <a:ext cx="544250" cy="326549"/>
          </a:xfrm>
          <a:prstGeom prst="rect">
            <a:avLst/>
          </a:prstGeom>
          <a:solidFill>
            <a:srgbClr val="D8E4B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817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2026
(YTD)</a:t>
            </a:r>
          </a:p>
        </p:txBody>
      </p:sp>
      <p:sp>
        <p:nvSpPr>
          <p:cNvPr id="31" name="Rectangle 30"/>
          <p:cNvSpPr/>
          <p:nvPr/>
        </p:nvSpPr>
        <p:spPr>
          <a:xfrm>
            <a:off x="6184997" y="2176637"/>
            <a:ext cx="544250" cy="326549"/>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242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Top 10
ATCs *</a:t>
            </a:r>
          </a:p>
        </p:txBody>
      </p:sp>
      <p:sp>
        <p:nvSpPr>
          <p:cNvPr id="33" name="Rectangle 32"/>
          <p:cNvSpPr/>
          <p:nvPr/>
        </p:nvSpPr>
        <p:spPr>
          <a:xfrm>
            <a:off x="6729247" y="2176637"/>
            <a:ext cx="544250" cy="326549"/>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5667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Top 40
ATCs *</a:t>
            </a:r>
          </a:p>
        </p:txBody>
      </p:sp>
      <p:sp>
        <p:nvSpPr>
          <p:cNvPr id="35" name="Rectangle 34"/>
          <p:cNvSpPr/>
          <p:nvPr/>
        </p:nvSpPr>
        <p:spPr>
          <a:xfrm>
            <a:off x="7273497" y="2176637"/>
            <a:ext cx="544250" cy="326549"/>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0092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'New'
ATCs **</a:t>
            </a:r>
          </a:p>
        </p:txBody>
      </p:sp>
      <p:sp>
        <p:nvSpPr>
          <p:cNvPr id="37" name="Rectangle 36"/>
          <p:cNvSpPr/>
          <p:nvPr/>
        </p:nvSpPr>
        <p:spPr>
          <a:xfrm>
            <a:off x="7817747" y="2176637"/>
            <a:ext cx="544250" cy="326549"/>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4517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Q3'26
QTD</a:t>
            </a:r>
          </a:p>
        </p:txBody>
      </p:sp>
      <p:sp>
        <p:nvSpPr>
          <p:cNvPr id="39" name="Rectangle 38"/>
          <p:cNvSpPr/>
          <p:nvPr/>
        </p:nvSpPr>
        <p:spPr>
          <a:xfrm>
            <a:off x="8361997" y="2176637"/>
            <a:ext cx="544250" cy="326549"/>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8942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Q2'26</a:t>
            </a:r>
          </a:p>
        </p:txBody>
      </p:sp>
      <p:sp>
        <p:nvSpPr>
          <p:cNvPr id="41" name="Rectangle 40"/>
          <p:cNvSpPr/>
          <p:nvPr/>
        </p:nvSpPr>
        <p:spPr>
          <a:xfrm>
            <a:off x="8906247" y="2176637"/>
            <a:ext cx="544250" cy="326549"/>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3367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Q1'26</a:t>
            </a:r>
          </a:p>
        </p:txBody>
      </p:sp>
      <p:sp>
        <p:nvSpPr>
          <p:cNvPr id="43" name="Rectangle 42"/>
          <p:cNvSpPr/>
          <p:nvPr/>
        </p:nvSpPr>
        <p:spPr>
          <a:xfrm>
            <a:off x="9450497" y="2176637"/>
            <a:ext cx="544250" cy="326549"/>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77929" y="2194193"/>
            <a:ext cx="489386" cy="326549"/>
          </a:xfrm>
          <a:prstGeom prst="rect">
            <a:avLst/>
          </a:prstGeom>
          <a:noFill/>
        </p:spPr>
        <p:txBody>
          <a:bodyPr wrap="square" anchor="ctr" lIns="0" rIns="0" tIns="0" bIns="0">
            <a:spAutoFit/>
          </a:bodyPr>
          <a:lstStyle/>
          <a:p>
            <a:pPr algn="ctr"/>
            <a:r>
              <a:rPr sz="719" b="1" i="0">
                <a:solidFill>
                  <a:srgbClr val="000000"/>
                </a:solidFill>
                <a:latin typeface="Segoe UI"/>
              </a:rPr>
              <a:t>Q4'25</a:t>
            </a:r>
          </a:p>
        </p:txBody>
      </p:sp>
      <p:sp>
        <p:nvSpPr>
          <p:cNvPr id="45" name="Rectangle 44"/>
          <p:cNvSpPr/>
          <p:nvPr/>
        </p:nvSpPr>
        <p:spPr>
          <a:xfrm>
            <a:off x="1708099" y="2503186"/>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735531" y="2520742"/>
            <a:ext cx="2245034" cy="258958"/>
          </a:xfrm>
          <a:prstGeom prst="rect">
            <a:avLst/>
          </a:prstGeom>
          <a:noFill/>
        </p:spPr>
        <p:txBody>
          <a:bodyPr wrap="square" anchor="ctr" lIns="0" rIns="0" tIns="0" bIns="0">
            <a:spAutoFit/>
          </a:bodyPr>
          <a:lstStyle/>
          <a:p>
            <a:pPr algn="l"/>
            <a:r>
              <a:rPr sz="691" b="0" i="0">
                <a:solidFill>
                  <a:srgbClr val="000000"/>
                </a:solidFill>
                <a:latin typeface="Segoe UI"/>
              </a:rPr>
              <a:t>Enrollments in IovanceCares</a:t>
            </a:r>
          </a:p>
        </p:txBody>
      </p:sp>
      <p:sp>
        <p:nvSpPr>
          <p:cNvPr id="47" name="Rectangle 46"/>
          <p:cNvSpPr/>
          <p:nvPr/>
        </p:nvSpPr>
        <p:spPr>
          <a:xfrm>
            <a:off x="400799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3542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11</a:t>
            </a:r>
          </a:p>
        </p:txBody>
      </p:sp>
      <p:sp>
        <p:nvSpPr>
          <p:cNvPr id="49" name="Rectangle 48"/>
          <p:cNvSpPr/>
          <p:nvPr/>
        </p:nvSpPr>
        <p:spPr>
          <a:xfrm>
            <a:off x="455224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967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51" name="Rectangle 50"/>
          <p:cNvSpPr/>
          <p:nvPr/>
        </p:nvSpPr>
        <p:spPr>
          <a:xfrm>
            <a:off x="509649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392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8</a:t>
            </a:r>
          </a:p>
        </p:txBody>
      </p:sp>
      <p:sp>
        <p:nvSpPr>
          <p:cNvPr id="53" name="Rectangle 52"/>
          <p:cNvSpPr/>
          <p:nvPr/>
        </p:nvSpPr>
        <p:spPr>
          <a:xfrm>
            <a:off x="564074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817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3</a:t>
            </a:r>
          </a:p>
        </p:txBody>
      </p:sp>
      <p:sp>
        <p:nvSpPr>
          <p:cNvPr id="55" name="Rectangle 54"/>
          <p:cNvSpPr/>
          <p:nvPr/>
        </p:nvSpPr>
        <p:spPr>
          <a:xfrm>
            <a:off x="618499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242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36</a:t>
            </a:r>
          </a:p>
        </p:txBody>
      </p:sp>
      <p:sp>
        <p:nvSpPr>
          <p:cNvPr id="57" name="Rectangle 56"/>
          <p:cNvSpPr/>
          <p:nvPr/>
        </p:nvSpPr>
        <p:spPr>
          <a:xfrm>
            <a:off x="672924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75667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29</a:t>
            </a:r>
          </a:p>
        </p:txBody>
      </p:sp>
      <p:sp>
        <p:nvSpPr>
          <p:cNvPr id="59" name="Rectangle 58"/>
          <p:cNvSpPr/>
          <p:nvPr/>
        </p:nvSpPr>
        <p:spPr>
          <a:xfrm>
            <a:off x="727349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0092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20</a:t>
            </a:r>
          </a:p>
        </p:txBody>
      </p:sp>
      <p:sp>
        <p:nvSpPr>
          <p:cNvPr id="61" name="Rectangle 60"/>
          <p:cNvSpPr/>
          <p:nvPr/>
        </p:nvSpPr>
        <p:spPr>
          <a:xfrm>
            <a:off x="781774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4517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63" name="Rectangle 62"/>
          <p:cNvSpPr/>
          <p:nvPr/>
        </p:nvSpPr>
        <p:spPr>
          <a:xfrm>
            <a:off x="836199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8942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2</a:t>
            </a:r>
          </a:p>
        </p:txBody>
      </p:sp>
      <p:sp>
        <p:nvSpPr>
          <p:cNvPr id="65" name="Rectangle 64"/>
          <p:cNvSpPr/>
          <p:nvPr/>
        </p:nvSpPr>
        <p:spPr>
          <a:xfrm>
            <a:off x="890624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93367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67" name="Rectangle 66"/>
          <p:cNvSpPr/>
          <p:nvPr/>
        </p:nvSpPr>
        <p:spPr>
          <a:xfrm>
            <a:off x="9450497" y="250318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477929" y="2520742"/>
            <a:ext cx="489386" cy="258958"/>
          </a:xfrm>
          <a:prstGeom prst="rect">
            <a:avLst/>
          </a:prstGeom>
          <a:noFill/>
        </p:spPr>
        <p:txBody>
          <a:bodyPr wrap="square" anchor="ctr" lIns="0" rIns="0" tIns="0" bIns="0">
            <a:spAutoFit/>
          </a:bodyPr>
          <a:lstStyle/>
          <a:p>
            <a:pPr algn="r"/>
            <a:r>
              <a:rPr sz="719" b="0" i="0">
                <a:solidFill>
                  <a:srgbClr val="000000"/>
                </a:solidFill>
                <a:latin typeface="Segoe UI"/>
              </a:rPr>
              <a:t>5</a:t>
            </a:r>
          </a:p>
        </p:txBody>
      </p:sp>
      <p:sp>
        <p:nvSpPr>
          <p:cNvPr id="69" name="Rectangle 68"/>
          <p:cNvSpPr/>
          <p:nvPr/>
        </p:nvSpPr>
        <p:spPr>
          <a:xfrm>
            <a:off x="1708099" y="2762144"/>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735531" y="2779700"/>
            <a:ext cx="2245034" cy="258958"/>
          </a:xfrm>
          <a:prstGeom prst="rect">
            <a:avLst/>
          </a:prstGeom>
          <a:noFill/>
        </p:spPr>
        <p:txBody>
          <a:bodyPr wrap="square" anchor="ctr" lIns="0" rIns="0" tIns="0" bIns="0">
            <a:spAutoFit/>
          </a:bodyPr>
          <a:lstStyle/>
          <a:p>
            <a:pPr algn="l"/>
            <a:r>
              <a:rPr sz="691" b="0" i="0">
                <a:solidFill>
                  <a:srgbClr val="000000"/>
                </a:solidFill>
                <a:latin typeface="Segoe UI"/>
              </a:rPr>
              <a:t>Patients Enrolled in IovanceCares</a:t>
            </a:r>
          </a:p>
        </p:txBody>
      </p:sp>
      <p:sp>
        <p:nvSpPr>
          <p:cNvPr id="71" name="Rectangle 70"/>
          <p:cNvSpPr/>
          <p:nvPr/>
        </p:nvSpPr>
        <p:spPr>
          <a:xfrm>
            <a:off x="400799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03542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11</a:t>
            </a:r>
          </a:p>
        </p:txBody>
      </p:sp>
      <p:sp>
        <p:nvSpPr>
          <p:cNvPr id="73" name="Rectangle 72"/>
          <p:cNvSpPr/>
          <p:nvPr/>
        </p:nvSpPr>
        <p:spPr>
          <a:xfrm>
            <a:off x="455224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7967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75" name="Rectangle 74"/>
          <p:cNvSpPr/>
          <p:nvPr/>
        </p:nvSpPr>
        <p:spPr>
          <a:xfrm>
            <a:off x="509649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2392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8</a:t>
            </a:r>
          </a:p>
        </p:txBody>
      </p:sp>
      <p:sp>
        <p:nvSpPr>
          <p:cNvPr id="77" name="Rectangle 76"/>
          <p:cNvSpPr/>
          <p:nvPr/>
        </p:nvSpPr>
        <p:spPr>
          <a:xfrm>
            <a:off x="564074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817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3</a:t>
            </a:r>
          </a:p>
        </p:txBody>
      </p:sp>
      <p:sp>
        <p:nvSpPr>
          <p:cNvPr id="79" name="Rectangle 78"/>
          <p:cNvSpPr/>
          <p:nvPr/>
        </p:nvSpPr>
        <p:spPr>
          <a:xfrm>
            <a:off x="618499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1242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35</a:t>
            </a:r>
          </a:p>
        </p:txBody>
      </p:sp>
      <p:sp>
        <p:nvSpPr>
          <p:cNvPr id="81" name="Rectangle 80"/>
          <p:cNvSpPr/>
          <p:nvPr/>
        </p:nvSpPr>
        <p:spPr>
          <a:xfrm>
            <a:off x="672924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75667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28</a:t>
            </a:r>
          </a:p>
        </p:txBody>
      </p:sp>
      <p:sp>
        <p:nvSpPr>
          <p:cNvPr id="83" name="Rectangle 82"/>
          <p:cNvSpPr/>
          <p:nvPr/>
        </p:nvSpPr>
        <p:spPr>
          <a:xfrm>
            <a:off x="727349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30092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19</a:t>
            </a:r>
          </a:p>
        </p:txBody>
      </p:sp>
      <p:sp>
        <p:nvSpPr>
          <p:cNvPr id="85" name="Rectangle 84"/>
          <p:cNvSpPr/>
          <p:nvPr/>
        </p:nvSpPr>
        <p:spPr>
          <a:xfrm>
            <a:off x="781774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84517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87" name="Rectangle 86"/>
          <p:cNvSpPr/>
          <p:nvPr/>
        </p:nvSpPr>
        <p:spPr>
          <a:xfrm>
            <a:off x="836199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38942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2</a:t>
            </a:r>
          </a:p>
        </p:txBody>
      </p:sp>
      <p:sp>
        <p:nvSpPr>
          <p:cNvPr id="89" name="Rectangle 88"/>
          <p:cNvSpPr/>
          <p:nvPr/>
        </p:nvSpPr>
        <p:spPr>
          <a:xfrm>
            <a:off x="890624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93367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91" name="Rectangle 90"/>
          <p:cNvSpPr/>
          <p:nvPr/>
        </p:nvSpPr>
        <p:spPr>
          <a:xfrm>
            <a:off x="9450497" y="276214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477929" y="2779700"/>
            <a:ext cx="489386" cy="258958"/>
          </a:xfrm>
          <a:prstGeom prst="rect">
            <a:avLst/>
          </a:prstGeom>
          <a:noFill/>
        </p:spPr>
        <p:txBody>
          <a:bodyPr wrap="square" anchor="ctr" lIns="0" rIns="0" tIns="0" bIns="0">
            <a:spAutoFit/>
          </a:bodyPr>
          <a:lstStyle/>
          <a:p>
            <a:pPr algn="r"/>
            <a:r>
              <a:rPr sz="719" b="0" i="0">
                <a:solidFill>
                  <a:srgbClr val="000000"/>
                </a:solidFill>
                <a:latin typeface="Segoe UI"/>
              </a:rPr>
              <a:t>5</a:t>
            </a:r>
          </a:p>
        </p:txBody>
      </p:sp>
      <p:sp>
        <p:nvSpPr>
          <p:cNvPr id="93" name="Rectangle 92"/>
          <p:cNvSpPr/>
          <p:nvPr/>
        </p:nvSpPr>
        <p:spPr>
          <a:xfrm>
            <a:off x="1708099" y="3021102"/>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735531" y="3038658"/>
            <a:ext cx="2245034" cy="258958"/>
          </a:xfrm>
          <a:prstGeom prst="rect">
            <a:avLst/>
          </a:prstGeom>
          <a:noFill/>
        </p:spPr>
        <p:txBody>
          <a:bodyPr wrap="square" anchor="ctr" lIns="0" rIns="0" tIns="0" bIns="0">
            <a:spAutoFit/>
          </a:bodyPr>
          <a:lstStyle/>
          <a:p>
            <a:pPr algn="l"/>
            <a:r>
              <a:rPr sz="691" b="0" i="0">
                <a:solidFill>
                  <a:srgbClr val="000000"/>
                </a:solidFill>
                <a:latin typeface="Segoe UI"/>
              </a:rPr>
              <a:t>TTPs Cancelled or Rescheduled
&lt;=7 Days Prior to Slot Reservation *</a:t>
            </a:r>
          </a:p>
        </p:txBody>
      </p:sp>
      <p:sp>
        <p:nvSpPr>
          <p:cNvPr id="95" name="Rectangle 94"/>
          <p:cNvSpPr/>
          <p:nvPr/>
        </p:nvSpPr>
        <p:spPr>
          <a:xfrm>
            <a:off x="400799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03542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2</a:t>
            </a:r>
          </a:p>
        </p:txBody>
      </p:sp>
      <p:sp>
        <p:nvSpPr>
          <p:cNvPr id="97" name="Rectangle 96"/>
          <p:cNvSpPr/>
          <p:nvPr/>
        </p:nvSpPr>
        <p:spPr>
          <a:xfrm>
            <a:off x="455224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7967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99" name="Rectangle 98"/>
          <p:cNvSpPr/>
          <p:nvPr/>
        </p:nvSpPr>
        <p:spPr>
          <a:xfrm>
            <a:off x="509649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12392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01" name="Rectangle 100"/>
          <p:cNvSpPr/>
          <p:nvPr/>
        </p:nvSpPr>
        <p:spPr>
          <a:xfrm>
            <a:off x="564074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66817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03" name="Rectangle 102"/>
          <p:cNvSpPr/>
          <p:nvPr/>
        </p:nvSpPr>
        <p:spPr>
          <a:xfrm>
            <a:off x="618499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21242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5</a:t>
            </a:r>
          </a:p>
        </p:txBody>
      </p:sp>
      <p:sp>
        <p:nvSpPr>
          <p:cNvPr id="105" name="Rectangle 104"/>
          <p:cNvSpPr/>
          <p:nvPr/>
        </p:nvSpPr>
        <p:spPr>
          <a:xfrm>
            <a:off x="672924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75667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4</a:t>
            </a:r>
          </a:p>
        </p:txBody>
      </p:sp>
      <p:sp>
        <p:nvSpPr>
          <p:cNvPr id="107" name="Rectangle 106"/>
          <p:cNvSpPr/>
          <p:nvPr/>
        </p:nvSpPr>
        <p:spPr>
          <a:xfrm>
            <a:off x="727349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30092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2</a:t>
            </a:r>
          </a:p>
        </p:txBody>
      </p:sp>
      <p:sp>
        <p:nvSpPr>
          <p:cNvPr id="109" name="Rectangle 108"/>
          <p:cNvSpPr/>
          <p:nvPr/>
        </p:nvSpPr>
        <p:spPr>
          <a:xfrm>
            <a:off x="781774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84517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11" name="Rectangle 110"/>
          <p:cNvSpPr/>
          <p:nvPr/>
        </p:nvSpPr>
        <p:spPr>
          <a:xfrm>
            <a:off x="836199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38942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13" name="Rectangle 112"/>
          <p:cNvSpPr/>
          <p:nvPr/>
        </p:nvSpPr>
        <p:spPr>
          <a:xfrm>
            <a:off x="890624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93367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15" name="Rectangle 114"/>
          <p:cNvSpPr/>
          <p:nvPr/>
        </p:nvSpPr>
        <p:spPr>
          <a:xfrm>
            <a:off x="9450497" y="302110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477929" y="3038658"/>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17" name="Rectangle 116"/>
          <p:cNvSpPr/>
          <p:nvPr/>
        </p:nvSpPr>
        <p:spPr>
          <a:xfrm>
            <a:off x="1708099" y="3280060"/>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735531" y="3297616"/>
            <a:ext cx="2245034" cy="258958"/>
          </a:xfrm>
          <a:prstGeom prst="rect">
            <a:avLst/>
          </a:prstGeom>
          <a:noFill/>
        </p:spPr>
        <p:txBody>
          <a:bodyPr wrap="square" anchor="ctr" lIns="0" rIns="0" tIns="0" bIns="0">
            <a:spAutoFit/>
          </a:bodyPr>
          <a:lstStyle/>
          <a:p>
            <a:pPr algn="l"/>
            <a:r>
              <a:rPr sz="691" b="0" i="0">
                <a:solidFill>
                  <a:srgbClr val="000000"/>
                </a:solidFill>
                <a:latin typeface="Segoe UI"/>
              </a:rPr>
              <a:t>Completed TTPs</a:t>
            </a:r>
          </a:p>
        </p:txBody>
      </p:sp>
      <p:sp>
        <p:nvSpPr>
          <p:cNvPr id="119" name="Rectangle 118"/>
          <p:cNvSpPr/>
          <p:nvPr/>
        </p:nvSpPr>
        <p:spPr>
          <a:xfrm>
            <a:off x="400799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3542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8</a:t>
            </a:r>
          </a:p>
        </p:txBody>
      </p:sp>
      <p:sp>
        <p:nvSpPr>
          <p:cNvPr id="121" name="Rectangle 120"/>
          <p:cNvSpPr/>
          <p:nvPr/>
        </p:nvSpPr>
        <p:spPr>
          <a:xfrm>
            <a:off x="455224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57967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123" name="Rectangle 122"/>
          <p:cNvSpPr/>
          <p:nvPr/>
        </p:nvSpPr>
        <p:spPr>
          <a:xfrm>
            <a:off x="509649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12392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3</a:t>
            </a:r>
          </a:p>
        </p:txBody>
      </p:sp>
      <p:sp>
        <p:nvSpPr>
          <p:cNvPr id="125" name="Rectangle 124"/>
          <p:cNvSpPr/>
          <p:nvPr/>
        </p:nvSpPr>
        <p:spPr>
          <a:xfrm>
            <a:off x="564074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566817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5</a:t>
            </a:r>
          </a:p>
        </p:txBody>
      </p:sp>
      <p:sp>
        <p:nvSpPr>
          <p:cNvPr id="127" name="Rectangle 126"/>
          <p:cNvSpPr/>
          <p:nvPr/>
        </p:nvSpPr>
        <p:spPr>
          <a:xfrm>
            <a:off x="618499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21242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21</a:t>
            </a:r>
          </a:p>
        </p:txBody>
      </p:sp>
      <p:sp>
        <p:nvSpPr>
          <p:cNvPr id="129" name="Rectangle 128"/>
          <p:cNvSpPr/>
          <p:nvPr/>
        </p:nvSpPr>
        <p:spPr>
          <a:xfrm>
            <a:off x="672924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75667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18</a:t>
            </a:r>
          </a:p>
        </p:txBody>
      </p:sp>
      <p:sp>
        <p:nvSpPr>
          <p:cNvPr id="131" name="Rectangle 130"/>
          <p:cNvSpPr/>
          <p:nvPr/>
        </p:nvSpPr>
        <p:spPr>
          <a:xfrm>
            <a:off x="727349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30092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10</a:t>
            </a:r>
          </a:p>
        </p:txBody>
      </p:sp>
      <p:sp>
        <p:nvSpPr>
          <p:cNvPr id="133" name="Rectangle 132"/>
          <p:cNvSpPr/>
          <p:nvPr/>
        </p:nvSpPr>
        <p:spPr>
          <a:xfrm>
            <a:off x="781774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84517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35" name="Rectangle 134"/>
          <p:cNvSpPr/>
          <p:nvPr/>
        </p:nvSpPr>
        <p:spPr>
          <a:xfrm>
            <a:off x="836199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38942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37" name="Rectangle 136"/>
          <p:cNvSpPr/>
          <p:nvPr/>
        </p:nvSpPr>
        <p:spPr>
          <a:xfrm>
            <a:off x="890624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93367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4</a:t>
            </a:r>
          </a:p>
        </p:txBody>
      </p:sp>
      <p:sp>
        <p:nvSpPr>
          <p:cNvPr id="139" name="Rectangle 138"/>
          <p:cNvSpPr/>
          <p:nvPr/>
        </p:nvSpPr>
        <p:spPr>
          <a:xfrm>
            <a:off x="9450497" y="328006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477929" y="3297616"/>
            <a:ext cx="489386" cy="258958"/>
          </a:xfrm>
          <a:prstGeom prst="rect">
            <a:avLst/>
          </a:prstGeom>
          <a:noFill/>
        </p:spPr>
        <p:txBody>
          <a:bodyPr wrap="square" anchor="ctr" lIns="0" rIns="0" tIns="0" bIns="0">
            <a:spAutoFit/>
          </a:bodyPr>
          <a:lstStyle/>
          <a:p>
            <a:pPr algn="r"/>
            <a:r>
              <a:rPr sz="719" b="0" i="0">
                <a:solidFill>
                  <a:srgbClr val="000000"/>
                </a:solidFill>
                <a:latin typeface="Segoe UI"/>
              </a:rPr>
              <a:t>2</a:t>
            </a:r>
          </a:p>
        </p:txBody>
      </p:sp>
      <p:sp>
        <p:nvSpPr>
          <p:cNvPr id="141" name="Rectangle 140"/>
          <p:cNvSpPr/>
          <p:nvPr/>
        </p:nvSpPr>
        <p:spPr>
          <a:xfrm>
            <a:off x="1708099" y="3539018"/>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735531" y="3556574"/>
            <a:ext cx="2245034" cy="258958"/>
          </a:xfrm>
          <a:prstGeom prst="rect">
            <a:avLst/>
          </a:prstGeom>
          <a:noFill/>
        </p:spPr>
        <p:txBody>
          <a:bodyPr wrap="square" anchor="ctr" lIns="0" rIns="0" tIns="0" bIns="0">
            <a:spAutoFit/>
          </a:bodyPr>
          <a:lstStyle/>
          <a:p>
            <a:pPr algn="l"/>
            <a:r>
              <a:rPr sz="691" b="0" i="0">
                <a:solidFill>
                  <a:srgbClr val="000000"/>
                </a:solidFill>
                <a:latin typeface="Segoe UI"/>
              </a:rPr>
              <a:t>Scheduled TTPs</a:t>
            </a:r>
          </a:p>
        </p:txBody>
      </p:sp>
      <p:sp>
        <p:nvSpPr>
          <p:cNvPr id="143" name="Rectangle 142"/>
          <p:cNvSpPr/>
          <p:nvPr/>
        </p:nvSpPr>
        <p:spPr>
          <a:xfrm>
            <a:off x="400799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403542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45" name="Rectangle 144"/>
          <p:cNvSpPr/>
          <p:nvPr/>
        </p:nvSpPr>
        <p:spPr>
          <a:xfrm>
            <a:off x="455224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57967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147" name="Rectangle 146"/>
          <p:cNvSpPr/>
          <p:nvPr/>
        </p:nvSpPr>
        <p:spPr>
          <a:xfrm>
            <a:off x="509649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12392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49" name="Rectangle 148"/>
          <p:cNvSpPr/>
          <p:nvPr/>
        </p:nvSpPr>
        <p:spPr>
          <a:xfrm>
            <a:off x="564074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66817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51" name="Rectangle 150"/>
          <p:cNvSpPr/>
          <p:nvPr/>
        </p:nvSpPr>
        <p:spPr>
          <a:xfrm>
            <a:off x="618499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1242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2</a:t>
            </a:r>
          </a:p>
        </p:txBody>
      </p:sp>
      <p:sp>
        <p:nvSpPr>
          <p:cNvPr id="153" name="Rectangle 152"/>
          <p:cNvSpPr/>
          <p:nvPr/>
        </p:nvSpPr>
        <p:spPr>
          <a:xfrm>
            <a:off x="672924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75667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55" name="Rectangle 154"/>
          <p:cNvSpPr/>
          <p:nvPr/>
        </p:nvSpPr>
        <p:spPr>
          <a:xfrm>
            <a:off x="727349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730092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57" name="Rectangle 156"/>
          <p:cNvSpPr/>
          <p:nvPr/>
        </p:nvSpPr>
        <p:spPr>
          <a:xfrm>
            <a:off x="781774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784517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59" name="Rectangle 158"/>
          <p:cNvSpPr/>
          <p:nvPr/>
        </p:nvSpPr>
        <p:spPr>
          <a:xfrm>
            <a:off x="836199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38942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61" name="Rectangle 160"/>
          <p:cNvSpPr/>
          <p:nvPr/>
        </p:nvSpPr>
        <p:spPr>
          <a:xfrm>
            <a:off x="890624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893367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63" name="Rectangle 162"/>
          <p:cNvSpPr/>
          <p:nvPr/>
        </p:nvSpPr>
        <p:spPr>
          <a:xfrm>
            <a:off x="9450497" y="353901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9477929" y="355657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65" name="Rectangle 164"/>
          <p:cNvSpPr/>
          <p:nvPr/>
        </p:nvSpPr>
        <p:spPr>
          <a:xfrm>
            <a:off x="1708099" y="3797976"/>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735531" y="3815532"/>
            <a:ext cx="2245034" cy="258958"/>
          </a:xfrm>
          <a:prstGeom prst="rect">
            <a:avLst/>
          </a:prstGeom>
          <a:noFill/>
        </p:spPr>
        <p:txBody>
          <a:bodyPr wrap="square" anchor="ctr" lIns="0" rIns="0" tIns="0" bIns="0">
            <a:spAutoFit/>
          </a:bodyPr>
          <a:lstStyle/>
          <a:p>
            <a:pPr algn="l"/>
            <a:r>
              <a:rPr sz="691" b="0" i="0">
                <a:solidFill>
                  <a:srgbClr val="000000"/>
                </a:solidFill>
                <a:latin typeface="Segoe UI"/>
              </a:rPr>
              <a:t>2nd Resections (Scheduled or Completed)</a:t>
            </a:r>
          </a:p>
        </p:txBody>
      </p:sp>
      <p:sp>
        <p:nvSpPr>
          <p:cNvPr id="167" name="Rectangle 166"/>
          <p:cNvSpPr/>
          <p:nvPr/>
        </p:nvSpPr>
        <p:spPr>
          <a:xfrm>
            <a:off x="400799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03542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69" name="Rectangle 168"/>
          <p:cNvSpPr/>
          <p:nvPr/>
        </p:nvSpPr>
        <p:spPr>
          <a:xfrm>
            <a:off x="455224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57967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171" name="Rectangle 170"/>
          <p:cNvSpPr/>
          <p:nvPr/>
        </p:nvSpPr>
        <p:spPr>
          <a:xfrm>
            <a:off x="509649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512392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73" name="Rectangle 172"/>
          <p:cNvSpPr/>
          <p:nvPr/>
        </p:nvSpPr>
        <p:spPr>
          <a:xfrm>
            <a:off x="564074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66817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75" name="Rectangle 174"/>
          <p:cNvSpPr/>
          <p:nvPr/>
        </p:nvSpPr>
        <p:spPr>
          <a:xfrm>
            <a:off x="618499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21242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2</a:t>
            </a:r>
          </a:p>
        </p:txBody>
      </p:sp>
      <p:sp>
        <p:nvSpPr>
          <p:cNvPr id="177" name="Rectangle 176"/>
          <p:cNvSpPr/>
          <p:nvPr/>
        </p:nvSpPr>
        <p:spPr>
          <a:xfrm>
            <a:off x="672924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75667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79" name="Rectangle 178"/>
          <p:cNvSpPr/>
          <p:nvPr/>
        </p:nvSpPr>
        <p:spPr>
          <a:xfrm>
            <a:off x="727349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30092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81" name="Rectangle 180"/>
          <p:cNvSpPr/>
          <p:nvPr/>
        </p:nvSpPr>
        <p:spPr>
          <a:xfrm>
            <a:off x="781774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4517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83" name="Rectangle 182"/>
          <p:cNvSpPr/>
          <p:nvPr/>
        </p:nvSpPr>
        <p:spPr>
          <a:xfrm>
            <a:off x="836199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38942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85" name="Rectangle 184"/>
          <p:cNvSpPr/>
          <p:nvPr/>
        </p:nvSpPr>
        <p:spPr>
          <a:xfrm>
            <a:off x="890624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93367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87" name="Rectangle 186"/>
          <p:cNvSpPr/>
          <p:nvPr/>
        </p:nvSpPr>
        <p:spPr>
          <a:xfrm>
            <a:off x="9450497" y="379797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9477929" y="3815532"/>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189" name="Rectangle 188"/>
          <p:cNvSpPr/>
          <p:nvPr/>
        </p:nvSpPr>
        <p:spPr>
          <a:xfrm>
            <a:off x="1708099" y="4056934"/>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735531" y="4074490"/>
            <a:ext cx="2245034" cy="258958"/>
          </a:xfrm>
          <a:prstGeom prst="rect">
            <a:avLst/>
          </a:prstGeom>
          <a:noFill/>
        </p:spPr>
        <p:txBody>
          <a:bodyPr wrap="square" anchor="ctr" lIns="0" rIns="0" tIns="0" bIns="0">
            <a:spAutoFit/>
          </a:bodyPr>
          <a:lstStyle/>
          <a:p>
            <a:pPr algn="l"/>
            <a:r>
              <a:rPr sz="691" b="0" i="0">
                <a:solidFill>
                  <a:srgbClr val="000000"/>
                </a:solidFill>
                <a:latin typeface="Segoe UI"/>
              </a:rPr>
              <a:t>Patient Related Drop-outs following
TTP due to patient health</a:t>
            </a:r>
          </a:p>
        </p:txBody>
      </p:sp>
      <p:sp>
        <p:nvSpPr>
          <p:cNvPr id="191" name="Rectangle 190"/>
          <p:cNvSpPr/>
          <p:nvPr/>
        </p:nvSpPr>
        <p:spPr>
          <a:xfrm>
            <a:off x="400799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403542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93" name="Rectangle 192"/>
          <p:cNvSpPr/>
          <p:nvPr/>
        </p:nvSpPr>
        <p:spPr>
          <a:xfrm>
            <a:off x="455224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457967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195" name="Rectangle 194"/>
          <p:cNvSpPr/>
          <p:nvPr/>
        </p:nvSpPr>
        <p:spPr>
          <a:xfrm>
            <a:off x="509649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512392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197" name="Rectangle 196"/>
          <p:cNvSpPr/>
          <p:nvPr/>
        </p:nvSpPr>
        <p:spPr>
          <a:xfrm>
            <a:off x="564074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66817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199" name="Rectangle 198"/>
          <p:cNvSpPr/>
          <p:nvPr/>
        </p:nvSpPr>
        <p:spPr>
          <a:xfrm>
            <a:off x="618499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21242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2</a:t>
            </a:r>
          </a:p>
        </p:txBody>
      </p:sp>
      <p:sp>
        <p:nvSpPr>
          <p:cNvPr id="201" name="Rectangle 200"/>
          <p:cNvSpPr/>
          <p:nvPr/>
        </p:nvSpPr>
        <p:spPr>
          <a:xfrm>
            <a:off x="672924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675667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203" name="Rectangle 202"/>
          <p:cNvSpPr/>
          <p:nvPr/>
        </p:nvSpPr>
        <p:spPr>
          <a:xfrm>
            <a:off x="727349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30092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05" name="Rectangle 204"/>
          <p:cNvSpPr/>
          <p:nvPr/>
        </p:nvSpPr>
        <p:spPr>
          <a:xfrm>
            <a:off x="781774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4517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07" name="Rectangle 206"/>
          <p:cNvSpPr/>
          <p:nvPr/>
        </p:nvSpPr>
        <p:spPr>
          <a:xfrm>
            <a:off x="836199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38942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09" name="Rectangle 208"/>
          <p:cNvSpPr/>
          <p:nvPr/>
        </p:nvSpPr>
        <p:spPr>
          <a:xfrm>
            <a:off x="890624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893367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211" name="Rectangle 210"/>
          <p:cNvSpPr/>
          <p:nvPr/>
        </p:nvSpPr>
        <p:spPr>
          <a:xfrm>
            <a:off x="9450497" y="405693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9477929" y="4074490"/>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13" name="Rectangle 212"/>
          <p:cNvSpPr/>
          <p:nvPr/>
        </p:nvSpPr>
        <p:spPr>
          <a:xfrm>
            <a:off x="1708099" y="4315892"/>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735531" y="4333448"/>
            <a:ext cx="2245034" cy="258958"/>
          </a:xfrm>
          <a:prstGeom prst="rect">
            <a:avLst/>
          </a:prstGeom>
          <a:noFill/>
        </p:spPr>
        <p:txBody>
          <a:bodyPr wrap="square" anchor="ctr" lIns="0" rIns="0" tIns="0" bIns="0">
            <a:spAutoFit/>
          </a:bodyPr>
          <a:lstStyle/>
          <a:p>
            <a:pPr algn="l"/>
            <a:r>
              <a:rPr sz="691" b="0" i="0">
                <a:solidFill>
                  <a:srgbClr val="000000"/>
                </a:solidFill>
                <a:latin typeface="Segoe UI"/>
              </a:rPr>
              <a:t>OOS Products</a:t>
            </a:r>
          </a:p>
        </p:txBody>
      </p:sp>
      <p:sp>
        <p:nvSpPr>
          <p:cNvPr id="215" name="Rectangle 214"/>
          <p:cNvSpPr/>
          <p:nvPr/>
        </p:nvSpPr>
        <p:spPr>
          <a:xfrm>
            <a:off x="400799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403542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217" name="Rectangle 216"/>
          <p:cNvSpPr/>
          <p:nvPr/>
        </p:nvSpPr>
        <p:spPr>
          <a:xfrm>
            <a:off x="455224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457967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219" name="Rectangle 218"/>
          <p:cNvSpPr/>
          <p:nvPr/>
        </p:nvSpPr>
        <p:spPr>
          <a:xfrm>
            <a:off x="509649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512392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221" name="Rectangle 220"/>
          <p:cNvSpPr/>
          <p:nvPr/>
        </p:nvSpPr>
        <p:spPr>
          <a:xfrm>
            <a:off x="564074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566817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223" name="Rectangle 222"/>
          <p:cNvSpPr/>
          <p:nvPr/>
        </p:nvSpPr>
        <p:spPr>
          <a:xfrm>
            <a:off x="618499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621242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14</a:t>
            </a:r>
          </a:p>
        </p:txBody>
      </p:sp>
      <p:sp>
        <p:nvSpPr>
          <p:cNvPr id="225" name="Rectangle 224"/>
          <p:cNvSpPr/>
          <p:nvPr/>
        </p:nvSpPr>
        <p:spPr>
          <a:xfrm>
            <a:off x="672924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675667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5</a:t>
            </a:r>
          </a:p>
        </p:txBody>
      </p:sp>
      <p:sp>
        <p:nvSpPr>
          <p:cNvPr id="227" name="Rectangle 226"/>
          <p:cNvSpPr/>
          <p:nvPr/>
        </p:nvSpPr>
        <p:spPr>
          <a:xfrm>
            <a:off x="727349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730092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29" name="Rectangle 228"/>
          <p:cNvSpPr/>
          <p:nvPr/>
        </p:nvSpPr>
        <p:spPr>
          <a:xfrm>
            <a:off x="781774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784517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31" name="Rectangle 230"/>
          <p:cNvSpPr/>
          <p:nvPr/>
        </p:nvSpPr>
        <p:spPr>
          <a:xfrm>
            <a:off x="836199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838942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33" name="Rectangle 232"/>
          <p:cNvSpPr/>
          <p:nvPr/>
        </p:nvSpPr>
        <p:spPr>
          <a:xfrm>
            <a:off x="890624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93367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235" name="Rectangle 234"/>
          <p:cNvSpPr/>
          <p:nvPr/>
        </p:nvSpPr>
        <p:spPr>
          <a:xfrm>
            <a:off x="9450497" y="431589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9477929" y="4333448"/>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37" name="Rectangle 236"/>
          <p:cNvSpPr/>
          <p:nvPr/>
        </p:nvSpPr>
        <p:spPr>
          <a:xfrm>
            <a:off x="1708099" y="4574850"/>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1735531" y="4592406"/>
            <a:ext cx="2245034" cy="258958"/>
          </a:xfrm>
          <a:prstGeom prst="rect">
            <a:avLst/>
          </a:prstGeom>
          <a:noFill/>
        </p:spPr>
        <p:txBody>
          <a:bodyPr wrap="square" anchor="ctr" lIns="0" rIns="0" tIns="0" bIns="0">
            <a:spAutoFit/>
          </a:bodyPr>
          <a:lstStyle/>
          <a:p>
            <a:pPr algn="l"/>
            <a:r>
              <a:rPr sz="691" b="0" i="0">
                <a:solidFill>
                  <a:srgbClr val="000000"/>
                </a:solidFill>
                <a:latin typeface="Segoe UI"/>
              </a:rPr>
              <a:t>Patient Progression Rate *</a:t>
            </a:r>
          </a:p>
        </p:txBody>
      </p:sp>
      <p:sp>
        <p:nvSpPr>
          <p:cNvPr id="239" name="Rectangle 238"/>
          <p:cNvSpPr/>
          <p:nvPr/>
        </p:nvSpPr>
        <p:spPr>
          <a:xfrm>
            <a:off x="400799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403542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12.5%</a:t>
            </a:r>
          </a:p>
        </p:txBody>
      </p:sp>
      <p:sp>
        <p:nvSpPr>
          <p:cNvPr id="241" name="Rectangle 240"/>
          <p:cNvSpPr/>
          <p:nvPr/>
        </p:nvSpPr>
        <p:spPr>
          <a:xfrm>
            <a:off x="455224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457967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243" name="Rectangle 242"/>
          <p:cNvSpPr/>
          <p:nvPr/>
        </p:nvSpPr>
        <p:spPr>
          <a:xfrm>
            <a:off x="509649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512392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0.0%</a:t>
            </a:r>
          </a:p>
        </p:txBody>
      </p:sp>
      <p:sp>
        <p:nvSpPr>
          <p:cNvPr id="245" name="Rectangle 244"/>
          <p:cNvSpPr/>
          <p:nvPr/>
        </p:nvSpPr>
        <p:spPr>
          <a:xfrm>
            <a:off x="564074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566817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20.0%</a:t>
            </a:r>
          </a:p>
        </p:txBody>
      </p:sp>
      <p:sp>
        <p:nvSpPr>
          <p:cNvPr id="247" name="Rectangle 246"/>
          <p:cNvSpPr/>
          <p:nvPr/>
        </p:nvSpPr>
        <p:spPr>
          <a:xfrm>
            <a:off x="618499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621242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4.8%</a:t>
            </a:r>
          </a:p>
        </p:txBody>
      </p:sp>
      <p:sp>
        <p:nvSpPr>
          <p:cNvPr id="249" name="Rectangle 248"/>
          <p:cNvSpPr/>
          <p:nvPr/>
        </p:nvSpPr>
        <p:spPr>
          <a:xfrm>
            <a:off x="672924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675667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6.2%</a:t>
            </a:r>
          </a:p>
        </p:txBody>
      </p:sp>
      <p:sp>
        <p:nvSpPr>
          <p:cNvPr id="251" name="Rectangle 250"/>
          <p:cNvSpPr/>
          <p:nvPr/>
        </p:nvSpPr>
        <p:spPr>
          <a:xfrm>
            <a:off x="727349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730092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3.4%</a:t>
            </a:r>
          </a:p>
        </p:txBody>
      </p:sp>
      <p:sp>
        <p:nvSpPr>
          <p:cNvPr id="253" name="Rectangle 252"/>
          <p:cNvSpPr/>
          <p:nvPr/>
        </p:nvSpPr>
        <p:spPr>
          <a:xfrm>
            <a:off x="781774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784517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255" name="Rectangle 254"/>
          <p:cNvSpPr/>
          <p:nvPr/>
        </p:nvSpPr>
        <p:spPr>
          <a:xfrm>
            <a:off x="836199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838942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0.0%</a:t>
            </a:r>
          </a:p>
        </p:txBody>
      </p:sp>
      <p:sp>
        <p:nvSpPr>
          <p:cNvPr id="257" name="Rectangle 256"/>
          <p:cNvSpPr/>
          <p:nvPr/>
        </p:nvSpPr>
        <p:spPr>
          <a:xfrm>
            <a:off x="890624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893367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25.0%</a:t>
            </a:r>
          </a:p>
        </p:txBody>
      </p:sp>
      <p:sp>
        <p:nvSpPr>
          <p:cNvPr id="259" name="Rectangle 258"/>
          <p:cNvSpPr/>
          <p:nvPr/>
        </p:nvSpPr>
        <p:spPr>
          <a:xfrm>
            <a:off x="9450497" y="4574850"/>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9477929" y="4592406"/>
            <a:ext cx="489386" cy="258958"/>
          </a:xfrm>
          <a:prstGeom prst="rect">
            <a:avLst/>
          </a:prstGeom>
          <a:noFill/>
        </p:spPr>
        <p:txBody>
          <a:bodyPr wrap="square" anchor="ctr" lIns="0" rIns="0" tIns="0" bIns="0">
            <a:spAutoFit/>
          </a:bodyPr>
          <a:lstStyle/>
          <a:p>
            <a:pPr algn="r"/>
            <a:r>
              <a:rPr sz="719" b="0" i="0">
                <a:solidFill>
                  <a:srgbClr val="000000"/>
                </a:solidFill>
                <a:latin typeface="Segoe UI"/>
              </a:rPr>
              <a:t>0.0%</a:t>
            </a:r>
          </a:p>
        </p:txBody>
      </p:sp>
      <p:sp>
        <p:nvSpPr>
          <p:cNvPr id="261" name="Rectangle 260"/>
          <p:cNvSpPr/>
          <p:nvPr/>
        </p:nvSpPr>
        <p:spPr>
          <a:xfrm>
            <a:off x="1708099" y="4833808"/>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1735531" y="4851364"/>
            <a:ext cx="2245034" cy="258958"/>
          </a:xfrm>
          <a:prstGeom prst="rect">
            <a:avLst/>
          </a:prstGeom>
          <a:noFill/>
        </p:spPr>
        <p:txBody>
          <a:bodyPr wrap="square" anchor="ctr" lIns="0" rIns="0" tIns="0" bIns="0">
            <a:spAutoFit/>
          </a:bodyPr>
          <a:lstStyle/>
          <a:p>
            <a:pPr algn="l"/>
            <a:r>
              <a:rPr sz="691" b="0" i="0">
                <a:solidFill>
                  <a:srgbClr val="000000"/>
                </a:solidFill>
                <a:latin typeface="Segoe UI"/>
              </a:rPr>
              <a:t>AMTAGVI Infusions Performed</a:t>
            </a:r>
          </a:p>
        </p:txBody>
      </p:sp>
      <p:sp>
        <p:nvSpPr>
          <p:cNvPr id="263" name="Rectangle 262"/>
          <p:cNvSpPr/>
          <p:nvPr/>
        </p:nvSpPr>
        <p:spPr>
          <a:xfrm>
            <a:off x="400799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403542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4</a:t>
            </a:r>
          </a:p>
        </p:txBody>
      </p:sp>
      <p:sp>
        <p:nvSpPr>
          <p:cNvPr id="265" name="Rectangle 264"/>
          <p:cNvSpPr/>
          <p:nvPr/>
        </p:nvSpPr>
        <p:spPr>
          <a:xfrm>
            <a:off x="455224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457967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267" name="Rectangle 266"/>
          <p:cNvSpPr/>
          <p:nvPr/>
        </p:nvSpPr>
        <p:spPr>
          <a:xfrm>
            <a:off x="509649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512392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269" name="Rectangle 268"/>
          <p:cNvSpPr/>
          <p:nvPr/>
        </p:nvSpPr>
        <p:spPr>
          <a:xfrm>
            <a:off x="564074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566817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4</a:t>
            </a:r>
          </a:p>
        </p:txBody>
      </p:sp>
      <p:sp>
        <p:nvSpPr>
          <p:cNvPr id="271" name="Rectangle 270"/>
          <p:cNvSpPr/>
          <p:nvPr/>
        </p:nvSpPr>
        <p:spPr>
          <a:xfrm>
            <a:off x="618499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621242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13</a:t>
            </a:r>
          </a:p>
        </p:txBody>
      </p:sp>
      <p:sp>
        <p:nvSpPr>
          <p:cNvPr id="273" name="Rectangle 272"/>
          <p:cNvSpPr/>
          <p:nvPr/>
        </p:nvSpPr>
        <p:spPr>
          <a:xfrm>
            <a:off x="672924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675667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10</a:t>
            </a:r>
          </a:p>
        </p:txBody>
      </p:sp>
      <p:sp>
        <p:nvSpPr>
          <p:cNvPr id="275" name="Rectangle 274"/>
          <p:cNvSpPr/>
          <p:nvPr/>
        </p:nvSpPr>
        <p:spPr>
          <a:xfrm>
            <a:off x="727349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730092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7</a:t>
            </a:r>
          </a:p>
        </p:txBody>
      </p:sp>
      <p:sp>
        <p:nvSpPr>
          <p:cNvPr id="277" name="Rectangle 276"/>
          <p:cNvSpPr/>
          <p:nvPr/>
        </p:nvSpPr>
        <p:spPr>
          <a:xfrm>
            <a:off x="781774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784517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279" name="Rectangle 278"/>
          <p:cNvSpPr/>
          <p:nvPr/>
        </p:nvSpPr>
        <p:spPr>
          <a:xfrm>
            <a:off x="836199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838942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1</a:t>
            </a:r>
          </a:p>
        </p:txBody>
      </p:sp>
      <p:sp>
        <p:nvSpPr>
          <p:cNvPr id="281" name="Rectangle 280"/>
          <p:cNvSpPr/>
          <p:nvPr/>
        </p:nvSpPr>
        <p:spPr>
          <a:xfrm>
            <a:off x="890624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893367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3</a:t>
            </a:r>
          </a:p>
        </p:txBody>
      </p:sp>
      <p:sp>
        <p:nvSpPr>
          <p:cNvPr id="283" name="Rectangle 282"/>
          <p:cNvSpPr/>
          <p:nvPr/>
        </p:nvSpPr>
        <p:spPr>
          <a:xfrm>
            <a:off x="9450497" y="4833808"/>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9477929" y="4851364"/>
            <a:ext cx="489386" cy="258958"/>
          </a:xfrm>
          <a:prstGeom prst="rect">
            <a:avLst/>
          </a:prstGeom>
          <a:noFill/>
        </p:spPr>
        <p:txBody>
          <a:bodyPr wrap="square" anchor="ctr" lIns="0" rIns="0" tIns="0" bIns="0">
            <a:spAutoFit/>
          </a:bodyPr>
          <a:lstStyle/>
          <a:p>
            <a:pPr algn="r"/>
            <a:r>
              <a:rPr sz="719" b="0" i="0">
                <a:solidFill>
                  <a:srgbClr val="000000"/>
                </a:solidFill>
                <a:latin typeface="Segoe UI"/>
              </a:rPr>
              <a:t>0</a:t>
            </a:r>
          </a:p>
        </p:txBody>
      </p:sp>
      <p:sp>
        <p:nvSpPr>
          <p:cNvPr id="285" name="Rectangle 284"/>
          <p:cNvSpPr/>
          <p:nvPr/>
        </p:nvSpPr>
        <p:spPr>
          <a:xfrm>
            <a:off x="1708099" y="5092766"/>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1735531" y="5110322"/>
            <a:ext cx="2245034" cy="258958"/>
          </a:xfrm>
          <a:prstGeom prst="rect">
            <a:avLst/>
          </a:prstGeom>
          <a:noFill/>
        </p:spPr>
        <p:txBody>
          <a:bodyPr wrap="square" anchor="ctr" lIns="0" rIns="0" tIns="0" bIns="0">
            <a:spAutoFit/>
          </a:bodyPr>
          <a:lstStyle/>
          <a:p>
            <a:pPr algn="l"/>
            <a:r>
              <a:rPr sz="691" b="0" i="0">
                <a:solidFill>
                  <a:srgbClr val="000000"/>
                </a:solidFill>
                <a:latin typeface="Segoe UI"/>
              </a:rPr>
              <a:t>Median Time From Enrollment Date to TTP (Days)</a:t>
            </a:r>
          </a:p>
        </p:txBody>
      </p:sp>
      <p:sp>
        <p:nvSpPr>
          <p:cNvPr id="287" name="Rectangle 286"/>
          <p:cNvSpPr/>
          <p:nvPr/>
        </p:nvSpPr>
        <p:spPr>
          <a:xfrm>
            <a:off x="400799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403542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37.0</a:t>
            </a:r>
          </a:p>
        </p:txBody>
      </p:sp>
      <p:sp>
        <p:nvSpPr>
          <p:cNvPr id="289" name="Rectangle 288"/>
          <p:cNvSpPr/>
          <p:nvPr/>
        </p:nvSpPr>
        <p:spPr>
          <a:xfrm>
            <a:off x="455224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457967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291" name="Rectangle 290"/>
          <p:cNvSpPr/>
          <p:nvPr/>
        </p:nvSpPr>
        <p:spPr>
          <a:xfrm>
            <a:off x="509649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512392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25.0</a:t>
            </a:r>
          </a:p>
        </p:txBody>
      </p:sp>
      <p:sp>
        <p:nvSpPr>
          <p:cNvPr id="293" name="Rectangle 292"/>
          <p:cNvSpPr/>
          <p:nvPr/>
        </p:nvSpPr>
        <p:spPr>
          <a:xfrm>
            <a:off x="564074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566817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42.0</a:t>
            </a:r>
          </a:p>
        </p:txBody>
      </p:sp>
      <p:sp>
        <p:nvSpPr>
          <p:cNvPr id="295" name="Rectangle 294"/>
          <p:cNvSpPr/>
          <p:nvPr/>
        </p:nvSpPr>
        <p:spPr>
          <a:xfrm>
            <a:off x="618499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621242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43.0</a:t>
            </a:r>
          </a:p>
        </p:txBody>
      </p:sp>
      <p:sp>
        <p:nvSpPr>
          <p:cNvPr id="297" name="Rectangle 296"/>
          <p:cNvSpPr/>
          <p:nvPr/>
        </p:nvSpPr>
        <p:spPr>
          <a:xfrm>
            <a:off x="672924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675667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43.0</a:t>
            </a:r>
          </a:p>
        </p:txBody>
      </p:sp>
      <p:sp>
        <p:nvSpPr>
          <p:cNvPr id="299" name="Rectangle 298"/>
          <p:cNvSpPr/>
          <p:nvPr/>
        </p:nvSpPr>
        <p:spPr>
          <a:xfrm>
            <a:off x="727349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730092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44.3</a:t>
            </a:r>
          </a:p>
        </p:txBody>
      </p:sp>
      <p:sp>
        <p:nvSpPr>
          <p:cNvPr id="301" name="Rectangle 300"/>
          <p:cNvSpPr/>
          <p:nvPr/>
        </p:nvSpPr>
        <p:spPr>
          <a:xfrm>
            <a:off x="781774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784517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03" name="Rectangle 302"/>
          <p:cNvSpPr/>
          <p:nvPr/>
        </p:nvSpPr>
        <p:spPr>
          <a:xfrm>
            <a:off x="836199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838942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42.0</a:t>
            </a:r>
          </a:p>
        </p:txBody>
      </p:sp>
      <p:sp>
        <p:nvSpPr>
          <p:cNvPr id="305" name="Rectangle 304"/>
          <p:cNvSpPr/>
          <p:nvPr/>
        </p:nvSpPr>
        <p:spPr>
          <a:xfrm>
            <a:off x="890624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893367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61.5</a:t>
            </a:r>
          </a:p>
        </p:txBody>
      </p:sp>
      <p:sp>
        <p:nvSpPr>
          <p:cNvPr id="307" name="Rectangle 306"/>
          <p:cNvSpPr/>
          <p:nvPr/>
        </p:nvSpPr>
        <p:spPr>
          <a:xfrm>
            <a:off x="9450497" y="5092766"/>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9477929" y="5110322"/>
            <a:ext cx="489386" cy="258958"/>
          </a:xfrm>
          <a:prstGeom prst="rect">
            <a:avLst/>
          </a:prstGeom>
          <a:noFill/>
        </p:spPr>
        <p:txBody>
          <a:bodyPr wrap="square" anchor="ctr" lIns="0" rIns="0" tIns="0" bIns="0">
            <a:spAutoFit/>
          </a:bodyPr>
          <a:lstStyle/>
          <a:p>
            <a:pPr algn="r"/>
            <a:r>
              <a:rPr sz="719" b="0" i="0">
                <a:solidFill>
                  <a:srgbClr val="000000"/>
                </a:solidFill>
                <a:latin typeface="Segoe UI"/>
              </a:rPr>
              <a:t>35.5</a:t>
            </a:r>
          </a:p>
        </p:txBody>
      </p:sp>
      <p:sp>
        <p:nvSpPr>
          <p:cNvPr id="309" name="Rectangle 308"/>
          <p:cNvSpPr/>
          <p:nvPr/>
        </p:nvSpPr>
        <p:spPr>
          <a:xfrm>
            <a:off x="1708099" y="5351724"/>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1735531" y="5369280"/>
            <a:ext cx="2245034" cy="258958"/>
          </a:xfrm>
          <a:prstGeom prst="rect">
            <a:avLst/>
          </a:prstGeom>
          <a:noFill/>
        </p:spPr>
        <p:txBody>
          <a:bodyPr wrap="square" anchor="ctr" lIns="0" rIns="0" tIns="0" bIns="0">
            <a:spAutoFit/>
          </a:bodyPr>
          <a:lstStyle/>
          <a:p>
            <a:pPr algn="l"/>
            <a:r>
              <a:rPr sz="691" b="0" i="0">
                <a:solidFill>
                  <a:srgbClr val="000000"/>
                </a:solidFill>
                <a:latin typeface="Segoe UI"/>
              </a:rPr>
              <a:t>Median Time From TTP to AMTAGVI Infusion (Days)</a:t>
            </a:r>
          </a:p>
        </p:txBody>
      </p:sp>
      <p:sp>
        <p:nvSpPr>
          <p:cNvPr id="311" name="Rectangle 310"/>
          <p:cNvSpPr/>
          <p:nvPr/>
        </p:nvSpPr>
        <p:spPr>
          <a:xfrm>
            <a:off x="400799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403542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53.0</a:t>
            </a:r>
          </a:p>
        </p:txBody>
      </p:sp>
      <p:sp>
        <p:nvSpPr>
          <p:cNvPr id="313" name="Rectangle 312"/>
          <p:cNvSpPr/>
          <p:nvPr/>
        </p:nvSpPr>
        <p:spPr>
          <a:xfrm>
            <a:off x="455224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457967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15" name="Rectangle 314"/>
          <p:cNvSpPr/>
          <p:nvPr/>
        </p:nvSpPr>
        <p:spPr>
          <a:xfrm>
            <a:off x="509649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512392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17" name="Rectangle 316"/>
          <p:cNvSpPr/>
          <p:nvPr/>
        </p:nvSpPr>
        <p:spPr>
          <a:xfrm>
            <a:off x="564074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566817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53.0</a:t>
            </a:r>
          </a:p>
        </p:txBody>
      </p:sp>
      <p:sp>
        <p:nvSpPr>
          <p:cNvPr id="319" name="Rectangle 318"/>
          <p:cNvSpPr/>
          <p:nvPr/>
        </p:nvSpPr>
        <p:spPr>
          <a:xfrm>
            <a:off x="618499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621242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49.0</a:t>
            </a:r>
          </a:p>
        </p:txBody>
      </p:sp>
      <p:sp>
        <p:nvSpPr>
          <p:cNvPr id="321" name="Rectangle 320"/>
          <p:cNvSpPr/>
          <p:nvPr/>
        </p:nvSpPr>
        <p:spPr>
          <a:xfrm>
            <a:off x="672924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675667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47.5</a:t>
            </a:r>
          </a:p>
        </p:txBody>
      </p:sp>
      <p:sp>
        <p:nvSpPr>
          <p:cNvPr id="323" name="Rectangle 322"/>
          <p:cNvSpPr/>
          <p:nvPr/>
        </p:nvSpPr>
        <p:spPr>
          <a:xfrm>
            <a:off x="727349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730092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43.5</a:t>
            </a:r>
          </a:p>
        </p:txBody>
      </p:sp>
      <p:sp>
        <p:nvSpPr>
          <p:cNvPr id="325" name="Rectangle 324"/>
          <p:cNvSpPr/>
          <p:nvPr/>
        </p:nvSpPr>
        <p:spPr>
          <a:xfrm>
            <a:off x="781774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784517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27" name="Rectangle 326"/>
          <p:cNvSpPr/>
          <p:nvPr/>
        </p:nvSpPr>
        <p:spPr>
          <a:xfrm>
            <a:off x="836199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838942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52.0</a:t>
            </a:r>
          </a:p>
        </p:txBody>
      </p:sp>
      <p:sp>
        <p:nvSpPr>
          <p:cNvPr id="329" name="Rectangle 328"/>
          <p:cNvSpPr/>
          <p:nvPr/>
        </p:nvSpPr>
        <p:spPr>
          <a:xfrm>
            <a:off x="890624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893367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54.0</a:t>
            </a:r>
          </a:p>
        </p:txBody>
      </p:sp>
      <p:sp>
        <p:nvSpPr>
          <p:cNvPr id="331" name="Rectangle 330"/>
          <p:cNvSpPr/>
          <p:nvPr/>
        </p:nvSpPr>
        <p:spPr>
          <a:xfrm>
            <a:off x="9450497" y="5351724"/>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Box 331"/>
          <p:cNvSpPr txBox="1"/>
          <p:nvPr/>
        </p:nvSpPr>
        <p:spPr>
          <a:xfrm>
            <a:off x="9477929" y="5369280"/>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33" name="Rectangle 332"/>
          <p:cNvSpPr/>
          <p:nvPr/>
        </p:nvSpPr>
        <p:spPr>
          <a:xfrm>
            <a:off x="1708099" y="5610682"/>
            <a:ext cx="2299898"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735531" y="5628238"/>
            <a:ext cx="2245034" cy="258958"/>
          </a:xfrm>
          <a:prstGeom prst="rect">
            <a:avLst/>
          </a:prstGeom>
          <a:noFill/>
        </p:spPr>
        <p:txBody>
          <a:bodyPr wrap="square" anchor="ctr" lIns="0" rIns="0" tIns="0" bIns="0">
            <a:spAutoFit/>
          </a:bodyPr>
          <a:lstStyle/>
          <a:p>
            <a:pPr algn="l"/>
            <a:r>
              <a:rPr sz="691" b="0" i="0">
                <a:solidFill>
                  <a:srgbClr val="000000"/>
                </a:solidFill>
                <a:latin typeface="Segoe UI"/>
              </a:rPr>
              <a:t>Median Time From Final Product Delivery Date
to AMTAGVI Infusion (Days)</a:t>
            </a:r>
          </a:p>
        </p:txBody>
      </p:sp>
      <p:sp>
        <p:nvSpPr>
          <p:cNvPr id="335" name="Rectangle 334"/>
          <p:cNvSpPr/>
          <p:nvPr/>
        </p:nvSpPr>
        <p:spPr>
          <a:xfrm>
            <a:off x="400799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403542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14.5</a:t>
            </a:r>
          </a:p>
        </p:txBody>
      </p:sp>
      <p:sp>
        <p:nvSpPr>
          <p:cNvPr id="337" name="Rectangle 336"/>
          <p:cNvSpPr/>
          <p:nvPr/>
        </p:nvSpPr>
        <p:spPr>
          <a:xfrm>
            <a:off x="455224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457967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39" name="Rectangle 338"/>
          <p:cNvSpPr/>
          <p:nvPr/>
        </p:nvSpPr>
        <p:spPr>
          <a:xfrm>
            <a:off x="509649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512392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41" name="Rectangle 340"/>
          <p:cNvSpPr/>
          <p:nvPr/>
        </p:nvSpPr>
        <p:spPr>
          <a:xfrm>
            <a:off x="564074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341"/>
          <p:cNvSpPr txBox="1"/>
          <p:nvPr/>
        </p:nvSpPr>
        <p:spPr>
          <a:xfrm>
            <a:off x="566817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14.5</a:t>
            </a:r>
          </a:p>
        </p:txBody>
      </p:sp>
      <p:sp>
        <p:nvSpPr>
          <p:cNvPr id="343" name="Rectangle 342"/>
          <p:cNvSpPr/>
          <p:nvPr/>
        </p:nvSpPr>
        <p:spPr>
          <a:xfrm>
            <a:off x="618499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extBox 343"/>
          <p:cNvSpPr txBox="1"/>
          <p:nvPr/>
        </p:nvSpPr>
        <p:spPr>
          <a:xfrm>
            <a:off x="621242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4.5</a:t>
            </a:r>
          </a:p>
        </p:txBody>
      </p:sp>
      <p:sp>
        <p:nvSpPr>
          <p:cNvPr id="345" name="Rectangle 344"/>
          <p:cNvSpPr/>
          <p:nvPr/>
        </p:nvSpPr>
        <p:spPr>
          <a:xfrm>
            <a:off x="672924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TextBox 345"/>
          <p:cNvSpPr txBox="1"/>
          <p:nvPr/>
        </p:nvSpPr>
        <p:spPr>
          <a:xfrm>
            <a:off x="675667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5.0</a:t>
            </a:r>
          </a:p>
        </p:txBody>
      </p:sp>
      <p:sp>
        <p:nvSpPr>
          <p:cNvPr id="347" name="Rectangle 346"/>
          <p:cNvSpPr/>
          <p:nvPr/>
        </p:nvSpPr>
        <p:spPr>
          <a:xfrm>
            <a:off x="727349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TextBox 347"/>
          <p:cNvSpPr txBox="1"/>
          <p:nvPr/>
        </p:nvSpPr>
        <p:spPr>
          <a:xfrm>
            <a:off x="730092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4.3</a:t>
            </a:r>
          </a:p>
        </p:txBody>
      </p:sp>
      <p:sp>
        <p:nvSpPr>
          <p:cNvPr id="349" name="Rectangle 348"/>
          <p:cNvSpPr/>
          <p:nvPr/>
        </p:nvSpPr>
        <p:spPr>
          <a:xfrm>
            <a:off x="781774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TextBox 349"/>
          <p:cNvSpPr txBox="1"/>
          <p:nvPr/>
        </p:nvSpPr>
        <p:spPr>
          <a:xfrm>
            <a:off x="784517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51" name="Rectangle 350"/>
          <p:cNvSpPr/>
          <p:nvPr/>
        </p:nvSpPr>
        <p:spPr>
          <a:xfrm>
            <a:off x="836199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TextBox 351"/>
          <p:cNvSpPr txBox="1"/>
          <p:nvPr/>
        </p:nvSpPr>
        <p:spPr>
          <a:xfrm>
            <a:off x="838942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10.0</a:t>
            </a:r>
          </a:p>
        </p:txBody>
      </p:sp>
      <p:sp>
        <p:nvSpPr>
          <p:cNvPr id="353" name="Rectangle 352"/>
          <p:cNvSpPr/>
          <p:nvPr/>
        </p:nvSpPr>
        <p:spPr>
          <a:xfrm>
            <a:off x="890624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TextBox 353"/>
          <p:cNvSpPr txBox="1"/>
          <p:nvPr/>
        </p:nvSpPr>
        <p:spPr>
          <a:xfrm>
            <a:off x="893367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18.0</a:t>
            </a:r>
          </a:p>
        </p:txBody>
      </p:sp>
      <p:sp>
        <p:nvSpPr>
          <p:cNvPr id="355" name="Rectangle 354"/>
          <p:cNvSpPr/>
          <p:nvPr/>
        </p:nvSpPr>
        <p:spPr>
          <a:xfrm>
            <a:off x="9450497" y="5610682"/>
            <a:ext cx="544250" cy="258958"/>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9477929" y="5628238"/>
            <a:ext cx="489386" cy="258958"/>
          </a:xfrm>
          <a:prstGeom prst="rect">
            <a:avLst/>
          </a:prstGeom>
          <a:noFill/>
        </p:spPr>
        <p:txBody>
          <a:bodyPr wrap="square" anchor="ctr" lIns="0" rIns="0" tIns="0" bIns="0">
            <a:spAutoFit/>
          </a:bodyPr>
          <a:lstStyle/>
          <a:p>
            <a:pPr algn="r"/>
            <a:r>
              <a:rPr sz="719" b="0" i="0">
                <a:solidFill>
                  <a:srgbClr val="000000"/>
                </a:solidFill>
                <a:latin typeface="Segoe UI"/>
              </a:rPr>
              <a:t/>
            </a:r>
          </a:p>
        </p:txBody>
      </p:sp>
      <p:sp>
        <p:nvSpPr>
          <p:cNvPr id="357" name="Rectangle 356"/>
          <p:cNvSpPr/>
          <p:nvPr/>
        </p:nvSpPr>
        <p:spPr>
          <a:xfrm>
            <a:off x="566928" y="2503186"/>
            <a:ext cx="1141171" cy="776874"/>
          </a:xfrm>
          <a:prstGeom prst="rect">
            <a:avLst/>
          </a:prstGeom>
          <a:solidFill>
            <a:srgbClr val="DCE6F1"/>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594360" y="2520742"/>
            <a:ext cx="1086307" cy="776874"/>
          </a:xfrm>
          <a:prstGeom prst="rect">
            <a:avLst/>
          </a:prstGeom>
          <a:noFill/>
        </p:spPr>
        <p:txBody>
          <a:bodyPr wrap="square" anchor="ctr" lIns="0" rIns="0" tIns="0" bIns="0">
            <a:spAutoFit/>
          </a:bodyPr>
          <a:lstStyle/>
          <a:p>
            <a:pPr algn="ctr"/>
            <a:r>
              <a:rPr sz="768" b="1" i="0">
                <a:solidFill>
                  <a:srgbClr val="000000"/>
                </a:solidFill>
                <a:latin typeface="Segoe UI"/>
              </a:rPr>
              <a:t>Patient Identification
&amp; Enrollment</a:t>
            </a:r>
          </a:p>
        </p:txBody>
      </p:sp>
      <p:sp>
        <p:nvSpPr>
          <p:cNvPr id="359" name="Rectangle 358"/>
          <p:cNvSpPr/>
          <p:nvPr/>
        </p:nvSpPr>
        <p:spPr>
          <a:xfrm>
            <a:off x="566928" y="3280060"/>
            <a:ext cx="1141171" cy="776874"/>
          </a:xfrm>
          <a:prstGeom prst="rect">
            <a:avLst/>
          </a:prstGeom>
          <a:solidFill>
            <a:srgbClr val="C5D9F1"/>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594360" y="3297616"/>
            <a:ext cx="1086307" cy="776874"/>
          </a:xfrm>
          <a:prstGeom prst="rect">
            <a:avLst/>
          </a:prstGeom>
          <a:noFill/>
        </p:spPr>
        <p:txBody>
          <a:bodyPr wrap="square" anchor="ctr" lIns="0" rIns="0" tIns="0" bIns="0">
            <a:spAutoFit/>
          </a:bodyPr>
          <a:lstStyle/>
          <a:p>
            <a:pPr algn="ctr"/>
            <a:r>
              <a:rPr sz="768" b="1" i="0">
                <a:solidFill>
                  <a:srgbClr val="000000"/>
                </a:solidFill>
                <a:latin typeface="Segoe UI"/>
              </a:rPr>
              <a:t>Tumor Tissue
Procurement</a:t>
            </a:r>
          </a:p>
        </p:txBody>
      </p:sp>
      <p:sp>
        <p:nvSpPr>
          <p:cNvPr id="361" name="Rectangle 360"/>
          <p:cNvSpPr/>
          <p:nvPr/>
        </p:nvSpPr>
        <p:spPr>
          <a:xfrm>
            <a:off x="566928" y="4056934"/>
            <a:ext cx="1141171" cy="1035832"/>
          </a:xfrm>
          <a:prstGeom prst="rect">
            <a:avLst/>
          </a:prstGeom>
          <a:solidFill>
            <a:srgbClr val="B8CCE4"/>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594360" y="4074490"/>
            <a:ext cx="1086307" cy="1035832"/>
          </a:xfrm>
          <a:prstGeom prst="rect">
            <a:avLst/>
          </a:prstGeom>
          <a:noFill/>
        </p:spPr>
        <p:txBody>
          <a:bodyPr wrap="square" anchor="ctr" lIns="0" rIns="0" tIns="0" bIns="0">
            <a:spAutoFit/>
          </a:bodyPr>
          <a:lstStyle/>
          <a:p>
            <a:pPr algn="ctr"/>
            <a:r>
              <a:rPr sz="768" b="1" i="0">
                <a:solidFill>
                  <a:srgbClr val="000000"/>
                </a:solidFill>
                <a:latin typeface="Segoe UI"/>
              </a:rPr>
              <a:t>AMTAGVI
Regimen</a:t>
            </a:r>
          </a:p>
        </p:txBody>
      </p:sp>
      <p:sp>
        <p:nvSpPr>
          <p:cNvPr id="363" name="Rectangle 362"/>
          <p:cNvSpPr/>
          <p:nvPr/>
        </p:nvSpPr>
        <p:spPr>
          <a:xfrm>
            <a:off x="566928" y="5092766"/>
            <a:ext cx="1141171" cy="776874"/>
          </a:xfrm>
          <a:prstGeom prst="rect">
            <a:avLst/>
          </a:prstGeom>
          <a:solidFill>
            <a:srgbClr val="DCE6F1"/>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TextBox 363"/>
          <p:cNvSpPr txBox="1"/>
          <p:nvPr/>
        </p:nvSpPr>
        <p:spPr>
          <a:xfrm>
            <a:off x="594360" y="5110322"/>
            <a:ext cx="1086307" cy="776874"/>
          </a:xfrm>
          <a:prstGeom prst="rect">
            <a:avLst/>
          </a:prstGeom>
          <a:noFill/>
        </p:spPr>
        <p:txBody>
          <a:bodyPr wrap="square" anchor="ctr" lIns="0" rIns="0" tIns="0" bIns="0">
            <a:spAutoFit/>
          </a:bodyPr>
          <a:lstStyle/>
          <a:p>
            <a:pPr algn="ctr"/>
            <a:r>
              <a:rPr sz="768" b="1" i="0">
                <a:solidFill>
                  <a:srgbClr val="000000"/>
                </a:solidFill>
                <a:latin typeface="Segoe UI"/>
              </a:rPr>
              <a:t>AMTAGVI Treatment
Timelines</a:t>
            </a:r>
          </a:p>
        </p:txBody>
      </p:sp>
      <p:sp>
        <p:nvSpPr>
          <p:cNvPr id="365" name="Rectangle 364"/>
          <p:cNvSpPr/>
          <p:nvPr/>
        </p:nvSpPr>
        <p:spPr>
          <a:xfrm>
            <a:off x="6184997" y="2176637"/>
            <a:ext cx="1632750" cy="3693003"/>
          </a:xfrm>
          <a:prstGeom prst="rect">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TextBox 365"/>
          <p:cNvSpPr txBox="1"/>
          <p:nvPr/>
        </p:nvSpPr>
        <p:spPr>
          <a:xfrm>
            <a:off x="5316317" y="1764061"/>
            <a:ext cx="3370110" cy="201168"/>
          </a:xfrm>
          <a:prstGeom prst="rect">
            <a:avLst/>
          </a:prstGeom>
          <a:noFill/>
        </p:spPr>
        <p:txBody>
          <a:bodyPr wrap="square" anchor="t" lIns="0" rIns="0" tIns="0" bIns="0">
            <a:spAutoFit/>
          </a:bodyPr>
          <a:lstStyle/>
          <a:p>
            <a:pPr algn="ctr"/>
            <a:r>
              <a:rPr sz="768" b="1" i="0">
                <a:solidFill>
                  <a:srgbClr val="C0392B"/>
                </a:solidFill>
                <a:latin typeface="Segoe UI"/>
              </a:rPr>
              <a:t>Pick one comparative arm depending on ATC</a:t>
            </a:r>
          </a:p>
        </p:txBody>
      </p:sp>
      <p:sp>
        <p:nvSpPr>
          <p:cNvPr id="367" name="TextBox 366"/>
          <p:cNvSpPr txBox="1"/>
          <p:nvPr/>
        </p:nvSpPr>
        <p:spPr>
          <a:xfrm>
            <a:off x="566928" y="5979368"/>
            <a:ext cx="10881360" cy="731520"/>
          </a:xfrm>
          <a:prstGeom prst="rect">
            <a:avLst/>
          </a:prstGeom>
          <a:noFill/>
        </p:spPr>
        <p:txBody>
          <a:bodyPr wrap="square" anchor="t" lIns="0" rIns="0" tIns="0" bIns="0">
            <a:spAutoFit/>
          </a:bodyPr>
          <a:lstStyle/>
          <a:p>
            <a:pPr algn="l">
              <a:spcAft>
                <a:spcPts val="200"/>
              </a:spcAft>
            </a:pPr>
            <a:r>
              <a:rPr sz="850" b="0" i="0">
                <a:solidFill>
                  <a:srgbClr val="26333D"/>
                </a:solidFill>
                <a:latin typeface="Segoe UI"/>
              </a:rPr>
              <a:t>* Patient Progression Rate = patient related drop-offs after manufacturing start, divided by manufacturing starts.  * Top 10 and Top 40 ATCs are the highest enrolling centres during the specific timeframe.</a:t>
            </a:r>
          </a:p>
          <a:p>
            <a:pPr algn="l">
              <a:spcAft>
                <a:spcPts val="200"/>
              </a:spcAft>
            </a:pPr>
            <a:r>
              <a:rPr sz="850" b="0" i="0">
                <a:solidFill>
                  <a:srgbClr val="26333D"/>
                </a:solidFill>
                <a:latin typeface="Segoe UI"/>
              </a:rPr>
              <a:t>** 'New' refers to ATCs authorized and onboarded in the 2025 calendar year.  * TTP cancellations are estimated until the Infinity snapshot history is connected.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anchor="t" lIns="0" rIns="0" tIns="0" bIns="0">
            <a:spAutoFit/>
          </a:bodyPr>
          <a:lstStyle/>
          <a:p>
            <a:pPr algn="l"/>
            <a:r>
              <a:rPr sz="1100" b="1" i="0">
                <a:solidFill>
                  <a:srgbClr val="2F5D8A"/>
                </a:solidFill>
                <a:latin typeface="Segoe UI"/>
              </a:rPr>
              <a:t>P&amp;PR Scorecard  |  What changes</a:t>
            </a:r>
          </a:p>
        </p:txBody>
      </p:sp>
      <p:sp>
        <p:nvSpPr>
          <p:cNvPr id="3" name="TextBox 2"/>
          <p:cNvSpPr txBox="1"/>
          <p:nvPr/>
        </p:nvSpPr>
        <p:spPr>
          <a:xfrm>
            <a:off x="566928" y="676656"/>
            <a:ext cx="10561320" cy="786384"/>
          </a:xfrm>
          <a:prstGeom prst="rect">
            <a:avLst/>
          </a:prstGeom>
          <a:noFill/>
        </p:spPr>
        <p:txBody>
          <a:bodyPr wrap="square" anchor="t" lIns="0" rIns="0" tIns="0" bIns="0">
            <a:spAutoFit/>
          </a:bodyPr>
          <a:lstStyle/>
          <a:p>
            <a:pPr algn="l"/>
            <a:r>
              <a:rPr sz="2100" b="1" i="0">
                <a:solidFill>
                  <a:srgbClr val="17344F"/>
                </a:solidFill>
                <a:latin typeface="Segoe UI"/>
              </a:rPr>
              <a:t>Four changes take the automated table from a data dump back to a document</a:t>
            </a:r>
          </a:p>
        </p:txBody>
      </p:sp>
      <p:sp>
        <p:nvSpPr>
          <p:cNvPr id="4" name="Rectangle 3"/>
          <p:cNvSpPr/>
          <p:nvPr/>
        </p:nvSpPr>
        <p:spPr>
          <a:xfrm>
            <a:off x="25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8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65392"/>
            <a:ext cx="6400800" cy="228600"/>
          </a:xfrm>
          <a:prstGeom prst="rect">
            <a:avLst/>
          </a:prstGeom>
          <a:noFill/>
        </p:spPr>
        <p:txBody>
          <a:bodyPr wrap="square" anchor="t" lIns="0" rIns="0" tIns="0" bIns="0">
            <a:spAutoFit/>
          </a:bodyPr>
          <a:lstStyle/>
          <a:p>
            <a:pPr algn="l"/>
            <a:r>
              <a:rPr sz="850" b="0" i="0">
                <a:solidFill>
                  <a:srgbClr val="FFFFFF"/>
                </a:solidFill>
                <a:latin typeface="Segoe UI"/>
              </a:rPr>
              <a:t>© 2025, Iovance Biotherapeutics, Inc.  |  Confidential for Internal Use Only</a:t>
            </a:r>
          </a:p>
        </p:txBody>
      </p:sp>
      <p:sp>
        <p:nvSpPr>
          <p:cNvPr id="8" name="TextBox 7"/>
          <p:cNvSpPr txBox="1"/>
          <p:nvPr/>
        </p:nvSpPr>
        <p:spPr>
          <a:xfrm>
            <a:off x="9966960" y="6556248"/>
            <a:ext cx="1554480" cy="237744"/>
          </a:xfrm>
          <a:prstGeom prst="rect">
            <a:avLst/>
          </a:prstGeom>
          <a:noFill/>
        </p:spPr>
        <p:txBody>
          <a:bodyPr wrap="square" anchor="t" lIns="0" rIns="0" tIns="0" bIns="0">
            <a:spAutoFit/>
          </a:bodyPr>
          <a:lstStyle/>
          <a:p>
            <a:pPr algn="r"/>
            <a:r>
              <a:rPr sz="1100" b="1" i="0">
                <a:solidFill>
                  <a:srgbClr val="FFFFFF"/>
                </a:solidFill>
                <a:latin typeface="Segoe UI"/>
              </a:rPr>
              <a:t>I O V A N C E</a:t>
            </a:r>
          </a:p>
        </p:txBody>
      </p:sp>
      <p:sp>
        <p:nvSpPr>
          <p:cNvPr id="9" name="Rectangle 8"/>
          <p:cNvSpPr/>
          <p:nvPr/>
        </p:nvSpPr>
        <p:spPr>
          <a:xfrm>
            <a:off x="11686032" y="6556248"/>
            <a:ext cx="237744"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6032" y="6583680"/>
            <a:ext cx="237744" cy="182880"/>
          </a:xfrm>
          <a:prstGeom prst="rect">
            <a:avLst/>
          </a:prstGeom>
          <a:noFill/>
        </p:spPr>
        <p:txBody>
          <a:bodyPr wrap="square" anchor="t" lIns="0" rIns="0" tIns="0" bIns="0">
            <a:spAutoFit/>
          </a:bodyPr>
          <a:lstStyle/>
          <a:p>
            <a:pPr algn="ctr"/>
            <a:r>
              <a:rPr sz="800" b="1" i="0">
                <a:solidFill>
                  <a:srgbClr val="567A2E"/>
                </a:solidFill>
                <a:latin typeface="Segoe UI"/>
              </a:rPr>
              <a:t>5</a:t>
            </a:r>
          </a:p>
        </p:txBody>
      </p:sp>
      <p:sp>
        <p:nvSpPr>
          <p:cNvPr id="11" name="Rectangle 10"/>
          <p:cNvSpPr/>
          <p:nvPr/>
        </p:nvSpPr>
        <p:spPr>
          <a:xfrm>
            <a:off x="566928" y="1847088"/>
            <a:ext cx="3063240" cy="969264"/>
          </a:xfrm>
          <a:prstGeom prst="rect">
            <a:avLst/>
          </a:prstGeom>
          <a:solidFill>
            <a:srgbClr val="F2F5F8"/>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965960"/>
            <a:ext cx="2788920" cy="777240"/>
          </a:xfrm>
          <a:prstGeom prst="rect">
            <a:avLst/>
          </a:prstGeom>
          <a:noFill/>
        </p:spPr>
        <p:txBody>
          <a:bodyPr wrap="square" anchor="ctr" lIns="0" rIns="0" tIns="0" bIns="0">
            <a:spAutoFit/>
          </a:bodyPr>
          <a:lstStyle/>
          <a:p>
            <a:pPr algn="l"/>
            <a:r>
              <a:rPr sz="1150" b="1" i="0">
                <a:solidFill>
                  <a:srgbClr val="567A2E"/>
                </a:solidFill>
                <a:latin typeface="Segoe UI"/>
              </a:rPr>
              <a:t>Two-row header with named blocks</a:t>
            </a:r>
          </a:p>
        </p:txBody>
      </p:sp>
      <p:sp>
        <p:nvSpPr>
          <p:cNvPr id="13" name="Rectangle 12"/>
          <p:cNvSpPr/>
          <p:nvPr/>
        </p:nvSpPr>
        <p:spPr>
          <a:xfrm>
            <a:off x="3767328" y="1847088"/>
            <a:ext cx="2788920" cy="969264"/>
          </a:xfrm>
          <a:prstGeom prst="rect">
            <a:avLst/>
          </a:prstGeom>
          <a:solidFill>
            <a:srgbClr val="FFFFFF"/>
          </a:solidFill>
          <a:ln w="6350">
            <a:solidFill>
              <a:srgbClr val="8A97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04487" y="1965960"/>
            <a:ext cx="2542032" cy="777240"/>
          </a:xfrm>
          <a:prstGeom prst="rect">
            <a:avLst/>
          </a:prstGeom>
          <a:noFill/>
        </p:spPr>
        <p:txBody>
          <a:bodyPr wrap="square" anchor="ctr" lIns="0" rIns="0" tIns="0" bIns="0">
            <a:spAutoFit/>
          </a:bodyPr>
          <a:lstStyle/>
          <a:p>
            <a:pPr algn="l"/>
            <a:r>
              <a:rPr sz="1050" b="0" i="0">
                <a:solidFill>
                  <a:srgbClr val="8A97A1"/>
                </a:solidFill>
                <a:latin typeface="Segoe UI"/>
              </a:rPr>
              <a:t>Thirteen equal columns with no grouping</a:t>
            </a:r>
          </a:p>
        </p:txBody>
      </p:sp>
      <p:sp>
        <p:nvSpPr>
          <p:cNvPr id="15" name="TextBox 14"/>
          <p:cNvSpPr txBox="1"/>
          <p:nvPr/>
        </p:nvSpPr>
        <p:spPr>
          <a:xfrm>
            <a:off x="6803136" y="1938528"/>
            <a:ext cx="4663440" cy="868680"/>
          </a:xfrm>
          <a:prstGeom prst="rect">
            <a:avLst/>
          </a:prstGeom>
          <a:noFill/>
        </p:spPr>
        <p:txBody>
          <a:bodyPr wrap="square" anchor="ctr" lIns="0" rIns="0" tIns="0" bIns="0">
            <a:spAutoFit/>
          </a:bodyPr>
          <a:lstStyle/>
          <a:p>
            <a:pPr algn="l"/>
            <a:r>
              <a:rPr sz="1050" b="0" i="0">
                <a:solidFill>
                  <a:srgbClr val="26333D"/>
                </a:solidFill>
                <a:latin typeface="Segoe UI"/>
              </a:rPr>
              <a:t>The centre's own figures, the national comparison and the quarterly trend are three different questions. Labelling the blocks tells the eye which one it is reading.</a:t>
            </a:r>
          </a:p>
        </p:txBody>
      </p:sp>
      <p:sp>
        <p:nvSpPr>
          <p:cNvPr id="16" name="Rectangle 15"/>
          <p:cNvSpPr/>
          <p:nvPr/>
        </p:nvSpPr>
        <p:spPr>
          <a:xfrm>
            <a:off x="566928" y="2916936"/>
            <a:ext cx="3063240" cy="969264"/>
          </a:xfrm>
          <a:prstGeom prst="rect">
            <a:avLst/>
          </a:prstGeom>
          <a:solidFill>
            <a:srgbClr val="F2F5F8"/>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035808"/>
            <a:ext cx="2788920" cy="777240"/>
          </a:xfrm>
          <a:prstGeom prst="rect">
            <a:avLst/>
          </a:prstGeom>
          <a:noFill/>
        </p:spPr>
        <p:txBody>
          <a:bodyPr wrap="square" anchor="ctr" lIns="0" rIns="0" tIns="0" bIns="0">
            <a:spAutoFit/>
          </a:bodyPr>
          <a:lstStyle/>
          <a:p>
            <a:pPr algn="l"/>
            <a:r>
              <a:rPr sz="1150" b="1" i="0">
                <a:solidFill>
                  <a:srgbClr val="567A2E"/>
                </a:solidFill>
                <a:latin typeface="Segoe UI"/>
              </a:rPr>
              <a:t>Category column shaded by group</a:t>
            </a:r>
          </a:p>
        </p:txBody>
      </p:sp>
      <p:sp>
        <p:nvSpPr>
          <p:cNvPr id="18" name="Rectangle 17"/>
          <p:cNvSpPr/>
          <p:nvPr/>
        </p:nvSpPr>
        <p:spPr>
          <a:xfrm>
            <a:off x="3767328" y="2916936"/>
            <a:ext cx="2788920" cy="969264"/>
          </a:xfrm>
          <a:prstGeom prst="rect">
            <a:avLst/>
          </a:prstGeom>
          <a:solidFill>
            <a:srgbClr val="FFFFFF"/>
          </a:solidFill>
          <a:ln w="6350">
            <a:solidFill>
              <a:srgbClr val="8A97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04487" y="3035808"/>
            <a:ext cx="2542032" cy="777240"/>
          </a:xfrm>
          <a:prstGeom prst="rect">
            <a:avLst/>
          </a:prstGeom>
          <a:noFill/>
        </p:spPr>
        <p:txBody>
          <a:bodyPr wrap="square" anchor="ctr" lIns="0" rIns="0" tIns="0" bIns="0">
            <a:spAutoFit/>
          </a:bodyPr>
          <a:lstStyle/>
          <a:p>
            <a:pPr algn="l"/>
            <a:r>
              <a:rPr sz="1050" b="0" i="0">
                <a:solidFill>
                  <a:srgbClr val="8A97A1"/>
                </a:solidFill>
                <a:latin typeface="Segoe UI"/>
              </a:rPr>
              <a:t>A white column of repeated words</a:t>
            </a:r>
          </a:p>
        </p:txBody>
      </p:sp>
      <p:sp>
        <p:nvSpPr>
          <p:cNvPr id="20" name="TextBox 19"/>
          <p:cNvSpPr txBox="1"/>
          <p:nvPr/>
        </p:nvSpPr>
        <p:spPr>
          <a:xfrm>
            <a:off x="6803136" y="3008376"/>
            <a:ext cx="4663440" cy="868680"/>
          </a:xfrm>
          <a:prstGeom prst="rect">
            <a:avLst/>
          </a:prstGeom>
          <a:noFill/>
        </p:spPr>
        <p:txBody>
          <a:bodyPr wrap="square" anchor="ctr" lIns="0" rIns="0" tIns="0" bIns="0">
            <a:spAutoFit/>
          </a:bodyPr>
          <a:lstStyle/>
          <a:p>
            <a:pPr algn="l"/>
            <a:r>
              <a:rPr sz="1050" b="0" i="0">
                <a:solidFill>
                  <a:srgbClr val="26333D"/>
                </a:solidFill>
                <a:latin typeface="Segoe UI"/>
              </a:rPr>
              <a:t>Four coloured blocks let someone find the funnel stage they care about without reading thirteen row labels.</a:t>
            </a:r>
          </a:p>
        </p:txBody>
      </p:sp>
      <p:sp>
        <p:nvSpPr>
          <p:cNvPr id="21" name="Rectangle 20"/>
          <p:cNvSpPr/>
          <p:nvPr/>
        </p:nvSpPr>
        <p:spPr>
          <a:xfrm>
            <a:off x="566928" y="3986784"/>
            <a:ext cx="3063240" cy="969264"/>
          </a:xfrm>
          <a:prstGeom prst="rect">
            <a:avLst/>
          </a:prstGeom>
          <a:solidFill>
            <a:srgbClr val="F2F5F8"/>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105656"/>
            <a:ext cx="2788920" cy="777240"/>
          </a:xfrm>
          <a:prstGeom prst="rect">
            <a:avLst/>
          </a:prstGeom>
          <a:noFill/>
        </p:spPr>
        <p:txBody>
          <a:bodyPr wrap="square" anchor="ctr" lIns="0" rIns="0" tIns="0" bIns="0">
            <a:spAutoFit/>
          </a:bodyPr>
          <a:lstStyle/>
          <a:p>
            <a:pPr algn="l"/>
            <a:r>
              <a:rPr sz="1150" b="1" i="0">
                <a:solidFill>
                  <a:srgbClr val="567A2E"/>
                </a:solidFill>
                <a:latin typeface="Segoe UI"/>
              </a:rPr>
              <a:t>One boxed comparison arm</a:t>
            </a:r>
          </a:p>
        </p:txBody>
      </p:sp>
      <p:sp>
        <p:nvSpPr>
          <p:cNvPr id="23" name="Rectangle 22"/>
          <p:cNvSpPr/>
          <p:nvPr/>
        </p:nvSpPr>
        <p:spPr>
          <a:xfrm>
            <a:off x="3767328" y="3986784"/>
            <a:ext cx="2788920" cy="969264"/>
          </a:xfrm>
          <a:prstGeom prst="rect">
            <a:avLst/>
          </a:prstGeom>
          <a:solidFill>
            <a:srgbClr val="FFFFFF"/>
          </a:solidFill>
          <a:ln w="6350">
            <a:solidFill>
              <a:srgbClr val="8A97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4487" y="4105656"/>
            <a:ext cx="2542032" cy="777240"/>
          </a:xfrm>
          <a:prstGeom prst="rect">
            <a:avLst/>
          </a:prstGeom>
          <a:noFill/>
        </p:spPr>
        <p:txBody>
          <a:bodyPr wrap="square" anchor="ctr" lIns="0" rIns="0" tIns="0" bIns="0">
            <a:spAutoFit/>
          </a:bodyPr>
          <a:lstStyle/>
          <a:p>
            <a:pPr algn="l"/>
            <a:r>
              <a:rPr sz="1050" b="0" i="0">
                <a:solidFill>
                  <a:srgbClr val="8A97A1"/>
                </a:solidFill>
                <a:latin typeface="Segoe UI"/>
              </a:rPr>
              <a:t>Three benchmark columns shown side by side</a:t>
            </a:r>
          </a:p>
        </p:txBody>
      </p:sp>
      <p:sp>
        <p:nvSpPr>
          <p:cNvPr id="25" name="TextBox 24"/>
          <p:cNvSpPr txBox="1"/>
          <p:nvPr/>
        </p:nvSpPr>
        <p:spPr>
          <a:xfrm>
            <a:off x="6803136" y="4078224"/>
            <a:ext cx="4663440" cy="868680"/>
          </a:xfrm>
          <a:prstGeom prst="rect">
            <a:avLst/>
          </a:prstGeom>
          <a:noFill/>
        </p:spPr>
        <p:txBody>
          <a:bodyPr wrap="square" anchor="ctr" lIns="0" rIns="0" tIns="0" bIns="0">
            <a:spAutoFit/>
          </a:bodyPr>
          <a:lstStyle/>
          <a:p>
            <a:pPr algn="l"/>
            <a:r>
              <a:rPr sz="1050" b="0" i="0">
                <a:solidFill>
                  <a:srgbClr val="26333D"/>
                </a:solidFill>
                <a:latin typeface="Segoe UI"/>
              </a:rPr>
              <a:t>Kolin's own note on the template says pick one arm depending on the ATC. A large centre compared against 'New' ATCs is a misleading number.</a:t>
            </a:r>
          </a:p>
        </p:txBody>
      </p:sp>
      <p:sp>
        <p:nvSpPr>
          <p:cNvPr id="26" name="Rectangle 25"/>
          <p:cNvSpPr/>
          <p:nvPr/>
        </p:nvSpPr>
        <p:spPr>
          <a:xfrm>
            <a:off x="566928" y="5056632"/>
            <a:ext cx="3063240" cy="969264"/>
          </a:xfrm>
          <a:prstGeom prst="rect">
            <a:avLst/>
          </a:prstGeom>
          <a:solidFill>
            <a:srgbClr val="F2F5F8"/>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175504"/>
            <a:ext cx="2788920" cy="777240"/>
          </a:xfrm>
          <a:prstGeom prst="rect">
            <a:avLst/>
          </a:prstGeom>
          <a:noFill/>
        </p:spPr>
        <p:txBody>
          <a:bodyPr wrap="square" anchor="ctr" lIns="0" rIns="0" tIns="0" bIns="0">
            <a:spAutoFit/>
          </a:bodyPr>
          <a:lstStyle/>
          <a:p>
            <a:pPr algn="l"/>
            <a:r>
              <a:rPr sz="1150" b="1" i="0">
                <a:solidFill>
                  <a:srgbClr val="567A2E"/>
                </a:solidFill>
                <a:latin typeface="Segoe UI"/>
              </a:rPr>
              <a:t>Diagnostics off the printed view</a:t>
            </a:r>
          </a:p>
        </p:txBody>
      </p:sp>
      <p:sp>
        <p:nvSpPr>
          <p:cNvPr id="28" name="Rectangle 27"/>
          <p:cNvSpPr/>
          <p:nvPr/>
        </p:nvSpPr>
        <p:spPr>
          <a:xfrm>
            <a:off x="3767328" y="5056632"/>
            <a:ext cx="2788920" cy="969264"/>
          </a:xfrm>
          <a:prstGeom prst="rect">
            <a:avLst/>
          </a:prstGeom>
          <a:solidFill>
            <a:srgbClr val="FFFFFF"/>
          </a:solidFill>
          <a:ln w="6350">
            <a:solidFill>
              <a:srgbClr val="8A97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04487" y="5175504"/>
            <a:ext cx="2542032" cy="777240"/>
          </a:xfrm>
          <a:prstGeom prst="rect">
            <a:avLst/>
          </a:prstGeom>
          <a:noFill/>
        </p:spPr>
        <p:txBody>
          <a:bodyPr wrap="square" anchor="ctr" lIns="0" rIns="0" tIns="0" bIns="0">
            <a:spAutoFit/>
          </a:bodyPr>
          <a:lstStyle/>
          <a:p>
            <a:pPr algn="l"/>
            <a:r>
              <a:rPr sz="1050" b="0" i="0">
                <a:solidFill>
                  <a:srgbClr val="8A97A1"/>
                </a:solidFill>
                <a:latin typeface="Segoe UI"/>
              </a:rPr>
              <a:t>Undated and After as-of shown as columns</a:t>
            </a:r>
          </a:p>
        </p:txBody>
      </p:sp>
      <p:sp>
        <p:nvSpPr>
          <p:cNvPr id="30" name="TextBox 29"/>
          <p:cNvSpPr txBox="1"/>
          <p:nvPr/>
        </p:nvSpPr>
        <p:spPr>
          <a:xfrm>
            <a:off x="6803136" y="5148072"/>
            <a:ext cx="4663440" cy="868680"/>
          </a:xfrm>
          <a:prstGeom prst="rect">
            <a:avLst/>
          </a:prstGeom>
          <a:noFill/>
        </p:spPr>
        <p:txBody>
          <a:bodyPr wrap="square" anchor="ctr" lIns="0" rIns="0" tIns="0" bIns="0">
            <a:spAutoFit/>
          </a:bodyPr>
          <a:lstStyle/>
          <a:p>
            <a:pPr algn="l"/>
            <a:r>
              <a:rPr sz="1050" b="0" i="0">
                <a:solidFill>
                  <a:srgbClr val="26333D"/>
                </a:solidFill>
                <a:latin typeface="Segoe UI"/>
              </a:rPr>
              <a:t>Those two exist so the pipeline can prove no event was lost. They are build checks, not review metrics, and they do not belong in front of a doctor.</a:t>
            </a:r>
          </a:p>
        </p:txBody>
      </p:sp>
      <p:sp>
        <p:nvSpPr>
          <p:cNvPr id="31" name="TextBox 30"/>
          <p:cNvSpPr txBox="1"/>
          <p:nvPr/>
        </p:nvSpPr>
        <p:spPr>
          <a:xfrm>
            <a:off x="566928" y="1572768"/>
            <a:ext cx="3063240" cy="228600"/>
          </a:xfrm>
          <a:prstGeom prst="rect">
            <a:avLst/>
          </a:prstGeom>
          <a:noFill/>
        </p:spPr>
        <p:txBody>
          <a:bodyPr wrap="square" anchor="t" lIns="0" rIns="0" tIns="0" bIns="0">
            <a:spAutoFit/>
          </a:bodyPr>
          <a:lstStyle/>
          <a:p>
            <a:pPr algn="l"/>
            <a:r>
              <a:rPr sz="900" b="1" i="0">
                <a:solidFill>
                  <a:srgbClr val="17344F"/>
                </a:solidFill>
                <a:latin typeface="Segoe UI"/>
              </a:rPr>
              <a:t>PROPOSED</a:t>
            </a:r>
          </a:p>
        </p:txBody>
      </p:sp>
      <p:sp>
        <p:nvSpPr>
          <p:cNvPr id="32" name="TextBox 31"/>
          <p:cNvSpPr txBox="1"/>
          <p:nvPr/>
        </p:nvSpPr>
        <p:spPr>
          <a:xfrm>
            <a:off x="3767328" y="1572768"/>
            <a:ext cx="2788920" cy="228600"/>
          </a:xfrm>
          <a:prstGeom prst="rect">
            <a:avLst/>
          </a:prstGeom>
          <a:noFill/>
        </p:spPr>
        <p:txBody>
          <a:bodyPr wrap="square" anchor="t" lIns="0" rIns="0" tIns="0" bIns="0">
            <a:spAutoFit/>
          </a:bodyPr>
          <a:lstStyle/>
          <a:p>
            <a:pPr algn="l"/>
            <a:r>
              <a:rPr sz="900" b="1" i="0">
                <a:solidFill>
                  <a:srgbClr val="8A97A1"/>
                </a:solidFill>
                <a:latin typeface="Segoe UI"/>
              </a:rPr>
              <a:t>CURRENT BUILD</a:t>
            </a:r>
          </a:p>
        </p:txBody>
      </p:sp>
      <p:sp>
        <p:nvSpPr>
          <p:cNvPr id="33" name="TextBox 32"/>
          <p:cNvSpPr txBox="1"/>
          <p:nvPr/>
        </p:nvSpPr>
        <p:spPr>
          <a:xfrm>
            <a:off x="6803136" y="1572768"/>
            <a:ext cx="4663440" cy="228600"/>
          </a:xfrm>
          <a:prstGeom prst="rect">
            <a:avLst/>
          </a:prstGeom>
          <a:noFill/>
        </p:spPr>
        <p:txBody>
          <a:bodyPr wrap="square" anchor="t" lIns="0" rIns="0" tIns="0" bIns="0">
            <a:spAutoFit/>
          </a:bodyPr>
          <a:lstStyle/>
          <a:p>
            <a:pPr algn="l"/>
            <a:r>
              <a:rPr sz="900" b="1" i="0">
                <a:solidFill>
                  <a:srgbClr val="17344F"/>
                </a:solidFill>
                <a:latin typeface="Segoe UI"/>
              </a:rPr>
              <a:t>WHY IT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anchor="t" lIns="0" rIns="0" tIns="0" bIns="0">
            <a:spAutoFit/>
          </a:bodyPr>
          <a:lstStyle/>
          <a:p>
            <a:pPr algn="l"/>
            <a:r>
              <a:rPr sz="1100" b="1" i="0">
                <a:solidFill>
                  <a:srgbClr val="2F5D8A"/>
                </a:solidFill>
                <a:latin typeface="Segoe UI"/>
              </a:rPr>
              <a:t>P&amp;PR Scorecard  |  The one addition</a:t>
            </a:r>
          </a:p>
        </p:txBody>
      </p:sp>
      <p:sp>
        <p:nvSpPr>
          <p:cNvPr id="3" name="TextBox 2"/>
          <p:cNvSpPr txBox="1"/>
          <p:nvPr/>
        </p:nvSpPr>
        <p:spPr>
          <a:xfrm>
            <a:off x="566928" y="676656"/>
            <a:ext cx="10561320" cy="786384"/>
          </a:xfrm>
          <a:prstGeom prst="rect">
            <a:avLst/>
          </a:prstGeom>
          <a:noFill/>
        </p:spPr>
        <p:txBody>
          <a:bodyPr wrap="square" anchor="t" lIns="0" rIns="0" tIns="0" bIns="0">
            <a:spAutoFit/>
          </a:bodyPr>
          <a:lstStyle/>
          <a:p>
            <a:pPr algn="l"/>
            <a:r>
              <a:rPr sz="2100" b="1" i="0">
                <a:solidFill>
                  <a:srgbClr val="17344F"/>
                </a:solidFill>
                <a:latin typeface="Segoe UI"/>
              </a:rPr>
              <a:t>One added column, the date window, answers the question the fixed columns cannot</a:t>
            </a:r>
          </a:p>
        </p:txBody>
      </p:sp>
      <p:sp>
        <p:nvSpPr>
          <p:cNvPr id="4" name="Rectangle 3"/>
          <p:cNvSpPr/>
          <p:nvPr/>
        </p:nvSpPr>
        <p:spPr>
          <a:xfrm>
            <a:off x="25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8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65392"/>
            <a:ext cx="6400800" cy="228600"/>
          </a:xfrm>
          <a:prstGeom prst="rect">
            <a:avLst/>
          </a:prstGeom>
          <a:noFill/>
        </p:spPr>
        <p:txBody>
          <a:bodyPr wrap="square" anchor="t" lIns="0" rIns="0" tIns="0" bIns="0">
            <a:spAutoFit/>
          </a:bodyPr>
          <a:lstStyle/>
          <a:p>
            <a:pPr algn="l"/>
            <a:r>
              <a:rPr sz="850" b="0" i="0">
                <a:solidFill>
                  <a:srgbClr val="FFFFFF"/>
                </a:solidFill>
                <a:latin typeface="Segoe UI"/>
              </a:rPr>
              <a:t>© 2025, Iovance Biotherapeutics, Inc.  |  Confidential for Internal Use Only</a:t>
            </a:r>
          </a:p>
        </p:txBody>
      </p:sp>
      <p:sp>
        <p:nvSpPr>
          <p:cNvPr id="8" name="TextBox 7"/>
          <p:cNvSpPr txBox="1"/>
          <p:nvPr/>
        </p:nvSpPr>
        <p:spPr>
          <a:xfrm>
            <a:off x="9966960" y="6556248"/>
            <a:ext cx="1554480" cy="237744"/>
          </a:xfrm>
          <a:prstGeom prst="rect">
            <a:avLst/>
          </a:prstGeom>
          <a:noFill/>
        </p:spPr>
        <p:txBody>
          <a:bodyPr wrap="square" anchor="t" lIns="0" rIns="0" tIns="0" bIns="0">
            <a:spAutoFit/>
          </a:bodyPr>
          <a:lstStyle/>
          <a:p>
            <a:pPr algn="r"/>
            <a:r>
              <a:rPr sz="1100" b="1" i="0">
                <a:solidFill>
                  <a:srgbClr val="FFFFFF"/>
                </a:solidFill>
                <a:latin typeface="Segoe UI"/>
              </a:rPr>
              <a:t>I O V A N C E</a:t>
            </a:r>
          </a:p>
        </p:txBody>
      </p:sp>
      <p:sp>
        <p:nvSpPr>
          <p:cNvPr id="9" name="Rectangle 8"/>
          <p:cNvSpPr/>
          <p:nvPr/>
        </p:nvSpPr>
        <p:spPr>
          <a:xfrm>
            <a:off x="11686032" y="6556248"/>
            <a:ext cx="237744"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6032" y="6583680"/>
            <a:ext cx="237744" cy="182880"/>
          </a:xfrm>
          <a:prstGeom prst="rect">
            <a:avLst/>
          </a:prstGeom>
          <a:noFill/>
        </p:spPr>
        <p:txBody>
          <a:bodyPr wrap="square" anchor="t" lIns="0" rIns="0" tIns="0" bIns="0">
            <a:spAutoFit/>
          </a:bodyPr>
          <a:lstStyle/>
          <a:p>
            <a:pPr algn="ctr"/>
            <a:r>
              <a:rPr sz="800" b="1" i="0">
                <a:solidFill>
                  <a:srgbClr val="567A2E"/>
                </a:solidFill>
                <a:latin typeface="Segoe UI"/>
              </a:rPr>
              <a:t>6</a:t>
            </a:r>
          </a:p>
        </p:txBody>
      </p:sp>
      <p:sp>
        <p:nvSpPr>
          <p:cNvPr id="11" name="Rectangle 10"/>
          <p:cNvSpPr/>
          <p:nvPr/>
        </p:nvSpPr>
        <p:spPr>
          <a:xfrm>
            <a:off x="566928" y="1810512"/>
            <a:ext cx="2831713" cy="173370"/>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824959"/>
            <a:ext cx="2776849" cy="173370"/>
          </a:xfrm>
          <a:prstGeom prst="rect">
            <a:avLst/>
          </a:prstGeom>
          <a:noFill/>
        </p:spPr>
        <p:txBody>
          <a:bodyPr wrap="square" anchor="ctr" lIns="0" rIns="0" tIns="0" bIns="0">
            <a:spAutoFit/>
          </a:bodyPr>
          <a:lstStyle/>
          <a:p>
            <a:pPr algn="ctr"/>
            <a:r>
              <a:rPr sz="671" b="1" i="1">
                <a:solidFill>
                  <a:srgbClr val="000000"/>
                </a:solidFill>
                <a:latin typeface="Segoe UI"/>
              </a:rPr>
              <a:t>Uk Albert B Chandler Hospital</a:t>
            </a:r>
          </a:p>
        </p:txBody>
      </p:sp>
      <p:sp>
        <p:nvSpPr>
          <p:cNvPr id="13" name="Rectangle 12"/>
          <p:cNvSpPr/>
          <p:nvPr/>
        </p:nvSpPr>
        <p:spPr>
          <a:xfrm>
            <a:off x="3398641" y="1810512"/>
            <a:ext cx="2239365" cy="173370"/>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6073" y="1824959"/>
            <a:ext cx="2184501" cy="173370"/>
          </a:xfrm>
          <a:prstGeom prst="rect">
            <a:avLst/>
          </a:prstGeom>
          <a:noFill/>
        </p:spPr>
        <p:txBody>
          <a:bodyPr wrap="square" anchor="ctr" lIns="0" rIns="0" tIns="0" bIns="0">
            <a:spAutoFit/>
          </a:bodyPr>
          <a:lstStyle/>
          <a:p>
            <a:pPr algn="ctr"/>
            <a:r>
              <a:rPr sz="632" b="0" i="0">
                <a:solidFill>
                  <a:srgbClr val="000000"/>
                </a:solidFill>
                <a:latin typeface="Segoe UI"/>
              </a:rPr>
              <a:t/>
            </a:r>
          </a:p>
        </p:txBody>
      </p:sp>
      <p:sp>
        <p:nvSpPr>
          <p:cNvPr id="15" name="Rectangle 14"/>
          <p:cNvSpPr/>
          <p:nvPr/>
        </p:nvSpPr>
        <p:spPr>
          <a:xfrm>
            <a:off x="5638006" y="1810512"/>
            <a:ext cx="1343619" cy="173370"/>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5438" y="1824959"/>
            <a:ext cx="1288755" cy="173370"/>
          </a:xfrm>
          <a:prstGeom prst="rect">
            <a:avLst/>
          </a:prstGeom>
          <a:noFill/>
        </p:spPr>
        <p:txBody>
          <a:bodyPr wrap="square" anchor="ctr" lIns="0" rIns="0" tIns="0" bIns="0">
            <a:spAutoFit/>
          </a:bodyPr>
          <a:lstStyle/>
          <a:p>
            <a:pPr algn="ctr"/>
            <a:r>
              <a:rPr sz="632" b="1" i="1">
                <a:solidFill>
                  <a:srgbClr val="000000"/>
                </a:solidFill>
                <a:latin typeface="Segoe UI"/>
              </a:rPr>
              <a:t>YTD National Metrics</a:t>
            </a:r>
          </a:p>
        </p:txBody>
      </p:sp>
      <p:sp>
        <p:nvSpPr>
          <p:cNvPr id="17" name="Rectangle 16"/>
          <p:cNvSpPr/>
          <p:nvPr/>
        </p:nvSpPr>
        <p:spPr>
          <a:xfrm>
            <a:off x="6981625" y="1810512"/>
            <a:ext cx="1791492" cy="173370"/>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09057" y="1824959"/>
            <a:ext cx="1736628" cy="173370"/>
          </a:xfrm>
          <a:prstGeom prst="rect">
            <a:avLst/>
          </a:prstGeom>
          <a:noFill/>
        </p:spPr>
        <p:txBody>
          <a:bodyPr wrap="square" anchor="ctr" lIns="0" rIns="0" tIns="0" bIns="0">
            <a:spAutoFit/>
          </a:bodyPr>
          <a:lstStyle/>
          <a:p>
            <a:pPr algn="ctr"/>
            <a:r>
              <a:rPr sz="632" b="1" i="1">
                <a:solidFill>
                  <a:srgbClr val="000000"/>
                </a:solidFill>
                <a:latin typeface="Segoe UI"/>
              </a:rPr>
              <a:t>Quarterly ATC Metrics</a:t>
            </a:r>
          </a:p>
        </p:txBody>
      </p:sp>
      <p:sp>
        <p:nvSpPr>
          <p:cNvPr id="19" name="Rectangle 18"/>
          <p:cNvSpPr/>
          <p:nvPr/>
        </p:nvSpPr>
        <p:spPr>
          <a:xfrm>
            <a:off x="566928" y="1983882"/>
            <a:ext cx="939088" cy="268723"/>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1998329"/>
            <a:ext cx="884224" cy="268723"/>
          </a:xfrm>
          <a:prstGeom prst="rect">
            <a:avLst/>
          </a:prstGeom>
          <a:noFill/>
        </p:spPr>
        <p:txBody>
          <a:bodyPr wrap="square" anchor="ctr" lIns="0" rIns="0" tIns="0" bIns="0">
            <a:spAutoFit/>
          </a:bodyPr>
          <a:lstStyle/>
          <a:p>
            <a:pPr algn="ctr"/>
            <a:r>
              <a:rPr sz="632" b="1" i="1">
                <a:solidFill>
                  <a:srgbClr val="000000"/>
                </a:solidFill>
                <a:latin typeface="Segoe UI"/>
              </a:rPr>
              <a:t>Category</a:t>
            </a:r>
          </a:p>
        </p:txBody>
      </p:sp>
      <p:sp>
        <p:nvSpPr>
          <p:cNvPr id="21" name="Rectangle 20"/>
          <p:cNvSpPr/>
          <p:nvPr/>
        </p:nvSpPr>
        <p:spPr>
          <a:xfrm>
            <a:off x="1506016" y="1983882"/>
            <a:ext cx="1892625" cy="268723"/>
          </a:xfrm>
          <a:prstGeom prst="rect">
            <a:avLst/>
          </a:prstGeom>
          <a:solidFill>
            <a:srgbClr val="D9D9D9"/>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33448" y="1998329"/>
            <a:ext cx="1837761" cy="268723"/>
          </a:xfrm>
          <a:prstGeom prst="rect">
            <a:avLst/>
          </a:prstGeom>
          <a:noFill/>
        </p:spPr>
        <p:txBody>
          <a:bodyPr wrap="square" anchor="ctr" lIns="0" rIns="0" tIns="0" bIns="0">
            <a:spAutoFit/>
          </a:bodyPr>
          <a:lstStyle/>
          <a:p>
            <a:pPr algn="ctr"/>
            <a:r>
              <a:rPr sz="632" b="1" i="1">
                <a:solidFill>
                  <a:srgbClr val="000000"/>
                </a:solidFill>
                <a:latin typeface="Segoe UI"/>
              </a:rPr>
              <a:t>Metric</a:t>
            </a:r>
          </a:p>
        </p:txBody>
      </p:sp>
      <p:sp>
        <p:nvSpPr>
          <p:cNvPr id="23" name="Rectangle 22"/>
          <p:cNvSpPr/>
          <p:nvPr/>
        </p:nvSpPr>
        <p:spPr>
          <a:xfrm>
            <a:off x="3398641" y="1983882"/>
            <a:ext cx="447873" cy="268723"/>
          </a:xfrm>
          <a:prstGeom prst="rect">
            <a:avLst/>
          </a:prstGeom>
          <a:solidFill>
            <a:srgbClr val="D8E4B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26073"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Launch to
Date</a:t>
            </a:r>
          </a:p>
        </p:txBody>
      </p:sp>
      <p:sp>
        <p:nvSpPr>
          <p:cNvPr id="25" name="Rectangle 24"/>
          <p:cNvSpPr/>
          <p:nvPr/>
        </p:nvSpPr>
        <p:spPr>
          <a:xfrm>
            <a:off x="3846514" y="1983882"/>
            <a:ext cx="447873" cy="268723"/>
          </a:xfrm>
          <a:prstGeom prst="rect">
            <a:avLst/>
          </a:prstGeom>
          <a:solidFill>
            <a:srgbClr val="D8E4B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73946"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2024</a:t>
            </a:r>
          </a:p>
        </p:txBody>
      </p:sp>
      <p:sp>
        <p:nvSpPr>
          <p:cNvPr id="27" name="Rectangle 26"/>
          <p:cNvSpPr/>
          <p:nvPr/>
        </p:nvSpPr>
        <p:spPr>
          <a:xfrm>
            <a:off x="4294387" y="1983882"/>
            <a:ext cx="447873" cy="268723"/>
          </a:xfrm>
          <a:prstGeom prst="rect">
            <a:avLst/>
          </a:prstGeom>
          <a:solidFill>
            <a:srgbClr val="D8E4B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21819"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2025</a:t>
            </a:r>
          </a:p>
        </p:txBody>
      </p:sp>
      <p:sp>
        <p:nvSpPr>
          <p:cNvPr id="29" name="Rectangle 28"/>
          <p:cNvSpPr/>
          <p:nvPr/>
        </p:nvSpPr>
        <p:spPr>
          <a:xfrm>
            <a:off x="4742260" y="1983882"/>
            <a:ext cx="447873" cy="268723"/>
          </a:xfrm>
          <a:prstGeom prst="rect">
            <a:avLst/>
          </a:prstGeom>
          <a:solidFill>
            <a:srgbClr val="D8E4B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69692"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2026
(YTD)</a:t>
            </a:r>
          </a:p>
        </p:txBody>
      </p:sp>
      <p:sp>
        <p:nvSpPr>
          <p:cNvPr id="31" name="Rectangle 30"/>
          <p:cNvSpPr/>
          <p:nvPr/>
        </p:nvSpPr>
        <p:spPr>
          <a:xfrm>
            <a:off x="5190133" y="1983882"/>
            <a:ext cx="447873" cy="268723"/>
          </a:xfrm>
          <a:prstGeom prst="rect">
            <a:avLst/>
          </a:prstGeom>
          <a:solidFill>
            <a:srgbClr val="9DC13C"/>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7565"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Selected
window</a:t>
            </a:r>
          </a:p>
        </p:txBody>
      </p:sp>
      <p:sp>
        <p:nvSpPr>
          <p:cNvPr id="33" name="Rectangle 32"/>
          <p:cNvSpPr/>
          <p:nvPr/>
        </p:nvSpPr>
        <p:spPr>
          <a:xfrm>
            <a:off x="5638006" y="1983882"/>
            <a:ext cx="447873" cy="268723"/>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5438"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Top 10
ATCs *</a:t>
            </a:r>
          </a:p>
        </p:txBody>
      </p:sp>
      <p:sp>
        <p:nvSpPr>
          <p:cNvPr id="35" name="Rectangle 34"/>
          <p:cNvSpPr/>
          <p:nvPr/>
        </p:nvSpPr>
        <p:spPr>
          <a:xfrm>
            <a:off x="6085879" y="1983882"/>
            <a:ext cx="447873" cy="268723"/>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13311"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Top 40
ATCs *</a:t>
            </a:r>
          </a:p>
        </p:txBody>
      </p:sp>
      <p:sp>
        <p:nvSpPr>
          <p:cNvPr id="37" name="Rectangle 36"/>
          <p:cNvSpPr/>
          <p:nvPr/>
        </p:nvSpPr>
        <p:spPr>
          <a:xfrm>
            <a:off x="6533752" y="1983882"/>
            <a:ext cx="447873" cy="268723"/>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1184"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'New'
ATCs **</a:t>
            </a:r>
          </a:p>
        </p:txBody>
      </p:sp>
      <p:sp>
        <p:nvSpPr>
          <p:cNvPr id="39" name="Rectangle 38"/>
          <p:cNvSpPr/>
          <p:nvPr/>
        </p:nvSpPr>
        <p:spPr>
          <a:xfrm>
            <a:off x="6981625" y="1983882"/>
            <a:ext cx="447873" cy="268723"/>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09057"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Q3'26
QTD</a:t>
            </a:r>
          </a:p>
        </p:txBody>
      </p:sp>
      <p:sp>
        <p:nvSpPr>
          <p:cNvPr id="41" name="Rectangle 40"/>
          <p:cNvSpPr/>
          <p:nvPr/>
        </p:nvSpPr>
        <p:spPr>
          <a:xfrm>
            <a:off x="7429498" y="1983882"/>
            <a:ext cx="447873" cy="268723"/>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56930"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Q2'26</a:t>
            </a:r>
          </a:p>
        </p:txBody>
      </p:sp>
      <p:sp>
        <p:nvSpPr>
          <p:cNvPr id="43" name="Rectangle 42"/>
          <p:cNvSpPr/>
          <p:nvPr/>
        </p:nvSpPr>
        <p:spPr>
          <a:xfrm>
            <a:off x="7877371" y="1983882"/>
            <a:ext cx="447873" cy="268723"/>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04803"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Q1'26</a:t>
            </a:r>
          </a:p>
        </p:txBody>
      </p:sp>
      <p:sp>
        <p:nvSpPr>
          <p:cNvPr id="45" name="Rectangle 44"/>
          <p:cNvSpPr/>
          <p:nvPr/>
        </p:nvSpPr>
        <p:spPr>
          <a:xfrm>
            <a:off x="8325244" y="1983882"/>
            <a:ext cx="447873" cy="268723"/>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52676" y="1998329"/>
            <a:ext cx="393009" cy="268723"/>
          </a:xfrm>
          <a:prstGeom prst="rect">
            <a:avLst/>
          </a:prstGeom>
          <a:noFill/>
        </p:spPr>
        <p:txBody>
          <a:bodyPr wrap="square" anchor="ctr" lIns="0" rIns="0" tIns="0" bIns="0">
            <a:spAutoFit/>
          </a:bodyPr>
          <a:lstStyle/>
          <a:p>
            <a:pPr algn="ctr"/>
            <a:r>
              <a:rPr sz="592" b="1" i="0">
                <a:solidFill>
                  <a:srgbClr val="000000"/>
                </a:solidFill>
                <a:latin typeface="Segoe UI"/>
              </a:rPr>
              <a:t>Q4'25</a:t>
            </a:r>
          </a:p>
        </p:txBody>
      </p:sp>
      <p:sp>
        <p:nvSpPr>
          <p:cNvPr id="47" name="Rectangle 46"/>
          <p:cNvSpPr/>
          <p:nvPr/>
        </p:nvSpPr>
        <p:spPr>
          <a:xfrm>
            <a:off x="1506016" y="22526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33448" y="2267052"/>
            <a:ext cx="1837761" cy="213100"/>
          </a:xfrm>
          <a:prstGeom prst="rect">
            <a:avLst/>
          </a:prstGeom>
          <a:noFill/>
        </p:spPr>
        <p:txBody>
          <a:bodyPr wrap="square" anchor="ctr" lIns="0" rIns="0" tIns="0" bIns="0">
            <a:spAutoFit/>
          </a:bodyPr>
          <a:lstStyle/>
          <a:p>
            <a:pPr algn="l"/>
            <a:r>
              <a:rPr sz="568" b="0" i="0">
                <a:solidFill>
                  <a:srgbClr val="000000"/>
                </a:solidFill>
                <a:latin typeface="Segoe UI"/>
              </a:rPr>
              <a:t>Enrollments in IovanceCares</a:t>
            </a:r>
          </a:p>
        </p:txBody>
      </p:sp>
      <p:sp>
        <p:nvSpPr>
          <p:cNvPr id="49" name="Rectangle 48"/>
          <p:cNvSpPr/>
          <p:nvPr/>
        </p:nvSpPr>
        <p:spPr>
          <a:xfrm>
            <a:off x="3398641"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26073"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11</a:t>
            </a:r>
          </a:p>
        </p:txBody>
      </p:sp>
      <p:sp>
        <p:nvSpPr>
          <p:cNvPr id="51" name="Rectangle 50"/>
          <p:cNvSpPr/>
          <p:nvPr/>
        </p:nvSpPr>
        <p:spPr>
          <a:xfrm>
            <a:off x="3846514"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73946"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53" name="Rectangle 52"/>
          <p:cNvSpPr/>
          <p:nvPr/>
        </p:nvSpPr>
        <p:spPr>
          <a:xfrm>
            <a:off x="4294387"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21819"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8</a:t>
            </a:r>
          </a:p>
        </p:txBody>
      </p:sp>
      <p:sp>
        <p:nvSpPr>
          <p:cNvPr id="55" name="Rectangle 54"/>
          <p:cNvSpPr/>
          <p:nvPr/>
        </p:nvSpPr>
        <p:spPr>
          <a:xfrm>
            <a:off x="4742260"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69692"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3</a:t>
            </a:r>
          </a:p>
        </p:txBody>
      </p:sp>
      <p:sp>
        <p:nvSpPr>
          <p:cNvPr id="57" name="Rectangle 56"/>
          <p:cNvSpPr/>
          <p:nvPr/>
        </p:nvSpPr>
        <p:spPr>
          <a:xfrm>
            <a:off x="5190133"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217565"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11</a:t>
            </a:r>
          </a:p>
        </p:txBody>
      </p:sp>
      <p:sp>
        <p:nvSpPr>
          <p:cNvPr id="59" name="Rectangle 58"/>
          <p:cNvSpPr/>
          <p:nvPr/>
        </p:nvSpPr>
        <p:spPr>
          <a:xfrm>
            <a:off x="5638006"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65438"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36</a:t>
            </a:r>
          </a:p>
        </p:txBody>
      </p:sp>
      <p:sp>
        <p:nvSpPr>
          <p:cNvPr id="61" name="Rectangle 60"/>
          <p:cNvSpPr/>
          <p:nvPr/>
        </p:nvSpPr>
        <p:spPr>
          <a:xfrm>
            <a:off x="6085879"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13311"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29</a:t>
            </a:r>
          </a:p>
        </p:txBody>
      </p:sp>
      <p:sp>
        <p:nvSpPr>
          <p:cNvPr id="63" name="Rectangle 62"/>
          <p:cNvSpPr/>
          <p:nvPr/>
        </p:nvSpPr>
        <p:spPr>
          <a:xfrm>
            <a:off x="6533752"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61184"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20</a:t>
            </a:r>
          </a:p>
        </p:txBody>
      </p:sp>
      <p:sp>
        <p:nvSpPr>
          <p:cNvPr id="65" name="Rectangle 64"/>
          <p:cNvSpPr/>
          <p:nvPr/>
        </p:nvSpPr>
        <p:spPr>
          <a:xfrm>
            <a:off x="6981625"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009057"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67" name="Rectangle 66"/>
          <p:cNvSpPr/>
          <p:nvPr/>
        </p:nvSpPr>
        <p:spPr>
          <a:xfrm>
            <a:off x="7429498"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56930"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69" name="Rectangle 68"/>
          <p:cNvSpPr/>
          <p:nvPr/>
        </p:nvSpPr>
        <p:spPr>
          <a:xfrm>
            <a:off x="7877371"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04803"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71" name="Rectangle 70"/>
          <p:cNvSpPr/>
          <p:nvPr/>
        </p:nvSpPr>
        <p:spPr>
          <a:xfrm>
            <a:off x="8325244" y="2252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352676" y="2267052"/>
            <a:ext cx="393009" cy="213100"/>
          </a:xfrm>
          <a:prstGeom prst="rect">
            <a:avLst/>
          </a:prstGeom>
          <a:noFill/>
        </p:spPr>
        <p:txBody>
          <a:bodyPr wrap="square" anchor="ctr" lIns="0" rIns="0" tIns="0" bIns="0">
            <a:spAutoFit/>
          </a:bodyPr>
          <a:lstStyle/>
          <a:p>
            <a:pPr algn="r"/>
            <a:r>
              <a:rPr sz="592" b="0" i="0">
                <a:solidFill>
                  <a:srgbClr val="000000"/>
                </a:solidFill>
                <a:latin typeface="Segoe UI"/>
              </a:rPr>
              <a:t>5</a:t>
            </a:r>
          </a:p>
        </p:txBody>
      </p:sp>
      <p:sp>
        <p:nvSpPr>
          <p:cNvPr id="73" name="Rectangle 72"/>
          <p:cNvSpPr/>
          <p:nvPr/>
        </p:nvSpPr>
        <p:spPr>
          <a:xfrm>
            <a:off x="1506016" y="24657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33448" y="2480152"/>
            <a:ext cx="1837761" cy="213100"/>
          </a:xfrm>
          <a:prstGeom prst="rect">
            <a:avLst/>
          </a:prstGeom>
          <a:noFill/>
        </p:spPr>
        <p:txBody>
          <a:bodyPr wrap="square" anchor="ctr" lIns="0" rIns="0" tIns="0" bIns="0">
            <a:spAutoFit/>
          </a:bodyPr>
          <a:lstStyle/>
          <a:p>
            <a:pPr algn="l"/>
            <a:r>
              <a:rPr sz="568" b="0" i="0">
                <a:solidFill>
                  <a:srgbClr val="000000"/>
                </a:solidFill>
                <a:latin typeface="Segoe UI"/>
              </a:rPr>
              <a:t>Patients Enrolled in IovanceCares</a:t>
            </a:r>
          </a:p>
        </p:txBody>
      </p:sp>
      <p:sp>
        <p:nvSpPr>
          <p:cNvPr id="75" name="Rectangle 74"/>
          <p:cNvSpPr/>
          <p:nvPr/>
        </p:nvSpPr>
        <p:spPr>
          <a:xfrm>
            <a:off x="3398641"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426073"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11</a:t>
            </a:r>
          </a:p>
        </p:txBody>
      </p:sp>
      <p:sp>
        <p:nvSpPr>
          <p:cNvPr id="77" name="Rectangle 76"/>
          <p:cNvSpPr/>
          <p:nvPr/>
        </p:nvSpPr>
        <p:spPr>
          <a:xfrm>
            <a:off x="3846514"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873946"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79" name="Rectangle 78"/>
          <p:cNvSpPr/>
          <p:nvPr/>
        </p:nvSpPr>
        <p:spPr>
          <a:xfrm>
            <a:off x="4294387"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321819"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8</a:t>
            </a:r>
          </a:p>
        </p:txBody>
      </p:sp>
      <p:sp>
        <p:nvSpPr>
          <p:cNvPr id="81" name="Rectangle 80"/>
          <p:cNvSpPr/>
          <p:nvPr/>
        </p:nvSpPr>
        <p:spPr>
          <a:xfrm>
            <a:off x="4742260"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769692"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3</a:t>
            </a:r>
          </a:p>
        </p:txBody>
      </p:sp>
      <p:sp>
        <p:nvSpPr>
          <p:cNvPr id="83" name="Rectangle 82"/>
          <p:cNvSpPr/>
          <p:nvPr/>
        </p:nvSpPr>
        <p:spPr>
          <a:xfrm>
            <a:off x="5190133"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217565"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11</a:t>
            </a:r>
          </a:p>
        </p:txBody>
      </p:sp>
      <p:sp>
        <p:nvSpPr>
          <p:cNvPr id="85" name="Rectangle 84"/>
          <p:cNvSpPr/>
          <p:nvPr/>
        </p:nvSpPr>
        <p:spPr>
          <a:xfrm>
            <a:off x="5638006"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665438"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35</a:t>
            </a:r>
          </a:p>
        </p:txBody>
      </p:sp>
      <p:sp>
        <p:nvSpPr>
          <p:cNvPr id="87" name="Rectangle 86"/>
          <p:cNvSpPr/>
          <p:nvPr/>
        </p:nvSpPr>
        <p:spPr>
          <a:xfrm>
            <a:off x="6085879"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13311"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28</a:t>
            </a:r>
          </a:p>
        </p:txBody>
      </p:sp>
      <p:sp>
        <p:nvSpPr>
          <p:cNvPr id="89" name="Rectangle 88"/>
          <p:cNvSpPr/>
          <p:nvPr/>
        </p:nvSpPr>
        <p:spPr>
          <a:xfrm>
            <a:off x="6533752"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561184"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19</a:t>
            </a:r>
          </a:p>
        </p:txBody>
      </p:sp>
      <p:sp>
        <p:nvSpPr>
          <p:cNvPr id="91" name="Rectangle 90"/>
          <p:cNvSpPr/>
          <p:nvPr/>
        </p:nvSpPr>
        <p:spPr>
          <a:xfrm>
            <a:off x="6981625"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009057"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93" name="Rectangle 92"/>
          <p:cNvSpPr/>
          <p:nvPr/>
        </p:nvSpPr>
        <p:spPr>
          <a:xfrm>
            <a:off x="7429498"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456930"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95" name="Rectangle 94"/>
          <p:cNvSpPr/>
          <p:nvPr/>
        </p:nvSpPr>
        <p:spPr>
          <a:xfrm>
            <a:off x="7877371"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904803"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97" name="Rectangle 96"/>
          <p:cNvSpPr/>
          <p:nvPr/>
        </p:nvSpPr>
        <p:spPr>
          <a:xfrm>
            <a:off x="8325244" y="2465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352676" y="2480152"/>
            <a:ext cx="393009" cy="213100"/>
          </a:xfrm>
          <a:prstGeom prst="rect">
            <a:avLst/>
          </a:prstGeom>
          <a:noFill/>
        </p:spPr>
        <p:txBody>
          <a:bodyPr wrap="square" anchor="ctr" lIns="0" rIns="0" tIns="0" bIns="0">
            <a:spAutoFit/>
          </a:bodyPr>
          <a:lstStyle/>
          <a:p>
            <a:pPr algn="r"/>
            <a:r>
              <a:rPr sz="592" b="0" i="0">
                <a:solidFill>
                  <a:srgbClr val="000000"/>
                </a:solidFill>
                <a:latin typeface="Segoe UI"/>
              </a:rPr>
              <a:t>5</a:t>
            </a:r>
          </a:p>
        </p:txBody>
      </p:sp>
      <p:sp>
        <p:nvSpPr>
          <p:cNvPr id="99" name="Rectangle 98"/>
          <p:cNvSpPr/>
          <p:nvPr/>
        </p:nvSpPr>
        <p:spPr>
          <a:xfrm>
            <a:off x="1506016" y="26788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533448" y="2693252"/>
            <a:ext cx="1837761" cy="213100"/>
          </a:xfrm>
          <a:prstGeom prst="rect">
            <a:avLst/>
          </a:prstGeom>
          <a:noFill/>
        </p:spPr>
        <p:txBody>
          <a:bodyPr wrap="square" anchor="ctr" lIns="0" rIns="0" tIns="0" bIns="0">
            <a:spAutoFit/>
          </a:bodyPr>
          <a:lstStyle/>
          <a:p>
            <a:pPr algn="l"/>
            <a:r>
              <a:rPr sz="568" b="0" i="0">
                <a:solidFill>
                  <a:srgbClr val="000000"/>
                </a:solidFill>
                <a:latin typeface="Segoe UI"/>
              </a:rPr>
              <a:t>TTPs Cancelled or Rescheduled
&lt;=7 Days Prior to Slot Reservation *</a:t>
            </a:r>
          </a:p>
        </p:txBody>
      </p:sp>
      <p:sp>
        <p:nvSpPr>
          <p:cNvPr id="101" name="Rectangle 100"/>
          <p:cNvSpPr/>
          <p:nvPr/>
        </p:nvSpPr>
        <p:spPr>
          <a:xfrm>
            <a:off x="3398641"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426073"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103" name="Rectangle 102"/>
          <p:cNvSpPr/>
          <p:nvPr/>
        </p:nvSpPr>
        <p:spPr>
          <a:xfrm>
            <a:off x="3846514"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873946"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105" name="Rectangle 104"/>
          <p:cNvSpPr/>
          <p:nvPr/>
        </p:nvSpPr>
        <p:spPr>
          <a:xfrm>
            <a:off x="4294387"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321819"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107" name="Rectangle 106"/>
          <p:cNvSpPr/>
          <p:nvPr/>
        </p:nvSpPr>
        <p:spPr>
          <a:xfrm>
            <a:off x="4742260"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769692"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109" name="Rectangle 108"/>
          <p:cNvSpPr/>
          <p:nvPr/>
        </p:nvSpPr>
        <p:spPr>
          <a:xfrm>
            <a:off x="5190133"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217565"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111" name="Rectangle 110"/>
          <p:cNvSpPr/>
          <p:nvPr/>
        </p:nvSpPr>
        <p:spPr>
          <a:xfrm>
            <a:off x="5638006"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665438"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5</a:t>
            </a:r>
          </a:p>
        </p:txBody>
      </p:sp>
      <p:sp>
        <p:nvSpPr>
          <p:cNvPr id="113" name="Rectangle 112"/>
          <p:cNvSpPr/>
          <p:nvPr/>
        </p:nvSpPr>
        <p:spPr>
          <a:xfrm>
            <a:off x="6085879"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113311"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4</a:t>
            </a:r>
          </a:p>
        </p:txBody>
      </p:sp>
      <p:sp>
        <p:nvSpPr>
          <p:cNvPr id="115" name="Rectangle 114"/>
          <p:cNvSpPr/>
          <p:nvPr/>
        </p:nvSpPr>
        <p:spPr>
          <a:xfrm>
            <a:off x="6533752"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561184"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117" name="Rectangle 116"/>
          <p:cNvSpPr/>
          <p:nvPr/>
        </p:nvSpPr>
        <p:spPr>
          <a:xfrm>
            <a:off x="6981625"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009057"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19" name="Rectangle 118"/>
          <p:cNvSpPr/>
          <p:nvPr/>
        </p:nvSpPr>
        <p:spPr>
          <a:xfrm>
            <a:off x="7429498"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7456930"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121" name="Rectangle 120"/>
          <p:cNvSpPr/>
          <p:nvPr/>
        </p:nvSpPr>
        <p:spPr>
          <a:xfrm>
            <a:off x="7877371"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904803"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23" name="Rectangle 122"/>
          <p:cNvSpPr/>
          <p:nvPr/>
        </p:nvSpPr>
        <p:spPr>
          <a:xfrm>
            <a:off x="8325244" y="2678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352676" y="2693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125" name="Rectangle 124"/>
          <p:cNvSpPr/>
          <p:nvPr/>
        </p:nvSpPr>
        <p:spPr>
          <a:xfrm>
            <a:off x="1506016" y="28919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533448" y="2906352"/>
            <a:ext cx="1837761" cy="213100"/>
          </a:xfrm>
          <a:prstGeom prst="rect">
            <a:avLst/>
          </a:prstGeom>
          <a:noFill/>
        </p:spPr>
        <p:txBody>
          <a:bodyPr wrap="square" anchor="ctr" lIns="0" rIns="0" tIns="0" bIns="0">
            <a:spAutoFit/>
          </a:bodyPr>
          <a:lstStyle/>
          <a:p>
            <a:pPr algn="l"/>
            <a:r>
              <a:rPr sz="568" b="0" i="0">
                <a:solidFill>
                  <a:srgbClr val="000000"/>
                </a:solidFill>
                <a:latin typeface="Segoe UI"/>
              </a:rPr>
              <a:t>Completed TTPs</a:t>
            </a:r>
          </a:p>
        </p:txBody>
      </p:sp>
      <p:sp>
        <p:nvSpPr>
          <p:cNvPr id="127" name="Rectangle 126"/>
          <p:cNvSpPr/>
          <p:nvPr/>
        </p:nvSpPr>
        <p:spPr>
          <a:xfrm>
            <a:off x="3398641"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3426073"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8</a:t>
            </a:r>
          </a:p>
        </p:txBody>
      </p:sp>
      <p:sp>
        <p:nvSpPr>
          <p:cNvPr id="129" name="Rectangle 128"/>
          <p:cNvSpPr/>
          <p:nvPr/>
        </p:nvSpPr>
        <p:spPr>
          <a:xfrm>
            <a:off x="3846514"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873946"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131" name="Rectangle 130"/>
          <p:cNvSpPr/>
          <p:nvPr/>
        </p:nvSpPr>
        <p:spPr>
          <a:xfrm>
            <a:off x="4294387"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321819"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3</a:t>
            </a:r>
          </a:p>
        </p:txBody>
      </p:sp>
      <p:sp>
        <p:nvSpPr>
          <p:cNvPr id="133" name="Rectangle 132"/>
          <p:cNvSpPr/>
          <p:nvPr/>
        </p:nvSpPr>
        <p:spPr>
          <a:xfrm>
            <a:off x="4742260"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769692"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5</a:t>
            </a:r>
          </a:p>
        </p:txBody>
      </p:sp>
      <p:sp>
        <p:nvSpPr>
          <p:cNvPr id="135" name="Rectangle 134"/>
          <p:cNvSpPr/>
          <p:nvPr/>
        </p:nvSpPr>
        <p:spPr>
          <a:xfrm>
            <a:off x="5190133"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5217565"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8</a:t>
            </a:r>
          </a:p>
        </p:txBody>
      </p:sp>
      <p:sp>
        <p:nvSpPr>
          <p:cNvPr id="137" name="Rectangle 136"/>
          <p:cNvSpPr/>
          <p:nvPr/>
        </p:nvSpPr>
        <p:spPr>
          <a:xfrm>
            <a:off x="5638006"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665438"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21</a:t>
            </a:r>
          </a:p>
        </p:txBody>
      </p:sp>
      <p:sp>
        <p:nvSpPr>
          <p:cNvPr id="139" name="Rectangle 138"/>
          <p:cNvSpPr/>
          <p:nvPr/>
        </p:nvSpPr>
        <p:spPr>
          <a:xfrm>
            <a:off x="6085879"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113311"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18</a:t>
            </a:r>
          </a:p>
        </p:txBody>
      </p:sp>
      <p:sp>
        <p:nvSpPr>
          <p:cNvPr id="141" name="Rectangle 140"/>
          <p:cNvSpPr/>
          <p:nvPr/>
        </p:nvSpPr>
        <p:spPr>
          <a:xfrm>
            <a:off x="6533752"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561184"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10</a:t>
            </a:r>
          </a:p>
        </p:txBody>
      </p:sp>
      <p:sp>
        <p:nvSpPr>
          <p:cNvPr id="143" name="Rectangle 142"/>
          <p:cNvSpPr/>
          <p:nvPr/>
        </p:nvSpPr>
        <p:spPr>
          <a:xfrm>
            <a:off x="6981625"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7009057"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45" name="Rectangle 144"/>
          <p:cNvSpPr/>
          <p:nvPr/>
        </p:nvSpPr>
        <p:spPr>
          <a:xfrm>
            <a:off x="7429498"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456930"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147" name="Rectangle 146"/>
          <p:cNvSpPr/>
          <p:nvPr/>
        </p:nvSpPr>
        <p:spPr>
          <a:xfrm>
            <a:off x="7877371"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7904803"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4</a:t>
            </a:r>
          </a:p>
        </p:txBody>
      </p:sp>
      <p:sp>
        <p:nvSpPr>
          <p:cNvPr id="149" name="Rectangle 148"/>
          <p:cNvSpPr/>
          <p:nvPr/>
        </p:nvSpPr>
        <p:spPr>
          <a:xfrm>
            <a:off x="8325244" y="28919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8352676" y="29063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151" name="Rectangle 150"/>
          <p:cNvSpPr/>
          <p:nvPr/>
        </p:nvSpPr>
        <p:spPr>
          <a:xfrm>
            <a:off x="1506016" y="31050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533448" y="3119452"/>
            <a:ext cx="1837761" cy="213100"/>
          </a:xfrm>
          <a:prstGeom prst="rect">
            <a:avLst/>
          </a:prstGeom>
          <a:noFill/>
        </p:spPr>
        <p:txBody>
          <a:bodyPr wrap="square" anchor="ctr" lIns="0" rIns="0" tIns="0" bIns="0">
            <a:spAutoFit/>
          </a:bodyPr>
          <a:lstStyle/>
          <a:p>
            <a:pPr algn="l"/>
            <a:r>
              <a:rPr sz="568" b="0" i="0">
                <a:solidFill>
                  <a:srgbClr val="000000"/>
                </a:solidFill>
                <a:latin typeface="Segoe UI"/>
              </a:rPr>
              <a:t>Scheduled TTPs</a:t>
            </a:r>
          </a:p>
        </p:txBody>
      </p:sp>
      <p:sp>
        <p:nvSpPr>
          <p:cNvPr id="153" name="Rectangle 152"/>
          <p:cNvSpPr/>
          <p:nvPr/>
        </p:nvSpPr>
        <p:spPr>
          <a:xfrm>
            <a:off x="3398641"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426073"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55" name="Rectangle 154"/>
          <p:cNvSpPr/>
          <p:nvPr/>
        </p:nvSpPr>
        <p:spPr>
          <a:xfrm>
            <a:off x="3846514"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3873946"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157" name="Rectangle 156"/>
          <p:cNvSpPr/>
          <p:nvPr/>
        </p:nvSpPr>
        <p:spPr>
          <a:xfrm>
            <a:off x="4294387"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4321819"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59" name="Rectangle 158"/>
          <p:cNvSpPr/>
          <p:nvPr/>
        </p:nvSpPr>
        <p:spPr>
          <a:xfrm>
            <a:off x="4742260"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4769692"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61" name="Rectangle 160"/>
          <p:cNvSpPr/>
          <p:nvPr/>
        </p:nvSpPr>
        <p:spPr>
          <a:xfrm>
            <a:off x="5190133"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17565"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63" name="Rectangle 162"/>
          <p:cNvSpPr/>
          <p:nvPr/>
        </p:nvSpPr>
        <p:spPr>
          <a:xfrm>
            <a:off x="5638006"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665438"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165" name="Rectangle 164"/>
          <p:cNvSpPr/>
          <p:nvPr/>
        </p:nvSpPr>
        <p:spPr>
          <a:xfrm>
            <a:off x="6085879"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113311"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167" name="Rectangle 166"/>
          <p:cNvSpPr/>
          <p:nvPr/>
        </p:nvSpPr>
        <p:spPr>
          <a:xfrm>
            <a:off x="6533752"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6561184"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69" name="Rectangle 168"/>
          <p:cNvSpPr/>
          <p:nvPr/>
        </p:nvSpPr>
        <p:spPr>
          <a:xfrm>
            <a:off x="6981625"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7009057"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71" name="Rectangle 170"/>
          <p:cNvSpPr/>
          <p:nvPr/>
        </p:nvSpPr>
        <p:spPr>
          <a:xfrm>
            <a:off x="7429498"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7456930"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73" name="Rectangle 172"/>
          <p:cNvSpPr/>
          <p:nvPr/>
        </p:nvSpPr>
        <p:spPr>
          <a:xfrm>
            <a:off x="7877371"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904803"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75" name="Rectangle 174"/>
          <p:cNvSpPr/>
          <p:nvPr/>
        </p:nvSpPr>
        <p:spPr>
          <a:xfrm>
            <a:off x="8325244" y="31050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8352676" y="31194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77" name="Rectangle 176"/>
          <p:cNvSpPr/>
          <p:nvPr/>
        </p:nvSpPr>
        <p:spPr>
          <a:xfrm>
            <a:off x="1506016" y="33181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533448" y="3332552"/>
            <a:ext cx="1837761" cy="213100"/>
          </a:xfrm>
          <a:prstGeom prst="rect">
            <a:avLst/>
          </a:prstGeom>
          <a:noFill/>
        </p:spPr>
        <p:txBody>
          <a:bodyPr wrap="square" anchor="ctr" lIns="0" rIns="0" tIns="0" bIns="0">
            <a:spAutoFit/>
          </a:bodyPr>
          <a:lstStyle/>
          <a:p>
            <a:pPr algn="l"/>
            <a:r>
              <a:rPr sz="568" b="0" i="0">
                <a:solidFill>
                  <a:srgbClr val="000000"/>
                </a:solidFill>
                <a:latin typeface="Segoe UI"/>
              </a:rPr>
              <a:t>2nd Resections (Scheduled or Completed)</a:t>
            </a:r>
          </a:p>
        </p:txBody>
      </p:sp>
      <p:sp>
        <p:nvSpPr>
          <p:cNvPr id="179" name="Rectangle 178"/>
          <p:cNvSpPr/>
          <p:nvPr/>
        </p:nvSpPr>
        <p:spPr>
          <a:xfrm>
            <a:off x="3398641"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3426073"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81" name="Rectangle 180"/>
          <p:cNvSpPr/>
          <p:nvPr/>
        </p:nvSpPr>
        <p:spPr>
          <a:xfrm>
            <a:off x="3846514"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3873946"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183" name="Rectangle 182"/>
          <p:cNvSpPr/>
          <p:nvPr/>
        </p:nvSpPr>
        <p:spPr>
          <a:xfrm>
            <a:off x="4294387"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4321819"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85" name="Rectangle 184"/>
          <p:cNvSpPr/>
          <p:nvPr/>
        </p:nvSpPr>
        <p:spPr>
          <a:xfrm>
            <a:off x="4742260"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4769692"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87" name="Rectangle 186"/>
          <p:cNvSpPr/>
          <p:nvPr/>
        </p:nvSpPr>
        <p:spPr>
          <a:xfrm>
            <a:off x="5190133"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5217565"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89" name="Rectangle 188"/>
          <p:cNvSpPr/>
          <p:nvPr/>
        </p:nvSpPr>
        <p:spPr>
          <a:xfrm>
            <a:off x="5638006"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665438"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191" name="Rectangle 190"/>
          <p:cNvSpPr/>
          <p:nvPr/>
        </p:nvSpPr>
        <p:spPr>
          <a:xfrm>
            <a:off x="6085879"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113311"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193" name="Rectangle 192"/>
          <p:cNvSpPr/>
          <p:nvPr/>
        </p:nvSpPr>
        <p:spPr>
          <a:xfrm>
            <a:off x="6533752"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561184"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95" name="Rectangle 194"/>
          <p:cNvSpPr/>
          <p:nvPr/>
        </p:nvSpPr>
        <p:spPr>
          <a:xfrm>
            <a:off x="6981625"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009057"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97" name="Rectangle 196"/>
          <p:cNvSpPr/>
          <p:nvPr/>
        </p:nvSpPr>
        <p:spPr>
          <a:xfrm>
            <a:off x="7429498"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7456930"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199" name="Rectangle 198"/>
          <p:cNvSpPr/>
          <p:nvPr/>
        </p:nvSpPr>
        <p:spPr>
          <a:xfrm>
            <a:off x="7877371"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7904803"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01" name="Rectangle 200"/>
          <p:cNvSpPr/>
          <p:nvPr/>
        </p:nvSpPr>
        <p:spPr>
          <a:xfrm>
            <a:off x="8325244" y="33181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8352676" y="33325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03" name="Rectangle 202"/>
          <p:cNvSpPr/>
          <p:nvPr/>
        </p:nvSpPr>
        <p:spPr>
          <a:xfrm>
            <a:off x="1506016" y="35312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1533448" y="3545652"/>
            <a:ext cx="1837761" cy="213100"/>
          </a:xfrm>
          <a:prstGeom prst="rect">
            <a:avLst/>
          </a:prstGeom>
          <a:noFill/>
        </p:spPr>
        <p:txBody>
          <a:bodyPr wrap="square" anchor="ctr" lIns="0" rIns="0" tIns="0" bIns="0">
            <a:spAutoFit/>
          </a:bodyPr>
          <a:lstStyle/>
          <a:p>
            <a:pPr algn="l"/>
            <a:r>
              <a:rPr sz="568" b="0" i="0">
                <a:solidFill>
                  <a:srgbClr val="000000"/>
                </a:solidFill>
                <a:latin typeface="Segoe UI"/>
              </a:rPr>
              <a:t>Patient Related Drop-outs following
TTP due to patient health</a:t>
            </a:r>
          </a:p>
        </p:txBody>
      </p:sp>
      <p:sp>
        <p:nvSpPr>
          <p:cNvPr id="205" name="Rectangle 204"/>
          <p:cNvSpPr/>
          <p:nvPr/>
        </p:nvSpPr>
        <p:spPr>
          <a:xfrm>
            <a:off x="3398641"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3426073"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07" name="Rectangle 206"/>
          <p:cNvSpPr/>
          <p:nvPr/>
        </p:nvSpPr>
        <p:spPr>
          <a:xfrm>
            <a:off x="3846514"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3873946"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209" name="Rectangle 208"/>
          <p:cNvSpPr/>
          <p:nvPr/>
        </p:nvSpPr>
        <p:spPr>
          <a:xfrm>
            <a:off x="4294387"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4321819"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211" name="Rectangle 210"/>
          <p:cNvSpPr/>
          <p:nvPr/>
        </p:nvSpPr>
        <p:spPr>
          <a:xfrm>
            <a:off x="4742260"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4769692"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13" name="Rectangle 212"/>
          <p:cNvSpPr/>
          <p:nvPr/>
        </p:nvSpPr>
        <p:spPr>
          <a:xfrm>
            <a:off x="5190133"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5217565"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15" name="Rectangle 214"/>
          <p:cNvSpPr/>
          <p:nvPr/>
        </p:nvSpPr>
        <p:spPr>
          <a:xfrm>
            <a:off x="5638006"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5665438"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2</a:t>
            </a:r>
          </a:p>
        </p:txBody>
      </p:sp>
      <p:sp>
        <p:nvSpPr>
          <p:cNvPr id="217" name="Rectangle 216"/>
          <p:cNvSpPr/>
          <p:nvPr/>
        </p:nvSpPr>
        <p:spPr>
          <a:xfrm>
            <a:off x="6085879"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6113311"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19" name="Rectangle 218"/>
          <p:cNvSpPr/>
          <p:nvPr/>
        </p:nvSpPr>
        <p:spPr>
          <a:xfrm>
            <a:off x="6533752"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6561184"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21" name="Rectangle 220"/>
          <p:cNvSpPr/>
          <p:nvPr/>
        </p:nvSpPr>
        <p:spPr>
          <a:xfrm>
            <a:off x="6981625"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7009057"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23" name="Rectangle 222"/>
          <p:cNvSpPr/>
          <p:nvPr/>
        </p:nvSpPr>
        <p:spPr>
          <a:xfrm>
            <a:off x="7429498"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456930"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25" name="Rectangle 224"/>
          <p:cNvSpPr/>
          <p:nvPr/>
        </p:nvSpPr>
        <p:spPr>
          <a:xfrm>
            <a:off x="7877371"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7904803"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27" name="Rectangle 226"/>
          <p:cNvSpPr/>
          <p:nvPr/>
        </p:nvSpPr>
        <p:spPr>
          <a:xfrm>
            <a:off x="8325244" y="35312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8352676" y="35456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29" name="Rectangle 228"/>
          <p:cNvSpPr/>
          <p:nvPr/>
        </p:nvSpPr>
        <p:spPr>
          <a:xfrm>
            <a:off x="1506016" y="37443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1533448" y="3758752"/>
            <a:ext cx="1837761" cy="213100"/>
          </a:xfrm>
          <a:prstGeom prst="rect">
            <a:avLst/>
          </a:prstGeom>
          <a:noFill/>
        </p:spPr>
        <p:txBody>
          <a:bodyPr wrap="square" anchor="ctr" lIns="0" rIns="0" tIns="0" bIns="0">
            <a:spAutoFit/>
          </a:bodyPr>
          <a:lstStyle/>
          <a:p>
            <a:pPr algn="l"/>
            <a:r>
              <a:rPr sz="568" b="0" i="0">
                <a:solidFill>
                  <a:srgbClr val="000000"/>
                </a:solidFill>
                <a:latin typeface="Segoe UI"/>
              </a:rPr>
              <a:t>OOS Products</a:t>
            </a:r>
          </a:p>
        </p:txBody>
      </p:sp>
      <p:sp>
        <p:nvSpPr>
          <p:cNvPr id="231" name="Rectangle 230"/>
          <p:cNvSpPr/>
          <p:nvPr/>
        </p:nvSpPr>
        <p:spPr>
          <a:xfrm>
            <a:off x="3398641"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3426073"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33" name="Rectangle 232"/>
          <p:cNvSpPr/>
          <p:nvPr/>
        </p:nvSpPr>
        <p:spPr>
          <a:xfrm>
            <a:off x="3846514"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3873946"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235" name="Rectangle 234"/>
          <p:cNvSpPr/>
          <p:nvPr/>
        </p:nvSpPr>
        <p:spPr>
          <a:xfrm>
            <a:off x="4294387"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4321819"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237" name="Rectangle 236"/>
          <p:cNvSpPr/>
          <p:nvPr/>
        </p:nvSpPr>
        <p:spPr>
          <a:xfrm>
            <a:off x="4742260"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4769692"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39" name="Rectangle 238"/>
          <p:cNvSpPr/>
          <p:nvPr/>
        </p:nvSpPr>
        <p:spPr>
          <a:xfrm>
            <a:off x="5190133"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5217565"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41" name="Rectangle 240"/>
          <p:cNvSpPr/>
          <p:nvPr/>
        </p:nvSpPr>
        <p:spPr>
          <a:xfrm>
            <a:off x="5638006"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5665438"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14</a:t>
            </a:r>
          </a:p>
        </p:txBody>
      </p:sp>
      <p:sp>
        <p:nvSpPr>
          <p:cNvPr id="243" name="Rectangle 242"/>
          <p:cNvSpPr/>
          <p:nvPr/>
        </p:nvSpPr>
        <p:spPr>
          <a:xfrm>
            <a:off x="6085879"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6113311"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5</a:t>
            </a:r>
          </a:p>
        </p:txBody>
      </p:sp>
      <p:sp>
        <p:nvSpPr>
          <p:cNvPr id="245" name="Rectangle 244"/>
          <p:cNvSpPr/>
          <p:nvPr/>
        </p:nvSpPr>
        <p:spPr>
          <a:xfrm>
            <a:off x="6533752"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6561184"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47" name="Rectangle 246"/>
          <p:cNvSpPr/>
          <p:nvPr/>
        </p:nvSpPr>
        <p:spPr>
          <a:xfrm>
            <a:off x="6981625"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7009057"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49" name="Rectangle 248"/>
          <p:cNvSpPr/>
          <p:nvPr/>
        </p:nvSpPr>
        <p:spPr>
          <a:xfrm>
            <a:off x="7429498"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7456930"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51" name="Rectangle 250"/>
          <p:cNvSpPr/>
          <p:nvPr/>
        </p:nvSpPr>
        <p:spPr>
          <a:xfrm>
            <a:off x="7877371"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7904803"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253" name="Rectangle 252"/>
          <p:cNvSpPr/>
          <p:nvPr/>
        </p:nvSpPr>
        <p:spPr>
          <a:xfrm>
            <a:off x="8325244" y="37443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8352676" y="37587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255" name="Rectangle 254"/>
          <p:cNvSpPr/>
          <p:nvPr/>
        </p:nvSpPr>
        <p:spPr>
          <a:xfrm>
            <a:off x="1506016" y="39574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533448" y="3971852"/>
            <a:ext cx="1837761" cy="213100"/>
          </a:xfrm>
          <a:prstGeom prst="rect">
            <a:avLst/>
          </a:prstGeom>
          <a:noFill/>
        </p:spPr>
        <p:txBody>
          <a:bodyPr wrap="square" anchor="ctr" lIns="0" rIns="0" tIns="0" bIns="0">
            <a:spAutoFit/>
          </a:bodyPr>
          <a:lstStyle/>
          <a:p>
            <a:pPr algn="l"/>
            <a:r>
              <a:rPr sz="568" b="0" i="0">
                <a:solidFill>
                  <a:srgbClr val="000000"/>
                </a:solidFill>
                <a:latin typeface="Segoe UI"/>
              </a:rPr>
              <a:t>Patient Progression Rate *</a:t>
            </a:r>
          </a:p>
        </p:txBody>
      </p:sp>
      <p:sp>
        <p:nvSpPr>
          <p:cNvPr id="257" name="Rectangle 256"/>
          <p:cNvSpPr/>
          <p:nvPr/>
        </p:nvSpPr>
        <p:spPr>
          <a:xfrm>
            <a:off x="3398641"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3426073"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12.5%</a:t>
            </a:r>
          </a:p>
        </p:txBody>
      </p:sp>
      <p:sp>
        <p:nvSpPr>
          <p:cNvPr id="259" name="Rectangle 258"/>
          <p:cNvSpPr/>
          <p:nvPr/>
        </p:nvSpPr>
        <p:spPr>
          <a:xfrm>
            <a:off x="3846514"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3873946"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261" name="Rectangle 260"/>
          <p:cNvSpPr/>
          <p:nvPr/>
        </p:nvSpPr>
        <p:spPr>
          <a:xfrm>
            <a:off x="4294387"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4321819"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0.0%</a:t>
            </a:r>
          </a:p>
        </p:txBody>
      </p:sp>
      <p:sp>
        <p:nvSpPr>
          <p:cNvPr id="263" name="Rectangle 262"/>
          <p:cNvSpPr/>
          <p:nvPr/>
        </p:nvSpPr>
        <p:spPr>
          <a:xfrm>
            <a:off x="4742260"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4769692"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20.0%</a:t>
            </a:r>
          </a:p>
        </p:txBody>
      </p:sp>
      <p:sp>
        <p:nvSpPr>
          <p:cNvPr id="265" name="Rectangle 264"/>
          <p:cNvSpPr/>
          <p:nvPr/>
        </p:nvSpPr>
        <p:spPr>
          <a:xfrm>
            <a:off x="5190133"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5217565"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12.5%</a:t>
            </a:r>
          </a:p>
        </p:txBody>
      </p:sp>
      <p:sp>
        <p:nvSpPr>
          <p:cNvPr id="267" name="Rectangle 266"/>
          <p:cNvSpPr/>
          <p:nvPr/>
        </p:nvSpPr>
        <p:spPr>
          <a:xfrm>
            <a:off x="5638006"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5665438"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4.8%</a:t>
            </a:r>
          </a:p>
        </p:txBody>
      </p:sp>
      <p:sp>
        <p:nvSpPr>
          <p:cNvPr id="269" name="Rectangle 268"/>
          <p:cNvSpPr/>
          <p:nvPr/>
        </p:nvSpPr>
        <p:spPr>
          <a:xfrm>
            <a:off x="6085879"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6113311"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6.2%</a:t>
            </a:r>
          </a:p>
        </p:txBody>
      </p:sp>
      <p:sp>
        <p:nvSpPr>
          <p:cNvPr id="271" name="Rectangle 270"/>
          <p:cNvSpPr/>
          <p:nvPr/>
        </p:nvSpPr>
        <p:spPr>
          <a:xfrm>
            <a:off x="6533752"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6561184"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3.4%</a:t>
            </a:r>
          </a:p>
        </p:txBody>
      </p:sp>
      <p:sp>
        <p:nvSpPr>
          <p:cNvPr id="273" name="Rectangle 272"/>
          <p:cNvSpPr/>
          <p:nvPr/>
        </p:nvSpPr>
        <p:spPr>
          <a:xfrm>
            <a:off x="6981625"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7009057"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275" name="Rectangle 274"/>
          <p:cNvSpPr/>
          <p:nvPr/>
        </p:nvSpPr>
        <p:spPr>
          <a:xfrm>
            <a:off x="7429498"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7456930"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0.0%</a:t>
            </a:r>
          </a:p>
        </p:txBody>
      </p:sp>
      <p:sp>
        <p:nvSpPr>
          <p:cNvPr id="277" name="Rectangle 276"/>
          <p:cNvSpPr/>
          <p:nvPr/>
        </p:nvSpPr>
        <p:spPr>
          <a:xfrm>
            <a:off x="7877371"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7904803"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25.0%</a:t>
            </a:r>
          </a:p>
        </p:txBody>
      </p:sp>
      <p:sp>
        <p:nvSpPr>
          <p:cNvPr id="279" name="Rectangle 278"/>
          <p:cNvSpPr/>
          <p:nvPr/>
        </p:nvSpPr>
        <p:spPr>
          <a:xfrm>
            <a:off x="8325244" y="39574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8352676" y="3971852"/>
            <a:ext cx="393009" cy="213100"/>
          </a:xfrm>
          <a:prstGeom prst="rect">
            <a:avLst/>
          </a:prstGeom>
          <a:noFill/>
        </p:spPr>
        <p:txBody>
          <a:bodyPr wrap="square" anchor="ctr" lIns="0" rIns="0" tIns="0" bIns="0">
            <a:spAutoFit/>
          </a:bodyPr>
          <a:lstStyle/>
          <a:p>
            <a:pPr algn="r"/>
            <a:r>
              <a:rPr sz="592" b="0" i="0">
                <a:solidFill>
                  <a:srgbClr val="000000"/>
                </a:solidFill>
                <a:latin typeface="Segoe UI"/>
              </a:rPr>
              <a:t>0.0%</a:t>
            </a:r>
          </a:p>
        </p:txBody>
      </p:sp>
      <p:sp>
        <p:nvSpPr>
          <p:cNvPr id="281" name="Rectangle 280"/>
          <p:cNvSpPr/>
          <p:nvPr/>
        </p:nvSpPr>
        <p:spPr>
          <a:xfrm>
            <a:off x="1506016" y="41705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1533448" y="4184952"/>
            <a:ext cx="1837761" cy="213100"/>
          </a:xfrm>
          <a:prstGeom prst="rect">
            <a:avLst/>
          </a:prstGeom>
          <a:noFill/>
        </p:spPr>
        <p:txBody>
          <a:bodyPr wrap="square" anchor="ctr" lIns="0" rIns="0" tIns="0" bIns="0">
            <a:spAutoFit/>
          </a:bodyPr>
          <a:lstStyle/>
          <a:p>
            <a:pPr algn="l"/>
            <a:r>
              <a:rPr sz="568" b="0" i="0">
                <a:solidFill>
                  <a:srgbClr val="000000"/>
                </a:solidFill>
                <a:latin typeface="Segoe UI"/>
              </a:rPr>
              <a:t>AMTAGVI Infusions Performed</a:t>
            </a:r>
          </a:p>
        </p:txBody>
      </p:sp>
      <p:sp>
        <p:nvSpPr>
          <p:cNvPr id="283" name="Rectangle 282"/>
          <p:cNvSpPr/>
          <p:nvPr/>
        </p:nvSpPr>
        <p:spPr>
          <a:xfrm>
            <a:off x="3398641"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3426073"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4</a:t>
            </a:r>
          </a:p>
        </p:txBody>
      </p:sp>
      <p:sp>
        <p:nvSpPr>
          <p:cNvPr id="285" name="Rectangle 284"/>
          <p:cNvSpPr/>
          <p:nvPr/>
        </p:nvSpPr>
        <p:spPr>
          <a:xfrm>
            <a:off x="3846514"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3873946"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287" name="Rectangle 286"/>
          <p:cNvSpPr/>
          <p:nvPr/>
        </p:nvSpPr>
        <p:spPr>
          <a:xfrm>
            <a:off x="4294387"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4321819"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289" name="Rectangle 288"/>
          <p:cNvSpPr/>
          <p:nvPr/>
        </p:nvSpPr>
        <p:spPr>
          <a:xfrm>
            <a:off x="4742260"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4769692"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4</a:t>
            </a:r>
          </a:p>
        </p:txBody>
      </p:sp>
      <p:sp>
        <p:nvSpPr>
          <p:cNvPr id="291" name="Rectangle 290"/>
          <p:cNvSpPr/>
          <p:nvPr/>
        </p:nvSpPr>
        <p:spPr>
          <a:xfrm>
            <a:off x="5190133"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5217565"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4</a:t>
            </a:r>
          </a:p>
        </p:txBody>
      </p:sp>
      <p:sp>
        <p:nvSpPr>
          <p:cNvPr id="293" name="Rectangle 292"/>
          <p:cNvSpPr/>
          <p:nvPr/>
        </p:nvSpPr>
        <p:spPr>
          <a:xfrm>
            <a:off x="5638006"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5665438"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13</a:t>
            </a:r>
          </a:p>
        </p:txBody>
      </p:sp>
      <p:sp>
        <p:nvSpPr>
          <p:cNvPr id="295" name="Rectangle 294"/>
          <p:cNvSpPr/>
          <p:nvPr/>
        </p:nvSpPr>
        <p:spPr>
          <a:xfrm>
            <a:off x="6085879"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6113311"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10</a:t>
            </a:r>
          </a:p>
        </p:txBody>
      </p:sp>
      <p:sp>
        <p:nvSpPr>
          <p:cNvPr id="297" name="Rectangle 296"/>
          <p:cNvSpPr/>
          <p:nvPr/>
        </p:nvSpPr>
        <p:spPr>
          <a:xfrm>
            <a:off x="6533752"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6561184"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7</a:t>
            </a:r>
          </a:p>
        </p:txBody>
      </p:sp>
      <p:sp>
        <p:nvSpPr>
          <p:cNvPr id="299" name="Rectangle 298"/>
          <p:cNvSpPr/>
          <p:nvPr/>
        </p:nvSpPr>
        <p:spPr>
          <a:xfrm>
            <a:off x="6981625"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7009057"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301" name="Rectangle 300"/>
          <p:cNvSpPr/>
          <p:nvPr/>
        </p:nvSpPr>
        <p:spPr>
          <a:xfrm>
            <a:off x="7429498"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7456930"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1</a:t>
            </a:r>
          </a:p>
        </p:txBody>
      </p:sp>
      <p:sp>
        <p:nvSpPr>
          <p:cNvPr id="303" name="Rectangle 302"/>
          <p:cNvSpPr/>
          <p:nvPr/>
        </p:nvSpPr>
        <p:spPr>
          <a:xfrm>
            <a:off x="7877371"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7904803"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3</a:t>
            </a:r>
          </a:p>
        </p:txBody>
      </p:sp>
      <p:sp>
        <p:nvSpPr>
          <p:cNvPr id="305" name="Rectangle 304"/>
          <p:cNvSpPr/>
          <p:nvPr/>
        </p:nvSpPr>
        <p:spPr>
          <a:xfrm>
            <a:off x="8325244" y="41705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8352676" y="4184952"/>
            <a:ext cx="393009" cy="213100"/>
          </a:xfrm>
          <a:prstGeom prst="rect">
            <a:avLst/>
          </a:prstGeom>
          <a:noFill/>
        </p:spPr>
        <p:txBody>
          <a:bodyPr wrap="square" anchor="ctr" lIns="0" rIns="0" tIns="0" bIns="0">
            <a:spAutoFit/>
          </a:bodyPr>
          <a:lstStyle/>
          <a:p>
            <a:pPr algn="r"/>
            <a:r>
              <a:rPr sz="592" b="0" i="0">
                <a:solidFill>
                  <a:srgbClr val="000000"/>
                </a:solidFill>
                <a:latin typeface="Segoe UI"/>
              </a:rPr>
              <a:t>0</a:t>
            </a:r>
          </a:p>
        </p:txBody>
      </p:sp>
      <p:sp>
        <p:nvSpPr>
          <p:cNvPr id="307" name="Rectangle 306"/>
          <p:cNvSpPr/>
          <p:nvPr/>
        </p:nvSpPr>
        <p:spPr>
          <a:xfrm>
            <a:off x="1506016" y="43836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1533448" y="4398052"/>
            <a:ext cx="1837761" cy="213100"/>
          </a:xfrm>
          <a:prstGeom prst="rect">
            <a:avLst/>
          </a:prstGeom>
          <a:noFill/>
        </p:spPr>
        <p:txBody>
          <a:bodyPr wrap="square" anchor="ctr" lIns="0" rIns="0" tIns="0" bIns="0">
            <a:spAutoFit/>
          </a:bodyPr>
          <a:lstStyle/>
          <a:p>
            <a:pPr algn="l"/>
            <a:r>
              <a:rPr sz="568" b="0" i="0">
                <a:solidFill>
                  <a:srgbClr val="000000"/>
                </a:solidFill>
                <a:latin typeface="Segoe UI"/>
              </a:rPr>
              <a:t>Median Time From Enrollment Date to TTP (Days)</a:t>
            </a:r>
          </a:p>
        </p:txBody>
      </p:sp>
      <p:sp>
        <p:nvSpPr>
          <p:cNvPr id="309" name="Rectangle 308"/>
          <p:cNvSpPr/>
          <p:nvPr/>
        </p:nvSpPr>
        <p:spPr>
          <a:xfrm>
            <a:off x="3398641"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3426073"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37.0</a:t>
            </a:r>
          </a:p>
        </p:txBody>
      </p:sp>
      <p:sp>
        <p:nvSpPr>
          <p:cNvPr id="311" name="Rectangle 310"/>
          <p:cNvSpPr/>
          <p:nvPr/>
        </p:nvSpPr>
        <p:spPr>
          <a:xfrm>
            <a:off x="3846514"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3873946"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13" name="Rectangle 312"/>
          <p:cNvSpPr/>
          <p:nvPr/>
        </p:nvSpPr>
        <p:spPr>
          <a:xfrm>
            <a:off x="4294387"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4321819"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25.0</a:t>
            </a:r>
          </a:p>
        </p:txBody>
      </p:sp>
      <p:sp>
        <p:nvSpPr>
          <p:cNvPr id="315" name="Rectangle 314"/>
          <p:cNvSpPr/>
          <p:nvPr/>
        </p:nvSpPr>
        <p:spPr>
          <a:xfrm>
            <a:off x="4742260"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4769692"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42.0</a:t>
            </a:r>
          </a:p>
        </p:txBody>
      </p:sp>
      <p:sp>
        <p:nvSpPr>
          <p:cNvPr id="317" name="Rectangle 316"/>
          <p:cNvSpPr/>
          <p:nvPr/>
        </p:nvSpPr>
        <p:spPr>
          <a:xfrm>
            <a:off x="5190133"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5217565"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37.0</a:t>
            </a:r>
          </a:p>
        </p:txBody>
      </p:sp>
      <p:sp>
        <p:nvSpPr>
          <p:cNvPr id="319" name="Rectangle 318"/>
          <p:cNvSpPr/>
          <p:nvPr/>
        </p:nvSpPr>
        <p:spPr>
          <a:xfrm>
            <a:off x="5638006"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5665438"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43.0</a:t>
            </a:r>
          </a:p>
        </p:txBody>
      </p:sp>
      <p:sp>
        <p:nvSpPr>
          <p:cNvPr id="321" name="Rectangle 320"/>
          <p:cNvSpPr/>
          <p:nvPr/>
        </p:nvSpPr>
        <p:spPr>
          <a:xfrm>
            <a:off x="6085879"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6113311"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43.0</a:t>
            </a:r>
          </a:p>
        </p:txBody>
      </p:sp>
      <p:sp>
        <p:nvSpPr>
          <p:cNvPr id="323" name="Rectangle 322"/>
          <p:cNvSpPr/>
          <p:nvPr/>
        </p:nvSpPr>
        <p:spPr>
          <a:xfrm>
            <a:off x="6533752"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6561184"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44.3</a:t>
            </a:r>
          </a:p>
        </p:txBody>
      </p:sp>
      <p:sp>
        <p:nvSpPr>
          <p:cNvPr id="325" name="Rectangle 324"/>
          <p:cNvSpPr/>
          <p:nvPr/>
        </p:nvSpPr>
        <p:spPr>
          <a:xfrm>
            <a:off x="6981625"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7009057"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27" name="Rectangle 326"/>
          <p:cNvSpPr/>
          <p:nvPr/>
        </p:nvSpPr>
        <p:spPr>
          <a:xfrm>
            <a:off x="7429498"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7456930"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42.0</a:t>
            </a:r>
          </a:p>
        </p:txBody>
      </p:sp>
      <p:sp>
        <p:nvSpPr>
          <p:cNvPr id="329" name="Rectangle 328"/>
          <p:cNvSpPr/>
          <p:nvPr/>
        </p:nvSpPr>
        <p:spPr>
          <a:xfrm>
            <a:off x="7877371"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7904803"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61.5</a:t>
            </a:r>
          </a:p>
        </p:txBody>
      </p:sp>
      <p:sp>
        <p:nvSpPr>
          <p:cNvPr id="331" name="Rectangle 330"/>
          <p:cNvSpPr/>
          <p:nvPr/>
        </p:nvSpPr>
        <p:spPr>
          <a:xfrm>
            <a:off x="8325244" y="43836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Box 331"/>
          <p:cNvSpPr txBox="1"/>
          <p:nvPr/>
        </p:nvSpPr>
        <p:spPr>
          <a:xfrm>
            <a:off x="8352676" y="4398052"/>
            <a:ext cx="393009" cy="213100"/>
          </a:xfrm>
          <a:prstGeom prst="rect">
            <a:avLst/>
          </a:prstGeom>
          <a:noFill/>
        </p:spPr>
        <p:txBody>
          <a:bodyPr wrap="square" anchor="ctr" lIns="0" rIns="0" tIns="0" bIns="0">
            <a:spAutoFit/>
          </a:bodyPr>
          <a:lstStyle/>
          <a:p>
            <a:pPr algn="r"/>
            <a:r>
              <a:rPr sz="592" b="0" i="0">
                <a:solidFill>
                  <a:srgbClr val="000000"/>
                </a:solidFill>
                <a:latin typeface="Segoe UI"/>
              </a:rPr>
              <a:t>35.5</a:t>
            </a:r>
          </a:p>
        </p:txBody>
      </p:sp>
      <p:sp>
        <p:nvSpPr>
          <p:cNvPr id="333" name="Rectangle 332"/>
          <p:cNvSpPr/>
          <p:nvPr/>
        </p:nvSpPr>
        <p:spPr>
          <a:xfrm>
            <a:off x="1506016" y="45967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3448" y="4611152"/>
            <a:ext cx="1837761" cy="213100"/>
          </a:xfrm>
          <a:prstGeom prst="rect">
            <a:avLst/>
          </a:prstGeom>
          <a:noFill/>
        </p:spPr>
        <p:txBody>
          <a:bodyPr wrap="square" anchor="ctr" lIns="0" rIns="0" tIns="0" bIns="0">
            <a:spAutoFit/>
          </a:bodyPr>
          <a:lstStyle/>
          <a:p>
            <a:pPr algn="l"/>
            <a:r>
              <a:rPr sz="568" b="0" i="0">
                <a:solidFill>
                  <a:srgbClr val="000000"/>
                </a:solidFill>
                <a:latin typeface="Segoe UI"/>
              </a:rPr>
              <a:t>Median Time From TTP to AMTAGVI Infusion (Days)</a:t>
            </a:r>
          </a:p>
        </p:txBody>
      </p:sp>
      <p:sp>
        <p:nvSpPr>
          <p:cNvPr id="335" name="Rectangle 334"/>
          <p:cNvSpPr/>
          <p:nvPr/>
        </p:nvSpPr>
        <p:spPr>
          <a:xfrm>
            <a:off x="3398641"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3426073"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53.0</a:t>
            </a:r>
          </a:p>
        </p:txBody>
      </p:sp>
      <p:sp>
        <p:nvSpPr>
          <p:cNvPr id="337" name="Rectangle 336"/>
          <p:cNvSpPr/>
          <p:nvPr/>
        </p:nvSpPr>
        <p:spPr>
          <a:xfrm>
            <a:off x="3846514"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3873946"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39" name="Rectangle 338"/>
          <p:cNvSpPr/>
          <p:nvPr/>
        </p:nvSpPr>
        <p:spPr>
          <a:xfrm>
            <a:off x="4294387"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4321819"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41" name="Rectangle 340"/>
          <p:cNvSpPr/>
          <p:nvPr/>
        </p:nvSpPr>
        <p:spPr>
          <a:xfrm>
            <a:off x="4742260"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341"/>
          <p:cNvSpPr txBox="1"/>
          <p:nvPr/>
        </p:nvSpPr>
        <p:spPr>
          <a:xfrm>
            <a:off x="4769692"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53.0</a:t>
            </a:r>
          </a:p>
        </p:txBody>
      </p:sp>
      <p:sp>
        <p:nvSpPr>
          <p:cNvPr id="343" name="Rectangle 342"/>
          <p:cNvSpPr/>
          <p:nvPr/>
        </p:nvSpPr>
        <p:spPr>
          <a:xfrm>
            <a:off x="5190133"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extBox 343"/>
          <p:cNvSpPr txBox="1"/>
          <p:nvPr/>
        </p:nvSpPr>
        <p:spPr>
          <a:xfrm>
            <a:off x="5217565"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53.0</a:t>
            </a:r>
          </a:p>
        </p:txBody>
      </p:sp>
      <p:sp>
        <p:nvSpPr>
          <p:cNvPr id="345" name="Rectangle 344"/>
          <p:cNvSpPr/>
          <p:nvPr/>
        </p:nvSpPr>
        <p:spPr>
          <a:xfrm>
            <a:off x="5638006"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TextBox 345"/>
          <p:cNvSpPr txBox="1"/>
          <p:nvPr/>
        </p:nvSpPr>
        <p:spPr>
          <a:xfrm>
            <a:off x="5665438"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49.0</a:t>
            </a:r>
          </a:p>
        </p:txBody>
      </p:sp>
      <p:sp>
        <p:nvSpPr>
          <p:cNvPr id="347" name="Rectangle 346"/>
          <p:cNvSpPr/>
          <p:nvPr/>
        </p:nvSpPr>
        <p:spPr>
          <a:xfrm>
            <a:off x="6085879"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TextBox 347"/>
          <p:cNvSpPr txBox="1"/>
          <p:nvPr/>
        </p:nvSpPr>
        <p:spPr>
          <a:xfrm>
            <a:off x="6113311"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47.5</a:t>
            </a:r>
          </a:p>
        </p:txBody>
      </p:sp>
      <p:sp>
        <p:nvSpPr>
          <p:cNvPr id="349" name="Rectangle 348"/>
          <p:cNvSpPr/>
          <p:nvPr/>
        </p:nvSpPr>
        <p:spPr>
          <a:xfrm>
            <a:off x="6533752"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TextBox 349"/>
          <p:cNvSpPr txBox="1"/>
          <p:nvPr/>
        </p:nvSpPr>
        <p:spPr>
          <a:xfrm>
            <a:off x="6561184"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43.5</a:t>
            </a:r>
          </a:p>
        </p:txBody>
      </p:sp>
      <p:sp>
        <p:nvSpPr>
          <p:cNvPr id="351" name="Rectangle 350"/>
          <p:cNvSpPr/>
          <p:nvPr/>
        </p:nvSpPr>
        <p:spPr>
          <a:xfrm>
            <a:off x="6981625"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TextBox 351"/>
          <p:cNvSpPr txBox="1"/>
          <p:nvPr/>
        </p:nvSpPr>
        <p:spPr>
          <a:xfrm>
            <a:off x="7009057"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53" name="Rectangle 352"/>
          <p:cNvSpPr/>
          <p:nvPr/>
        </p:nvSpPr>
        <p:spPr>
          <a:xfrm>
            <a:off x="7429498"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TextBox 353"/>
          <p:cNvSpPr txBox="1"/>
          <p:nvPr/>
        </p:nvSpPr>
        <p:spPr>
          <a:xfrm>
            <a:off x="7456930"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52.0</a:t>
            </a:r>
          </a:p>
        </p:txBody>
      </p:sp>
      <p:sp>
        <p:nvSpPr>
          <p:cNvPr id="355" name="Rectangle 354"/>
          <p:cNvSpPr/>
          <p:nvPr/>
        </p:nvSpPr>
        <p:spPr>
          <a:xfrm>
            <a:off x="7877371"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7904803"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54.0</a:t>
            </a:r>
          </a:p>
        </p:txBody>
      </p:sp>
      <p:sp>
        <p:nvSpPr>
          <p:cNvPr id="357" name="Rectangle 356"/>
          <p:cNvSpPr/>
          <p:nvPr/>
        </p:nvSpPr>
        <p:spPr>
          <a:xfrm>
            <a:off x="8325244" y="45967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8352676" y="46111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59" name="Rectangle 358"/>
          <p:cNvSpPr/>
          <p:nvPr/>
        </p:nvSpPr>
        <p:spPr>
          <a:xfrm>
            <a:off x="1506016" y="4809805"/>
            <a:ext cx="1892625"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1533448" y="4824252"/>
            <a:ext cx="1837761" cy="213100"/>
          </a:xfrm>
          <a:prstGeom prst="rect">
            <a:avLst/>
          </a:prstGeom>
          <a:noFill/>
        </p:spPr>
        <p:txBody>
          <a:bodyPr wrap="square" anchor="ctr" lIns="0" rIns="0" tIns="0" bIns="0">
            <a:spAutoFit/>
          </a:bodyPr>
          <a:lstStyle/>
          <a:p>
            <a:pPr algn="l"/>
            <a:r>
              <a:rPr sz="568" b="0" i="0">
                <a:solidFill>
                  <a:srgbClr val="000000"/>
                </a:solidFill>
                <a:latin typeface="Segoe UI"/>
              </a:rPr>
              <a:t>Median Time From Final Product Delivery Date
to AMTAGVI Infusion (Days)</a:t>
            </a:r>
          </a:p>
        </p:txBody>
      </p:sp>
      <p:sp>
        <p:nvSpPr>
          <p:cNvPr id="361" name="Rectangle 360"/>
          <p:cNvSpPr/>
          <p:nvPr/>
        </p:nvSpPr>
        <p:spPr>
          <a:xfrm>
            <a:off x="3398641"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3426073"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14.5</a:t>
            </a:r>
          </a:p>
        </p:txBody>
      </p:sp>
      <p:sp>
        <p:nvSpPr>
          <p:cNvPr id="363" name="Rectangle 362"/>
          <p:cNvSpPr/>
          <p:nvPr/>
        </p:nvSpPr>
        <p:spPr>
          <a:xfrm>
            <a:off x="3846514"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TextBox 363"/>
          <p:cNvSpPr txBox="1"/>
          <p:nvPr/>
        </p:nvSpPr>
        <p:spPr>
          <a:xfrm>
            <a:off x="3873946"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65" name="Rectangle 364"/>
          <p:cNvSpPr/>
          <p:nvPr/>
        </p:nvSpPr>
        <p:spPr>
          <a:xfrm>
            <a:off x="4294387"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TextBox 365"/>
          <p:cNvSpPr txBox="1"/>
          <p:nvPr/>
        </p:nvSpPr>
        <p:spPr>
          <a:xfrm>
            <a:off x="4321819"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67" name="Rectangle 366"/>
          <p:cNvSpPr/>
          <p:nvPr/>
        </p:nvSpPr>
        <p:spPr>
          <a:xfrm>
            <a:off x="4742260"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4769692"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14.5</a:t>
            </a:r>
          </a:p>
        </p:txBody>
      </p:sp>
      <p:sp>
        <p:nvSpPr>
          <p:cNvPr id="369" name="Rectangle 368"/>
          <p:cNvSpPr/>
          <p:nvPr/>
        </p:nvSpPr>
        <p:spPr>
          <a:xfrm>
            <a:off x="5190133"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TextBox 369"/>
          <p:cNvSpPr txBox="1"/>
          <p:nvPr/>
        </p:nvSpPr>
        <p:spPr>
          <a:xfrm>
            <a:off x="5217565"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14.5</a:t>
            </a:r>
          </a:p>
        </p:txBody>
      </p:sp>
      <p:sp>
        <p:nvSpPr>
          <p:cNvPr id="371" name="Rectangle 370"/>
          <p:cNvSpPr/>
          <p:nvPr/>
        </p:nvSpPr>
        <p:spPr>
          <a:xfrm>
            <a:off x="5638006"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TextBox 371"/>
          <p:cNvSpPr txBox="1"/>
          <p:nvPr/>
        </p:nvSpPr>
        <p:spPr>
          <a:xfrm>
            <a:off x="5665438"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4.5</a:t>
            </a:r>
          </a:p>
        </p:txBody>
      </p:sp>
      <p:sp>
        <p:nvSpPr>
          <p:cNvPr id="373" name="Rectangle 372"/>
          <p:cNvSpPr/>
          <p:nvPr/>
        </p:nvSpPr>
        <p:spPr>
          <a:xfrm>
            <a:off x="6085879"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TextBox 373"/>
          <p:cNvSpPr txBox="1"/>
          <p:nvPr/>
        </p:nvSpPr>
        <p:spPr>
          <a:xfrm>
            <a:off x="6113311"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5.0</a:t>
            </a:r>
          </a:p>
        </p:txBody>
      </p:sp>
      <p:sp>
        <p:nvSpPr>
          <p:cNvPr id="375" name="Rectangle 374"/>
          <p:cNvSpPr/>
          <p:nvPr/>
        </p:nvSpPr>
        <p:spPr>
          <a:xfrm>
            <a:off x="6533752"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TextBox 375"/>
          <p:cNvSpPr txBox="1"/>
          <p:nvPr/>
        </p:nvSpPr>
        <p:spPr>
          <a:xfrm>
            <a:off x="6561184"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4.3</a:t>
            </a:r>
          </a:p>
        </p:txBody>
      </p:sp>
      <p:sp>
        <p:nvSpPr>
          <p:cNvPr id="377" name="Rectangle 376"/>
          <p:cNvSpPr/>
          <p:nvPr/>
        </p:nvSpPr>
        <p:spPr>
          <a:xfrm>
            <a:off x="6981625"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TextBox 377"/>
          <p:cNvSpPr txBox="1"/>
          <p:nvPr/>
        </p:nvSpPr>
        <p:spPr>
          <a:xfrm>
            <a:off x="7009057"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79" name="Rectangle 378"/>
          <p:cNvSpPr/>
          <p:nvPr/>
        </p:nvSpPr>
        <p:spPr>
          <a:xfrm>
            <a:off x="7429498"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TextBox 379"/>
          <p:cNvSpPr txBox="1"/>
          <p:nvPr/>
        </p:nvSpPr>
        <p:spPr>
          <a:xfrm>
            <a:off x="7456930"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10.0</a:t>
            </a:r>
          </a:p>
        </p:txBody>
      </p:sp>
      <p:sp>
        <p:nvSpPr>
          <p:cNvPr id="381" name="Rectangle 380"/>
          <p:cNvSpPr/>
          <p:nvPr/>
        </p:nvSpPr>
        <p:spPr>
          <a:xfrm>
            <a:off x="7877371"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TextBox 381"/>
          <p:cNvSpPr txBox="1"/>
          <p:nvPr/>
        </p:nvSpPr>
        <p:spPr>
          <a:xfrm>
            <a:off x="7904803"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18.0</a:t>
            </a:r>
          </a:p>
        </p:txBody>
      </p:sp>
      <p:sp>
        <p:nvSpPr>
          <p:cNvPr id="383" name="Rectangle 382"/>
          <p:cNvSpPr/>
          <p:nvPr/>
        </p:nvSpPr>
        <p:spPr>
          <a:xfrm>
            <a:off x="8325244" y="4809805"/>
            <a:ext cx="447873" cy="213100"/>
          </a:xfrm>
          <a:prstGeom prst="rect">
            <a:avLst/>
          </a:prstGeom>
          <a:solidFill>
            <a:srgbClr val="FFFFFF"/>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TextBox 383"/>
          <p:cNvSpPr txBox="1"/>
          <p:nvPr/>
        </p:nvSpPr>
        <p:spPr>
          <a:xfrm>
            <a:off x="8352676" y="4824252"/>
            <a:ext cx="393009" cy="213100"/>
          </a:xfrm>
          <a:prstGeom prst="rect">
            <a:avLst/>
          </a:prstGeom>
          <a:noFill/>
        </p:spPr>
        <p:txBody>
          <a:bodyPr wrap="square" anchor="ctr" lIns="0" rIns="0" tIns="0" bIns="0">
            <a:spAutoFit/>
          </a:bodyPr>
          <a:lstStyle/>
          <a:p>
            <a:pPr algn="r"/>
            <a:r>
              <a:rPr sz="592" b="0" i="0">
                <a:solidFill>
                  <a:srgbClr val="000000"/>
                </a:solidFill>
                <a:latin typeface="Segoe UI"/>
              </a:rPr>
              <a:t/>
            </a:r>
          </a:p>
        </p:txBody>
      </p:sp>
      <p:sp>
        <p:nvSpPr>
          <p:cNvPr id="385" name="Rectangle 384"/>
          <p:cNvSpPr/>
          <p:nvPr/>
        </p:nvSpPr>
        <p:spPr>
          <a:xfrm>
            <a:off x="566928" y="2252605"/>
            <a:ext cx="939088" cy="639300"/>
          </a:xfrm>
          <a:prstGeom prst="rect">
            <a:avLst/>
          </a:prstGeom>
          <a:solidFill>
            <a:srgbClr val="DCE6F1"/>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TextBox 385"/>
          <p:cNvSpPr txBox="1"/>
          <p:nvPr/>
        </p:nvSpPr>
        <p:spPr>
          <a:xfrm>
            <a:off x="594360" y="2267052"/>
            <a:ext cx="884224" cy="639300"/>
          </a:xfrm>
          <a:prstGeom prst="rect">
            <a:avLst/>
          </a:prstGeom>
          <a:noFill/>
        </p:spPr>
        <p:txBody>
          <a:bodyPr wrap="square" anchor="ctr" lIns="0" rIns="0" tIns="0" bIns="0">
            <a:spAutoFit/>
          </a:bodyPr>
          <a:lstStyle/>
          <a:p>
            <a:pPr algn="ctr"/>
            <a:r>
              <a:rPr sz="632" b="1" i="0">
                <a:solidFill>
                  <a:srgbClr val="000000"/>
                </a:solidFill>
                <a:latin typeface="Segoe UI"/>
              </a:rPr>
              <a:t>Patient Identification
&amp; Enrollment</a:t>
            </a:r>
          </a:p>
        </p:txBody>
      </p:sp>
      <p:sp>
        <p:nvSpPr>
          <p:cNvPr id="387" name="Rectangle 386"/>
          <p:cNvSpPr/>
          <p:nvPr/>
        </p:nvSpPr>
        <p:spPr>
          <a:xfrm>
            <a:off x="566928" y="2891905"/>
            <a:ext cx="939088" cy="639300"/>
          </a:xfrm>
          <a:prstGeom prst="rect">
            <a:avLst/>
          </a:prstGeom>
          <a:solidFill>
            <a:srgbClr val="C5D9F1"/>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TextBox 387"/>
          <p:cNvSpPr txBox="1"/>
          <p:nvPr/>
        </p:nvSpPr>
        <p:spPr>
          <a:xfrm>
            <a:off x="594360" y="2906352"/>
            <a:ext cx="884224" cy="639300"/>
          </a:xfrm>
          <a:prstGeom prst="rect">
            <a:avLst/>
          </a:prstGeom>
          <a:noFill/>
        </p:spPr>
        <p:txBody>
          <a:bodyPr wrap="square" anchor="ctr" lIns="0" rIns="0" tIns="0" bIns="0">
            <a:spAutoFit/>
          </a:bodyPr>
          <a:lstStyle/>
          <a:p>
            <a:pPr algn="ctr"/>
            <a:r>
              <a:rPr sz="632" b="1" i="0">
                <a:solidFill>
                  <a:srgbClr val="000000"/>
                </a:solidFill>
                <a:latin typeface="Segoe UI"/>
              </a:rPr>
              <a:t>Tumor Tissue
Procurement</a:t>
            </a:r>
          </a:p>
        </p:txBody>
      </p:sp>
      <p:sp>
        <p:nvSpPr>
          <p:cNvPr id="389" name="Rectangle 388"/>
          <p:cNvSpPr/>
          <p:nvPr/>
        </p:nvSpPr>
        <p:spPr>
          <a:xfrm>
            <a:off x="566928" y="3531205"/>
            <a:ext cx="939088" cy="852400"/>
          </a:xfrm>
          <a:prstGeom prst="rect">
            <a:avLst/>
          </a:prstGeom>
          <a:solidFill>
            <a:srgbClr val="B8CCE4"/>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TextBox 389"/>
          <p:cNvSpPr txBox="1"/>
          <p:nvPr/>
        </p:nvSpPr>
        <p:spPr>
          <a:xfrm>
            <a:off x="594360" y="3545652"/>
            <a:ext cx="884224" cy="852400"/>
          </a:xfrm>
          <a:prstGeom prst="rect">
            <a:avLst/>
          </a:prstGeom>
          <a:noFill/>
        </p:spPr>
        <p:txBody>
          <a:bodyPr wrap="square" anchor="ctr" lIns="0" rIns="0" tIns="0" bIns="0">
            <a:spAutoFit/>
          </a:bodyPr>
          <a:lstStyle/>
          <a:p>
            <a:pPr algn="ctr"/>
            <a:r>
              <a:rPr sz="632" b="1" i="0">
                <a:solidFill>
                  <a:srgbClr val="000000"/>
                </a:solidFill>
                <a:latin typeface="Segoe UI"/>
              </a:rPr>
              <a:t>AMTAGVI
Regimen</a:t>
            </a:r>
          </a:p>
        </p:txBody>
      </p:sp>
      <p:sp>
        <p:nvSpPr>
          <p:cNvPr id="391" name="Rectangle 390"/>
          <p:cNvSpPr/>
          <p:nvPr/>
        </p:nvSpPr>
        <p:spPr>
          <a:xfrm>
            <a:off x="566928" y="4383605"/>
            <a:ext cx="939088" cy="639300"/>
          </a:xfrm>
          <a:prstGeom prst="rect">
            <a:avLst/>
          </a:prstGeom>
          <a:solidFill>
            <a:srgbClr val="DCE6F1"/>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TextBox 391"/>
          <p:cNvSpPr txBox="1"/>
          <p:nvPr/>
        </p:nvSpPr>
        <p:spPr>
          <a:xfrm>
            <a:off x="594360" y="4398052"/>
            <a:ext cx="884224" cy="639300"/>
          </a:xfrm>
          <a:prstGeom prst="rect">
            <a:avLst/>
          </a:prstGeom>
          <a:noFill/>
        </p:spPr>
        <p:txBody>
          <a:bodyPr wrap="square" anchor="ctr" lIns="0" rIns="0" tIns="0" bIns="0">
            <a:spAutoFit/>
          </a:bodyPr>
          <a:lstStyle/>
          <a:p>
            <a:pPr algn="ctr"/>
            <a:r>
              <a:rPr sz="632" b="1" i="0">
                <a:solidFill>
                  <a:srgbClr val="000000"/>
                </a:solidFill>
                <a:latin typeface="Segoe UI"/>
              </a:rPr>
              <a:t>AMTAGVI Treatment
Timelines</a:t>
            </a:r>
          </a:p>
        </p:txBody>
      </p:sp>
      <p:sp>
        <p:nvSpPr>
          <p:cNvPr id="393" name="Rectangle 392"/>
          <p:cNvSpPr/>
          <p:nvPr/>
        </p:nvSpPr>
        <p:spPr>
          <a:xfrm>
            <a:off x="5638006" y="1983882"/>
            <a:ext cx="1343619" cy="3039023"/>
          </a:xfrm>
          <a:prstGeom prst="rect">
            <a:avLst/>
          </a:prstGeom>
          <a:no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TextBox 393"/>
          <p:cNvSpPr txBox="1"/>
          <p:nvPr/>
        </p:nvSpPr>
        <p:spPr>
          <a:xfrm>
            <a:off x="4769326" y="1644366"/>
            <a:ext cx="3080979" cy="201168"/>
          </a:xfrm>
          <a:prstGeom prst="rect">
            <a:avLst/>
          </a:prstGeom>
          <a:noFill/>
        </p:spPr>
        <p:txBody>
          <a:bodyPr wrap="square" anchor="t" lIns="0" rIns="0" tIns="0" bIns="0">
            <a:spAutoFit/>
          </a:bodyPr>
          <a:lstStyle/>
          <a:p>
            <a:pPr algn="ctr"/>
            <a:r>
              <a:rPr sz="632" b="1" i="0">
                <a:solidFill>
                  <a:srgbClr val="C0392B"/>
                </a:solidFill>
                <a:latin typeface="Segoe UI"/>
              </a:rPr>
              <a:t>Pick one comparative arm depending on ATC</a:t>
            </a:r>
          </a:p>
        </p:txBody>
      </p:sp>
      <p:sp>
        <p:nvSpPr>
          <p:cNvPr id="395" name="Rectangle 394"/>
          <p:cNvSpPr/>
          <p:nvPr/>
        </p:nvSpPr>
        <p:spPr>
          <a:xfrm>
            <a:off x="566928" y="5212080"/>
            <a:ext cx="10881360" cy="1005840"/>
          </a:xfrm>
          <a:prstGeom prst="rect">
            <a:avLst/>
          </a:prstGeom>
          <a:solidFill>
            <a:srgbClr val="FFFFFF"/>
          </a:solidFill>
          <a:ln w="15875">
            <a:solidFill>
              <a:srgbClr val="173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TextBox 395"/>
          <p:cNvSpPr txBox="1"/>
          <p:nvPr/>
        </p:nvSpPr>
        <p:spPr>
          <a:xfrm>
            <a:off x="868680" y="5376672"/>
            <a:ext cx="10332720" cy="804672"/>
          </a:xfrm>
          <a:prstGeom prst="rect">
            <a:avLst/>
          </a:prstGeom>
          <a:noFill/>
        </p:spPr>
        <p:txBody>
          <a:bodyPr wrap="square" anchor="t" lIns="0" rIns="0" tIns="0" bIns="0">
            <a:spAutoFit/>
          </a:bodyPr>
          <a:lstStyle/>
          <a:p>
            <a:pPr algn="l">
              <a:spcAft>
                <a:spcPts val="500"/>
              </a:spcAft>
            </a:pPr>
            <a:r>
              <a:rPr sz="1200" b="1" i="0">
                <a:solidFill>
                  <a:srgbClr val="17344F"/>
                </a:solidFill>
                <a:latin typeface="Segoe UI"/>
              </a:rPr>
              <a:t>Why one extra column earns its place</a:t>
            </a:r>
          </a:p>
          <a:p>
            <a:pPr algn="l">
              <a:spcAft>
                <a:spcPts val="500"/>
              </a:spcAft>
            </a:pPr>
            <a:r>
              <a:rPr sz="1100" b="0" i="0">
                <a:solidFill>
                  <a:srgbClr val="26333D"/>
                </a:solidFill>
                <a:latin typeface="Segoe UI"/>
              </a:rPr>
              <a:t>The fixed columns cannot answer "what has this centre done since we changed the protocol in March". Two date boxes drive the lime column only, so 2024 and 2025 never move. A column headed 2024 that reads zero because of a control somewhere else on the page is how people stop trusting every other number on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anchor="t" lIns="0" rIns="0" tIns="0" bIns="0">
            <a:spAutoFit/>
          </a:bodyPr>
          <a:lstStyle/>
          <a:p>
            <a:pPr algn="l"/>
            <a:r>
              <a:rPr sz="1100" b="1" i="0">
                <a:solidFill>
                  <a:srgbClr val="2F5D8A"/>
                </a:solidFill>
                <a:latin typeface="Segoe UI"/>
              </a:rPr>
              <a:t>P&amp;PR Scorecard  |  Next</a:t>
            </a:r>
          </a:p>
        </p:txBody>
      </p:sp>
      <p:sp>
        <p:nvSpPr>
          <p:cNvPr id="3" name="TextBox 2"/>
          <p:cNvSpPr txBox="1"/>
          <p:nvPr/>
        </p:nvSpPr>
        <p:spPr>
          <a:xfrm>
            <a:off x="566928" y="676656"/>
            <a:ext cx="10561320" cy="786384"/>
          </a:xfrm>
          <a:prstGeom prst="rect">
            <a:avLst/>
          </a:prstGeom>
          <a:noFill/>
        </p:spPr>
        <p:txBody>
          <a:bodyPr wrap="square" anchor="t" lIns="0" rIns="0" tIns="0" bIns="0">
            <a:spAutoFit/>
          </a:bodyPr>
          <a:lstStyle/>
          <a:p>
            <a:pPr algn="l"/>
            <a:r>
              <a:rPr sz="2100" b="1" i="0">
                <a:solidFill>
                  <a:srgbClr val="17344F"/>
                </a:solidFill>
                <a:latin typeface="Segoe UI"/>
              </a:rPr>
              <a:t>Three things to settle before this goes in front of a treatment centre</a:t>
            </a:r>
          </a:p>
        </p:txBody>
      </p:sp>
      <p:sp>
        <p:nvSpPr>
          <p:cNvPr id="4" name="Rectangle 3"/>
          <p:cNvSpPr/>
          <p:nvPr/>
        </p:nvSpPr>
        <p:spPr>
          <a:xfrm>
            <a:off x="25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86032" y="731520"/>
            <a:ext cx="173736" cy="173736"/>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65392"/>
            <a:ext cx="6400800" cy="228600"/>
          </a:xfrm>
          <a:prstGeom prst="rect">
            <a:avLst/>
          </a:prstGeom>
          <a:noFill/>
        </p:spPr>
        <p:txBody>
          <a:bodyPr wrap="square" anchor="t" lIns="0" rIns="0" tIns="0" bIns="0">
            <a:spAutoFit/>
          </a:bodyPr>
          <a:lstStyle/>
          <a:p>
            <a:pPr algn="l"/>
            <a:r>
              <a:rPr sz="850" b="0" i="0">
                <a:solidFill>
                  <a:srgbClr val="FFFFFF"/>
                </a:solidFill>
                <a:latin typeface="Segoe UI"/>
              </a:rPr>
              <a:t>© 2025, Iovance Biotherapeutics, Inc.  |  Confidential for Internal Use Only</a:t>
            </a:r>
          </a:p>
        </p:txBody>
      </p:sp>
      <p:sp>
        <p:nvSpPr>
          <p:cNvPr id="8" name="TextBox 7"/>
          <p:cNvSpPr txBox="1"/>
          <p:nvPr/>
        </p:nvSpPr>
        <p:spPr>
          <a:xfrm>
            <a:off x="9966960" y="6556248"/>
            <a:ext cx="1554480" cy="237744"/>
          </a:xfrm>
          <a:prstGeom prst="rect">
            <a:avLst/>
          </a:prstGeom>
          <a:noFill/>
        </p:spPr>
        <p:txBody>
          <a:bodyPr wrap="square" anchor="t" lIns="0" rIns="0" tIns="0" bIns="0">
            <a:spAutoFit/>
          </a:bodyPr>
          <a:lstStyle/>
          <a:p>
            <a:pPr algn="r"/>
            <a:r>
              <a:rPr sz="1100" b="1" i="0">
                <a:solidFill>
                  <a:srgbClr val="FFFFFF"/>
                </a:solidFill>
                <a:latin typeface="Segoe UI"/>
              </a:rPr>
              <a:t>I O V A N C E</a:t>
            </a:r>
          </a:p>
        </p:txBody>
      </p:sp>
      <p:sp>
        <p:nvSpPr>
          <p:cNvPr id="9" name="Rectangle 8"/>
          <p:cNvSpPr/>
          <p:nvPr/>
        </p:nvSpPr>
        <p:spPr>
          <a:xfrm>
            <a:off x="11686032" y="6556248"/>
            <a:ext cx="237744"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6032" y="6583680"/>
            <a:ext cx="237744" cy="182880"/>
          </a:xfrm>
          <a:prstGeom prst="rect">
            <a:avLst/>
          </a:prstGeom>
          <a:noFill/>
        </p:spPr>
        <p:txBody>
          <a:bodyPr wrap="square" anchor="t" lIns="0" rIns="0" tIns="0" bIns="0">
            <a:spAutoFit/>
          </a:bodyPr>
          <a:lstStyle/>
          <a:p>
            <a:pPr algn="ctr"/>
            <a:r>
              <a:rPr sz="800" b="1" i="0">
                <a:solidFill>
                  <a:srgbClr val="567A2E"/>
                </a:solidFill>
                <a:latin typeface="Segoe UI"/>
              </a:rPr>
              <a:t>7</a:t>
            </a:r>
          </a:p>
        </p:txBody>
      </p:sp>
      <p:sp>
        <p:nvSpPr>
          <p:cNvPr id="11" name="Rectangle 10"/>
          <p:cNvSpPr/>
          <p:nvPr/>
        </p:nvSpPr>
        <p:spPr>
          <a:xfrm>
            <a:off x="566928" y="1965960"/>
            <a:ext cx="384048" cy="384048"/>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029968"/>
            <a:ext cx="384048" cy="274320"/>
          </a:xfrm>
          <a:prstGeom prst="rect">
            <a:avLst/>
          </a:prstGeom>
          <a:noFill/>
        </p:spPr>
        <p:txBody>
          <a:bodyPr wrap="square" anchor="t" lIns="0" rIns="0" tIns="0" bIns="0">
            <a:spAutoFit/>
          </a:bodyPr>
          <a:lstStyle/>
          <a:p>
            <a:pPr algn="ctr"/>
            <a:r>
              <a:rPr sz="1400" b="1" i="0">
                <a:solidFill>
                  <a:srgbClr val="FFFFFF"/>
                </a:solidFill>
                <a:latin typeface="Segoe UI"/>
              </a:rPr>
              <a:t>1</a:t>
            </a:r>
          </a:p>
        </p:txBody>
      </p:sp>
      <p:sp>
        <p:nvSpPr>
          <p:cNvPr id="13" name="TextBox 12"/>
          <p:cNvSpPr txBox="1"/>
          <p:nvPr/>
        </p:nvSpPr>
        <p:spPr>
          <a:xfrm>
            <a:off x="1170432" y="1984248"/>
            <a:ext cx="10241280" cy="292608"/>
          </a:xfrm>
          <a:prstGeom prst="rect">
            <a:avLst/>
          </a:prstGeom>
          <a:noFill/>
        </p:spPr>
        <p:txBody>
          <a:bodyPr wrap="square" anchor="t" lIns="0" rIns="0" tIns="0" bIns="0">
            <a:spAutoFit/>
          </a:bodyPr>
          <a:lstStyle/>
          <a:p>
            <a:pPr algn="l"/>
            <a:r>
              <a:rPr sz="1500" b="1" i="0">
                <a:solidFill>
                  <a:srgbClr val="17344F"/>
                </a:solidFill>
                <a:latin typeface="Segoe UI"/>
              </a:rPr>
              <a:t>Confirm the comparison arm rule</a:t>
            </a:r>
          </a:p>
        </p:txBody>
      </p:sp>
      <p:sp>
        <p:nvSpPr>
          <p:cNvPr id="14" name="TextBox 13"/>
          <p:cNvSpPr txBox="1"/>
          <p:nvPr/>
        </p:nvSpPr>
        <p:spPr>
          <a:xfrm>
            <a:off x="1170432" y="2368296"/>
            <a:ext cx="9966960" cy="731520"/>
          </a:xfrm>
          <a:prstGeom prst="rect">
            <a:avLst/>
          </a:prstGeom>
          <a:noFill/>
        </p:spPr>
        <p:txBody>
          <a:bodyPr wrap="square" anchor="t" lIns="0" rIns="0" tIns="0" bIns="0">
            <a:spAutoFit/>
          </a:bodyPr>
          <a:lstStyle/>
          <a:p>
            <a:pPr algn="l"/>
            <a:r>
              <a:rPr sz="1150" b="0" i="0">
                <a:solidFill>
                  <a:srgbClr val="26333D"/>
                </a:solidFill>
                <a:latin typeface="Segoe UI"/>
              </a:rPr>
              <a:t>The template says pick one arm depending on the ATC. We need the rule written down: which centres see Top 10, which see Top 40, which see New. Today the dashboard shows all three.</a:t>
            </a:r>
          </a:p>
        </p:txBody>
      </p:sp>
      <p:sp>
        <p:nvSpPr>
          <p:cNvPr id="15" name="Rectangle 14"/>
          <p:cNvSpPr/>
          <p:nvPr/>
        </p:nvSpPr>
        <p:spPr>
          <a:xfrm>
            <a:off x="566928" y="3264408"/>
            <a:ext cx="384048" cy="384048"/>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328416"/>
            <a:ext cx="384048" cy="274320"/>
          </a:xfrm>
          <a:prstGeom prst="rect">
            <a:avLst/>
          </a:prstGeom>
          <a:noFill/>
        </p:spPr>
        <p:txBody>
          <a:bodyPr wrap="square" anchor="t" lIns="0" rIns="0" tIns="0" bIns="0">
            <a:spAutoFit/>
          </a:bodyPr>
          <a:lstStyle/>
          <a:p>
            <a:pPr algn="ctr"/>
            <a:r>
              <a:rPr sz="1400" b="1" i="0">
                <a:solidFill>
                  <a:srgbClr val="FFFFFF"/>
                </a:solidFill>
                <a:latin typeface="Segoe UI"/>
              </a:rPr>
              <a:t>2</a:t>
            </a:r>
          </a:p>
        </p:txBody>
      </p:sp>
      <p:sp>
        <p:nvSpPr>
          <p:cNvPr id="17" name="TextBox 16"/>
          <p:cNvSpPr txBox="1"/>
          <p:nvPr/>
        </p:nvSpPr>
        <p:spPr>
          <a:xfrm>
            <a:off x="1170432" y="3282696"/>
            <a:ext cx="10241280" cy="292608"/>
          </a:xfrm>
          <a:prstGeom prst="rect">
            <a:avLst/>
          </a:prstGeom>
          <a:noFill/>
        </p:spPr>
        <p:txBody>
          <a:bodyPr wrap="square" anchor="t" lIns="0" rIns="0" tIns="0" bIns="0">
            <a:spAutoFit/>
          </a:bodyPr>
          <a:lstStyle/>
          <a:p>
            <a:pPr algn="l"/>
            <a:r>
              <a:rPr sz="1500" b="1" i="0">
                <a:solidFill>
                  <a:srgbClr val="17344F"/>
                </a:solidFill>
                <a:latin typeface="Segoe UI"/>
              </a:rPr>
              <a:t>Replace the estimated cancellation metric</a:t>
            </a:r>
          </a:p>
        </p:txBody>
      </p:sp>
      <p:sp>
        <p:nvSpPr>
          <p:cNvPr id="18" name="TextBox 17"/>
          <p:cNvSpPr txBox="1"/>
          <p:nvPr/>
        </p:nvSpPr>
        <p:spPr>
          <a:xfrm>
            <a:off x="1170432" y="3666744"/>
            <a:ext cx="9966960" cy="731520"/>
          </a:xfrm>
          <a:prstGeom prst="rect">
            <a:avLst/>
          </a:prstGeom>
          <a:noFill/>
        </p:spPr>
        <p:txBody>
          <a:bodyPr wrap="square" anchor="t" lIns="0" rIns="0" tIns="0" bIns="0">
            <a:spAutoFit/>
          </a:bodyPr>
          <a:lstStyle/>
          <a:p>
            <a:pPr algn="l"/>
            <a:r>
              <a:rPr sz="1150" b="0" i="0">
                <a:solidFill>
                  <a:srgbClr val="26333D"/>
                </a:solidFill>
                <a:latin typeface="Segoe UI"/>
              </a:rPr>
              <a:t>TTPs Cancelled is still a stand-in. The real logic reads Infinity's snapshot history and is written and waiting on one export. Until then the asterisk and the footnote stay.</a:t>
            </a:r>
          </a:p>
        </p:txBody>
      </p:sp>
      <p:sp>
        <p:nvSpPr>
          <p:cNvPr id="19" name="Rectangle 18"/>
          <p:cNvSpPr/>
          <p:nvPr/>
        </p:nvSpPr>
        <p:spPr>
          <a:xfrm>
            <a:off x="566928" y="4562856"/>
            <a:ext cx="384048" cy="384048"/>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4626864"/>
            <a:ext cx="384048" cy="274320"/>
          </a:xfrm>
          <a:prstGeom prst="rect">
            <a:avLst/>
          </a:prstGeom>
          <a:noFill/>
        </p:spPr>
        <p:txBody>
          <a:bodyPr wrap="square" anchor="t" lIns="0" rIns="0" tIns="0" bIns="0">
            <a:spAutoFit/>
          </a:bodyPr>
          <a:lstStyle/>
          <a:p>
            <a:pPr algn="ctr"/>
            <a:r>
              <a:rPr sz="1400" b="1" i="0">
                <a:solidFill>
                  <a:srgbClr val="FFFFFF"/>
                </a:solidFill>
                <a:latin typeface="Segoe UI"/>
              </a:rPr>
              <a:t>3</a:t>
            </a:r>
          </a:p>
        </p:txBody>
      </p:sp>
      <p:sp>
        <p:nvSpPr>
          <p:cNvPr id="21" name="TextBox 20"/>
          <p:cNvSpPr txBox="1"/>
          <p:nvPr/>
        </p:nvSpPr>
        <p:spPr>
          <a:xfrm>
            <a:off x="1170432" y="4581144"/>
            <a:ext cx="10241280" cy="292608"/>
          </a:xfrm>
          <a:prstGeom prst="rect">
            <a:avLst/>
          </a:prstGeom>
          <a:noFill/>
        </p:spPr>
        <p:txBody>
          <a:bodyPr wrap="square" anchor="t" lIns="0" rIns="0" tIns="0" bIns="0">
            <a:spAutoFit/>
          </a:bodyPr>
          <a:lstStyle/>
          <a:p>
            <a:pPr algn="l"/>
            <a:r>
              <a:rPr sz="1500" b="1" i="0">
                <a:solidFill>
                  <a:srgbClr val="17344F"/>
                </a:solidFill>
                <a:latin typeface="Segoe UI"/>
              </a:rPr>
              <a:t>Shadow-run three centres Kolin knows</a:t>
            </a:r>
          </a:p>
        </p:txBody>
      </p:sp>
      <p:sp>
        <p:nvSpPr>
          <p:cNvPr id="22" name="TextBox 21"/>
          <p:cNvSpPr txBox="1"/>
          <p:nvPr/>
        </p:nvSpPr>
        <p:spPr>
          <a:xfrm>
            <a:off x="1170432" y="4965192"/>
            <a:ext cx="9966960" cy="731520"/>
          </a:xfrm>
          <a:prstGeom prst="rect">
            <a:avLst/>
          </a:prstGeom>
          <a:noFill/>
        </p:spPr>
        <p:txBody>
          <a:bodyPr wrap="square" anchor="t" lIns="0" rIns="0" tIns="0" bIns="0">
            <a:spAutoFit/>
          </a:bodyPr>
          <a:lstStyle/>
          <a:p>
            <a:pPr algn="l"/>
            <a:r>
              <a:rPr sz="1150" b="0" i="0">
                <a:solidFill>
                  <a:srgbClr val="26333D"/>
                </a:solidFill>
                <a:latin typeface="Segoe UI"/>
              </a:rPr>
              <a:t>Reproduce three decks he has already made by hand and walk the differences with him before any centre sees this. The first disputed cell decides whether the other twelve are believed.</a:t>
            </a:r>
          </a:p>
        </p:txBody>
      </p:sp>
      <p:sp>
        <p:nvSpPr>
          <p:cNvPr id="23" name="TextBox 22"/>
          <p:cNvSpPr txBox="1"/>
          <p:nvPr/>
        </p:nvSpPr>
        <p:spPr>
          <a:xfrm>
            <a:off x="566928" y="5989320"/>
            <a:ext cx="10881360" cy="365760"/>
          </a:xfrm>
          <a:prstGeom prst="rect">
            <a:avLst/>
          </a:prstGeom>
          <a:noFill/>
        </p:spPr>
        <p:txBody>
          <a:bodyPr wrap="square" anchor="t" lIns="0" rIns="0" tIns="0" bIns="0">
            <a:spAutoFit/>
          </a:bodyPr>
          <a:lstStyle/>
          <a:p>
            <a:pPr algn="l"/>
            <a:r>
              <a:rPr sz="1000" b="0" i="0">
                <a:solidFill>
                  <a:srgbClr val="8A97A1"/>
                </a:solidFill>
                <a:latin typeface="Segoe UI"/>
              </a:rPr>
              <a:t>Every figure shown in this deck is from the current build on real Infinity data for Uk Albert B Chandler Hospital.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