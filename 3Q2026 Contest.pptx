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89" r:id="rId2"/>
    <p:sldId id="279" r:id="rId3"/>
    <p:sldId id="299" r:id="rId4"/>
    <p:sldId id="297" r:id="rId5"/>
    <p:sldId id="291" r:id="rId6"/>
    <p:sldId id="284" r:id="rId8"/>
    <p:sldId id="298" r:id="rId10"/>
    <p:sldId id="292" r:id="rId7"/>
    <p:sldId id="29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81"/>
    <p:restoredTop sz="94610"/>
  </p:normalViewPr>
  <p:slideViewPr>
    <p:cSldViewPr snapToGrid="0" snapToObjects="1">
      <p:cViewPr varScale="1">
        <p:scale>
          <a:sx n="87" d="100"/>
          <a:sy n="87" d="100"/>
        </p:scale>
        <p:origin x="216" y="1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8.xml"/><Relationship Id="rId8" Type="http://schemas.openxmlformats.org/officeDocument/2006/relationships/slide" Target="slides/slide6.xml"/><Relationship Id="rId9" Type="http://schemas.openxmlformats.org/officeDocument/2006/relationships/slide" Target="slides/slide9.xml"/><Relationship Id="rId10" Type="http://schemas.openxmlformats.org/officeDocument/2006/relationships/slide" Target="slides/slide7.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Baseline</c:v>
                </c:pt>
              </c:strCache>
            </c:strRef>
          </c:tx>
          <c:spPr>
            <a:solidFill>
              <a:srgbClr val="567A2E"/>
            </a:solidFill>
            <a:effectLst/>
          </c:spPr>
          <c:invertIfNegative val="0"/>
          <c:cat>
            <c:strRef>
              <c:f>Sheet1!$A$2:$A$29</c:f>
              <c:strCache>
                <c:ptCount val="28"/>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strCache>
            </c:strRef>
          </c:cat>
          <c:val>
            <c:numRef>
              <c:f>Sheet1!$B$2:$B$29</c:f>
              <c:numCache>
                <c:formatCode>General</c:formatCode>
                <c:ptCount val="28"/>
                <c:pt idx="0">
                  <c:v>15.0</c:v>
                </c:pt>
                <c:pt idx="1">
                  <c:v>14.0</c:v>
                </c:pt>
                <c:pt idx="2">
                  <c:v>13.0</c:v>
                </c:pt>
                <c:pt idx="3">
                  <c:v>12.0</c:v>
                </c:pt>
                <c:pt idx="4">
                  <c:v>11.0</c:v>
                </c:pt>
                <c:pt idx="5">
                  <c:v>11.0</c:v>
                </c:pt>
                <c:pt idx="6">
                  <c:v>11.0</c:v>
                </c:pt>
                <c:pt idx="7">
                  <c:v>11.0</c:v>
                </c:pt>
                <c:pt idx="8">
                  <c:v>11.0</c:v>
                </c:pt>
                <c:pt idx="9">
                  <c:v>9.0</c:v>
                </c:pt>
                <c:pt idx="10">
                  <c:v>8.0</c:v>
                </c:pt>
                <c:pt idx="11">
                  <c:v>8.0</c:v>
                </c:pt>
                <c:pt idx="12">
                  <c:v>8.0</c:v>
                </c:pt>
                <c:pt idx="13">
                  <c:v>7.0</c:v>
                </c:pt>
                <c:pt idx="14">
                  <c:v>7.0</c:v>
                </c:pt>
                <c:pt idx="15">
                  <c:v>6.0</c:v>
                </c:pt>
                <c:pt idx="16">
                  <c:v>6.0</c:v>
                </c:pt>
                <c:pt idx="17">
                  <c:v>6.0</c:v>
                </c:pt>
                <c:pt idx="18">
                  <c:v>6.0</c:v>
                </c:pt>
                <c:pt idx="19">
                  <c:v>5.0</c:v>
                </c:pt>
                <c:pt idx="20">
                  <c:v>3.0</c:v>
                </c:pt>
                <c:pt idx="21">
                  <c:v>3.0</c:v>
                </c:pt>
                <c:pt idx="22">
                  <c:v>3.0</c:v>
                </c:pt>
                <c:pt idx="23">
                  <c:v>3.0</c:v>
                </c:pt>
                <c:pt idx="24">
                  <c:v>2.0</c:v>
                </c:pt>
                <c:pt idx="25">
                  <c:v>2.0</c:v>
                </c:pt>
                <c:pt idx="26">
                  <c:v>1.0</c:v>
                </c:pt>
                <c:pt idx="27">
                  <c:v>1.0</c:v>
                </c:pt>
              </c:numCache>
            </c:numRef>
          </c:val>
          <c:extLst>
            <c:ext xmlns:c16="http://schemas.microsoft.com/office/drawing/2014/chart" uri="{C3380CC4-5D6E-409C-BE32-E72D297353CC}">
              <c16:uniqueId val="{00000000-F6D5-2E43-91B6-B028BB2C32F0}"/>
            </c:ext>
          </c:extLst>
        </c:ser>
        <c:dLbls>
          <c:showLegendKey val="0"/>
          <c:showVal val="0"/>
          <c:showCatName val="0"/>
          <c:showSerName val="0"/>
          <c:showPercent val="0"/>
          <c:showBubbleSize val="0"/>
        </c:dLbls>
        <c:gapWidth val="25"/>
        <c:axId val="2094734554"/>
        <c:axId val="2094734552"/>
      </c:barChart>
      <c:catAx>
        <c:axId val="2094734554"/>
        <c:scaling>
          <c:orientation val="minMax"/>
        </c:scaling>
        <c:delete/>
        <c:axPos val="b"/>
        <c:numFmt formatCode="General" sourceLinked="1"/>
        <c:majorTickMark val="out"/>
        <c:minorTickMark val="none"/>
        <c:tickLblPos val="nextTo"/>
        <c:txPr>
          <a:bodyPr rot="0" spcFirstLastPara="1" vertOverflow="ellipsis" vert="horz" wrap="square" anchor="ctr" anchorCtr="1"/>
          <a:lstStyle/>
          <a:p>
            <a:pPr>
              <a:defRPr sz="1400"/>
            </a:pPr>
            <a:endParaRPr lang="en-US"/>
          </a:p>
        </c:txPr>
        <c:crossAx val="2094734552"/>
        <c:crosses val="autoZero"/>
        <c:auto val="1"/>
        <c:lblAlgn val="ctr"/>
        <c:lblOffset val="100"/>
        <c:noMultiLvlLbl val="1"/>
      </c:catAx>
      <c:valAx>
        <c:axId val="2094734552"/>
        <c:scaling>
          <c:orientation val="minMax"/>
          <c:max val="16.0"/>
          <c:min val="0.0"/>
        </c:scaling>
        <c:delete val="0"/>
        <c:axPos val="l"/>
        <c:majorGridlines>
          <c:spPr>
            <a:ln w="12700" cap="flat">
              <a:solidFill>
                <a:srgbClr val="EEEE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8A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55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Takeaway: a two month enrollment contest running alongside the IC plan, not a replacement for it. Set up: I will cover why we need it, how it works, what it takes to win, and what the awards are. Head off: people assume this competes with their IC plan. It does not. The IC plan pays on infusions; this pays on enrollments, which is the step before.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Takeaway: we bought capacity we are not filling. Slots went from 50 to 70 up to 80 to 100 a month, but weekly enrollments fell from about 27 to about 21 and the forecast needs 25 or more. Link: that gap is the whole reason for the contest. Head off: someone will ask why we are not incentivising infusions. Because the IC plan already does. The bottleneck is upstream, at enrollment.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Takeaway: four things orient everyone, who competes, when it runs, how winners are found and what it takes to place. Link: we have just seen why we are doing this, so here is the shape of it before any detail. Head off: nobody competes against the whole country. You are only ever ranked against territories of a similar size. No dollar amounts on this slide on purpose, those come at the end.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Takeaway: the biggest baseline on the roster is 15 times the smallest, so a single national leaderboard would be decided before it started. Link: this is why the buckets on the previous slide exist. Head off: high, medium and low describe how big a patch is, not how good the person is. The buckets are already set and they lock for the contest, so nobody moves mid-flight.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Takeaway: eight steps, and the one that matters is step 7. You have to finish above your own baseline or you cannot place at all. Link: now that we are grouped fairly, this is how we pick winners inside a group. Head off: two measures, not one. Patients added favours the big territories and percent growth favours the small ones, and averaging the two ranks is what stops either from running away with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Takeaway: every volume bucket pays seven, five and three thousand plus a five thousand kicker, so twenty thousand a bucket. The RAD bucket adds twenty thousand and the national bonus ten, ninety thousand at the maximum. Link: we now know how to win, so here is what winning is worth. Head off: ninety thousand is the ceiling, not the plan. It only pays in full if every bucket has three eligible winners and the country beats 203 enrollments.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Takeaway: one bucket, five territories, the whole chain end to end. Territory A has a smaller baseline than Territory B and enrolled fewer patients, and it still wins because it grew more against its own baseline. Link: this is the previous slide with numbers on it. Head off: two things. B and C tie on 2.5 and the tie goes to the higher percent growth, which is why C is second. And D wins the conversion kicker without placing, because that award is scored on pull-through to TTP rather than on growth.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Takeaway: reference rather than narrative. Every territory and the number it has to beat, inside its bucket. Link: turn to this if someone asks about their own patch. Head off: the baseline is that territory's own recent average scaled to two months, so it is not a target somebody set for them. Desert Plains sits in medium at leadership direction rather than by cutoff, and the 28 baselines add to 203, which is the number the national bonus has to beat.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Takeaway: two different awards here, with two different sets of requirements, won separately. Link: the example showed both being decided, so this is the rule behind each. Head off: the kicker is not a consolation prize for missing a place. A territory can take a placement award, the kicker, both, or neither.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405F"/>
        </a:solidFill>
        <a:effectLst/>
      </p:bgPr>
    </p:bg>
    <p:spTree>
      <p:nvGrpSpPr>
        <p:cNvPr id="1" name=""/>
        <p:cNvGrpSpPr/>
        <p:nvPr/>
      </p:nvGrpSpPr>
      <p:grpSpPr>
        <a:xfrm>
          <a:off x="0" y="0"/>
          <a:ext cx="0" cy="0"/>
          <a:chOff x="0" y="0"/>
          <a:chExt cx="0" cy="0"/>
        </a:xfrm>
      </p:grpSpPr>
      <p:sp>
        <p:nvSpPr>
          <p:cNvPr id="2" name="Shape 0"/>
          <p:cNvSpPr/>
          <p:nvPr/>
        </p:nvSpPr>
        <p:spPr>
          <a:xfrm>
            <a:off x="7680960" y="0"/>
            <a:ext cx="4510735" cy="6858000"/>
          </a:xfrm>
          <a:prstGeom prst="rect">
            <a:avLst/>
          </a:prstGeom>
          <a:solidFill>
            <a:srgbClr val="0F3A55"/>
          </a:solidFill>
          <a:ln/>
        </p:spPr>
        <p:txBody>
          <a:bodyPr/>
          <a:lstStyle/>
          <a:p>
            <a:endParaRPr lang="en-US"/>
          </a:p>
        </p:txBody>
      </p:sp>
      <p:sp>
        <p:nvSpPr>
          <p:cNvPr id="3" name="Shape 1"/>
          <p:cNvSpPr/>
          <p:nvPr/>
        </p:nvSpPr>
        <p:spPr>
          <a:xfrm flipH="1">
            <a:off x="7040880" y="0"/>
            <a:ext cx="822960" cy="6858000"/>
          </a:xfrm>
          <a:prstGeom prst="rtTriangle">
            <a:avLst/>
          </a:prstGeom>
          <a:solidFill>
            <a:srgbClr val="0F3A55"/>
          </a:solidFill>
          <a:ln/>
        </p:spPr>
        <p:txBody>
          <a:bodyPr/>
          <a:lstStyle/>
          <a:p>
            <a:endParaRPr lang="en-US"/>
          </a:p>
        </p:txBody>
      </p:sp>
      <p:sp>
        <p:nvSpPr>
          <p:cNvPr id="4" name="Shape 2"/>
          <p:cNvSpPr/>
          <p:nvPr/>
        </p:nvSpPr>
        <p:spPr>
          <a:xfrm>
            <a:off x="8229600" y="0"/>
            <a:ext cx="3962095" cy="1078992"/>
          </a:xfrm>
          <a:prstGeom prst="rect">
            <a:avLst/>
          </a:prstGeom>
          <a:solidFill>
            <a:srgbClr val="9DC13C"/>
          </a:solidFill>
          <a:ln/>
        </p:spPr>
        <p:txBody>
          <a:bodyPr/>
          <a:lstStyle/>
          <a:p>
            <a:endParaRPr lang="en-US"/>
          </a:p>
        </p:txBody>
      </p:sp>
      <p:sp>
        <p:nvSpPr>
          <p:cNvPr id="5" name="Shape 3"/>
          <p:cNvSpPr/>
          <p:nvPr/>
        </p:nvSpPr>
        <p:spPr>
          <a:xfrm flipH="1" flipV="1">
            <a:off x="7726680" y="0"/>
            <a:ext cx="548640" cy="1078992"/>
          </a:xfrm>
          <a:prstGeom prst="rtTriangle">
            <a:avLst/>
          </a:prstGeom>
          <a:solidFill>
            <a:srgbClr val="9DC13C"/>
          </a:solidFill>
          <a:ln/>
        </p:spPr>
        <p:txBody>
          <a:bodyPr/>
          <a:lstStyle/>
          <a:p>
            <a:endParaRPr lang="en-US"/>
          </a:p>
        </p:txBody>
      </p:sp>
      <p:sp>
        <p:nvSpPr>
          <p:cNvPr id="6" name="Text 4"/>
          <p:cNvSpPr/>
          <p:nvPr/>
        </p:nvSpPr>
        <p:spPr>
          <a:xfrm>
            <a:off x="777240" y="777240"/>
            <a:ext cx="6400800" cy="914400"/>
          </a:xfrm>
          <a:prstGeom prst="rect">
            <a:avLst/>
          </a:prstGeom>
          <a:noFill/>
          <a:ln/>
        </p:spPr>
        <p:txBody>
          <a:bodyPr wrap="square" lIns="0" tIns="0" rIns="0" bIns="0" rtlCol="0" anchor="ctr"/>
          <a:lstStyle/>
          <a:p>
            <a:pPr marL="0" indent="0">
              <a:buNone/>
            </a:pPr>
            <a:r>
              <a:rPr lang="en-US" sz="5000" b="1" kern="0" spc="200" dirty="0">
                <a:solidFill>
                  <a:srgbClr val="FFFFFF"/>
                </a:solidFill>
                <a:latin typeface="Cambria" pitchFamily="34" charset="0"/>
                <a:ea typeface="Cambria" pitchFamily="34" charset="-122"/>
                <a:cs typeface="Cambria" pitchFamily="34" charset="-120"/>
              </a:rPr>
              <a:t>IOVANCE</a:t>
            </a:r>
            <a:endParaRPr lang="en-US" sz="5000" dirty="0"/>
          </a:p>
        </p:txBody>
      </p:sp>
      <p:sp>
        <p:nvSpPr>
          <p:cNvPr id="7" name="Text 5"/>
          <p:cNvSpPr/>
          <p:nvPr/>
        </p:nvSpPr>
        <p:spPr>
          <a:xfrm>
            <a:off x="822960" y="1691640"/>
            <a:ext cx="6400800" cy="365760"/>
          </a:xfrm>
          <a:prstGeom prst="rect">
            <a:avLst/>
          </a:prstGeom>
          <a:noFill/>
          <a:ln/>
        </p:spPr>
        <p:txBody>
          <a:bodyPr wrap="square" lIns="0" tIns="0" rIns="0" bIns="0" rtlCol="0" anchor="ctr"/>
          <a:lstStyle/>
          <a:p>
            <a:pPr marL="0" indent="0">
              <a:buNone/>
            </a:pPr>
            <a:r>
              <a:rPr lang="en-US" sz="1400" kern="0" spc="500" dirty="0">
                <a:solidFill>
                  <a:srgbClr val="CFE3A0"/>
                </a:solidFill>
                <a:latin typeface="Segoe UI" pitchFamily="34" charset="0"/>
                <a:ea typeface="Segoe UI" pitchFamily="34" charset="-122"/>
                <a:cs typeface="Segoe UI" pitchFamily="34" charset="-120"/>
              </a:rPr>
              <a:t>B I O T H E R A P E U T I C S</a:t>
            </a:r>
            <a:endParaRPr lang="en-US" sz="1400" dirty="0"/>
          </a:p>
        </p:txBody>
      </p:sp>
      <p:sp>
        <p:nvSpPr>
          <p:cNvPr id="8" name="Shape 6"/>
          <p:cNvSpPr/>
          <p:nvPr/>
        </p:nvSpPr>
        <p:spPr>
          <a:xfrm>
            <a:off x="822960" y="3017520"/>
            <a:ext cx="128016" cy="1280160"/>
          </a:xfrm>
          <a:prstGeom prst="rect">
            <a:avLst/>
          </a:prstGeom>
          <a:solidFill>
            <a:srgbClr val="9DC13C"/>
          </a:solidFill>
          <a:ln/>
        </p:spPr>
        <p:txBody>
          <a:bodyPr/>
          <a:lstStyle/>
          <a:p>
            <a:endParaRPr lang="en-US"/>
          </a:p>
        </p:txBody>
      </p:sp>
      <p:sp>
        <p:nvSpPr>
          <p:cNvPr id="9" name="Text 7"/>
          <p:cNvSpPr/>
          <p:nvPr/>
        </p:nvSpPr>
        <p:spPr>
          <a:xfrm>
            <a:off x="1097280" y="2971800"/>
            <a:ext cx="6309360" cy="1280160"/>
          </a:xfrm>
          <a:prstGeom prst="rect">
            <a:avLst/>
          </a:prstGeom>
          <a:noFill/>
          <a:ln/>
        </p:spPr>
        <p:txBody>
          <a:bodyPr wrap="square" lIns="0" tIns="0" rIns="0" bIns="0" rtlCol="0" anchor="t"/>
          <a:lstStyle/>
          <a:p>
            <a:pPr marL="0" indent="0">
              <a:lnSpc>
                <a:spcPct val="102000"/>
              </a:lnSpc>
              <a:buNone/>
            </a:pPr>
            <a:r>
              <a:rPr lang="en-US" sz="3000" b="1" dirty="0">
                <a:solidFill>
                  <a:srgbClr val="FFFFFF"/>
                </a:solidFill>
                <a:latin typeface="Segoe UI" pitchFamily="34" charset="0"/>
                <a:ea typeface="Segoe UI" pitchFamily="34" charset="-122"/>
                <a:cs typeface="Segoe UI" pitchFamily="34" charset="-120"/>
              </a:rPr>
              <a:t>Proposed 3Q 2026 AMTAGVI Enrollment Contest</a:t>
            </a:r>
            <a:endParaRPr lang="en-US" sz="3000" dirty="0"/>
          </a:p>
        </p:txBody>
      </p:sp>
      <p:sp>
        <p:nvSpPr>
          <p:cNvPr id="10" name="Text 8"/>
          <p:cNvSpPr/>
          <p:nvPr/>
        </p:nvSpPr>
        <p:spPr>
          <a:xfrm>
            <a:off x="1115568" y="4526280"/>
            <a:ext cx="6309360" cy="365760"/>
          </a:xfrm>
          <a:prstGeom prst="rect">
            <a:avLst/>
          </a:prstGeom>
          <a:noFill/>
          <a:ln/>
        </p:spPr>
        <p:txBody>
          <a:bodyPr wrap="square" lIns="0" tIns="0" rIns="0" bIns="0" rtlCol="0" anchor="ctr"/>
          <a:lstStyle/>
          <a:p>
            <a:pPr marL="0" indent="0">
              <a:buNone/>
            </a:pPr>
            <a:r>
              <a:rPr lang="en-US" sz="1400" dirty="0">
                <a:solidFill>
                  <a:srgbClr val="CFE3A0"/>
                </a:solidFill>
                <a:latin typeface="Segoe UI" pitchFamily="34" charset="0"/>
                <a:ea typeface="Segoe UI" pitchFamily="34" charset="-122"/>
                <a:cs typeface="Segoe UI" pitchFamily="34" charset="-120"/>
              </a:rPr>
              <a:t>A two-month enrollment contest for CTAMs and RADs</a:t>
            </a:r>
            <a:endParaRPr lang="en-US" sz="1400" dirty="0"/>
          </a:p>
        </p:txBody>
      </p:sp>
      <p:sp>
        <p:nvSpPr>
          <p:cNvPr id="11" name="Text 9"/>
          <p:cNvSpPr/>
          <p:nvPr/>
        </p:nvSpPr>
        <p:spPr>
          <a:xfrm>
            <a:off x="1115568" y="4937760"/>
            <a:ext cx="6309360" cy="320040"/>
          </a:xfrm>
          <a:prstGeom prst="rect">
            <a:avLst/>
          </a:prstGeom>
          <a:noFill/>
          <a:ln/>
        </p:spPr>
        <p:txBody>
          <a:bodyPr wrap="square" lIns="0" tIns="0" rIns="0" bIns="0" rtlCol="0" anchor="ctr"/>
          <a:lstStyle/>
          <a:p>
            <a:pPr marL="0" indent="0">
              <a:buNone/>
            </a:pPr>
            <a:r>
              <a:rPr lang="en-US" sz="1200" dirty="0">
                <a:solidFill>
                  <a:srgbClr val="BFD7E6"/>
                </a:solidFill>
                <a:latin typeface="Segoe UI" pitchFamily="34" charset="0"/>
                <a:ea typeface="Segoe UI" pitchFamily="34" charset="-122"/>
                <a:cs typeface="Segoe UI" pitchFamily="34" charset="-120"/>
              </a:rPr>
              <a:t>Runs August 15 to October 15, 2026.  Prepared August 2026.</a:t>
            </a:r>
            <a:endParaRPr lang="en-US" sz="1200" dirty="0"/>
          </a:p>
        </p:txBody>
      </p:sp>
      <p:sp>
        <p:nvSpPr>
          <p:cNvPr id="12" name="Shape 10"/>
          <p:cNvSpPr/>
          <p:nvPr/>
        </p:nvSpPr>
        <p:spPr>
          <a:xfrm>
            <a:off x="0" y="6053328"/>
            <a:ext cx="12191695" cy="804672"/>
          </a:xfrm>
          <a:prstGeom prst="rect">
            <a:avLst/>
          </a:prstGeom>
          <a:solidFill>
            <a:srgbClr val="9DC13C"/>
          </a:solidFill>
          <a:ln/>
        </p:spPr>
        <p:txBody>
          <a:bodyPr/>
          <a:lstStyle/>
          <a:p>
            <a:endParaRPr lang="en-US"/>
          </a:p>
        </p:txBody>
      </p:sp>
      <p:sp>
        <p:nvSpPr>
          <p:cNvPr id="13" name="Shape 11"/>
          <p:cNvSpPr/>
          <p:nvPr/>
        </p:nvSpPr>
        <p:spPr>
          <a:xfrm flipH="1">
            <a:off x="7406640" y="5641848"/>
            <a:ext cx="685800" cy="411480"/>
          </a:xfrm>
          <a:prstGeom prst="rtTriangle">
            <a:avLst/>
          </a:prstGeom>
          <a:solidFill>
            <a:srgbClr val="9DC13C"/>
          </a:solidFill>
          <a:ln/>
        </p:spPr>
        <p:txBody>
          <a:bodyPr/>
          <a:lstStyle/>
          <a:p>
            <a:endParaRPr lang="en-US"/>
          </a:p>
        </p:txBody>
      </p:sp>
      <p:sp>
        <p:nvSpPr>
          <p:cNvPr id="14" name="Shape 12"/>
          <p:cNvSpPr/>
          <p:nvPr/>
        </p:nvSpPr>
        <p:spPr>
          <a:xfrm>
            <a:off x="8074152" y="5641848"/>
            <a:ext cx="4117543" cy="411480"/>
          </a:xfrm>
          <a:prstGeom prst="rect">
            <a:avLst/>
          </a:prstGeom>
          <a:solidFill>
            <a:srgbClr val="9DC13C"/>
          </a:solidFill>
          <a:ln/>
        </p:spPr>
        <p:txBody>
          <a:bodyPr/>
          <a:lstStyle/>
          <a:p>
            <a:endParaRPr lang="en-US"/>
          </a:p>
        </p:txBody>
      </p:sp>
      <p:sp>
        <p:nvSpPr>
          <p:cNvPr id="15" name="Text 13"/>
          <p:cNvSpPr/>
          <p:nvPr/>
        </p:nvSpPr>
        <p:spPr>
          <a:xfrm>
            <a:off x="822960" y="6126480"/>
            <a:ext cx="10515600" cy="411480"/>
          </a:xfrm>
          <a:prstGeom prst="rect">
            <a:avLst/>
          </a:prstGeom>
          <a:noFill/>
          <a:ln/>
        </p:spPr>
        <p:txBody>
          <a:bodyPr wrap="square" lIns="0" tIns="0" rIns="0" bIns="0" rtlCol="0" anchor="ctr"/>
          <a:lstStyle/>
          <a:p>
            <a:pPr marL="0" indent="0">
              <a:buNone/>
            </a:pPr>
            <a:r>
              <a:rPr lang="en-US" sz="1800" kern="0" spc="300" dirty="0">
                <a:solidFill>
                  <a:srgbClr val="FFFFFF"/>
                </a:solidFill>
                <a:latin typeface="Segoe UI" pitchFamily="34" charset="0"/>
                <a:ea typeface="Segoe UI" pitchFamily="34" charset="-122"/>
                <a:cs typeface="Segoe UI" pitchFamily="34" charset="-120"/>
              </a:rPr>
              <a:t>A D V A N C I N G   I M M U N O - O N C O L O G Y</a:t>
            </a:r>
            <a:endParaRPr lang="en-US" sz="1800" dirty="0"/>
          </a:p>
        </p:txBody>
      </p:sp>
      <p:sp>
        <p:nvSpPr>
          <p:cNvPr id="16" name="Text 14"/>
          <p:cNvSpPr/>
          <p:nvPr/>
        </p:nvSpPr>
        <p:spPr>
          <a:xfrm>
            <a:off x="822960" y="6537960"/>
            <a:ext cx="10515600" cy="256032"/>
          </a:xfrm>
          <a:prstGeom prst="rect">
            <a:avLst/>
          </a:prstGeom>
          <a:noFill/>
          <a:ln/>
        </p:spPr>
        <p:txBody>
          <a:bodyPr wrap="square" lIns="0" tIns="0" rIns="0" bIns="0" rtlCol="0" anchor="ctr"/>
          <a:lstStyle/>
          <a:p>
            <a:pPr marL="0" indent="0">
              <a:buNone/>
            </a:pPr>
            <a:r>
              <a:rPr lang="en-US" sz="75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50" dirty="0"/>
          </a:p>
        </p:txBody>
      </p:sp>
    </p:spTree>
    <p:extLst>
      <p:ext uri="{BB962C8B-B14F-4D97-AF65-F5344CB8AC3E}">
        <p14:creationId xmlns:p14="http://schemas.microsoft.com/office/powerpoint/2010/main" val="3828361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ea typeface="Segoe UI" pitchFamily="34" charset="-122"/>
                <a:cs typeface="Segoe UI" pitchFamily="34" charset="-120"/>
              </a:rPr>
              <a:t>BUSINESS CONTEXT</a:t>
            </a:r>
            <a:endParaRPr lang="en-US" sz="1200" dirty="0"/>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Treatment capacity increased, but enrollments have softened</a:t>
            </a:r>
            <a:endParaRPr lang="en-US" sz="2300" dirty="0"/>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2</a:t>
            </a:r>
            <a:endParaRPr lang="en-US" sz="900" dirty="0"/>
          </a:p>
        </p:txBody>
      </p:sp>
      <p:sp>
        <p:nvSpPr>
          <p:cNvPr id="13" name="Shape 11"/>
          <p:cNvSpPr/>
          <p:nvPr/>
        </p:nvSpPr>
        <p:spPr>
          <a:xfrm>
            <a:off x="566928" y="2148840"/>
            <a:ext cx="4343400" cy="1600200"/>
          </a:xfrm>
          <a:prstGeom prst="roundRect">
            <a:avLst>
              <a:gd name="adj" fmla="val 2857"/>
            </a:avLst>
          </a:prstGeom>
          <a:solidFill>
            <a:srgbClr val="F4F7EC"/>
          </a:solidFill>
          <a:ln/>
        </p:spPr>
        <p:txBody>
          <a:bodyPr/>
          <a:lstStyle/>
          <a:p>
            <a:endParaRPr lang="en-US"/>
          </a:p>
        </p:txBody>
      </p:sp>
      <p:sp>
        <p:nvSpPr>
          <p:cNvPr id="15" name="Text 13"/>
          <p:cNvSpPr/>
          <p:nvPr/>
        </p:nvSpPr>
        <p:spPr>
          <a:xfrm>
            <a:off x="868680" y="2313432"/>
            <a:ext cx="3840480" cy="274320"/>
          </a:xfrm>
          <a:prstGeom prst="rect">
            <a:avLst/>
          </a:prstGeom>
          <a:noFill/>
          <a:ln/>
        </p:spPr>
        <p:txBody>
          <a:bodyPr wrap="square" lIns="0" tIns="0" rIns="0" bIns="0" rtlCol="0" anchor="ctr"/>
          <a:lstStyle/>
          <a:p>
            <a:pPr marL="0" indent="0">
              <a:buNone/>
            </a:pPr>
            <a:r>
              <a:rPr lang="en-US" sz="1100" b="1" kern="0" spc="100" dirty="0">
                <a:solidFill>
                  <a:srgbClr val="8A8A80"/>
                </a:solidFill>
                <a:latin typeface="Segoe UI" pitchFamily="34" charset="0"/>
                <a:ea typeface="Segoe UI" pitchFamily="34" charset="-122"/>
                <a:cs typeface="Segoe UI" pitchFamily="34" charset="-120"/>
              </a:rPr>
              <a:t>Monthly treatment capacity</a:t>
            </a:r>
            <a:endParaRPr lang="en-US" sz="1100" dirty="0"/>
          </a:p>
        </p:txBody>
      </p:sp>
      <p:sp>
        <p:nvSpPr>
          <p:cNvPr id="16" name="Text 14"/>
          <p:cNvSpPr/>
          <p:nvPr/>
        </p:nvSpPr>
        <p:spPr>
          <a:xfrm>
            <a:off x="868680" y="2624328"/>
            <a:ext cx="3840480" cy="685800"/>
          </a:xfrm>
          <a:prstGeom prst="rect">
            <a:avLst/>
          </a:prstGeom>
          <a:noFill/>
          <a:ln/>
        </p:spPr>
        <p:txBody>
          <a:bodyPr wrap="square" lIns="0" tIns="0" rIns="0" bIns="0" rtlCol="0" anchor="ctr"/>
          <a:lstStyle/>
          <a:p>
            <a:pPr marL="0" indent="0">
              <a:buNone/>
            </a:pPr>
            <a:r>
              <a:rPr lang="en-US" sz="3600" b="1" dirty="0">
                <a:solidFill>
                  <a:srgbClr val="567A2E"/>
                </a:solidFill>
                <a:latin typeface="Segoe UI" pitchFamily="34" charset="0"/>
                <a:ea typeface="Segoe UI" pitchFamily="34" charset="-122"/>
                <a:cs typeface="Segoe UI" pitchFamily="34" charset="-120"/>
              </a:rPr>
              <a:t>80-100</a:t>
            </a:r>
            <a:r>
              <a:rPr lang="en-US" sz="1300" dirty="0">
                <a:solidFill>
                  <a:srgbClr val="2B2B2B"/>
                </a:solidFill>
                <a:latin typeface="Segoe UI" pitchFamily="34" charset="0"/>
                <a:ea typeface="Segoe UI" pitchFamily="34" charset="-122"/>
                <a:cs typeface="Segoe UI" pitchFamily="34" charset="-120"/>
              </a:rPr>
              <a:t>  slots a month</a:t>
            </a:r>
            <a:endParaRPr lang="en-US" sz="4400" dirty="0"/>
          </a:p>
        </p:txBody>
      </p:sp>
      <p:sp>
        <p:nvSpPr>
          <p:cNvPr id="17" name="Text 15"/>
          <p:cNvSpPr/>
          <p:nvPr/>
        </p:nvSpPr>
        <p:spPr>
          <a:xfrm>
            <a:off x="868680" y="3319272"/>
            <a:ext cx="3840480" cy="320040"/>
          </a:xfrm>
          <a:prstGeom prst="rect">
            <a:avLst/>
          </a:prstGeom>
          <a:noFill/>
          <a:ln/>
        </p:spPr>
        <p:txBody>
          <a:bodyPr wrap="square" lIns="0" tIns="0" rIns="0" bIns="0" rtlCol="0" anchor="ctr"/>
          <a:lstStyle/>
          <a:p>
            <a:pPr marL="0" indent="0">
              <a:buNone/>
            </a:pPr>
            <a:r>
              <a:rPr lang="en-US" sz="1200" b="1" dirty="0">
                <a:solidFill>
                  <a:srgbClr val="567A2E"/>
                </a:solidFill>
                <a:latin typeface="Segoe UI" pitchFamily="34" charset="0"/>
                <a:ea typeface="Segoe UI" pitchFamily="34" charset="-122"/>
                <a:cs typeface="Segoe UI" pitchFamily="34" charset="-120"/>
              </a:rPr>
              <a:t>Up from 50-70</a:t>
            </a:r>
            <a:endParaRPr lang="en-US" sz="1200" dirty="0"/>
          </a:p>
        </p:txBody>
      </p:sp>
      <p:sp>
        <p:nvSpPr>
          <p:cNvPr id="18" name="Shape 16"/>
          <p:cNvSpPr/>
          <p:nvPr/>
        </p:nvSpPr>
        <p:spPr>
          <a:xfrm>
            <a:off x="566928" y="4160520"/>
            <a:ext cx="4343400" cy="1600200"/>
          </a:xfrm>
          <a:prstGeom prst="roundRect">
            <a:avLst>
              <a:gd name="adj" fmla="val 2857"/>
            </a:avLst>
          </a:prstGeom>
          <a:solidFill>
            <a:srgbClr val="F4F7EC"/>
          </a:solidFill>
          <a:ln/>
        </p:spPr>
        <p:txBody>
          <a:bodyPr/>
          <a:lstStyle/>
          <a:p>
            <a:endParaRPr lang="en-US"/>
          </a:p>
        </p:txBody>
      </p:sp>
      <p:sp>
        <p:nvSpPr>
          <p:cNvPr id="20" name="Text 18"/>
          <p:cNvSpPr/>
          <p:nvPr/>
        </p:nvSpPr>
        <p:spPr>
          <a:xfrm>
            <a:off x="868680" y="4325112"/>
            <a:ext cx="3840480" cy="274320"/>
          </a:xfrm>
          <a:prstGeom prst="rect">
            <a:avLst/>
          </a:prstGeom>
          <a:noFill/>
          <a:ln/>
        </p:spPr>
        <p:txBody>
          <a:bodyPr wrap="square" lIns="0" tIns="0" rIns="0" bIns="0" rtlCol="0" anchor="ctr"/>
          <a:lstStyle/>
          <a:p>
            <a:pPr marL="0" indent="0">
              <a:buNone/>
            </a:pPr>
            <a:r>
              <a:rPr lang="en-US" sz="1100" b="1" kern="0" spc="100" dirty="0">
                <a:solidFill>
                  <a:srgbClr val="8A8A80"/>
                </a:solidFill>
                <a:latin typeface="Segoe UI" pitchFamily="34" charset="0"/>
                <a:ea typeface="Segoe UI" pitchFamily="34" charset="-122"/>
                <a:cs typeface="Segoe UI" pitchFamily="34" charset="-120"/>
              </a:rPr>
              <a:t>Weekly enrollments</a:t>
            </a:r>
            <a:endParaRPr lang="en-US" sz="1100" dirty="0"/>
          </a:p>
        </p:txBody>
      </p:sp>
      <p:sp>
        <p:nvSpPr>
          <p:cNvPr id="21" name="Text 19"/>
          <p:cNvSpPr/>
          <p:nvPr/>
        </p:nvSpPr>
        <p:spPr>
          <a:xfrm>
            <a:off x="868680" y="4636008"/>
            <a:ext cx="3840480" cy="685800"/>
          </a:xfrm>
          <a:prstGeom prst="rect">
            <a:avLst/>
          </a:prstGeom>
          <a:noFill/>
          <a:ln/>
        </p:spPr>
        <p:txBody>
          <a:bodyPr wrap="square" lIns="0" tIns="0" rIns="0" bIns="0" rtlCol="0" anchor="ctr"/>
          <a:lstStyle/>
          <a:p>
            <a:pPr marL="0" indent="0">
              <a:buNone/>
            </a:pPr>
            <a:r>
              <a:rPr lang="en-US" sz="4400" b="1" dirty="0">
                <a:solidFill>
                  <a:srgbClr val="C02525"/>
                </a:solidFill>
                <a:latin typeface="Segoe UI" pitchFamily="34" charset="0"/>
                <a:ea typeface="Segoe UI" pitchFamily="34" charset="-122"/>
                <a:cs typeface="Segoe UI" pitchFamily="34" charset="-120"/>
              </a:rPr>
              <a:t>21</a:t>
            </a:r>
            <a:r>
              <a:rPr lang="en-US" sz="1300" dirty="0">
                <a:solidFill>
                  <a:srgbClr val="2B2B2B"/>
                </a:solidFill>
                <a:latin typeface="Segoe UI" pitchFamily="34" charset="0"/>
                <a:ea typeface="Segoe UI" pitchFamily="34" charset="-122"/>
                <a:cs typeface="Segoe UI" pitchFamily="34" charset="-120"/>
              </a:rPr>
              <a:t>  a week now</a:t>
            </a:r>
            <a:endParaRPr lang="en-US" sz="4400" dirty="0"/>
          </a:p>
        </p:txBody>
      </p:sp>
      <p:sp>
        <p:nvSpPr>
          <p:cNvPr id="22" name="Text 20"/>
          <p:cNvSpPr/>
          <p:nvPr/>
        </p:nvSpPr>
        <p:spPr>
          <a:xfrm>
            <a:off x="868680" y="5330952"/>
            <a:ext cx="3840480" cy="320040"/>
          </a:xfrm>
          <a:prstGeom prst="rect">
            <a:avLst/>
          </a:prstGeom>
          <a:noFill/>
          <a:ln/>
        </p:spPr>
        <p:txBody>
          <a:bodyPr wrap="square" lIns="0" tIns="0" rIns="0" bIns="0" rtlCol="0" anchor="ctr"/>
          <a:lstStyle/>
          <a:p>
            <a:pPr marL="0" indent="0">
              <a:buNone/>
            </a:pPr>
            <a:r>
              <a:rPr lang="en-US" sz="1200" b="1" dirty="0">
                <a:solidFill>
                  <a:srgbClr val="C02525"/>
                </a:solidFill>
                <a:latin typeface="Segoe UI" pitchFamily="34" charset="0"/>
                <a:ea typeface="Segoe UI" pitchFamily="34" charset="-122"/>
                <a:cs typeface="Segoe UI" pitchFamily="34" charset="-120"/>
              </a:rPr>
              <a:t>Down from about 27, and the goal is 25 or more</a:t>
            </a:r>
            <a:endParaRPr lang="en-US" sz="1200" dirty="0"/>
          </a:p>
        </p:txBody>
      </p:sp>
      <p:sp>
        <p:nvSpPr>
          <p:cNvPr id="23" name="Text 21"/>
          <p:cNvSpPr/>
          <p:nvPr/>
        </p:nvSpPr>
        <p:spPr>
          <a:xfrm>
            <a:off x="6766560" y="1783080"/>
            <a:ext cx="4206240" cy="274320"/>
          </a:xfrm>
          <a:prstGeom prst="rect">
            <a:avLst/>
          </a:prstGeom>
          <a:noFill/>
          <a:ln/>
        </p:spPr>
        <p:txBody>
          <a:bodyPr wrap="square" lIns="0" tIns="0" rIns="0" bIns="0" rtlCol="0" anchor="ctr"/>
          <a:lstStyle/>
          <a:p>
            <a:pPr marL="0" indent="0" algn="ctr">
              <a:buNone/>
            </a:pPr>
            <a:r>
              <a:rPr lang="en-US" sz="1200" b="1" kern="0" spc="100" dirty="0">
                <a:solidFill>
                  <a:srgbClr val="8A8A80"/>
                </a:solidFill>
                <a:latin typeface="Segoe UI" pitchFamily="34" charset="0"/>
                <a:ea typeface="Segoe UI" pitchFamily="34" charset="-122"/>
                <a:cs typeface="Segoe UI" pitchFamily="34" charset="-120"/>
              </a:rPr>
              <a:t>The enrollment funnel</a:t>
            </a:r>
            <a:endParaRPr lang="en-US" sz="1200" dirty="0"/>
          </a:p>
        </p:txBody>
      </p:sp>
      <p:sp>
        <p:nvSpPr>
          <p:cNvPr id="24" name="Shape 22"/>
          <p:cNvSpPr/>
          <p:nvPr/>
        </p:nvSpPr>
        <p:spPr>
          <a:xfrm>
            <a:off x="6858000" y="2240280"/>
            <a:ext cx="4023360" cy="960120"/>
          </a:xfrm>
          <a:prstGeom prst="rect">
            <a:avLst/>
          </a:prstGeom>
          <a:solidFill>
            <a:srgbClr val="BFD48A"/>
          </a:solidFill>
          <a:ln/>
        </p:spPr>
        <p:txBody>
          <a:bodyPr/>
          <a:lstStyle/>
          <a:p>
            <a:endParaRPr lang="en-US"/>
          </a:p>
        </p:txBody>
      </p:sp>
      <p:sp>
        <p:nvSpPr>
          <p:cNvPr id="25" name="Text 23"/>
          <p:cNvSpPr/>
          <p:nvPr/>
        </p:nvSpPr>
        <p:spPr>
          <a:xfrm>
            <a:off x="6858000" y="2240280"/>
            <a:ext cx="4023360" cy="960120"/>
          </a:xfrm>
          <a:prstGeom prst="rect">
            <a:avLst/>
          </a:prstGeom>
          <a:noFill/>
          <a:ln/>
        </p:spPr>
        <p:txBody>
          <a:bodyPr wrap="square" lIns="0" tIns="0" rIns="0" bIns="0" rtlCol="0" anchor="ctr"/>
          <a:lstStyle/>
          <a:p>
            <a:pPr marL="0" indent="0" algn="ctr">
              <a:buNone/>
            </a:pPr>
            <a:r>
              <a:rPr lang="en-US" sz="2600" b="1" dirty="0">
                <a:solidFill>
                  <a:srgbClr val="2B2B2B"/>
                </a:solidFill>
                <a:latin typeface="Segoe UI" pitchFamily="34" charset="0"/>
                <a:ea typeface="Segoe UI" pitchFamily="34" charset="-122"/>
                <a:cs typeface="Segoe UI" pitchFamily="34" charset="-120"/>
              </a:rPr>
              <a:t>100   </a:t>
            </a:r>
            <a:r>
              <a:rPr lang="en-US" sz="1250" dirty="0">
                <a:solidFill>
                  <a:srgbClr val="2B2B2B"/>
                </a:solidFill>
                <a:latin typeface="Segoe UI" pitchFamily="34" charset="0"/>
                <a:ea typeface="Segoe UI" pitchFamily="34" charset="-122"/>
                <a:cs typeface="Segoe UI" pitchFamily="34" charset="-120"/>
              </a:rPr>
              <a:t>Enrollments</a:t>
            </a:r>
            <a:endParaRPr lang="en-US" sz="2600" dirty="0"/>
          </a:p>
        </p:txBody>
      </p:sp>
      <p:sp>
        <p:nvSpPr>
          <p:cNvPr id="26" name="Shape 24"/>
          <p:cNvSpPr/>
          <p:nvPr/>
        </p:nvSpPr>
        <p:spPr>
          <a:xfrm flipV="1">
            <a:off x="8705088" y="3218688"/>
            <a:ext cx="329184" cy="201168"/>
          </a:xfrm>
          <a:prstGeom prst="triangle">
            <a:avLst/>
          </a:prstGeom>
          <a:solidFill>
            <a:srgbClr val="C9CEC0"/>
          </a:solidFill>
          <a:ln/>
        </p:spPr>
        <p:txBody>
          <a:bodyPr/>
          <a:lstStyle/>
          <a:p>
            <a:endParaRPr lang="en-US"/>
          </a:p>
        </p:txBody>
      </p:sp>
      <p:sp>
        <p:nvSpPr>
          <p:cNvPr id="27" name="Shape 25"/>
          <p:cNvSpPr/>
          <p:nvPr/>
        </p:nvSpPr>
        <p:spPr>
          <a:xfrm>
            <a:off x="7406640" y="3447288"/>
            <a:ext cx="2926080" cy="960120"/>
          </a:xfrm>
          <a:prstGeom prst="rect">
            <a:avLst/>
          </a:prstGeom>
          <a:solidFill>
            <a:srgbClr val="8FB446"/>
          </a:solidFill>
          <a:ln/>
        </p:spPr>
        <p:txBody>
          <a:bodyPr/>
          <a:lstStyle/>
          <a:p>
            <a:endParaRPr lang="en-US"/>
          </a:p>
        </p:txBody>
      </p:sp>
      <p:sp>
        <p:nvSpPr>
          <p:cNvPr id="28" name="Text 26"/>
          <p:cNvSpPr/>
          <p:nvPr/>
        </p:nvSpPr>
        <p:spPr>
          <a:xfrm>
            <a:off x="7406640" y="3447288"/>
            <a:ext cx="2926080" cy="960120"/>
          </a:xfrm>
          <a:prstGeom prst="rect">
            <a:avLst/>
          </a:prstGeom>
          <a:noFill/>
          <a:ln/>
        </p:spPr>
        <p:txBody>
          <a:bodyPr wrap="square" lIns="0" tIns="0" rIns="0" bIns="0" rtlCol="0" anchor="ctr"/>
          <a:lstStyle/>
          <a:p>
            <a:pPr marL="0" indent="0" algn="ctr">
              <a:buNone/>
            </a:pPr>
            <a:r>
              <a:rPr lang="en-US" sz="2600" b="1" dirty="0">
                <a:solidFill>
                  <a:srgbClr val="2B2B2B"/>
                </a:solidFill>
                <a:latin typeface="Segoe UI" pitchFamily="34" charset="0"/>
                <a:ea typeface="Segoe UI" pitchFamily="34" charset="-122"/>
                <a:cs typeface="Segoe UI" pitchFamily="34" charset="-120"/>
              </a:rPr>
              <a:t>70   </a:t>
            </a:r>
            <a:r>
              <a:rPr lang="en-US" sz="1250" dirty="0">
                <a:solidFill>
                  <a:srgbClr val="2B2B2B"/>
                </a:solidFill>
                <a:latin typeface="Segoe UI" pitchFamily="34" charset="0"/>
                <a:ea typeface="Segoe UI" pitchFamily="34" charset="-122"/>
                <a:cs typeface="Segoe UI" pitchFamily="34" charset="-120"/>
              </a:rPr>
              <a:t>Reach TTP</a:t>
            </a:r>
            <a:endParaRPr lang="en-US" sz="2600" dirty="0"/>
          </a:p>
        </p:txBody>
      </p:sp>
      <p:sp>
        <p:nvSpPr>
          <p:cNvPr id="29" name="Shape 27"/>
          <p:cNvSpPr/>
          <p:nvPr/>
        </p:nvSpPr>
        <p:spPr>
          <a:xfrm flipV="1">
            <a:off x="8705088" y="4425696"/>
            <a:ext cx="329184" cy="201168"/>
          </a:xfrm>
          <a:prstGeom prst="triangle">
            <a:avLst/>
          </a:prstGeom>
          <a:solidFill>
            <a:srgbClr val="C9CEC0"/>
          </a:solidFill>
          <a:ln/>
        </p:spPr>
        <p:txBody>
          <a:bodyPr/>
          <a:lstStyle/>
          <a:p>
            <a:endParaRPr lang="en-US"/>
          </a:p>
        </p:txBody>
      </p:sp>
      <p:sp>
        <p:nvSpPr>
          <p:cNvPr id="30" name="Shape 28"/>
          <p:cNvSpPr/>
          <p:nvPr/>
        </p:nvSpPr>
        <p:spPr>
          <a:xfrm>
            <a:off x="7955280" y="4654296"/>
            <a:ext cx="1828800" cy="960120"/>
          </a:xfrm>
          <a:prstGeom prst="rect">
            <a:avLst/>
          </a:prstGeom>
          <a:solidFill>
            <a:srgbClr val="567A2E"/>
          </a:solidFill>
          <a:ln/>
        </p:spPr>
        <p:txBody>
          <a:bodyPr/>
          <a:lstStyle/>
          <a:p>
            <a:endParaRPr lang="en-US"/>
          </a:p>
        </p:txBody>
      </p:sp>
      <p:sp>
        <p:nvSpPr>
          <p:cNvPr id="31" name="Text 29"/>
          <p:cNvSpPr/>
          <p:nvPr/>
        </p:nvSpPr>
        <p:spPr>
          <a:xfrm>
            <a:off x="7955280" y="4654296"/>
            <a:ext cx="1828800" cy="960120"/>
          </a:xfrm>
          <a:prstGeom prst="rect">
            <a:avLst/>
          </a:prstGeom>
          <a:noFill/>
          <a:ln/>
        </p:spPr>
        <p:txBody>
          <a:bodyPr wrap="square" lIns="0" tIns="0" rIns="0" bIns="0" rtlCol="0" anchor="ctr"/>
          <a:lstStyle/>
          <a:p>
            <a:pPr marL="0" indent="0" algn="ctr">
              <a:buNone/>
            </a:pPr>
            <a:r>
              <a:rPr lang="en-US" sz="2600" b="1" dirty="0">
                <a:solidFill>
                  <a:srgbClr val="FFFFFF"/>
                </a:solidFill>
                <a:latin typeface="Segoe UI" pitchFamily="34" charset="0"/>
                <a:ea typeface="Segoe UI" pitchFamily="34" charset="-122"/>
                <a:cs typeface="Segoe UI" pitchFamily="34" charset="-120"/>
              </a:rPr>
              <a:t>50   </a:t>
            </a:r>
            <a:r>
              <a:rPr lang="en-US" sz="1250" dirty="0">
                <a:solidFill>
                  <a:srgbClr val="FFFFFF"/>
                </a:solidFill>
                <a:latin typeface="Segoe UI" pitchFamily="34" charset="0"/>
                <a:ea typeface="Segoe UI" pitchFamily="34" charset="-122"/>
                <a:cs typeface="Segoe UI" pitchFamily="34" charset="-120"/>
              </a:rPr>
              <a:t>Infusions</a:t>
            </a:r>
            <a:endParaRPr lang="en-US" sz="2600" dirty="0"/>
          </a:p>
        </p:txBody>
      </p:sp>
      <p:sp>
        <p:nvSpPr>
          <p:cNvPr id="32" name="Shape 30"/>
          <p:cNvSpPr/>
          <p:nvPr/>
        </p:nvSpPr>
        <p:spPr>
          <a:xfrm>
            <a:off x="5623560" y="2715768"/>
            <a:ext cx="1207008" cy="0"/>
          </a:xfrm>
          <a:prstGeom prst="line">
            <a:avLst/>
          </a:prstGeom>
          <a:noFill/>
          <a:ln w="25400">
            <a:solidFill>
              <a:srgbClr val="2F5D8A"/>
            </a:solidFill>
            <a:prstDash val="solid"/>
            <a:tailEnd type="triangle"/>
          </a:ln>
        </p:spPr>
        <p:txBody>
          <a:bodyPr/>
          <a:lstStyle/>
          <a:p>
            <a:endParaRPr lang="en-US"/>
          </a:p>
        </p:txBody>
      </p:sp>
      <p:sp>
        <p:nvSpPr>
          <p:cNvPr id="33" name="Text 31"/>
          <p:cNvSpPr/>
          <p:nvPr/>
        </p:nvSpPr>
        <p:spPr>
          <a:xfrm>
            <a:off x="4160520" y="2377440"/>
            <a:ext cx="1463040" cy="685800"/>
          </a:xfrm>
          <a:prstGeom prst="rect">
            <a:avLst/>
          </a:prstGeom>
          <a:noFill/>
          <a:ln/>
        </p:spPr>
        <p:txBody>
          <a:bodyPr wrap="square" lIns="0" tIns="0" rIns="0" bIns="0" rtlCol="0" anchor="ctr"/>
          <a:lstStyle/>
          <a:p>
            <a:pPr marL="0" indent="0" algn="r">
              <a:buNone/>
            </a:pPr>
            <a:r>
              <a:rPr lang="en-US" sz="1100" b="1" dirty="0">
                <a:solidFill>
                  <a:srgbClr val="2F5D8A"/>
                </a:solidFill>
                <a:latin typeface="Segoe UI" pitchFamily="34" charset="0"/>
                <a:ea typeface="Segoe UI" pitchFamily="34" charset="-122"/>
                <a:cs typeface="Segoe UI" pitchFamily="34" charset="-120"/>
              </a:rPr>
              <a:t>The contest</a:t>
            </a:r>
            <a:endParaRPr lang="en-US" sz="1100" dirty="0"/>
          </a:p>
          <a:p>
            <a:pPr marL="0" indent="0" algn="r">
              <a:buNone/>
            </a:pPr>
            <a:r>
              <a:rPr lang="en-US" sz="1100" b="1" dirty="0">
                <a:solidFill>
                  <a:srgbClr val="2F5D8A"/>
                </a:solidFill>
                <a:latin typeface="Segoe UI" pitchFamily="34" charset="0"/>
                <a:ea typeface="Segoe UI" pitchFamily="34" charset="-122"/>
                <a:cs typeface="Segoe UI" pitchFamily="34" charset="-120"/>
              </a:rPr>
              <a:t>pushes here</a:t>
            </a:r>
            <a:endParaRPr lang="en-US" sz="1100" dirty="0"/>
          </a:p>
        </p:txBody>
      </p:sp>
      <p:sp>
        <p:nvSpPr>
          <p:cNvPr id="34" name="Text 32"/>
          <p:cNvSpPr/>
          <p:nvPr/>
        </p:nvSpPr>
        <p:spPr>
          <a:xfrm>
            <a:off x="9893808" y="4681728"/>
            <a:ext cx="1719072" cy="914400"/>
          </a:xfrm>
          <a:prstGeom prst="rect">
            <a:avLst/>
          </a:prstGeom>
          <a:noFill/>
          <a:ln/>
        </p:spPr>
        <p:txBody>
          <a:bodyPr wrap="square" lIns="0" tIns="0" rIns="0" bIns="0" rtlCol="0" anchor="ctr"/>
          <a:lstStyle/>
          <a:p>
            <a:pPr marL="0" indent="0" algn="l">
              <a:buNone/>
            </a:pPr>
            <a:r>
              <a:rPr lang="en-US" sz="1050" b="1" dirty="0">
                <a:solidFill>
                  <a:srgbClr val="567A2E"/>
                </a:solidFill>
                <a:latin typeface="Segoe UI" pitchFamily="34" charset="0"/>
                <a:ea typeface="Segoe UI" pitchFamily="34" charset="-122"/>
                <a:cs typeface="Segoe UI" pitchFamily="34" charset="-120"/>
              </a:rPr>
              <a:t>Revenue lands here. The IC plan already rewards this step.</a:t>
            </a:r>
            <a:endParaRPr lang="en-US" sz="1050" dirty="0"/>
          </a:p>
        </p:txBody>
      </p:sp>
      <p:sp>
        <p:nvSpPr>
          <p:cNvPr id="35" name="Text 33"/>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ea typeface="Segoe UI" pitchFamily="34" charset="-122"/>
                <a:cs typeface="Segoe UI" pitchFamily="34" charset="-120"/>
              </a:rPr>
              <a:t>Capacity, enrollment, and funnel figures are the team's current numbers for 2H 2026.</a:t>
            </a:r>
            <a:endParaRPr lang="en-US" sz="850" dirty="0"/>
          </a:p>
        </p:txBody>
      </p:sp>
    </p:spTree>
    <p:extLst>
      <p:ext uri="{BB962C8B-B14F-4D97-AF65-F5344CB8AC3E}">
        <p14:creationId xmlns:p14="http://schemas.microsoft.com/office/powerpoint/2010/main" val="1179401236"/>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cs typeface="Segoe UI" pitchFamily="34" charset="-120"/>
              </a:rPr>
              <a:t>CONTEST AT A GLANCE</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A two-month contest, scored inside size-matched buckets</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3</a:t>
            </a:r>
            <a:endParaRPr lang="en-US" sz="900" dirty="0"/>
          </a:p>
        </p:txBody>
      </p:sp>
      <p:sp>
        <p:nvSpPr>
          <p:cNvPr id="13" name="Rectangle 12"/>
          <p:cNvSpPr/>
          <p:nvPr/>
        </p:nvSpPr>
        <p:spPr>
          <a:xfrm>
            <a:off x="566928" y="1847088"/>
            <a:ext cx="5349240" cy="1517904"/>
          </a:xfrm>
          <a:prstGeom prst="rect">
            <a:avLst/>
          </a:prstGeom>
          <a:solidFill>
            <a:srgbClr val="F2F6EC"/>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1847088"/>
            <a:ext cx="91440" cy="151790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993392"/>
            <a:ext cx="4892040"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WHO COMPETES</a:t>
            </a:r>
          </a:p>
        </p:txBody>
      </p:sp>
      <p:sp>
        <p:nvSpPr>
          <p:cNvPr id="16" name="TextBox 15"/>
          <p:cNvSpPr txBox="1"/>
          <p:nvPr/>
        </p:nvSpPr>
        <p:spPr>
          <a:xfrm>
            <a:off x="822960" y="2322576"/>
            <a:ext cx="4873752" cy="420624"/>
          </a:xfrm>
          <a:prstGeom prst="rect">
            <a:avLst/>
          </a:prstGeom>
          <a:noFill/>
        </p:spPr>
        <p:txBody>
          <a:bodyPr wrap="square" anchor="t" lIns="0" rIns="0" tIns="0" bIns="0">
            <a:spAutoFit/>
          </a:bodyPr>
          <a:lstStyle/>
          <a:p>
            <a:pPr algn="l">
              <a:lnSpc>
                <a:spcPct val="106000"/>
              </a:lnSpc>
              <a:spcAft>
                <a:spcPts val="0"/>
              </a:spcAft>
            </a:pPr>
            <a:r>
              <a:rPr sz="1150" b="0" i="0">
                <a:solidFill>
                  <a:srgbClr val="17344F"/>
                </a:solidFill>
                <a:latin typeface="Segoe UI"/>
              </a:rPr>
              <a:t>CTAM territories compete inside High, Medium and Low volume buckets.</a:t>
            </a:r>
          </a:p>
        </p:txBody>
      </p:sp>
      <p:sp>
        <p:nvSpPr>
          <p:cNvPr id="17" name="TextBox 16"/>
          <p:cNvSpPr txBox="1"/>
          <p:nvPr/>
        </p:nvSpPr>
        <p:spPr>
          <a:xfrm>
            <a:off x="822960" y="2761488"/>
            <a:ext cx="4873752" cy="420624"/>
          </a:xfrm>
          <a:prstGeom prst="rect">
            <a:avLst/>
          </a:prstGeom>
          <a:noFill/>
        </p:spPr>
        <p:txBody>
          <a:bodyPr wrap="square" anchor="t" lIns="0" rIns="0" tIns="0" bIns="0">
            <a:spAutoFit/>
          </a:bodyPr>
          <a:lstStyle/>
          <a:p>
            <a:pPr algn="l">
              <a:lnSpc>
                <a:spcPct val="106000"/>
              </a:lnSpc>
              <a:spcAft>
                <a:spcPts val="0"/>
              </a:spcAft>
            </a:pPr>
            <a:r>
              <a:rPr sz="1150" b="0" i="0">
                <a:solidFill>
                  <a:srgbClr val="17344F"/>
                </a:solidFill>
                <a:latin typeface="Segoe UI"/>
              </a:rPr>
              <a:t>RADs compete in one overall RAD bucket.</a:t>
            </a:r>
          </a:p>
        </p:txBody>
      </p:sp>
      <p:sp>
        <p:nvSpPr>
          <p:cNvPr id="18" name="Rectangle 17"/>
          <p:cNvSpPr/>
          <p:nvPr/>
        </p:nvSpPr>
        <p:spPr>
          <a:xfrm>
            <a:off x="6291072" y="1847088"/>
            <a:ext cx="5349240" cy="1517904"/>
          </a:xfrm>
          <a:prstGeom prst="rect">
            <a:avLst/>
          </a:prstGeom>
          <a:solidFill>
            <a:srgbClr val="F2F6EC"/>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91072" y="1847088"/>
            <a:ext cx="91440" cy="151790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47104" y="1993392"/>
            <a:ext cx="4892040"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WHEN IT RUNS</a:t>
            </a:r>
          </a:p>
        </p:txBody>
      </p:sp>
      <p:sp>
        <p:nvSpPr>
          <p:cNvPr id="21" name="TextBox 20"/>
          <p:cNvSpPr txBox="1"/>
          <p:nvPr/>
        </p:nvSpPr>
        <p:spPr>
          <a:xfrm>
            <a:off x="6547104" y="2322576"/>
            <a:ext cx="4873752" cy="420624"/>
          </a:xfrm>
          <a:prstGeom prst="rect">
            <a:avLst/>
          </a:prstGeom>
          <a:noFill/>
        </p:spPr>
        <p:txBody>
          <a:bodyPr wrap="square" anchor="t" lIns="0" rIns="0" tIns="0" bIns="0">
            <a:spAutoFit/>
          </a:bodyPr>
          <a:lstStyle/>
          <a:p>
            <a:pPr algn="l">
              <a:lnSpc>
                <a:spcPct val="106000"/>
              </a:lnSpc>
              <a:spcAft>
                <a:spcPts val="0"/>
              </a:spcAft>
            </a:pPr>
            <a:r>
              <a:rPr sz="1150" b="0" i="0">
                <a:solidFill>
                  <a:srgbClr val="17344F"/>
                </a:solidFill>
                <a:latin typeface="Segoe UI"/>
              </a:rPr>
              <a:t>Enrollments count from August 15 to October 15, 2026.</a:t>
            </a:r>
          </a:p>
        </p:txBody>
      </p:sp>
      <p:sp>
        <p:nvSpPr>
          <p:cNvPr id="22" name="TextBox 21"/>
          <p:cNvSpPr txBox="1"/>
          <p:nvPr/>
        </p:nvSpPr>
        <p:spPr>
          <a:xfrm>
            <a:off x="6547104" y="2761488"/>
            <a:ext cx="4873752" cy="420624"/>
          </a:xfrm>
          <a:prstGeom prst="rect">
            <a:avLst/>
          </a:prstGeom>
          <a:noFill/>
        </p:spPr>
        <p:txBody>
          <a:bodyPr wrap="square" anchor="t" lIns="0" rIns="0" tIns="0" bIns="0">
            <a:spAutoFit/>
          </a:bodyPr>
          <a:lstStyle/>
          <a:p>
            <a:pPr algn="l">
              <a:lnSpc>
                <a:spcPct val="106000"/>
              </a:lnSpc>
              <a:spcAft>
                <a:spcPts val="0"/>
              </a:spcAft>
            </a:pPr>
            <a:r>
              <a:rPr sz="1150" b="0" i="0">
                <a:solidFill>
                  <a:srgbClr val="17344F"/>
                </a:solidFill>
                <a:latin typeface="Segoe UI"/>
              </a:rPr>
              <a:t>For the conversion kicker the TTP has to occur by November 15, 2026.</a:t>
            </a:r>
          </a:p>
        </p:txBody>
      </p:sp>
      <p:sp>
        <p:nvSpPr>
          <p:cNvPr id="23" name="Rectangle 22"/>
          <p:cNvSpPr/>
          <p:nvPr/>
        </p:nvSpPr>
        <p:spPr>
          <a:xfrm>
            <a:off x="566928" y="3584448"/>
            <a:ext cx="5349240" cy="1517904"/>
          </a:xfrm>
          <a:prstGeom prst="rect">
            <a:avLst/>
          </a:prstGeom>
          <a:solidFill>
            <a:srgbClr val="F2F6EC"/>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84448"/>
            <a:ext cx="91440" cy="151790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730752"/>
            <a:ext cx="4892040"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HOW WINNERS ARE FOUND</a:t>
            </a:r>
          </a:p>
        </p:txBody>
      </p:sp>
      <p:sp>
        <p:nvSpPr>
          <p:cNvPr id="26" name="TextBox 25"/>
          <p:cNvSpPr txBox="1"/>
          <p:nvPr/>
        </p:nvSpPr>
        <p:spPr>
          <a:xfrm>
            <a:off x="822960" y="4059936"/>
            <a:ext cx="4873752" cy="420624"/>
          </a:xfrm>
          <a:prstGeom prst="rect">
            <a:avLst/>
          </a:prstGeom>
          <a:noFill/>
        </p:spPr>
        <p:txBody>
          <a:bodyPr wrap="square" anchor="t" lIns="0" rIns="0" tIns="0" bIns="0">
            <a:spAutoFit/>
          </a:bodyPr>
          <a:lstStyle/>
          <a:p>
            <a:pPr algn="l">
              <a:lnSpc>
                <a:spcPct val="106000"/>
              </a:lnSpc>
              <a:spcAft>
                <a:spcPts val="0"/>
              </a:spcAft>
            </a:pPr>
            <a:r>
              <a:rPr sz="1150" b="0" i="0">
                <a:solidFill>
                  <a:srgbClr val="17344F"/>
                </a:solidFill>
                <a:latin typeface="Segoe UI"/>
              </a:rPr>
              <a:t>Each territory is ranked on both volume growth and percent growth.</a:t>
            </a:r>
          </a:p>
        </p:txBody>
      </p:sp>
      <p:sp>
        <p:nvSpPr>
          <p:cNvPr id="27" name="TextBox 26"/>
          <p:cNvSpPr txBox="1"/>
          <p:nvPr/>
        </p:nvSpPr>
        <p:spPr>
          <a:xfrm>
            <a:off x="822960" y="4498848"/>
            <a:ext cx="4873752" cy="420624"/>
          </a:xfrm>
          <a:prstGeom prst="rect">
            <a:avLst/>
          </a:prstGeom>
          <a:noFill/>
        </p:spPr>
        <p:txBody>
          <a:bodyPr wrap="square" anchor="t" lIns="0" rIns="0" tIns="0" bIns="0">
            <a:spAutoFit/>
          </a:bodyPr>
          <a:lstStyle/>
          <a:p>
            <a:pPr algn="l">
              <a:lnSpc>
                <a:spcPct val="106000"/>
              </a:lnSpc>
              <a:spcAft>
                <a:spcPts val="0"/>
              </a:spcAft>
            </a:pPr>
            <a:r>
              <a:rPr sz="1150" b="0" i="0">
                <a:solidFill>
                  <a:srgbClr val="17344F"/>
                </a:solidFill>
                <a:latin typeface="Segoe UI"/>
              </a:rPr>
              <a:t>Ranking happens inside your own bucket, never against the whole country.</a:t>
            </a:r>
          </a:p>
        </p:txBody>
      </p:sp>
      <p:sp>
        <p:nvSpPr>
          <p:cNvPr id="28" name="Rectangle 27"/>
          <p:cNvSpPr/>
          <p:nvPr/>
        </p:nvSpPr>
        <p:spPr>
          <a:xfrm>
            <a:off x="6291072" y="3584448"/>
            <a:ext cx="5349240" cy="1517904"/>
          </a:xfrm>
          <a:prstGeom prst="rect">
            <a:avLst/>
          </a:prstGeom>
          <a:solidFill>
            <a:srgbClr val="F2F6EC"/>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91072" y="3584448"/>
            <a:ext cx="91440" cy="151790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47104" y="3730752"/>
            <a:ext cx="4892040"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WHAT IT TAKES TO PLACE</a:t>
            </a:r>
          </a:p>
        </p:txBody>
      </p:sp>
      <p:sp>
        <p:nvSpPr>
          <p:cNvPr id="31" name="TextBox 30"/>
          <p:cNvSpPr txBox="1"/>
          <p:nvPr/>
        </p:nvSpPr>
        <p:spPr>
          <a:xfrm>
            <a:off x="6547104" y="4059936"/>
            <a:ext cx="4873752" cy="420624"/>
          </a:xfrm>
          <a:prstGeom prst="rect">
            <a:avLst/>
          </a:prstGeom>
          <a:noFill/>
        </p:spPr>
        <p:txBody>
          <a:bodyPr wrap="square" anchor="t" lIns="0" rIns="0" tIns="0" bIns="0">
            <a:spAutoFit/>
          </a:bodyPr>
          <a:lstStyle/>
          <a:p>
            <a:pPr algn="l">
              <a:lnSpc>
                <a:spcPct val="106000"/>
              </a:lnSpc>
              <a:spcAft>
                <a:spcPts val="0"/>
              </a:spcAft>
            </a:pPr>
            <a:r>
              <a:rPr sz="1150" b="0" i="0">
                <a:solidFill>
                  <a:srgbClr val="17344F"/>
                </a:solidFill>
                <a:latin typeface="Segoe UI"/>
              </a:rPr>
              <a:t>You have to finish above your baseline.</a:t>
            </a:r>
          </a:p>
        </p:txBody>
      </p:sp>
      <p:sp>
        <p:nvSpPr>
          <p:cNvPr id="32" name="TextBox 31"/>
          <p:cNvSpPr txBox="1"/>
          <p:nvPr/>
        </p:nvSpPr>
        <p:spPr>
          <a:xfrm>
            <a:off x="6547104" y="4498848"/>
            <a:ext cx="4873752" cy="420624"/>
          </a:xfrm>
          <a:prstGeom prst="rect">
            <a:avLst/>
          </a:prstGeom>
          <a:noFill/>
        </p:spPr>
        <p:txBody>
          <a:bodyPr wrap="square" anchor="t" lIns="0" rIns="0" tIns="0" bIns="0">
            <a:spAutoFit/>
          </a:bodyPr>
          <a:lstStyle/>
          <a:p>
            <a:pPr algn="l">
              <a:lnSpc>
                <a:spcPct val="106000"/>
              </a:lnSpc>
              <a:spcAft>
                <a:spcPts val="0"/>
              </a:spcAft>
            </a:pPr>
            <a:r>
              <a:rPr sz="1150" b="0" i="0">
                <a:solidFill>
                  <a:srgbClr val="17344F"/>
                </a:solidFill>
                <a:latin typeface="Segoe UI"/>
              </a:rPr>
              <a:t>The top three eligible territories in each volume bucket take a placement award.</a:t>
            </a:r>
          </a:p>
        </p:txBody>
      </p:sp>
      <p:sp>
        <p:nvSpPr>
          <p:cNvPr id="33" name="Rectangle 32"/>
          <p:cNvSpPr/>
          <p:nvPr/>
        </p:nvSpPr>
        <p:spPr>
          <a:xfrm>
            <a:off x="566928" y="5358384"/>
            <a:ext cx="11055096" cy="566928"/>
          </a:xfrm>
          <a:prstGeom prst="rect">
            <a:avLst/>
          </a:prstGeom>
          <a:solidFill>
            <a:srgbClr val="E7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5486400"/>
            <a:ext cx="10652760" cy="384048"/>
          </a:xfrm>
          <a:prstGeom prst="rect">
            <a:avLst/>
          </a:prstGeom>
          <a:noFill/>
        </p:spPr>
        <p:txBody>
          <a:bodyPr wrap="square" anchor="t" lIns="0" rIns="0" tIns="0" bIns="0">
            <a:spAutoFit/>
          </a:bodyPr>
          <a:lstStyle/>
          <a:p>
            <a:pPr algn="l">
              <a:lnSpc>
                <a:spcPct val="106000"/>
              </a:lnSpc>
              <a:spcAft>
                <a:spcPts val="0"/>
              </a:spcAft>
            </a:pPr>
            <a:r>
              <a:rPr sz="1200" b="1" i="0">
                <a:solidFill>
                  <a:srgbClr val="17344F"/>
                </a:solidFill>
                <a:latin typeface="Segoe UI"/>
              </a:rPr>
              <a:t>This runs alongside your IC plan, not instead of it.</a:t>
            </a:r>
            <a:r>
              <a:rPr sz="1200" b="0" i="0">
                <a:solidFill>
                  <a:srgbClr val="17344F"/>
                </a:solidFill>
                <a:latin typeface="Segoe UI"/>
              </a:rPr>
              <a:t>  The IC plan pays on infusions. This one pays on enrollments, the step before. Every award amount is on the payout slide.</a:t>
            </a:r>
          </a:p>
        </p:txBody>
      </p:sp>
      <p:sp>
        <p:nvSpPr>
          <p:cNvPr id="35" name="TextBox 34"/>
          <p:cNvSpPr txBox="1"/>
          <p:nvPr/>
        </p:nvSpPr>
        <p:spPr>
          <a:xfrm>
            <a:off x="566928" y="6309360"/>
            <a:ext cx="10607040" cy="310896"/>
          </a:xfrm>
          <a:prstGeom prst="rect">
            <a:avLst/>
          </a:prstGeom>
          <a:noFill/>
        </p:spPr>
        <p:txBody>
          <a:bodyPr wrap="square" anchor="t" lIns="0" rIns="0" tIns="0" bIns="0">
            <a:spAutoFit/>
          </a:bodyPr>
          <a:lstStyle/>
          <a:p>
            <a:pPr algn="l">
              <a:lnSpc>
                <a:spcPct val="105000"/>
              </a:lnSpc>
              <a:spcAft>
                <a:spcPts val="0"/>
              </a:spcAft>
            </a:pPr>
            <a:r>
              <a:rPr sz="850" b="0" i="1">
                <a:solidFill>
                  <a:srgbClr val="8A8A80"/>
                </a:solidFill>
                <a:latin typeface="Segoe UI"/>
              </a:rPr>
              <a:t>Figures and dates are the current plan for 2H 2026. Final values subject to leadership approval.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ea typeface="Segoe UI" pitchFamily="34" charset="-122"/>
                <a:cs typeface="Segoe UI" pitchFamily="34" charset="-120"/>
              </a:rPr>
              <a:t>FAIRNESS CHECK</a:t>
            </a:r>
            <a:endParaRPr lang="en-US" sz="1200" dirty="0"/>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Territory scale varies too much for a single national leaderboard</a:t>
            </a:r>
            <a:endParaRPr lang="en-US" sz="2300" dirty="0"/>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4</a:t>
            </a:r>
            <a:endParaRPr lang="en-US" sz="900" dirty="0"/>
          </a:p>
        </p:txBody>
      </p:sp>
      <p:sp>
        <p:nvSpPr>
          <p:cNvPr id="13" name="Text 11"/>
          <p:cNvSpPr/>
          <p:nvPr/>
        </p:nvSpPr>
        <p:spPr>
          <a:xfrm>
            <a:off x="571500" y="1676400"/>
            <a:ext cx="5080000" cy="274320"/>
          </a:xfrm>
          <a:prstGeom prst="rect">
            <a:avLst/>
          </a:prstGeom>
          <a:noFill/>
          <a:ln/>
        </p:spPr>
        <p:txBody>
          <a:bodyPr wrap="square" lIns="0" tIns="0" rIns="0" bIns="0" rtlCol="0" anchor="ctr"/>
          <a:lstStyle/>
          <a:p>
            <a:r>
              <a:rPr lang="en-US" sz="1100" b="1" spc="80" dirty="0">
                <a:solidFill>
                  <a:srgbClr val="B04A3A"/>
                </a:solidFill>
                <a:latin typeface="Segoe UI"/>
              </a:rPr>
              <a:t>BEFORE: one national list</a:t>
            </a:r>
          </a:p>
        </p:txBody>
      </p:sp>
      <p:graphicFrame>
        <p:nvGraphicFramePr>
          <p:cNvPr id="14" name="Chart 0"/>
          <p:cNvGraphicFramePr/>
          <p:nvPr/>
        </p:nvGraphicFramePr>
        <p:xfrm>
          <a:off x="571500" y="2006600"/>
          <a:ext cx="5080000" cy="3175000"/>
        </p:xfrm>
        <a:graphic>
          <a:graphicData uri="http://schemas.openxmlformats.org/drawingml/2006/chart">
            <c:chart xmlns:c="http://schemas.openxmlformats.org/drawingml/2006/chart" xmlns:r="http://schemas.openxmlformats.org/officeDocument/2006/relationships" r:id="rId3"/>
          </a:graphicData>
        </a:graphic>
      </p:graphicFrame>
      <p:sp>
        <p:nvSpPr>
          <p:cNvPr id="23" name="Shape 20"/>
          <p:cNvSpPr/>
          <p:nvPr/>
        </p:nvSpPr>
        <p:spPr>
          <a:xfrm>
            <a:off x="566928" y="5623560"/>
            <a:ext cx="11064240" cy="548640"/>
          </a:xfrm>
          <a:prstGeom prst="rect">
            <a:avLst/>
          </a:prstGeom>
          <a:solidFill>
            <a:srgbClr val="E7EFD6"/>
          </a:solidFill>
          <a:ln/>
        </p:spPr>
        <p:txBody>
          <a:bodyPr/>
          <a:lstStyle/>
          <a:p>
            <a:endParaRPr lang="en-US"/>
          </a:p>
        </p:txBody>
      </p:sp>
      <p:sp>
        <p:nvSpPr>
          <p:cNvPr id="24" name="Text 21"/>
          <p:cNvSpPr/>
          <p:nvPr/>
        </p:nvSpPr>
        <p:spPr>
          <a:xfrm>
            <a:off x="749808" y="5623560"/>
            <a:ext cx="10698480" cy="548640"/>
          </a:xfrm>
          <a:prstGeom prst="rect">
            <a:avLst/>
          </a:prstGeom>
          <a:noFill/>
          <a:ln/>
        </p:spPr>
        <p:txBody>
          <a:bodyPr wrap="square" lIns="0" tIns="0" rIns="0" bIns="0" rtlCol="0" anchor="ctr"/>
          <a:lstStyle/>
          <a:p>
            <a:pPr marL="0" indent="0">
              <a:buNone/>
            </a:pPr>
            <a:r>
              <a:rPr lang="en-US" sz="1250" b="1" dirty="0">
                <a:solidFill>
                  <a:srgbClr val="567A2E"/>
                </a:solidFill>
                <a:latin typeface="Segoe UI" pitchFamily="34" charset="0"/>
                <a:ea typeface="Segoe UI" pitchFamily="34" charset="-122"/>
                <a:cs typeface="Segoe UI" pitchFamily="34" charset="-120"/>
              </a:rPr>
              <a:t>So we bucket first.  If we simply counted enrollments, the highest volume territories would win every time and the rest could never catch up.</a:t>
            </a:r>
            <a:endParaRPr lang="en-US" sz="1250" dirty="0"/>
          </a:p>
        </p:txBody>
      </p:sp>
      <p:sp>
        <p:nvSpPr>
          <p:cNvPr id="25" name="Text 22"/>
          <p:cNvSpPr/>
          <p:nvPr/>
        </p:nvSpPr>
        <p:spPr>
          <a:xfrm>
            <a:off x="566928" y="6272784"/>
            <a:ext cx="8686800" cy="256032"/>
          </a:xfrm>
          <a:prstGeom prst="rect">
            <a:avLst/>
          </a:prstGeom>
          <a:noFill/>
          <a:ln/>
        </p:spPr>
        <p:txBody>
          <a:bodyPr wrap="square" lIns="0" tIns="0" rIns="0" bIns="0" rtlCol="0" anchor="t"/>
          <a:lstStyle/>
          <a:p>
            <a:pPr marL="0" indent="0">
              <a:buNone/>
            </a:pPr>
            <a:r>
              <a:rPr lang="en-US" sz="850" i="1" dirty="0">
                <a:solidFill>
                  <a:srgbClr val="8A8A80"/>
                </a:solidFill>
                <a:latin typeface="Segoe UI" pitchFamily="34" charset="0"/>
                <a:ea typeface="Segoe UI" pitchFamily="34" charset="-122"/>
                <a:cs typeface="Segoe UI" pitchFamily="34" charset="-120"/>
              </a:rPr>
              <a:t>Each bar is one territory, plotted on the baseline it has to beat. The three volume buckets are set and lock for the contest. Desert Plains is assigned to medium volume at leadership direction. The full roster of 28 territories and their baselines is in the appendix.</a:t>
            </a:r>
            <a:endParaRPr lang="en-US" sz="850" dirty="0"/>
          </a:p>
        </p:txBody>
      </p:sp>
      <p:sp>
        <p:nvSpPr>
          <p:cNvPr id="200" name="TierCard200"/>
          <p:cNvSpPr/>
          <p:nvPr/>
        </p:nvSpPr>
        <p:spPr>
          <a:xfrm>
            <a:off x="6540500" y="2006600"/>
            <a:ext cx="5080000" cy="1041400"/>
          </a:xfrm>
          <a:prstGeom prst="roundRect">
            <a:avLst>
              <a:gd name="adj" fmla="val 8000"/>
            </a:avLst>
          </a:prstGeom>
          <a:solidFill>
            <a:srgbClr val="F2F6EC"/>
          </a:solidFill>
          <a:ln w="12700">
            <a:solidFill>
              <a:srgbClr val="567A2E"/>
            </a:solidFill>
          </a:ln>
        </p:spPr>
        <p:txBody>
          <a:bodyPr/>
          <a:lstStyle/>
          <a:p>
            <a:endParaRPr/>
          </a:p>
        </p:txBody>
      </p:sp>
      <p:sp>
        <p:nvSpPr>
          <p:cNvPr id="201" name="TierBar201"/>
          <p:cNvSpPr/>
          <p:nvPr/>
        </p:nvSpPr>
        <p:spPr>
          <a:xfrm>
            <a:off x="6540500" y="2006600"/>
            <a:ext cx="88900" cy="1041400"/>
          </a:xfrm>
          <a:prstGeom prst="rect">
            <a:avLst/>
          </a:prstGeom>
          <a:solidFill>
            <a:srgbClr val="567A2E"/>
          </a:solidFill>
          <a:ln>
            <a:noFill/>
          </a:ln>
        </p:spPr>
        <p:txBody>
          <a:bodyPr/>
          <a:lstStyle/>
          <a:p>
            <a:endParaRPr/>
          </a:p>
        </p:txBody>
      </p:sp>
      <p:sp>
        <p:nvSpPr>
          <p:cNvPr id="202" name="TierText202"/>
          <p:cNvSpPr txBox="1"/>
          <p:nvPr/>
        </p:nvSpPr>
        <p:spPr>
          <a:xfrm>
            <a:off x="6769100" y="2133600"/>
            <a:ext cx="4699000" cy="812800"/>
          </a:xfrm>
          <a:prstGeom prst="rect">
            <a:avLst/>
          </a:prstGeom>
          <a:noFill/>
        </p:spPr>
        <p:txBody>
          <a:bodyPr wrap="square" lIns="0" tIns="0" rIns="0" bIns="0" anchor="ctr">
            <a:normAutofit/>
          </a:bodyPr>
          <a:lstStyle/>
          <a:p>
            <a:pPr algn="l"/>
            <a:r>
              <a:rPr lang="en-US" sz="1300" b="1" dirty="0">
                <a:solidFill>
                  <a:srgbClr val="567A2E"/>
                </a:solidFill>
                <a:latin typeface="Segoe UI"/>
              </a:rPr>
              <a:t>High volume bucket</a:t>
            </a:r>
          </a:p>
          <a:p>
            <a:pPr algn="l"/>
            <a:r>
              <a:rPr lang="en-US" sz="1000" dirty="0">
                <a:solidFill>
                  <a:srgbClr val="3F4A52"/>
                </a:solidFill>
                <a:latin typeface="Segoe UI"/>
              </a:rPr>
              <a:t>High volume territories compete only against each other.</a:t>
            </a:r>
          </a:p>
        </p:txBody>
      </p:sp>
      <p:sp>
        <p:nvSpPr>
          <p:cNvPr id="203" name="TierCard203"/>
          <p:cNvSpPr/>
          <p:nvPr/>
        </p:nvSpPr>
        <p:spPr>
          <a:xfrm>
            <a:off x="6540500" y="3149600"/>
            <a:ext cx="5080000" cy="1041400"/>
          </a:xfrm>
          <a:prstGeom prst="roundRect">
            <a:avLst>
              <a:gd name="adj" fmla="val 8000"/>
            </a:avLst>
          </a:prstGeom>
          <a:solidFill>
            <a:srgbClr val="EAF2F9"/>
          </a:solidFill>
          <a:ln w="12700">
            <a:solidFill>
              <a:srgbClr val="2E6DA4"/>
            </a:solidFill>
          </a:ln>
        </p:spPr>
        <p:txBody>
          <a:bodyPr/>
          <a:lstStyle/>
          <a:p>
            <a:endParaRPr/>
          </a:p>
        </p:txBody>
      </p:sp>
      <p:sp>
        <p:nvSpPr>
          <p:cNvPr id="204" name="TierBar204"/>
          <p:cNvSpPr/>
          <p:nvPr/>
        </p:nvSpPr>
        <p:spPr>
          <a:xfrm>
            <a:off x="6540500" y="3149600"/>
            <a:ext cx="88900" cy="1041400"/>
          </a:xfrm>
          <a:prstGeom prst="rect">
            <a:avLst/>
          </a:prstGeom>
          <a:solidFill>
            <a:srgbClr val="2E6DA4"/>
          </a:solidFill>
          <a:ln>
            <a:noFill/>
          </a:ln>
        </p:spPr>
        <p:txBody>
          <a:bodyPr/>
          <a:lstStyle/>
          <a:p>
            <a:endParaRPr/>
          </a:p>
        </p:txBody>
      </p:sp>
      <p:sp>
        <p:nvSpPr>
          <p:cNvPr id="205" name="TierText205"/>
          <p:cNvSpPr txBox="1"/>
          <p:nvPr/>
        </p:nvSpPr>
        <p:spPr>
          <a:xfrm>
            <a:off x="6769100" y="3276600"/>
            <a:ext cx="4699000" cy="812800"/>
          </a:xfrm>
          <a:prstGeom prst="rect">
            <a:avLst/>
          </a:prstGeom>
          <a:noFill/>
        </p:spPr>
        <p:txBody>
          <a:bodyPr wrap="square" lIns="0" tIns="0" rIns="0" bIns="0" anchor="ctr">
            <a:normAutofit/>
          </a:bodyPr>
          <a:lstStyle/>
          <a:p>
            <a:pPr algn="l"/>
            <a:r>
              <a:rPr lang="en-US" sz="1300" b="1" dirty="0">
                <a:solidFill>
                  <a:srgbClr val="2E6DA4"/>
                </a:solidFill>
                <a:latin typeface="Segoe UI"/>
              </a:rPr>
              <a:t>Medium volume bucket</a:t>
            </a:r>
          </a:p>
          <a:p>
            <a:pPr algn="l"/>
            <a:r>
              <a:rPr lang="en-US" sz="1000" dirty="0">
                <a:solidFill>
                  <a:srgbClr val="3F4A52"/>
                </a:solidFill>
                <a:latin typeface="Segoe UI"/>
              </a:rPr>
              <a:t>Medium volume territories are ranked only within their own bucket.</a:t>
            </a:r>
          </a:p>
        </p:txBody>
      </p:sp>
      <p:sp>
        <p:nvSpPr>
          <p:cNvPr id="206" name="TierCard206"/>
          <p:cNvSpPr/>
          <p:nvPr/>
        </p:nvSpPr>
        <p:spPr>
          <a:xfrm>
            <a:off x="6540500" y="4292600"/>
            <a:ext cx="5080000" cy="1041400"/>
          </a:xfrm>
          <a:prstGeom prst="roundRect">
            <a:avLst>
              <a:gd name="adj" fmla="val 8000"/>
            </a:avLst>
          </a:prstGeom>
          <a:solidFill>
            <a:srgbClr val="EAEEF2"/>
          </a:solidFill>
          <a:ln w="12700">
            <a:solidFill>
              <a:srgbClr val="17344F"/>
            </a:solidFill>
          </a:ln>
        </p:spPr>
        <p:txBody>
          <a:bodyPr/>
          <a:lstStyle/>
          <a:p>
            <a:endParaRPr/>
          </a:p>
        </p:txBody>
      </p:sp>
      <p:sp>
        <p:nvSpPr>
          <p:cNvPr id="207" name="TierBar207"/>
          <p:cNvSpPr/>
          <p:nvPr/>
        </p:nvSpPr>
        <p:spPr>
          <a:xfrm>
            <a:off x="6540500" y="4292600"/>
            <a:ext cx="88900" cy="1041400"/>
          </a:xfrm>
          <a:prstGeom prst="rect">
            <a:avLst/>
          </a:prstGeom>
          <a:solidFill>
            <a:srgbClr val="17344F"/>
          </a:solidFill>
          <a:ln>
            <a:noFill/>
          </a:ln>
        </p:spPr>
        <p:txBody>
          <a:bodyPr/>
          <a:lstStyle/>
          <a:p>
            <a:endParaRPr/>
          </a:p>
        </p:txBody>
      </p:sp>
      <p:sp>
        <p:nvSpPr>
          <p:cNvPr id="208" name="TierText208"/>
          <p:cNvSpPr txBox="1"/>
          <p:nvPr/>
        </p:nvSpPr>
        <p:spPr>
          <a:xfrm>
            <a:off x="6769100" y="4419600"/>
            <a:ext cx="4699000" cy="812800"/>
          </a:xfrm>
          <a:prstGeom prst="rect">
            <a:avLst/>
          </a:prstGeom>
          <a:noFill/>
        </p:spPr>
        <p:txBody>
          <a:bodyPr wrap="square" lIns="0" tIns="0" rIns="0" bIns="0" anchor="ctr">
            <a:normAutofit/>
          </a:bodyPr>
          <a:lstStyle/>
          <a:p>
            <a:pPr algn="l"/>
            <a:r>
              <a:rPr lang="en-US" sz="1300" b="1" dirty="0">
                <a:solidFill>
                  <a:srgbClr val="17344F"/>
                </a:solidFill>
                <a:latin typeface="Segoe UI"/>
              </a:rPr>
              <a:t>Low volume bucket</a:t>
            </a:r>
          </a:p>
          <a:p>
            <a:pPr algn="l"/>
            <a:r>
              <a:rPr lang="en-US" sz="1000" dirty="0">
                <a:solidFill>
                  <a:srgbClr val="3F4A52"/>
                </a:solidFill>
                <a:latin typeface="Segoe UI"/>
              </a:rPr>
              <a:t>Low volume territories get a fair shot at winning.</a:t>
            </a:r>
          </a:p>
        </p:txBody>
      </p:sp>
      <p:sp>
        <p:nvSpPr>
          <p:cNvPr id="209" name="GroupArrow"/>
          <p:cNvSpPr/>
          <p:nvPr/>
        </p:nvSpPr>
        <p:spPr>
          <a:xfrm>
            <a:off x="5778500" y="3238500"/>
            <a:ext cx="660400" cy="508000"/>
          </a:xfrm>
          <a:prstGeom prst="rightArrow">
            <a:avLst/>
          </a:prstGeom>
          <a:solidFill>
            <a:srgbClr val="567A2E"/>
          </a:solidFill>
          <a:ln>
            <a:noFill/>
          </a:ln>
        </p:spPr>
        <p:txBody>
          <a:bodyPr/>
          <a:lstStyle/>
          <a:p>
            <a:endParaRPr/>
          </a:p>
        </p:txBody>
      </p:sp>
      <p:sp>
        <p:nvSpPr>
          <p:cNvPr id="210" name="ArrowCaption"/>
          <p:cNvSpPr txBox="1"/>
          <p:nvPr/>
        </p:nvSpPr>
        <p:spPr>
          <a:xfrm>
            <a:off x="5562600" y="2794000"/>
            <a:ext cx="1092200" cy="381000"/>
          </a:xfrm>
          <a:prstGeom prst="rect">
            <a:avLst/>
          </a:prstGeom>
          <a:noFill/>
        </p:spPr>
        <p:txBody>
          <a:bodyPr wrap="square" lIns="0" tIns="0" rIns="0" bIns="0" anchor="b"/>
          <a:lstStyle/>
          <a:p>
            <a:pPr algn="ctr"/>
            <a:r>
              <a:rPr lang="en-US" sz="1000" b="1" dirty="0">
                <a:solidFill>
                  <a:srgbClr val="567A2E"/>
                </a:solidFill>
                <a:latin typeface="Segoe UI"/>
              </a:rPr>
              <a:t>Group by size</a:t>
            </a:r>
          </a:p>
        </p:txBody>
      </p:sp>
      <p:sp>
        <p:nvSpPr>
          <p:cNvPr id="211" name="AfterLabel"/>
          <p:cNvSpPr txBox="1"/>
          <p:nvPr/>
        </p:nvSpPr>
        <p:spPr>
          <a:xfrm>
            <a:off x="6540500" y="1676400"/>
            <a:ext cx="5080000" cy="279400"/>
          </a:xfrm>
          <a:prstGeom prst="rect">
            <a:avLst/>
          </a:prstGeom>
          <a:noFill/>
        </p:spPr>
        <p:txBody>
          <a:bodyPr wrap="square" lIns="0" tIns="0" rIns="0" bIns="0"/>
          <a:lstStyle/>
          <a:p>
            <a:r>
              <a:rPr lang="en-US" sz="1100" b="1" spc="80" dirty="0">
                <a:solidFill>
                  <a:srgbClr val="567A2E"/>
                </a:solidFill>
                <a:latin typeface="Segoe UI"/>
              </a:rPr>
              <a:t>AFTER: grouped into volume buckets</a:t>
            </a:r>
          </a:p>
        </p:txBody>
      </p:sp>
      <p:sp>
        <p:nvSpPr>
          <p:cNvPr id="260" name="GapCallout"/>
          <p:cNvSpPr txBox="1"/>
          <p:nvPr/>
        </p:nvSpPr>
        <p:spPr>
          <a:xfrm>
            <a:off x="2834640" y="2066543"/>
            <a:ext cx="2724912" cy="786384"/>
          </a:xfrm>
          <a:prstGeom prst="rect">
            <a:avLst/>
          </a:prstGeom>
          <a:noFill/>
        </p:spPr>
        <p:txBody>
          <a:bodyPr wrap="square" lIns="0" tIns="0" rIns="0" bIns="0"/>
          <a:lstStyle/>
          <a:p>
            <a:r>
              <a:rPr lang="en-US" sz="2000" b="1" dirty="0">
                <a:solidFill>
                  <a:srgbClr val="B04A3A"/>
                </a:solidFill>
                <a:latin typeface="Segoe UI"/>
              </a:rPr>
              <a:t>15 times the gap</a:t>
            </a:r>
          </a:p>
          <a:p>
            <a:r>
              <a:rPr lang="en-US" sz="1000" dirty="0">
                <a:solidFill>
                  <a:srgbClr val="3F4A52"/>
                </a:solidFill>
                <a:latin typeface="Segoe UI"/>
              </a:rPr>
              <a:t>Baseline 15 at the top of the roster, 1 at the bottom</a:t>
            </a:r>
          </a:p>
        </p:txBody>
      </p:sp>
    </p:spTree>
    <p:extLst>
      <p:ext uri="{BB962C8B-B14F-4D97-AF65-F5344CB8AC3E}">
        <p14:creationId xmlns:p14="http://schemas.microsoft.com/office/powerpoint/2010/main" val="1660653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cs typeface="Segoe UI" pitchFamily="34" charset="-120"/>
              </a:rPr>
              <a:t>SCORING METHODOLOGY</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Each territory is ranked on both volume growth and percent growth</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5</a:t>
            </a:r>
            <a:endParaRPr lang="en-US" sz="900" dirty="0"/>
          </a:p>
        </p:txBody>
      </p:sp>
      <p:sp>
        <p:nvSpPr>
          <p:cNvPr id="13" name="TextBox 12"/>
          <p:cNvSpPr txBox="1"/>
          <p:nvPr/>
        </p:nvSpPr>
        <p:spPr>
          <a:xfrm>
            <a:off x="566928" y="1691640"/>
            <a:ext cx="5349240"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FIRST, MEASURE THE GROWTH</a:t>
            </a:r>
          </a:p>
        </p:txBody>
      </p:sp>
      <p:sp>
        <p:nvSpPr>
          <p:cNvPr id="14" name="Rectangle 13"/>
          <p:cNvSpPr/>
          <p:nvPr/>
        </p:nvSpPr>
        <p:spPr>
          <a:xfrm>
            <a:off x="566928" y="1947672"/>
            <a:ext cx="5349240"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093976"/>
            <a:ext cx="237744" cy="23774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1</a:t>
            </a:r>
          </a:p>
        </p:txBody>
      </p:sp>
      <p:sp>
        <p:nvSpPr>
          <p:cNvPr id="16" name="TextBox 15"/>
          <p:cNvSpPr txBox="1"/>
          <p:nvPr/>
        </p:nvSpPr>
        <p:spPr>
          <a:xfrm>
            <a:off x="932688" y="2075688"/>
            <a:ext cx="4983480" cy="475488"/>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Establish the baseline.</a:t>
            </a:r>
            <a:r>
              <a:rPr sz="1100" b="0" i="0">
                <a:solidFill>
                  <a:srgbClr val="17344F"/>
                </a:solidFill>
                <a:latin typeface="Segoe UI"/>
              </a:rPr>
              <a:t> The average of 4Q 2025, 1Q 2026 and 2Q 2026, scaled to the two-month contest window.</a:t>
            </a:r>
          </a:p>
        </p:txBody>
      </p:sp>
      <p:sp>
        <p:nvSpPr>
          <p:cNvPr id="17" name="Rectangle 16"/>
          <p:cNvSpPr/>
          <p:nvPr/>
        </p:nvSpPr>
        <p:spPr>
          <a:xfrm>
            <a:off x="566928" y="2770632"/>
            <a:ext cx="237744" cy="23774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2</a:t>
            </a:r>
          </a:p>
        </p:txBody>
      </p:sp>
      <p:sp>
        <p:nvSpPr>
          <p:cNvPr id="18" name="TextBox 17"/>
          <p:cNvSpPr txBox="1"/>
          <p:nvPr/>
        </p:nvSpPr>
        <p:spPr>
          <a:xfrm>
            <a:off x="932688" y="2752344"/>
            <a:ext cx="4983480" cy="475488"/>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Count contest enrollments.</a:t>
            </a:r>
            <a:r>
              <a:rPr sz="1100" b="0" i="0">
                <a:solidFill>
                  <a:srgbClr val="17344F"/>
                </a:solidFill>
                <a:latin typeface="Segoe UI"/>
              </a:rPr>
              <a:t> Everything enrolled between August 15 and October 15, 2026.</a:t>
            </a:r>
          </a:p>
        </p:txBody>
      </p:sp>
      <p:sp>
        <p:nvSpPr>
          <p:cNvPr id="19" name="Rectangle 18"/>
          <p:cNvSpPr/>
          <p:nvPr/>
        </p:nvSpPr>
        <p:spPr>
          <a:xfrm>
            <a:off x="566928" y="3447288"/>
            <a:ext cx="237744" cy="23774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3</a:t>
            </a:r>
          </a:p>
        </p:txBody>
      </p:sp>
      <p:sp>
        <p:nvSpPr>
          <p:cNvPr id="20" name="TextBox 19"/>
          <p:cNvSpPr txBox="1"/>
          <p:nvPr/>
        </p:nvSpPr>
        <p:spPr>
          <a:xfrm>
            <a:off x="932688" y="3429000"/>
            <a:ext cx="4983480" cy="475488"/>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Volume growth.</a:t>
            </a:r>
            <a:r>
              <a:rPr sz="1100" b="0" i="0">
                <a:solidFill>
                  <a:srgbClr val="17344F"/>
                </a:solidFill>
                <a:latin typeface="Segoe UI"/>
              </a:rPr>
              <a:t> Contest enrollments minus baseline.</a:t>
            </a:r>
          </a:p>
        </p:txBody>
      </p:sp>
      <p:sp>
        <p:nvSpPr>
          <p:cNvPr id="21" name="Rectangle 20"/>
          <p:cNvSpPr/>
          <p:nvPr/>
        </p:nvSpPr>
        <p:spPr>
          <a:xfrm>
            <a:off x="566928" y="4123943"/>
            <a:ext cx="237744" cy="23774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4</a:t>
            </a:r>
          </a:p>
        </p:txBody>
      </p:sp>
      <p:sp>
        <p:nvSpPr>
          <p:cNvPr id="22" name="TextBox 21"/>
          <p:cNvSpPr txBox="1"/>
          <p:nvPr/>
        </p:nvSpPr>
        <p:spPr>
          <a:xfrm>
            <a:off x="932688" y="4105655"/>
            <a:ext cx="4983480" cy="475488"/>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Percent growth.</a:t>
            </a:r>
            <a:r>
              <a:rPr sz="1100" b="0" i="0">
                <a:solidFill>
                  <a:srgbClr val="17344F"/>
                </a:solidFill>
                <a:latin typeface="Segoe UI"/>
              </a:rPr>
              <a:t> Volume growth divided by baseline.</a:t>
            </a:r>
          </a:p>
        </p:txBody>
      </p:sp>
      <p:sp>
        <p:nvSpPr>
          <p:cNvPr id="23" name="TextBox 22"/>
          <p:cNvSpPr txBox="1"/>
          <p:nvPr/>
        </p:nvSpPr>
        <p:spPr>
          <a:xfrm>
            <a:off x="6291072" y="1691640"/>
            <a:ext cx="5349240"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THEN, RANK AND AWARD</a:t>
            </a:r>
          </a:p>
        </p:txBody>
      </p:sp>
      <p:sp>
        <p:nvSpPr>
          <p:cNvPr id="24" name="Rectangle 23"/>
          <p:cNvSpPr/>
          <p:nvPr/>
        </p:nvSpPr>
        <p:spPr>
          <a:xfrm>
            <a:off x="6291072" y="1947672"/>
            <a:ext cx="5349240"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91072" y="2093976"/>
            <a:ext cx="237744" cy="23774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5</a:t>
            </a:r>
          </a:p>
        </p:txBody>
      </p:sp>
      <p:sp>
        <p:nvSpPr>
          <p:cNvPr id="26" name="TextBox 25"/>
          <p:cNvSpPr txBox="1"/>
          <p:nvPr/>
        </p:nvSpPr>
        <p:spPr>
          <a:xfrm>
            <a:off x="6656832" y="2075688"/>
            <a:ext cx="4983480" cy="475488"/>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Rank both measures</a:t>
            </a:r>
            <a:r>
              <a:rPr sz="1100" b="0" i="0">
                <a:solidFill>
                  <a:srgbClr val="17344F"/>
                </a:solidFill>
                <a:latin typeface="Segoe UI"/>
              </a:rPr>
              <a:t> separately, against the other territories in your own volume bucket.</a:t>
            </a:r>
          </a:p>
        </p:txBody>
      </p:sp>
      <p:sp>
        <p:nvSpPr>
          <p:cNvPr id="27" name="Rectangle 26"/>
          <p:cNvSpPr/>
          <p:nvPr/>
        </p:nvSpPr>
        <p:spPr>
          <a:xfrm>
            <a:off x="6291072" y="2770632"/>
            <a:ext cx="237744" cy="23774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6</a:t>
            </a:r>
          </a:p>
        </p:txBody>
      </p:sp>
      <p:sp>
        <p:nvSpPr>
          <p:cNvPr id="28" name="TextBox 27"/>
          <p:cNvSpPr txBox="1"/>
          <p:nvPr/>
        </p:nvSpPr>
        <p:spPr>
          <a:xfrm>
            <a:off x="6656832" y="2752344"/>
            <a:ext cx="4983480" cy="475488"/>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Average the two ranks</a:t>
            </a:r>
            <a:r>
              <a:rPr sz="1100" b="0" i="0">
                <a:solidFill>
                  <a:srgbClr val="17344F"/>
                </a:solidFill>
                <a:latin typeface="Segoe UI"/>
              </a:rPr>
              <a:t> to get the final score. The lowest score is the best, so 1.0 means you ranked first on both.</a:t>
            </a:r>
          </a:p>
        </p:txBody>
      </p:sp>
      <p:sp>
        <p:nvSpPr>
          <p:cNvPr id="29" name="Rectangle 28"/>
          <p:cNvSpPr/>
          <p:nvPr/>
        </p:nvSpPr>
        <p:spPr>
          <a:xfrm>
            <a:off x="6291072" y="3447288"/>
            <a:ext cx="237744" cy="237744"/>
          </a:xfrm>
          <a:prstGeom prst="rect">
            <a:avLst/>
          </a:prstGeom>
          <a:solidFill>
            <a:srgbClr val="17344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7</a:t>
            </a:r>
          </a:p>
        </p:txBody>
      </p:sp>
      <p:sp>
        <p:nvSpPr>
          <p:cNvPr id="30" name="TextBox 29"/>
          <p:cNvSpPr txBox="1"/>
          <p:nvPr/>
        </p:nvSpPr>
        <p:spPr>
          <a:xfrm>
            <a:off x="6656832" y="3429000"/>
            <a:ext cx="4983480" cy="475488"/>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Apply the eligibility gate.</a:t>
            </a:r>
            <a:r>
              <a:rPr sz="1100" b="0" i="0">
                <a:solidFill>
                  <a:srgbClr val="17344F"/>
                </a:solidFill>
                <a:latin typeface="Segoe UI"/>
              </a:rPr>
              <a:t> A territory at or below its baseline is out, whatever it scored.</a:t>
            </a:r>
          </a:p>
        </p:txBody>
      </p:sp>
      <p:sp>
        <p:nvSpPr>
          <p:cNvPr id="31" name="Rectangle 30"/>
          <p:cNvSpPr/>
          <p:nvPr/>
        </p:nvSpPr>
        <p:spPr>
          <a:xfrm>
            <a:off x="6291072" y="4123943"/>
            <a:ext cx="237744" cy="237744"/>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Segoe UI"/>
              </a:rPr>
              <a:t>8</a:t>
            </a:r>
          </a:p>
        </p:txBody>
      </p:sp>
      <p:sp>
        <p:nvSpPr>
          <p:cNvPr id="32" name="TextBox 31"/>
          <p:cNvSpPr txBox="1"/>
          <p:nvPr/>
        </p:nvSpPr>
        <p:spPr>
          <a:xfrm>
            <a:off x="6656832" y="4105655"/>
            <a:ext cx="4983480" cy="475488"/>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Award the top three eligible</a:t>
            </a:r>
            <a:r>
              <a:rPr sz="1100" b="0" i="0">
                <a:solidFill>
                  <a:srgbClr val="17344F"/>
                </a:solidFill>
                <a:latin typeface="Segoe UI"/>
              </a:rPr>
              <a:t> territories in each volume bucket. Ties go to the higher percent growth.</a:t>
            </a:r>
          </a:p>
        </p:txBody>
      </p:sp>
      <p:sp>
        <p:nvSpPr>
          <p:cNvPr id="33" name="Rectangle 32"/>
          <p:cNvSpPr/>
          <p:nvPr/>
        </p:nvSpPr>
        <p:spPr>
          <a:xfrm>
            <a:off x="566928" y="5193792"/>
            <a:ext cx="11055096" cy="621792"/>
          </a:xfrm>
          <a:prstGeom prst="rect">
            <a:avLst/>
          </a:prstGeom>
          <a:solidFill>
            <a:srgbClr val="E7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5321808"/>
            <a:ext cx="10652760" cy="438912"/>
          </a:xfrm>
          <a:prstGeom prst="rect">
            <a:avLst/>
          </a:prstGeom>
          <a:noFill/>
        </p:spPr>
        <p:txBody>
          <a:bodyPr wrap="square" anchor="t" lIns="0" rIns="0" tIns="0" bIns="0">
            <a:spAutoFit/>
          </a:bodyPr>
          <a:lstStyle/>
          <a:p>
            <a:pPr algn="l">
              <a:lnSpc>
                <a:spcPct val="106000"/>
              </a:lnSpc>
              <a:spcAft>
                <a:spcPts val="0"/>
              </a:spcAft>
            </a:pPr>
            <a:r>
              <a:rPr sz="1200" b="1" i="0">
                <a:solidFill>
                  <a:srgbClr val="17344F"/>
                </a:solidFill>
                <a:latin typeface="Segoe UI"/>
              </a:rPr>
              <a:t>Step 7 is the one to remember.</a:t>
            </a:r>
            <a:r>
              <a:rPr sz="1200" b="0" i="0">
                <a:solidFill>
                  <a:srgbClr val="17344F"/>
                </a:solidFill>
                <a:latin typeface="Segoe UI"/>
              </a:rPr>
              <a:t>  A territory that finishes at or below its baseline cannot take first, second or third, however well it ranks on either measure.</a:t>
            </a:r>
          </a:p>
        </p:txBody>
      </p:sp>
      <p:sp>
        <p:nvSpPr>
          <p:cNvPr id="35" name="TextBox 34"/>
          <p:cNvSpPr txBox="1"/>
          <p:nvPr/>
        </p:nvSpPr>
        <p:spPr>
          <a:xfrm>
            <a:off x="566928" y="6309360"/>
            <a:ext cx="10607040" cy="310896"/>
          </a:xfrm>
          <a:prstGeom prst="rect">
            <a:avLst/>
          </a:prstGeom>
          <a:noFill/>
        </p:spPr>
        <p:txBody>
          <a:bodyPr wrap="square" anchor="t" lIns="0" rIns="0" tIns="0" bIns="0">
            <a:spAutoFit/>
          </a:bodyPr>
          <a:lstStyle/>
          <a:p>
            <a:pPr algn="l">
              <a:lnSpc>
                <a:spcPct val="105000"/>
              </a:lnSpc>
              <a:spcAft>
                <a:spcPts val="0"/>
              </a:spcAft>
            </a:pPr>
            <a:r>
              <a:rPr sz="850" b="0" i="1">
                <a:solidFill>
                  <a:srgbClr val="8A8A80"/>
                </a:solidFill>
                <a:latin typeface="Segoe UI"/>
              </a:rPr>
              <a:t>Enrollment, capacity, baseline and payout figures are internal planning figures for 2H 2026. Final values subject to leadership approval.</a:t>
            </a:r>
          </a:p>
        </p:txBody>
      </p:sp>
    </p:spTree>
    <p:extLst>
      <p:ext uri="{BB962C8B-B14F-4D97-AF65-F5344CB8AC3E}">
        <p14:creationId xmlns:p14="http://schemas.microsoft.com/office/powerpoint/2010/main" val="4138603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cs typeface="Segoe UI" pitchFamily="34" charset="-120"/>
              </a:rPr>
              <a:t>WORKED EXAMPLE</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A smaller territory can win by growing more against its own baseline</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6</a:t>
            </a:r>
            <a:endParaRPr lang="en-US" sz="900" dirty="0"/>
          </a:p>
        </p:txBody>
      </p:sp>
      <p:sp>
        <p:nvSpPr>
          <p:cNvPr id="13" name="TextBox 12"/>
          <p:cNvSpPr txBox="1"/>
          <p:nvPr/>
        </p:nvSpPr>
        <p:spPr>
          <a:xfrm>
            <a:off x="566928" y="1691640"/>
            <a:ext cx="11055096"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PLACEMENT, SCORED ON GROWTH</a:t>
            </a:r>
          </a:p>
        </p:txBody>
      </p:sp>
      <p:sp>
        <p:nvSpPr>
          <p:cNvPr id="14" name="Rectangle 13"/>
          <p:cNvSpPr/>
          <p:nvPr/>
        </p:nvSpPr>
        <p:spPr>
          <a:xfrm>
            <a:off x="566928" y="1947672"/>
            <a:ext cx="11055096"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566928" y="2139696"/>
          <a:ext cx="10515600" cy="1847088"/>
        </p:xfrm>
        <a:graphic>
          <a:graphicData uri="http://schemas.openxmlformats.org/drawingml/2006/table">
            <a:tbl>
              <a:tblPr>
                <a:tableStyleId>{5C22544A-7EE6-4342-B048-85BDC9FD1C3A}</a:tableStyleId>
              </a:tblPr>
              <a:tblGrid>
                <a:gridCol w="1188720"/>
                <a:gridCol w="868680"/>
                <a:gridCol w="777240"/>
                <a:gridCol w="960120"/>
                <a:gridCol w="868680"/>
                <a:gridCol w="868680"/>
                <a:gridCol w="777240"/>
                <a:gridCol w="777240"/>
                <a:gridCol w="777240"/>
                <a:gridCol w="914400"/>
                <a:gridCol w="960120"/>
                <a:gridCol w="777240"/>
              </a:tblGrid>
              <a:tr h="384048">
                <a:tc>
                  <a:txBody>
                    <a:bodyPr wrap="square"/>
                    <a:lstStyle/>
                    <a:p>
                      <a:pPr algn="l"/>
                      <a:r>
                        <a:rPr sz="900" b="1" i="1">
                          <a:solidFill>
                            <a:srgbClr val="FFFFFF"/>
                          </a:solidFill>
                          <a:latin typeface="Segoe UI"/>
                        </a:rPr>
                        <a:t>Territory</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Bucket</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Baseline</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Contest enrol.</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Volume growth</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Percent growth</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Volume rank</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Percent rank</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Final score</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Above baseline</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Place</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1" i="1">
                          <a:solidFill>
                            <a:srgbClr val="FFFFFF"/>
                          </a:solidFill>
                          <a:latin typeface="Segoe UI"/>
                        </a:rPr>
                        <a:t>Award</a:t>
                      </a:r>
                    </a:p>
                  </a:txBody>
                  <a:tcPr marL="45720" marR="45720" marT="0" marB="0" anchor="ctr">
                    <a:solidFill>
                      <a:srgbClr val="567A2E"/>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r>
              <a:tr h="292608">
                <a:tc>
                  <a:txBody>
                    <a:bodyPr wrap="square"/>
                    <a:lstStyle/>
                    <a:p>
                      <a:pPr algn="l"/>
                      <a:r>
                        <a:rPr sz="900" b="0" i="0">
                          <a:solidFill>
                            <a:srgbClr val="000000"/>
                          </a:solidFill>
                          <a:latin typeface="Segoe UI"/>
                        </a:rPr>
                        <a:t>Territory A</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Medium</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6</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11</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+5</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+83%</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1.0</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Yes</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1st</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$7,000</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r>
              <a:tr h="292608">
                <a:tc>
                  <a:txBody>
                    <a:bodyPr wrap="square"/>
                    <a:lstStyle/>
                    <a:p>
                      <a:pPr algn="l"/>
                      <a:r>
                        <a:rPr sz="900" b="0" i="0">
                          <a:solidFill>
                            <a:srgbClr val="000000"/>
                          </a:solidFill>
                          <a:latin typeface="Segoe UI"/>
                        </a:rPr>
                        <a:t>Territory C</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Medium</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6</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9</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+3</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+50%</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3</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2</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2.5</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Yes</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2nd</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$5,000</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r>
              <a:tr h="292608">
                <a:tc>
                  <a:txBody>
                    <a:bodyPr wrap="square"/>
                    <a:lstStyle/>
                    <a:p>
                      <a:pPr algn="l"/>
                      <a:r>
                        <a:rPr sz="900" b="0" i="0">
                          <a:solidFill>
                            <a:srgbClr val="000000"/>
                          </a:solidFill>
                          <a:latin typeface="Segoe UI"/>
                        </a:rPr>
                        <a:t>Territory B</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Medium</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9</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13</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+4</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+44%</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2</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3</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2.5</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Yes</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3rd</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$3,000</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r>
              <a:tr h="292608">
                <a:tc>
                  <a:txBody>
                    <a:bodyPr wrap="square"/>
                    <a:lstStyle/>
                    <a:p>
                      <a:pPr algn="l"/>
                      <a:r>
                        <a:rPr sz="900" b="0" i="0">
                          <a:solidFill>
                            <a:srgbClr val="000000"/>
                          </a:solidFill>
                          <a:latin typeface="Segoe UI"/>
                        </a:rPr>
                        <a:t>Territory D</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Medium</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9</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10</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+11%</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4</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4</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4.0</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Yes</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4th</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none</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r>
              <a:tr h="292608">
                <a:tc>
                  <a:txBody>
                    <a:bodyPr wrap="square"/>
                    <a:lstStyle/>
                    <a:p>
                      <a:pPr algn="l"/>
                      <a:r>
                        <a:rPr sz="900" b="0" i="0">
                          <a:solidFill>
                            <a:srgbClr val="000000"/>
                          </a:solidFill>
                          <a:latin typeface="Segoe UI"/>
                        </a:rPr>
                        <a:t>Territory E</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Medium</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7</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5</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-2</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-29%</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5</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5</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5.0</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No</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not eligible</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c>
                  <a:txBody>
                    <a:bodyPr wrap="square"/>
                    <a:lstStyle/>
                    <a:p>
                      <a:pPr algn="ctr"/>
                      <a:r>
                        <a:rPr sz="900" b="0" i="0">
                          <a:solidFill>
                            <a:srgbClr val="000000"/>
                          </a:solidFill>
                          <a:latin typeface="Segoe UI"/>
                        </a:rPr>
                        <a:t>none</a:t>
                      </a:r>
                    </a:p>
                  </a:txBody>
                  <a:tcPr marL="45720" marR="45720" marT="0" marB="0" anchor="ctr">
                    <a:solidFill>
                      <a:srgbClr val="FFFFFF"/>
                    </a:solidFill>
                    <a:lnL w="6350" cap="flat" cmpd="sng" algn="ctr">
                      <a:solidFill>
                        <a:srgbClr val="000000"/>
                      </a:solidFill>
                    </a:lnL>
                    <a:lnR w="6350" cap="flat" cmpd="sng" algn="ctr">
                      <a:solidFill>
                        <a:srgbClr val="000000"/>
                      </a:solidFill>
                    </a:lnR>
                    <a:lnT w="6350" cap="flat" cmpd="sng" algn="ctr">
                      <a:solidFill>
                        <a:srgbClr val="000000"/>
                      </a:solidFill>
                    </a:lnT>
                    <a:lnB w="6350" cap="flat" cmpd="sng" algn="ctr">
                      <a:solidFill>
                        <a:srgbClr val="000000"/>
                      </a:solidFill>
                    </a:lnB>
                  </a:tcPr>
                </a:tc>
              </a:tr>
            </a:tbl>
          </a:graphicData>
        </a:graphic>
      </p:graphicFrame>
      <p:sp>
        <p:nvSpPr>
          <p:cNvPr id="16" name="TextBox 15"/>
          <p:cNvSpPr txBox="1"/>
          <p:nvPr/>
        </p:nvSpPr>
        <p:spPr>
          <a:xfrm>
            <a:off x="566928" y="4261104"/>
            <a:ext cx="11055096" cy="310896"/>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Read the tie:  </a:t>
            </a:r>
            <a:r>
              <a:rPr sz="1100" b="0" i="0">
                <a:solidFill>
                  <a:srgbClr val="17344F"/>
                </a:solidFill>
                <a:latin typeface="Segoe UI"/>
              </a:rPr>
              <a:t>Territory B and Territory C both score 2.5. The higher percent growth wins, so Territory C takes second. Territory E ranked last on both measures and finished below its baseline, so it cannot place at all.</a:t>
            </a:r>
          </a:p>
        </p:txBody>
      </p:sp>
      <p:sp>
        <p:nvSpPr>
          <p:cNvPr id="17" name="TextBox 16"/>
          <p:cNvSpPr txBox="1"/>
          <p:nvPr/>
        </p:nvSpPr>
        <p:spPr>
          <a:xfrm>
            <a:off x="566928" y="4791456"/>
            <a:ext cx="11055096"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CONVERSION KICKER, SCORED SEPARATELY</a:t>
            </a:r>
          </a:p>
        </p:txBody>
      </p:sp>
      <p:sp>
        <p:nvSpPr>
          <p:cNvPr id="18" name="Rectangle 17"/>
          <p:cNvSpPr/>
          <p:nvPr/>
        </p:nvSpPr>
        <p:spPr>
          <a:xfrm>
            <a:off x="566928" y="5047488"/>
            <a:ext cx="11055096"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5212080"/>
            <a:ext cx="11055096" cy="731520"/>
          </a:xfrm>
          <a:prstGeom prst="rect">
            <a:avLst/>
          </a:prstGeom>
          <a:solidFill>
            <a:srgbClr val="F2F6EC"/>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5212080"/>
            <a:ext cx="91440" cy="7315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5340096"/>
            <a:ext cx="10524744" cy="548640"/>
          </a:xfrm>
          <a:prstGeom prst="rect">
            <a:avLst/>
          </a:prstGeom>
          <a:noFill/>
        </p:spPr>
        <p:txBody>
          <a:bodyPr wrap="square" anchor="t" lIns="0" rIns="0" tIns="0" bIns="0">
            <a:spAutoFit/>
          </a:bodyPr>
          <a:lstStyle/>
          <a:p>
            <a:pPr algn="l">
              <a:lnSpc>
                <a:spcPct val="106000"/>
              </a:lnSpc>
              <a:spcAft>
                <a:spcPts val="0"/>
              </a:spcAft>
            </a:pPr>
            <a:r>
              <a:rPr sz="1100" b="1" i="0">
                <a:solidFill>
                  <a:srgbClr val="17344F"/>
                </a:solidFill>
                <a:latin typeface="Segoe UI"/>
              </a:rPr>
              <a:t>Territory D takes the $5,000 conversion kicker.</a:t>
            </a:r>
            <a:r>
              <a:rPr sz="1100" b="0" i="0">
                <a:solidFill>
                  <a:srgbClr val="17344F"/>
                </a:solidFill>
                <a:latin typeface="Segoe UI"/>
              </a:rPr>
              <a:t>  It enrolled 10 and 8 of them reached TTP by November 15, an 80 percent pull-through and the best in the bucket. It wins the kicker even though it did not place, because the kicker is scored on pull-through and not on growth.</a:t>
            </a:r>
          </a:p>
        </p:txBody>
      </p:sp>
      <p:sp>
        <p:nvSpPr>
          <p:cNvPr id="22" name="TextBox 21"/>
          <p:cNvSpPr txBox="1"/>
          <p:nvPr/>
        </p:nvSpPr>
        <p:spPr>
          <a:xfrm>
            <a:off x="566928" y="6309360"/>
            <a:ext cx="10607040" cy="310896"/>
          </a:xfrm>
          <a:prstGeom prst="rect">
            <a:avLst/>
          </a:prstGeom>
          <a:noFill/>
        </p:spPr>
        <p:txBody>
          <a:bodyPr wrap="square" anchor="t" lIns="0" rIns="0" tIns="0" bIns="0">
            <a:spAutoFit/>
          </a:bodyPr>
          <a:lstStyle/>
          <a:p>
            <a:pPr algn="l">
              <a:lnSpc>
                <a:spcPct val="105000"/>
              </a:lnSpc>
              <a:spcAft>
                <a:spcPts val="0"/>
              </a:spcAft>
            </a:pPr>
            <a:r>
              <a:rPr sz="850" b="0" i="1">
                <a:solidFill>
                  <a:srgbClr val="8A8A80"/>
                </a:solidFill>
                <a:latin typeface="Segoe UI"/>
              </a:rPr>
              <a:t>Illustrative figures for one volume bucket, not real targets. Territory names are generic because the numbers are invented.</a:t>
            </a:r>
          </a:p>
        </p:txBody>
      </p:sp>
    </p:spTree>
    <p:extLst>
      <p:ext uri="{BB962C8B-B14F-4D97-AF65-F5344CB8AC3E}">
        <p14:creationId xmlns:p14="http://schemas.microsoft.com/office/powerpoint/2010/main" val="2167900236"/>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cs typeface="Segoe UI" pitchFamily="34" charset="-120"/>
              </a:rPr>
              <a:t>CONTEST REQUIREMENTS</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Two separate awards, with two separate sets of requirements</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7</a:t>
            </a:r>
            <a:endParaRPr lang="en-US" sz="900" dirty="0"/>
          </a:p>
        </p:txBody>
      </p:sp>
      <p:sp>
        <p:nvSpPr>
          <p:cNvPr id="13" name="TextBox 12"/>
          <p:cNvSpPr txBox="1"/>
          <p:nvPr/>
        </p:nvSpPr>
        <p:spPr>
          <a:xfrm>
            <a:off x="566928" y="1691640"/>
            <a:ext cx="11055096"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CONTEST DATES</a:t>
            </a:r>
          </a:p>
        </p:txBody>
      </p:sp>
      <p:sp>
        <p:nvSpPr>
          <p:cNvPr id="14" name="Rectangle 13"/>
          <p:cNvSpPr/>
          <p:nvPr/>
        </p:nvSpPr>
        <p:spPr>
          <a:xfrm>
            <a:off x="566928" y="1947672"/>
            <a:ext cx="11055096"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103120"/>
            <a:ext cx="3246120" cy="841248"/>
          </a:xfrm>
          <a:prstGeom prst="rect">
            <a:avLst/>
          </a:prstGeom>
          <a:solidFill>
            <a:srgbClr val="BFD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221992"/>
            <a:ext cx="3246120" cy="274320"/>
          </a:xfrm>
          <a:prstGeom prst="rect">
            <a:avLst/>
          </a:prstGeom>
          <a:noFill/>
        </p:spPr>
        <p:txBody>
          <a:bodyPr wrap="square" anchor="t" lIns="0" rIns="0" tIns="0" bIns="0">
            <a:spAutoFit/>
          </a:bodyPr>
          <a:lstStyle/>
          <a:p>
            <a:pPr algn="ctr">
              <a:spcAft>
                <a:spcPts val="0"/>
              </a:spcAft>
            </a:pPr>
            <a:r>
              <a:rPr sz="1500" b="1" i="0">
                <a:solidFill>
                  <a:srgbClr val="17344F"/>
                </a:solidFill>
                <a:latin typeface="Segoe UI"/>
              </a:rPr>
              <a:t>August 15, 2026</a:t>
            </a:r>
          </a:p>
        </p:txBody>
      </p:sp>
      <p:sp>
        <p:nvSpPr>
          <p:cNvPr id="17" name="TextBox 16"/>
          <p:cNvSpPr txBox="1"/>
          <p:nvPr/>
        </p:nvSpPr>
        <p:spPr>
          <a:xfrm>
            <a:off x="749808" y="2560320"/>
            <a:ext cx="2880360" cy="310896"/>
          </a:xfrm>
          <a:prstGeom prst="rect">
            <a:avLst/>
          </a:prstGeom>
          <a:noFill/>
        </p:spPr>
        <p:txBody>
          <a:bodyPr wrap="square" anchor="t" lIns="0" rIns="0" tIns="0" bIns="0">
            <a:spAutoFit/>
          </a:bodyPr>
          <a:lstStyle/>
          <a:p>
            <a:pPr algn="ctr">
              <a:spcAft>
                <a:spcPts val="0"/>
              </a:spcAft>
            </a:pPr>
            <a:r>
              <a:rPr sz="1000" b="0" i="0">
                <a:solidFill>
                  <a:srgbClr val="17344F"/>
                </a:solidFill>
                <a:latin typeface="Segoe UI"/>
              </a:rPr>
              <a:t>Contest opens</a:t>
            </a:r>
          </a:p>
        </p:txBody>
      </p:sp>
      <p:sp>
        <p:nvSpPr>
          <p:cNvPr id="18" name="Rectangle 17"/>
          <p:cNvSpPr/>
          <p:nvPr/>
        </p:nvSpPr>
        <p:spPr>
          <a:xfrm>
            <a:off x="4471416" y="2103120"/>
            <a:ext cx="3246120" cy="841248"/>
          </a:xfrm>
          <a:prstGeom prst="rect">
            <a:avLst/>
          </a:prstGeom>
          <a:solidFill>
            <a:srgbClr val="8FB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71416" y="2221992"/>
            <a:ext cx="3246120" cy="274320"/>
          </a:xfrm>
          <a:prstGeom prst="rect">
            <a:avLst/>
          </a:prstGeom>
          <a:noFill/>
        </p:spPr>
        <p:txBody>
          <a:bodyPr wrap="square" anchor="t" lIns="0" rIns="0" tIns="0" bIns="0">
            <a:spAutoFit/>
          </a:bodyPr>
          <a:lstStyle/>
          <a:p>
            <a:pPr algn="ctr">
              <a:spcAft>
                <a:spcPts val="0"/>
              </a:spcAft>
            </a:pPr>
            <a:r>
              <a:rPr sz="1500" b="1" i="0">
                <a:solidFill>
                  <a:srgbClr val="FFFFFF"/>
                </a:solidFill>
                <a:latin typeface="Segoe UI"/>
              </a:rPr>
              <a:t>October 15, 2026</a:t>
            </a:r>
          </a:p>
        </p:txBody>
      </p:sp>
      <p:sp>
        <p:nvSpPr>
          <p:cNvPr id="20" name="TextBox 19"/>
          <p:cNvSpPr txBox="1"/>
          <p:nvPr/>
        </p:nvSpPr>
        <p:spPr>
          <a:xfrm>
            <a:off x="4654296" y="2560320"/>
            <a:ext cx="2880360" cy="310896"/>
          </a:xfrm>
          <a:prstGeom prst="rect">
            <a:avLst/>
          </a:prstGeom>
          <a:noFill/>
        </p:spPr>
        <p:txBody>
          <a:bodyPr wrap="square" anchor="t" lIns="0" rIns="0" tIns="0" bIns="0">
            <a:spAutoFit/>
          </a:bodyPr>
          <a:lstStyle/>
          <a:p>
            <a:pPr algn="ctr">
              <a:spcAft>
                <a:spcPts val="0"/>
              </a:spcAft>
            </a:pPr>
            <a:r>
              <a:rPr sz="1000" b="0" i="0">
                <a:solidFill>
                  <a:srgbClr val="FFFFFF"/>
                </a:solidFill>
                <a:latin typeface="Segoe UI"/>
              </a:rPr>
              <a:t>Contest closes</a:t>
            </a:r>
          </a:p>
        </p:txBody>
      </p:sp>
      <p:sp>
        <p:nvSpPr>
          <p:cNvPr id="21" name="Rectangle 20"/>
          <p:cNvSpPr/>
          <p:nvPr/>
        </p:nvSpPr>
        <p:spPr>
          <a:xfrm>
            <a:off x="8375904" y="2103120"/>
            <a:ext cx="3246120" cy="841248"/>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75904" y="2221992"/>
            <a:ext cx="3246120" cy="274320"/>
          </a:xfrm>
          <a:prstGeom prst="rect">
            <a:avLst/>
          </a:prstGeom>
          <a:noFill/>
        </p:spPr>
        <p:txBody>
          <a:bodyPr wrap="square" anchor="t" lIns="0" rIns="0" tIns="0" bIns="0">
            <a:spAutoFit/>
          </a:bodyPr>
          <a:lstStyle/>
          <a:p>
            <a:pPr algn="ctr">
              <a:spcAft>
                <a:spcPts val="0"/>
              </a:spcAft>
            </a:pPr>
            <a:r>
              <a:rPr sz="1500" b="1" i="0">
                <a:solidFill>
                  <a:srgbClr val="FFFFFF"/>
                </a:solidFill>
                <a:latin typeface="Segoe UI"/>
              </a:rPr>
              <a:t>November 15, 2026</a:t>
            </a:r>
          </a:p>
        </p:txBody>
      </p:sp>
      <p:sp>
        <p:nvSpPr>
          <p:cNvPr id="23" name="TextBox 22"/>
          <p:cNvSpPr txBox="1"/>
          <p:nvPr/>
        </p:nvSpPr>
        <p:spPr>
          <a:xfrm>
            <a:off x="8558784" y="2560320"/>
            <a:ext cx="2880360" cy="310896"/>
          </a:xfrm>
          <a:prstGeom prst="rect">
            <a:avLst/>
          </a:prstGeom>
          <a:noFill/>
        </p:spPr>
        <p:txBody>
          <a:bodyPr wrap="square" anchor="t" lIns="0" rIns="0" tIns="0" bIns="0">
            <a:spAutoFit/>
          </a:bodyPr>
          <a:lstStyle/>
          <a:p>
            <a:pPr algn="ctr">
              <a:spcAft>
                <a:spcPts val="0"/>
              </a:spcAft>
            </a:pPr>
            <a:r>
              <a:rPr sz="1000" b="0" i="0">
                <a:solidFill>
                  <a:srgbClr val="FFFFFF"/>
                </a:solidFill>
                <a:latin typeface="Segoe UI"/>
              </a:rPr>
              <a:t>TTP deadline for the conversion kicker</a:t>
            </a:r>
          </a:p>
        </p:txBody>
      </p:sp>
      <p:sp>
        <p:nvSpPr>
          <p:cNvPr id="24" name="Right Arrow 23"/>
          <p:cNvSpPr/>
          <p:nvPr/>
        </p:nvSpPr>
        <p:spPr>
          <a:xfrm>
            <a:off x="3950208" y="2423160"/>
            <a:ext cx="329184" cy="201168"/>
          </a:xfrm>
          <a:prstGeom prst="rightArrow">
            <a:avLst/>
          </a:prstGeom>
          <a:solidFill>
            <a:srgbClr val="C9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7854696" y="2423160"/>
            <a:ext cx="329184" cy="201168"/>
          </a:xfrm>
          <a:prstGeom prst="rightArrow">
            <a:avLst/>
          </a:prstGeom>
          <a:solidFill>
            <a:srgbClr val="C9C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3310128"/>
            <a:ext cx="5349240" cy="2084831"/>
          </a:xfrm>
          <a:prstGeom prst="rect">
            <a:avLst/>
          </a:prstGeom>
          <a:solidFill>
            <a:srgbClr val="F2F6EC"/>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3310128"/>
            <a:ext cx="91440" cy="2084831"/>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456432"/>
            <a:ext cx="4892040"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A.  TO WIN A PLACEMENT AWARD</a:t>
            </a:r>
          </a:p>
        </p:txBody>
      </p:sp>
      <p:sp>
        <p:nvSpPr>
          <p:cNvPr id="29" name="TextBox 28"/>
          <p:cNvSpPr txBox="1"/>
          <p:nvPr/>
        </p:nvSpPr>
        <p:spPr>
          <a:xfrm>
            <a:off x="822960" y="3803904"/>
            <a:ext cx="4873752" cy="457200"/>
          </a:xfrm>
          <a:prstGeom prst="rect">
            <a:avLst/>
          </a:prstGeom>
          <a:noFill/>
        </p:spPr>
        <p:txBody>
          <a:bodyPr wrap="square" anchor="t" lIns="0" rIns="0" tIns="0" bIns="0">
            <a:spAutoFit/>
          </a:bodyPr>
          <a:lstStyle/>
          <a:p>
            <a:pPr algn="l">
              <a:lnSpc>
                <a:spcPct val="108000"/>
              </a:lnSpc>
              <a:spcAft>
                <a:spcPts val="0"/>
              </a:spcAft>
            </a:pPr>
            <a:r>
              <a:rPr sz="1150" b="1" i="0">
                <a:solidFill>
                  <a:srgbClr val="17344F"/>
                </a:solidFill>
                <a:latin typeface="Segoe UI"/>
              </a:rPr>
              <a:t>You have to finish above your baseline.</a:t>
            </a:r>
            <a:r>
              <a:rPr sz="1150" b="0" i="0">
                <a:solidFill>
                  <a:srgbClr val="17344F"/>
                </a:solidFill>
                <a:latin typeface="Segoe UI"/>
              </a:rPr>
              <a:t> At or below the baseline is not a placement, however you rank.</a:t>
            </a:r>
          </a:p>
        </p:txBody>
      </p:sp>
      <p:sp>
        <p:nvSpPr>
          <p:cNvPr id="30" name="TextBox 29"/>
          <p:cNvSpPr txBox="1"/>
          <p:nvPr/>
        </p:nvSpPr>
        <p:spPr>
          <a:xfrm>
            <a:off x="822960" y="4315968"/>
            <a:ext cx="4873752" cy="457200"/>
          </a:xfrm>
          <a:prstGeom prst="rect">
            <a:avLst/>
          </a:prstGeom>
          <a:noFill/>
        </p:spPr>
        <p:txBody>
          <a:bodyPr wrap="square" anchor="t" lIns="0" rIns="0" tIns="0" bIns="0">
            <a:spAutoFit/>
          </a:bodyPr>
          <a:lstStyle/>
          <a:p>
            <a:pPr algn="l">
              <a:lnSpc>
                <a:spcPct val="108000"/>
              </a:lnSpc>
              <a:spcAft>
                <a:spcPts val="0"/>
              </a:spcAft>
            </a:pPr>
            <a:r>
              <a:rPr sz="1150" b="1" i="0">
                <a:solidFill>
                  <a:srgbClr val="17344F"/>
                </a:solidFill>
                <a:latin typeface="Segoe UI"/>
              </a:rPr>
              <a:t>You are ranked inside your assigned bucket.</a:t>
            </a:r>
            <a:r>
              <a:rPr sz="1150" b="0" i="0">
                <a:solidFill>
                  <a:srgbClr val="17344F"/>
                </a:solidFill>
                <a:latin typeface="Segoe UI"/>
              </a:rPr>
              <a:t> High, medium and low volume territories are scored separately. RADs are one group, ranked against their combined territory baseline.</a:t>
            </a:r>
          </a:p>
        </p:txBody>
      </p:sp>
      <p:sp>
        <p:nvSpPr>
          <p:cNvPr id="31" name="TextBox 30"/>
          <p:cNvSpPr txBox="1"/>
          <p:nvPr/>
        </p:nvSpPr>
        <p:spPr>
          <a:xfrm>
            <a:off x="822960" y="4992624"/>
            <a:ext cx="4873752" cy="457200"/>
          </a:xfrm>
          <a:prstGeom prst="rect">
            <a:avLst/>
          </a:prstGeom>
          <a:noFill/>
        </p:spPr>
        <p:txBody>
          <a:bodyPr wrap="square" anchor="t" lIns="0" rIns="0" tIns="0" bIns="0">
            <a:spAutoFit/>
          </a:bodyPr>
          <a:lstStyle/>
          <a:p>
            <a:pPr algn="l">
              <a:lnSpc>
                <a:spcPct val="108000"/>
              </a:lnSpc>
              <a:spcAft>
                <a:spcPts val="0"/>
              </a:spcAft>
            </a:pPr>
            <a:r>
              <a:rPr sz="1150" b="1" i="0">
                <a:solidFill>
                  <a:srgbClr val="17344F"/>
                </a:solidFill>
                <a:latin typeface="Segoe UI"/>
              </a:rPr>
              <a:t>Ties are resolved by the higher percent growth.</a:t>
            </a:r>
            <a:r>
              <a:rPr sz="1150" b="0" i="0">
                <a:solidFill>
                  <a:srgbClr val="17344F"/>
                </a:solidFill>
                <a:latin typeface="Segoe UI"/>
              </a:rPr>
              <a:t/>
            </a:r>
          </a:p>
        </p:txBody>
      </p:sp>
      <p:sp>
        <p:nvSpPr>
          <p:cNvPr id="32" name="Rectangle 31"/>
          <p:cNvSpPr/>
          <p:nvPr/>
        </p:nvSpPr>
        <p:spPr>
          <a:xfrm>
            <a:off x="6291072" y="3310128"/>
            <a:ext cx="5349240" cy="2084831"/>
          </a:xfrm>
          <a:prstGeom prst="rect">
            <a:avLst/>
          </a:prstGeom>
          <a:solidFill>
            <a:srgbClr val="EAEEF2"/>
          </a:solidFill>
          <a:ln w="9525">
            <a:solidFill>
              <a:srgbClr val="2E6D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91072" y="3310128"/>
            <a:ext cx="91440" cy="2084831"/>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47104" y="3456432"/>
            <a:ext cx="4892040" cy="237744"/>
          </a:xfrm>
          <a:prstGeom prst="rect">
            <a:avLst/>
          </a:prstGeom>
          <a:noFill/>
        </p:spPr>
        <p:txBody>
          <a:bodyPr wrap="square" anchor="t" lIns="0" rIns="0" tIns="0" bIns="0">
            <a:spAutoFit/>
          </a:bodyPr>
          <a:lstStyle/>
          <a:p>
            <a:pPr algn="l">
              <a:spcAft>
                <a:spcPts val="0"/>
              </a:spcAft>
            </a:pPr>
            <a:r>
              <a:rPr sz="1100" b="1" i="0">
                <a:solidFill>
                  <a:srgbClr val="2E6DA4"/>
                </a:solidFill>
                <a:latin typeface="Segoe UI"/>
              </a:rPr>
              <a:t>B.  TO WIN THE CONVERSION KICKER</a:t>
            </a:r>
          </a:p>
        </p:txBody>
      </p:sp>
      <p:sp>
        <p:nvSpPr>
          <p:cNvPr id="35" name="TextBox 34"/>
          <p:cNvSpPr txBox="1"/>
          <p:nvPr/>
        </p:nvSpPr>
        <p:spPr>
          <a:xfrm>
            <a:off x="6547104" y="3803904"/>
            <a:ext cx="4873752" cy="457200"/>
          </a:xfrm>
          <a:prstGeom prst="rect">
            <a:avLst/>
          </a:prstGeom>
          <a:noFill/>
        </p:spPr>
        <p:txBody>
          <a:bodyPr wrap="square" anchor="t" lIns="0" rIns="0" tIns="0" bIns="0">
            <a:spAutoFit/>
          </a:bodyPr>
          <a:lstStyle/>
          <a:p>
            <a:pPr algn="l">
              <a:lnSpc>
                <a:spcPct val="108000"/>
              </a:lnSpc>
              <a:spcAft>
                <a:spcPts val="0"/>
              </a:spcAft>
            </a:pPr>
            <a:r>
              <a:rPr sz="1150" b="1" i="0">
                <a:solidFill>
                  <a:srgbClr val="17344F"/>
                </a:solidFill>
                <a:latin typeface="Segoe UI"/>
              </a:rPr>
              <a:t>Best enrollment-to-TTP pull-through</a:t>
            </a:r>
            <a:r>
              <a:rPr sz="1150" b="0" i="0">
                <a:solidFill>
                  <a:srgbClr val="17344F"/>
                </a:solidFill>
                <a:latin typeface="Segoe UI"/>
              </a:rPr>
              <a:t> in your bucket, so this one is about conversion rather than growth.</a:t>
            </a:r>
          </a:p>
        </p:txBody>
      </p:sp>
      <p:sp>
        <p:nvSpPr>
          <p:cNvPr id="36" name="TextBox 35"/>
          <p:cNvSpPr txBox="1"/>
          <p:nvPr/>
        </p:nvSpPr>
        <p:spPr>
          <a:xfrm>
            <a:off x="6547104" y="4315968"/>
            <a:ext cx="4873752" cy="457200"/>
          </a:xfrm>
          <a:prstGeom prst="rect">
            <a:avLst/>
          </a:prstGeom>
          <a:noFill/>
        </p:spPr>
        <p:txBody>
          <a:bodyPr wrap="square" anchor="t" lIns="0" rIns="0" tIns="0" bIns="0">
            <a:spAutoFit/>
          </a:bodyPr>
          <a:lstStyle/>
          <a:p>
            <a:pPr algn="l">
              <a:lnSpc>
                <a:spcPct val="108000"/>
              </a:lnSpc>
              <a:spcAft>
                <a:spcPts val="0"/>
              </a:spcAft>
            </a:pPr>
            <a:r>
              <a:rPr sz="1150" b="1" i="0">
                <a:solidFill>
                  <a:srgbClr val="17344F"/>
                </a:solidFill>
                <a:latin typeface="Segoe UI"/>
              </a:rPr>
              <a:t>At least five contest enrollments</a:t>
            </a:r>
            <a:r>
              <a:rPr sz="1150" b="0" i="0">
                <a:solidFill>
                  <a:srgbClr val="17344F"/>
                </a:solidFill>
                <a:latin typeface="Segoe UI"/>
              </a:rPr>
              <a:t> to qualify.</a:t>
            </a:r>
          </a:p>
        </p:txBody>
      </p:sp>
      <p:sp>
        <p:nvSpPr>
          <p:cNvPr id="37" name="TextBox 36"/>
          <p:cNvSpPr txBox="1"/>
          <p:nvPr/>
        </p:nvSpPr>
        <p:spPr>
          <a:xfrm>
            <a:off x="6547104" y="4663440"/>
            <a:ext cx="4873752" cy="457200"/>
          </a:xfrm>
          <a:prstGeom prst="rect">
            <a:avLst/>
          </a:prstGeom>
          <a:noFill/>
        </p:spPr>
        <p:txBody>
          <a:bodyPr wrap="square" anchor="t" lIns="0" rIns="0" tIns="0" bIns="0">
            <a:spAutoFit/>
          </a:bodyPr>
          <a:lstStyle/>
          <a:p>
            <a:pPr algn="l">
              <a:lnSpc>
                <a:spcPct val="108000"/>
              </a:lnSpc>
              <a:spcAft>
                <a:spcPts val="0"/>
              </a:spcAft>
            </a:pPr>
            <a:r>
              <a:rPr sz="1150" b="1" i="0">
                <a:solidFill>
                  <a:srgbClr val="17344F"/>
                </a:solidFill>
                <a:latin typeface="Segoe UI"/>
              </a:rPr>
              <a:t>The TTP has to occur by November 15, 2026.</a:t>
            </a:r>
            <a:r>
              <a:rPr sz="1150" b="0" i="0">
                <a:solidFill>
                  <a:srgbClr val="17344F"/>
                </a:solidFill>
                <a:latin typeface="Segoe UI"/>
              </a:rPr>
              <a:t> An enrollment converting after that date does not count.</a:t>
            </a:r>
          </a:p>
        </p:txBody>
      </p:sp>
      <p:sp>
        <p:nvSpPr>
          <p:cNvPr id="38" name="Rectangle 37"/>
          <p:cNvSpPr/>
          <p:nvPr/>
        </p:nvSpPr>
        <p:spPr>
          <a:xfrm>
            <a:off x="566928" y="5522976"/>
            <a:ext cx="11055096" cy="566928"/>
          </a:xfrm>
          <a:prstGeom prst="rect">
            <a:avLst/>
          </a:prstGeom>
          <a:solidFill>
            <a:srgbClr val="E7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5650992"/>
            <a:ext cx="10652760" cy="384048"/>
          </a:xfrm>
          <a:prstGeom prst="rect">
            <a:avLst/>
          </a:prstGeom>
          <a:noFill/>
        </p:spPr>
        <p:txBody>
          <a:bodyPr wrap="square" anchor="t" lIns="0" rIns="0" tIns="0" bIns="0">
            <a:spAutoFit/>
          </a:bodyPr>
          <a:lstStyle/>
          <a:p>
            <a:pPr algn="l">
              <a:lnSpc>
                <a:spcPct val="106000"/>
              </a:lnSpc>
              <a:spcAft>
                <a:spcPts val="0"/>
              </a:spcAft>
            </a:pPr>
            <a:r>
              <a:rPr sz="1200" b="1" i="0">
                <a:solidFill>
                  <a:srgbClr val="17344F"/>
                </a:solidFill>
                <a:latin typeface="Segoe UI"/>
              </a:rPr>
              <a:t>These are two separate awards.</a:t>
            </a:r>
            <a:r>
              <a:rPr sz="1200" b="0" i="0">
                <a:solidFill>
                  <a:srgbClr val="17344F"/>
                </a:solidFill>
                <a:latin typeface="Segoe UI"/>
              </a:rPr>
              <a:t>  A territory can win a placement award, the conversion kicker, both, or neither.</a:t>
            </a:r>
          </a:p>
        </p:txBody>
      </p:sp>
      <p:sp>
        <p:nvSpPr>
          <p:cNvPr id="40" name="TextBox 39"/>
          <p:cNvSpPr txBox="1"/>
          <p:nvPr/>
        </p:nvSpPr>
        <p:spPr>
          <a:xfrm>
            <a:off x="566928" y="6309360"/>
            <a:ext cx="10607040" cy="310896"/>
          </a:xfrm>
          <a:prstGeom prst="rect">
            <a:avLst/>
          </a:prstGeom>
          <a:noFill/>
        </p:spPr>
        <p:txBody>
          <a:bodyPr wrap="square" anchor="t" lIns="0" rIns="0" tIns="0" bIns="0">
            <a:spAutoFit/>
          </a:bodyPr>
          <a:lstStyle/>
          <a:p>
            <a:pPr algn="l">
              <a:lnSpc>
                <a:spcPct val="105000"/>
              </a:lnSpc>
              <a:spcAft>
                <a:spcPts val="0"/>
              </a:spcAft>
            </a:pPr>
            <a:r>
              <a:rPr sz="850" b="0" i="1">
                <a:solidFill>
                  <a:srgbClr val="8A8A80"/>
                </a:solidFill>
                <a:latin typeface="Segoe UI"/>
              </a:rPr>
              <a:t>Contest window and TTP deadline are the current plan for 2H 2026. Final values subject to leadership approval.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ea typeface="Segoe UI" pitchFamily="34" charset="-122"/>
                <a:cs typeface="Segoe UI" pitchFamily="34" charset="-120"/>
              </a:rPr>
              <a:t>PAYOUT</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Three winners in every volume bucket,</a:t>
            </a:r>
          </a:p>
          <a:p>
            <a:pPr marL="0" indent="0">
              <a:lnSpc>
                <a:spcPct val="100000"/>
              </a:lnSpc>
              <a:buNone/>
            </a:pPr>
            <a:r>
              <a:rPr lang="en-US" sz="2300" b="1" dirty="0">
                <a:solidFill>
                  <a:srgbClr val="17344F"/>
                </a:solidFill>
                <a:latin typeface="Segoe UI" pitchFamily="34" charset="0"/>
                <a:ea typeface="Segoe UI" pitchFamily="34" charset="-122"/>
                <a:cs typeface="Segoe UI" pitchFamily="34" charset="-120"/>
              </a:rPr>
              <a:t>separate RAD bucket, and national bonus</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8</a:t>
            </a:r>
            <a:endParaRPr lang="en-US" sz="900" dirty="0"/>
          </a:p>
        </p:txBody>
      </p:sp>
      <p:sp>
        <p:nvSpPr>
          <p:cNvPr id="13" name="TextBox 12"/>
          <p:cNvSpPr txBox="1"/>
          <p:nvPr/>
        </p:nvSpPr>
        <p:spPr>
          <a:xfrm>
            <a:off x="566928" y="1691640"/>
            <a:ext cx="11055096"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CTAM TERRITORIES, INSIDE THEIR VOLUME BUCKET</a:t>
            </a:r>
          </a:p>
        </p:txBody>
      </p:sp>
      <p:sp>
        <p:nvSpPr>
          <p:cNvPr id="14" name="Rectangle 13"/>
          <p:cNvSpPr/>
          <p:nvPr/>
        </p:nvSpPr>
        <p:spPr>
          <a:xfrm>
            <a:off x="566928" y="1947672"/>
            <a:ext cx="11055096"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103120"/>
            <a:ext cx="2606040" cy="1115568"/>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2212848"/>
            <a:ext cx="2203704" cy="201168"/>
          </a:xfrm>
          <a:prstGeom prst="rect">
            <a:avLst/>
          </a:prstGeom>
          <a:noFill/>
        </p:spPr>
        <p:txBody>
          <a:bodyPr wrap="square" anchor="t" lIns="0" rIns="0" tIns="0" bIns="0">
            <a:spAutoFit/>
          </a:bodyPr>
          <a:lstStyle/>
          <a:p>
            <a:pPr algn="l">
              <a:spcAft>
                <a:spcPts val="0"/>
              </a:spcAft>
            </a:pPr>
            <a:r>
              <a:rPr sz="1050" b="0" i="0">
                <a:solidFill>
                  <a:srgbClr val="FFFFFF"/>
                </a:solidFill>
                <a:latin typeface="Segoe UI"/>
              </a:rPr>
              <a:t>1st place</a:t>
            </a:r>
          </a:p>
        </p:txBody>
      </p:sp>
      <p:sp>
        <p:nvSpPr>
          <p:cNvPr id="17" name="TextBox 16"/>
          <p:cNvSpPr txBox="1"/>
          <p:nvPr/>
        </p:nvSpPr>
        <p:spPr>
          <a:xfrm>
            <a:off x="786384" y="2395728"/>
            <a:ext cx="2203704" cy="457200"/>
          </a:xfrm>
          <a:prstGeom prst="rect">
            <a:avLst/>
          </a:prstGeom>
          <a:noFill/>
        </p:spPr>
        <p:txBody>
          <a:bodyPr wrap="square" anchor="t" lIns="0" rIns="0" tIns="0" bIns="0">
            <a:spAutoFit/>
          </a:bodyPr>
          <a:lstStyle/>
          <a:p>
            <a:pPr algn="l">
              <a:spcAft>
                <a:spcPts val="0"/>
              </a:spcAft>
            </a:pPr>
            <a:r>
              <a:rPr sz="2600" b="1" i="0">
                <a:solidFill>
                  <a:srgbClr val="FFFFFF"/>
                </a:solidFill>
                <a:latin typeface="Segoe UI"/>
              </a:rPr>
              <a:t>$7,000</a:t>
            </a:r>
          </a:p>
        </p:txBody>
      </p:sp>
      <p:sp>
        <p:nvSpPr>
          <p:cNvPr id="18" name="TextBox 17"/>
          <p:cNvSpPr txBox="1"/>
          <p:nvPr/>
        </p:nvSpPr>
        <p:spPr>
          <a:xfrm>
            <a:off x="786384" y="2889504"/>
            <a:ext cx="2203704" cy="274320"/>
          </a:xfrm>
          <a:prstGeom prst="rect">
            <a:avLst/>
          </a:prstGeom>
          <a:noFill/>
        </p:spPr>
        <p:txBody>
          <a:bodyPr wrap="square" anchor="t" lIns="0" rIns="0" tIns="0" bIns="0">
            <a:spAutoFit/>
          </a:bodyPr>
          <a:lstStyle/>
          <a:p>
            <a:pPr algn="l">
              <a:lnSpc>
                <a:spcPct val="102000"/>
              </a:lnSpc>
              <a:spcAft>
                <a:spcPts val="0"/>
              </a:spcAft>
            </a:pPr>
            <a:r>
              <a:rPr sz="950" b="0" i="0">
                <a:solidFill>
                  <a:srgbClr val="FFFFFF"/>
                </a:solidFill>
                <a:latin typeface="Segoe UI"/>
              </a:rPr>
              <a:t>per volume bucket</a:t>
            </a:r>
          </a:p>
        </p:txBody>
      </p:sp>
      <p:sp>
        <p:nvSpPr>
          <p:cNvPr id="19" name="Rectangle 18"/>
          <p:cNvSpPr/>
          <p:nvPr/>
        </p:nvSpPr>
        <p:spPr>
          <a:xfrm>
            <a:off x="3383280" y="2103120"/>
            <a:ext cx="2606040" cy="1115568"/>
          </a:xfrm>
          <a:prstGeom prst="rect">
            <a:avLst/>
          </a:prstGeom>
          <a:solidFill>
            <a:srgbClr val="8FB4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2736" y="2212848"/>
            <a:ext cx="2203704" cy="201168"/>
          </a:xfrm>
          <a:prstGeom prst="rect">
            <a:avLst/>
          </a:prstGeom>
          <a:noFill/>
        </p:spPr>
        <p:txBody>
          <a:bodyPr wrap="square" anchor="t" lIns="0" rIns="0" tIns="0" bIns="0">
            <a:spAutoFit/>
          </a:bodyPr>
          <a:lstStyle/>
          <a:p>
            <a:pPr algn="l">
              <a:spcAft>
                <a:spcPts val="0"/>
              </a:spcAft>
            </a:pPr>
            <a:r>
              <a:rPr sz="1050" b="0" i="0">
                <a:solidFill>
                  <a:srgbClr val="FFFFFF"/>
                </a:solidFill>
                <a:latin typeface="Segoe UI"/>
              </a:rPr>
              <a:t>2nd place</a:t>
            </a:r>
          </a:p>
        </p:txBody>
      </p:sp>
      <p:sp>
        <p:nvSpPr>
          <p:cNvPr id="21" name="TextBox 20"/>
          <p:cNvSpPr txBox="1"/>
          <p:nvPr/>
        </p:nvSpPr>
        <p:spPr>
          <a:xfrm>
            <a:off x="3602736" y="2395728"/>
            <a:ext cx="2203704" cy="457200"/>
          </a:xfrm>
          <a:prstGeom prst="rect">
            <a:avLst/>
          </a:prstGeom>
          <a:noFill/>
        </p:spPr>
        <p:txBody>
          <a:bodyPr wrap="square" anchor="t" lIns="0" rIns="0" tIns="0" bIns="0">
            <a:spAutoFit/>
          </a:bodyPr>
          <a:lstStyle/>
          <a:p>
            <a:pPr algn="l">
              <a:spcAft>
                <a:spcPts val="0"/>
              </a:spcAft>
            </a:pPr>
            <a:r>
              <a:rPr sz="2600" b="1" i="0">
                <a:solidFill>
                  <a:srgbClr val="FFFFFF"/>
                </a:solidFill>
                <a:latin typeface="Segoe UI"/>
              </a:rPr>
              <a:t>$5,000</a:t>
            </a:r>
          </a:p>
        </p:txBody>
      </p:sp>
      <p:sp>
        <p:nvSpPr>
          <p:cNvPr id="22" name="TextBox 21"/>
          <p:cNvSpPr txBox="1"/>
          <p:nvPr/>
        </p:nvSpPr>
        <p:spPr>
          <a:xfrm>
            <a:off x="3602736" y="2889504"/>
            <a:ext cx="2203704" cy="274320"/>
          </a:xfrm>
          <a:prstGeom prst="rect">
            <a:avLst/>
          </a:prstGeom>
          <a:noFill/>
        </p:spPr>
        <p:txBody>
          <a:bodyPr wrap="square" anchor="t" lIns="0" rIns="0" tIns="0" bIns="0">
            <a:spAutoFit/>
          </a:bodyPr>
          <a:lstStyle/>
          <a:p>
            <a:pPr algn="l">
              <a:lnSpc>
                <a:spcPct val="102000"/>
              </a:lnSpc>
              <a:spcAft>
                <a:spcPts val="0"/>
              </a:spcAft>
            </a:pPr>
            <a:r>
              <a:rPr sz="950" b="0" i="0">
                <a:solidFill>
                  <a:srgbClr val="FFFFFF"/>
                </a:solidFill>
                <a:latin typeface="Segoe UI"/>
              </a:rPr>
              <a:t>per volume bucket</a:t>
            </a:r>
          </a:p>
        </p:txBody>
      </p:sp>
      <p:sp>
        <p:nvSpPr>
          <p:cNvPr id="23" name="Rectangle 22"/>
          <p:cNvSpPr/>
          <p:nvPr/>
        </p:nvSpPr>
        <p:spPr>
          <a:xfrm>
            <a:off x="6199632" y="2103120"/>
            <a:ext cx="2606040" cy="1115568"/>
          </a:xfrm>
          <a:prstGeom prst="rect">
            <a:avLst/>
          </a:prstGeom>
          <a:solidFill>
            <a:srgbClr val="BFD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2212848"/>
            <a:ext cx="2203704" cy="201168"/>
          </a:xfrm>
          <a:prstGeom prst="rect">
            <a:avLst/>
          </a:prstGeom>
          <a:noFill/>
        </p:spPr>
        <p:txBody>
          <a:bodyPr wrap="square" anchor="t" lIns="0" rIns="0" tIns="0" bIns="0">
            <a:spAutoFit/>
          </a:bodyPr>
          <a:lstStyle/>
          <a:p>
            <a:pPr algn="l">
              <a:spcAft>
                <a:spcPts val="0"/>
              </a:spcAft>
            </a:pPr>
            <a:r>
              <a:rPr sz="1050" b="0" i="0">
                <a:solidFill>
                  <a:srgbClr val="17344F"/>
                </a:solidFill>
                <a:latin typeface="Segoe UI"/>
              </a:rPr>
              <a:t>3rd place</a:t>
            </a:r>
          </a:p>
        </p:txBody>
      </p:sp>
      <p:sp>
        <p:nvSpPr>
          <p:cNvPr id="25" name="TextBox 24"/>
          <p:cNvSpPr txBox="1"/>
          <p:nvPr/>
        </p:nvSpPr>
        <p:spPr>
          <a:xfrm>
            <a:off x="6419088" y="2395728"/>
            <a:ext cx="2203704" cy="457200"/>
          </a:xfrm>
          <a:prstGeom prst="rect">
            <a:avLst/>
          </a:prstGeom>
          <a:noFill/>
        </p:spPr>
        <p:txBody>
          <a:bodyPr wrap="square" anchor="t" lIns="0" rIns="0" tIns="0" bIns="0">
            <a:spAutoFit/>
          </a:bodyPr>
          <a:lstStyle/>
          <a:p>
            <a:pPr algn="l">
              <a:spcAft>
                <a:spcPts val="0"/>
              </a:spcAft>
            </a:pPr>
            <a:r>
              <a:rPr sz="2600" b="1" i="0">
                <a:solidFill>
                  <a:srgbClr val="17344F"/>
                </a:solidFill>
                <a:latin typeface="Segoe UI"/>
              </a:rPr>
              <a:t>$3,000</a:t>
            </a:r>
          </a:p>
        </p:txBody>
      </p:sp>
      <p:sp>
        <p:nvSpPr>
          <p:cNvPr id="26" name="TextBox 25"/>
          <p:cNvSpPr txBox="1"/>
          <p:nvPr/>
        </p:nvSpPr>
        <p:spPr>
          <a:xfrm>
            <a:off x="6419088" y="2889504"/>
            <a:ext cx="2203704" cy="274320"/>
          </a:xfrm>
          <a:prstGeom prst="rect">
            <a:avLst/>
          </a:prstGeom>
          <a:noFill/>
        </p:spPr>
        <p:txBody>
          <a:bodyPr wrap="square" anchor="t" lIns="0" rIns="0" tIns="0" bIns="0">
            <a:spAutoFit/>
          </a:bodyPr>
          <a:lstStyle/>
          <a:p>
            <a:pPr algn="l">
              <a:lnSpc>
                <a:spcPct val="102000"/>
              </a:lnSpc>
              <a:spcAft>
                <a:spcPts val="0"/>
              </a:spcAft>
            </a:pPr>
            <a:r>
              <a:rPr sz="950" b="0" i="0">
                <a:solidFill>
                  <a:srgbClr val="17344F"/>
                </a:solidFill>
                <a:latin typeface="Segoe UI"/>
              </a:rPr>
              <a:t>per volume bucket</a:t>
            </a:r>
          </a:p>
        </p:txBody>
      </p:sp>
      <p:sp>
        <p:nvSpPr>
          <p:cNvPr id="27" name="Rectangle 26"/>
          <p:cNvSpPr/>
          <p:nvPr/>
        </p:nvSpPr>
        <p:spPr>
          <a:xfrm>
            <a:off x="9015984" y="2103120"/>
            <a:ext cx="2606040" cy="1115568"/>
          </a:xfrm>
          <a:prstGeom prst="rect">
            <a:avLst/>
          </a:prstGeom>
          <a:solidFill>
            <a:srgbClr val="F2F6EC"/>
          </a:solidFill>
          <a:ln w="9525">
            <a:solidFill>
              <a:srgbClr val="567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15984" y="2103120"/>
            <a:ext cx="91440" cy="1115568"/>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72016" y="2212848"/>
            <a:ext cx="2167128" cy="201168"/>
          </a:xfrm>
          <a:prstGeom prst="rect">
            <a:avLst/>
          </a:prstGeom>
          <a:noFill/>
        </p:spPr>
        <p:txBody>
          <a:bodyPr wrap="square" anchor="t" lIns="0" rIns="0" tIns="0" bIns="0">
            <a:spAutoFit/>
          </a:bodyPr>
          <a:lstStyle/>
          <a:p>
            <a:pPr algn="l">
              <a:spcAft>
                <a:spcPts val="0"/>
              </a:spcAft>
            </a:pPr>
            <a:r>
              <a:rPr sz="1050" b="0" i="0">
                <a:solidFill>
                  <a:srgbClr val="8A8A80"/>
                </a:solidFill>
                <a:latin typeface="Segoe UI"/>
              </a:rPr>
              <a:t>Conversion kicker</a:t>
            </a:r>
          </a:p>
        </p:txBody>
      </p:sp>
      <p:sp>
        <p:nvSpPr>
          <p:cNvPr id="30" name="TextBox 29"/>
          <p:cNvSpPr txBox="1"/>
          <p:nvPr/>
        </p:nvSpPr>
        <p:spPr>
          <a:xfrm>
            <a:off x="9272016" y="2395728"/>
            <a:ext cx="2167128" cy="457200"/>
          </a:xfrm>
          <a:prstGeom prst="rect">
            <a:avLst/>
          </a:prstGeom>
          <a:noFill/>
        </p:spPr>
        <p:txBody>
          <a:bodyPr wrap="square" anchor="t" lIns="0" rIns="0" tIns="0" bIns="0">
            <a:spAutoFit/>
          </a:bodyPr>
          <a:lstStyle/>
          <a:p>
            <a:pPr algn="l">
              <a:spcAft>
                <a:spcPts val="0"/>
              </a:spcAft>
            </a:pPr>
            <a:r>
              <a:rPr sz="2600" b="1" i="0">
                <a:solidFill>
                  <a:srgbClr val="567A2E"/>
                </a:solidFill>
                <a:latin typeface="Segoe UI"/>
              </a:rPr>
              <a:t>$5,000</a:t>
            </a:r>
          </a:p>
        </p:txBody>
      </p:sp>
      <p:sp>
        <p:nvSpPr>
          <p:cNvPr id="31" name="TextBox 30"/>
          <p:cNvSpPr txBox="1"/>
          <p:nvPr/>
        </p:nvSpPr>
        <p:spPr>
          <a:xfrm>
            <a:off x="9272016" y="2889504"/>
            <a:ext cx="2167128" cy="274320"/>
          </a:xfrm>
          <a:prstGeom prst="rect">
            <a:avLst/>
          </a:prstGeom>
          <a:noFill/>
        </p:spPr>
        <p:txBody>
          <a:bodyPr wrap="square" anchor="t" lIns="0" rIns="0" tIns="0" bIns="0">
            <a:spAutoFit/>
          </a:bodyPr>
          <a:lstStyle/>
          <a:p>
            <a:pPr algn="l">
              <a:lnSpc>
                <a:spcPct val="102000"/>
              </a:lnSpc>
              <a:spcAft>
                <a:spcPts val="0"/>
              </a:spcAft>
            </a:pPr>
            <a:r>
              <a:rPr sz="950" b="0" i="0">
                <a:solidFill>
                  <a:srgbClr val="8A8A80"/>
                </a:solidFill>
                <a:latin typeface="Segoe UI"/>
              </a:rPr>
              <a:t>per volume bucket, best TTP pull-through</a:t>
            </a:r>
          </a:p>
        </p:txBody>
      </p:sp>
      <p:sp>
        <p:nvSpPr>
          <p:cNvPr id="32" name="TextBox 31"/>
          <p:cNvSpPr txBox="1"/>
          <p:nvPr/>
        </p:nvSpPr>
        <p:spPr>
          <a:xfrm>
            <a:off x="566928" y="3456432"/>
            <a:ext cx="11055096" cy="237744"/>
          </a:xfrm>
          <a:prstGeom prst="rect">
            <a:avLst/>
          </a:prstGeom>
          <a:noFill/>
        </p:spPr>
        <p:txBody>
          <a:bodyPr wrap="square" anchor="t" lIns="0" rIns="0" tIns="0" bIns="0">
            <a:spAutoFit/>
          </a:bodyPr>
          <a:lstStyle/>
          <a:p>
            <a:pPr algn="l">
              <a:spcAft>
                <a:spcPts val="0"/>
              </a:spcAft>
            </a:pPr>
            <a:r>
              <a:rPr sz="1100" b="1" i="0">
                <a:solidFill>
                  <a:srgbClr val="567A2E"/>
                </a:solidFill>
                <a:latin typeface="Segoe UI"/>
              </a:rPr>
              <a:t>RADs, AND THE COUNTRY AS A WHOLE</a:t>
            </a:r>
          </a:p>
        </p:txBody>
      </p:sp>
      <p:sp>
        <p:nvSpPr>
          <p:cNvPr id="33" name="Rectangle 32"/>
          <p:cNvSpPr/>
          <p:nvPr/>
        </p:nvSpPr>
        <p:spPr>
          <a:xfrm>
            <a:off x="566928" y="3712464"/>
            <a:ext cx="11055096"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3867912"/>
            <a:ext cx="2606040" cy="1115568"/>
          </a:xfrm>
          <a:prstGeom prst="rect">
            <a:avLst/>
          </a:prstGeom>
          <a:solidFill>
            <a:srgbClr val="173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3977640"/>
            <a:ext cx="2203704" cy="201168"/>
          </a:xfrm>
          <a:prstGeom prst="rect">
            <a:avLst/>
          </a:prstGeom>
          <a:noFill/>
        </p:spPr>
        <p:txBody>
          <a:bodyPr wrap="square" anchor="t" lIns="0" rIns="0" tIns="0" bIns="0">
            <a:spAutoFit/>
          </a:bodyPr>
          <a:lstStyle/>
          <a:p>
            <a:pPr algn="l">
              <a:spcAft>
                <a:spcPts val="0"/>
              </a:spcAft>
            </a:pPr>
            <a:r>
              <a:rPr sz="1050" b="0" i="0">
                <a:solidFill>
                  <a:srgbClr val="FFFFFF"/>
                </a:solidFill>
                <a:latin typeface="Segoe UI"/>
              </a:rPr>
              <a:t>RAD 1st place</a:t>
            </a:r>
          </a:p>
        </p:txBody>
      </p:sp>
      <p:sp>
        <p:nvSpPr>
          <p:cNvPr id="36" name="TextBox 35"/>
          <p:cNvSpPr txBox="1"/>
          <p:nvPr/>
        </p:nvSpPr>
        <p:spPr>
          <a:xfrm>
            <a:off x="786384" y="4160520"/>
            <a:ext cx="2203704" cy="457200"/>
          </a:xfrm>
          <a:prstGeom prst="rect">
            <a:avLst/>
          </a:prstGeom>
          <a:noFill/>
        </p:spPr>
        <p:txBody>
          <a:bodyPr wrap="square" anchor="t" lIns="0" rIns="0" tIns="0" bIns="0">
            <a:spAutoFit/>
          </a:bodyPr>
          <a:lstStyle/>
          <a:p>
            <a:pPr algn="l">
              <a:spcAft>
                <a:spcPts val="0"/>
              </a:spcAft>
            </a:pPr>
            <a:r>
              <a:rPr sz="2600" b="1" i="0">
                <a:solidFill>
                  <a:srgbClr val="FFFFFF"/>
                </a:solidFill>
                <a:latin typeface="Segoe UI"/>
              </a:rPr>
              <a:t>$10,000</a:t>
            </a:r>
          </a:p>
        </p:txBody>
      </p:sp>
      <p:sp>
        <p:nvSpPr>
          <p:cNvPr id="37" name="TextBox 36"/>
          <p:cNvSpPr txBox="1"/>
          <p:nvPr/>
        </p:nvSpPr>
        <p:spPr>
          <a:xfrm>
            <a:off x="786384" y="4654296"/>
            <a:ext cx="2203704" cy="274320"/>
          </a:xfrm>
          <a:prstGeom prst="rect">
            <a:avLst/>
          </a:prstGeom>
          <a:noFill/>
        </p:spPr>
        <p:txBody>
          <a:bodyPr wrap="square" anchor="t" lIns="0" rIns="0" tIns="0" bIns="0">
            <a:spAutoFit/>
          </a:bodyPr>
          <a:lstStyle/>
          <a:p>
            <a:pPr algn="l">
              <a:lnSpc>
                <a:spcPct val="102000"/>
              </a:lnSpc>
              <a:spcAft>
                <a:spcPts val="0"/>
              </a:spcAft>
            </a:pPr>
            <a:r>
              <a:rPr sz="950" b="0" i="0">
                <a:solidFill>
                  <a:srgbClr val="FFFFFF"/>
                </a:solidFill>
                <a:latin typeface="Segoe UI"/>
              </a:rPr>
              <a:t>one overall RAD bucket</a:t>
            </a:r>
          </a:p>
        </p:txBody>
      </p:sp>
      <p:sp>
        <p:nvSpPr>
          <p:cNvPr id="38" name="Rectangle 37"/>
          <p:cNvSpPr/>
          <p:nvPr/>
        </p:nvSpPr>
        <p:spPr>
          <a:xfrm>
            <a:off x="3383280" y="3867912"/>
            <a:ext cx="2606040" cy="1115568"/>
          </a:xfrm>
          <a:prstGeom prst="rect">
            <a:avLst/>
          </a:prstGeom>
          <a:solidFill>
            <a:srgbClr val="2E6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02736" y="3977640"/>
            <a:ext cx="2203704" cy="201168"/>
          </a:xfrm>
          <a:prstGeom prst="rect">
            <a:avLst/>
          </a:prstGeom>
          <a:noFill/>
        </p:spPr>
        <p:txBody>
          <a:bodyPr wrap="square" anchor="t" lIns="0" rIns="0" tIns="0" bIns="0">
            <a:spAutoFit/>
          </a:bodyPr>
          <a:lstStyle/>
          <a:p>
            <a:pPr algn="l">
              <a:spcAft>
                <a:spcPts val="0"/>
              </a:spcAft>
            </a:pPr>
            <a:r>
              <a:rPr sz="1050" b="0" i="0">
                <a:solidFill>
                  <a:srgbClr val="FFFFFF"/>
                </a:solidFill>
                <a:latin typeface="Segoe UI"/>
              </a:rPr>
              <a:t>RAD 2nd place</a:t>
            </a:r>
          </a:p>
        </p:txBody>
      </p:sp>
      <p:sp>
        <p:nvSpPr>
          <p:cNvPr id="40" name="TextBox 39"/>
          <p:cNvSpPr txBox="1"/>
          <p:nvPr/>
        </p:nvSpPr>
        <p:spPr>
          <a:xfrm>
            <a:off x="3602736" y="4160520"/>
            <a:ext cx="2203704" cy="457200"/>
          </a:xfrm>
          <a:prstGeom prst="rect">
            <a:avLst/>
          </a:prstGeom>
          <a:noFill/>
        </p:spPr>
        <p:txBody>
          <a:bodyPr wrap="square" anchor="t" lIns="0" rIns="0" tIns="0" bIns="0">
            <a:spAutoFit/>
          </a:bodyPr>
          <a:lstStyle/>
          <a:p>
            <a:pPr algn="l">
              <a:spcAft>
                <a:spcPts val="0"/>
              </a:spcAft>
            </a:pPr>
            <a:r>
              <a:rPr sz="2600" b="1" i="0">
                <a:solidFill>
                  <a:srgbClr val="FFFFFF"/>
                </a:solidFill>
                <a:latin typeface="Segoe UI"/>
              </a:rPr>
              <a:t>$5,000</a:t>
            </a:r>
          </a:p>
        </p:txBody>
      </p:sp>
      <p:sp>
        <p:nvSpPr>
          <p:cNvPr id="41" name="TextBox 40"/>
          <p:cNvSpPr txBox="1"/>
          <p:nvPr/>
        </p:nvSpPr>
        <p:spPr>
          <a:xfrm>
            <a:off x="3602736" y="4654296"/>
            <a:ext cx="2203704" cy="274320"/>
          </a:xfrm>
          <a:prstGeom prst="rect">
            <a:avLst/>
          </a:prstGeom>
          <a:noFill/>
        </p:spPr>
        <p:txBody>
          <a:bodyPr wrap="square" anchor="t" lIns="0" rIns="0" tIns="0" bIns="0">
            <a:spAutoFit/>
          </a:bodyPr>
          <a:lstStyle/>
          <a:p>
            <a:pPr algn="l">
              <a:lnSpc>
                <a:spcPct val="102000"/>
              </a:lnSpc>
              <a:spcAft>
                <a:spcPts val="0"/>
              </a:spcAft>
            </a:pPr>
            <a:r>
              <a:rPr sz="950" b="0" i="0">
                <a:solidFill>
                  <a:srgbClr val="FFFFFF"/>
                </a:solidFill>
                <a:latin typeface="Segoe UI"/>
              </a:rPr>
              <a:t>one overall RAD bucket</a:t>
            </a:r>
          </a:p>
        </p:txBody>
      </p:sp>
      <p:sp>
        <p:nvSpPr>
          <p:cNvPr id="42" name="Rectangle 41"/>
          <p:cNvSpPr/>
          <p:nvPr/>
        </p:nvSpPr>
        <p:spPr>
          <a:xfrm>
            <a:off x="6199632" y="3867912"/>
            <a:ext cx="2606040" cy="1115568"/>
          </a:xfrm>
          <a:prstGeom prst="rect">
            <a:avLst/>
          </a:prstGeom>
          <a:solidFill>
            <a:srgbClr val="EAEEF2"/>
          </a:solidFill>
          <a:ln w="9525">
            <a:solidFill>
              <a:srgbClr val="173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99632" y="3867912"/>
            <a:ext cx="91440" cy="1115568"/>
          </a:xfrm>
          <a:prstGeom prst="rect">
            <a:avLst/>
          </a:prstGeom>
          <a:solidFill>
            <a:srgbClr val="173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55664" y="3977640"/>
            <a:ext cx="2167128" cy="201168"/>
          </a:xfrm>
          <a:prstGeom prst="rect">
            <a:avLst/>
          </a:prstGeom>
          <a:noFill/>
        </p:spPr>
        <p:txBody>
          <a:bodyPr wrap="square" anchor="t" lIns="0" rIns="0" tIns="0" bIns="0">
            <a:spAutoFit/>
          </a:bodyPr>
          <a:lstStyle/>
          <a:p>
            <a:pPr algn="l">
              <a:spcAft>
                <a:spcPts val="0"/>
              </a:spcAft>
            </a:pPr>
            <a:r>
              <a:rPr sz="1050" b="0" i="0">
                <a:solidFill>
                  <a:srgbClr val="8A8A80"/>
                </a:solidFill>
                <a:latin typeface="Segoe UI"/>
              </a:rPr>
              <a:t>RAD conversion kicker</a:t>
            </a:r>
          </a:p>
        </p:txBody>
      </p:sp>
      <p:sp>
        <p:nvSpPr>
          <p:cNvPr id="45" name="TextBox 44"/>
          <p:cNvSpPr txBox="1"/>
          <p:nvPr/>
        </p:nvSpPr>
        <p:spPr>
          <a:xfrm>
            <a:off x="6455664" y="4160520"/>
            <a:ext cx="2167128" cy="457200"/>
          </a:xfrm>
          <a:prstGeom prst="rect">
            <a:avLst/>
          </a:prstGeom>
          <a:noFill/>
        </p:spPr>
        <p:txBody>
          <a:bodyPr wrap="square" anchor="t" lIns="0" rIns="0" tIns="0" bIns="0">
            <a:spAutoFit/>
          </a:bodyPr>
          <a:lstStyle/>
          <a:p>
            <a:pPr algn="l">
              <a:spcAft>
                <a:spcPts val="0"/>
              </a:spcAft>
            </a:pPr>
            <a:r>
              <a:rPr sz="2600" b="1" i="0">
                <a:solidFill>
                  <a:srgbClr val="17344F"/>
                </a:solidFill>
                <a:latin typeface="Segoe UI"/>
              </a:rPr>
              <a:t>$5,000</a:t>
            </a:r>
          </a:p>
        </p:txBody>
      </p:sp>
      <p:sp>
        <p:nvSpPr>
          <p:cNvPr id="46" name="TextBox 45"/>
          <p:cNvSpPr txBox="1"/>
          <p:nvPr/>
        </p:nvSpPr>
        <p:spPr>
          <a:xfrm>
            <a:off x="6455664" y="4654296"/>
            <a:ext cx="2167128" cy="274320"/>
          </a:xfrm>
          <a:prstGeom prst="rect">
            <a:avLst/>
          </a:prstGeom>
          <a:noFill/>
        </p:spPr>
        <p:txBody>
          <a:bodyPr wrap="square" anchor="t" lIns="0" rIns="0" tIns="0" bIns="0">
            <a:spAutoFit/>
          </a:bodyPr>
          <a:lstStyle/>
          <a:p>
            <a:pPr algn="l">
              <a:lnSpc>
                <a:spcPct val="102000"/>
              </a:lnSpc>
              <a:spcAft>
                <a:spcPts val="0"/>
              </a:spcAft>
            </a:pPr>
            <a:r>
              <a:rPr sz="950" b="0" i="0">
                <a:solidFill>
                  <a:srgbClr val="8A8A80"/>
                </a:solidFill>
                <a:latin typeface="Segoe UI"/>
              </a:rPr>
              <a:t>one across all RADs</a:t>
            </a:r>
          </a:p>
        </p:txBody>
      </p:sp>
      <p:sp>
        <p:nvSpPr>
          <p:cNvPr id="47" name="Rectangle 46"/>
          <p:cNvSpPr/>
          <p:nvPr/>
        </p:nvSpPr>
        <p:spPr>
          <a:xfrm>
            <a:off x="9015984" y="3867912"/>
            <a:ext cx="2606040" cy="1115568"/>
          </a:xfrm>
          <a:prstGeom prst="rect">
            <a:avLst/>
          </a:prstGeom>
          <a:solidFill>
            <a:srgbClr val="EAEEF2"/>
          </a:solidFill>
          <a:ln w="9525">
            <a:solidFill>
              <a:srgbClr val="1734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15984" y="3867912"/>
            <a:ext cx="91440" cy="1115568"/>
          </a:xfrm>
          <a:prstGeom prst="rect">
            <a:avLst/>
          </a:prstGeom>
          <a:solidFill>
            <a:srgbClr val="1734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72016" y="3977640"/>
            <a:ext cx="2167128" cy="201168"/>
          </a:xfrm>
          <a:prstGeom prst="rect">
            <a:avLst/>
          </a:prstGeom>
          <a:noFill/>
        </p:spPr>
        <p:txBody>
          <a:bodyPr wrap="square" anchor="t" lIns="0" rIns="0" tIns="0" bIns="0">
            <a:spAutoFit/>
          </a:bodyPr>
          <a:lstStyle/>
          <a:p>
            <a:pPr algn="l">
              <a:spcAft>
                <a:spcPts val="0"/>
              </a:spcAft>
            </a:pPr>
            <a:r>
              <a:rPr sz="1050" b="0" i="0">
                <a:solidFill>
                  <a:srgbClr val="8A8A80"/>
                </a:solidFill>
                <a:latin typeface="Segoe UI"/>
              </a:rPr>
              <a:t>National bonus</a:t>
            </a:r>
          </a:p>
        </p:txBody>
      </p:sp>
      <p:sp>
        <p:nvSpPr>
          <p:cNvPr id="50" name="TextBox 49"/>
          <p:cNvSpPr txBox="1"/>
          <p:nvPr/>
        </p:nvSpPr>
        <p:spPr>
          <a:xfrm>
            <a:off x="9272016" y="4160520"/>
            <a:ext cx="2167128" cy="457200"/>
          </a:xfrm>
          <a:prstGeom prst="rect">
            <a:avLst/>
          </a:prstGeom>
          <a:noFill/>
        </p:spPr>
        <p:txBody>
          <a:bodyPr wrap="square" anchor="t" lIns="0" rIns="0" tIns="0" bIns="0">
            <a:spAutoFit/>
          </a:bodyPr>
          <a:lstStyle/>
          <a:p>
            <a:pPr algn="l">
              <a:spcAft>
                <a:spcPts val="0"/>
              </a:spcAft>
            </a:pPr>
            <a:r>
              <a:rPr sz="2600" b="1" i="0">
                <a:solidFill>
                  <a:srgbClr val="17344F"/>
                </a:solidFill>
                <a:latin typeface="Segoe UI"/>
              </a:rPr>
              <a:t>$10,000</a:t>
            </a:r>
          </a:p>
        </p:txBody>
      </p:sp>
      <p:sp>
        <p:nvSpPr>
          <p:cNvPr id="51" name="TextBox 50"/>
          <p:cNvSpPr txBox="1"/>
          <p:nvPr/>
        </p:nvSpPr>
        <p:spPr>
          <a:xfrm>
            <a:off x="9272016" y="4654296"/>
            <a:ext cx="2167128" cy="274320"/>
          </a:xfrm>
          <a:prstGeom prst="rect">
            <a:avLst/>
          </a:prstGeom>
          <a:noFill/>
        </p:spPr>
        <p:txBody>
          <a:bodyPr wrap="square" anchor="t" lIns="0" rIns="0" tIns="0" bIns="0">
            <a:spAutoFit/>
          </a:bodyPr>
          <a:lstStyle/>
          <a:p>
            <a:pPr algn="l">
              <a:lnSpc>
                <a:spcPct val="102000"/>
              </a:lnSpc>
              <a:spcAft>
                <a:spcPts val="0"/>
              </a:spcAft>
            </a:pPr>
            <a:r>
              <a:rPr sz="950" b="0" i="0">
                <a:solidFill>
                  <a:srgbClr val="8A8A80"/>
                </a:solidFill>
                <a:latin typeface="Segoe UI"/>
              </a:rPr>
              <a:t>VP option, if enrollments exceed 203</a:t>
            </a:r>
          </a:p>
        </p:txBody>
      </p:sp>
      <p:sp>
        <p:nvSpPr>
          <p:cNvPr id="52" name="Rectangle 51"/>
          <p:cNvSpPr/>
          <p:nvPr/>
        </p:nvSpPr>
        <p:spPr>
          <a:xfrm>
            <a:off x="566928" y="5230368"/>
            <a:ext cx="11055096" cy="621792"/>
          </a:xfrm>
          <a:prstGeom prst="rect">
            <a:avLst/>
          </a:prstGeom>
          <a:solidFill>
            <a:srgbClr val="E7E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68096" y="5358384"/>
            <a:ext cx="10652760" cy="438912"/>
          </a:xfrm>
          <a:prstGeom prst="rect">
            <a:avLst/>
          </a:prstGeom>
          <a:noFill/>
        </p:spPr>
        <p:txBody>
          <a:bodyPr wrap="square" anchor="t" lIns="0" rIns="0" tIns="0" bIns="0">
            <a:spAutoFit/>
          </a:bodyPr>
          <a:lstStyle/>
          <a:p>
            <a:pPr algn="l">
              <a:lnSpc>
                <a:spcPct val="106000"/>
              </a:lnSpc>
              <a:spcAft>
                <a:spcPts val="0"/>
              </a:spcAft>
            </a:pPr>
            <a:r>
              <a:rPr sz="1200" b="1" i="0">
                <a:solidFill>
                  <a:srgbClr val="17344F"/>
                </a:solidFill>
                <a:latin typeface="Segoe UI"/>
              </a:rPr>
              <a:t>Maximum payout $90,000.</a:t>
            </a:r>
            <a:r>
              <a:rPr sz="1200" b="0" i="0">
                <a:solidFill>
                  <a:srgbClr val="17344F"/>
                </a:solidFill>
                <a:latin typeface="Segoe UI"/>
              </a:rPr>
              <a:t>  $20,000 in each of the three volume buckets, $20,000 in the RAD bucket, and the $10,000 national bonus. You have to finish above your baseline to place.</a:t>
            </a:r>
          </a:p>
        </p:txBody>
      </p:sp>
      <p:sp>
        <p:nvSpPr>
          <p:cNvPr id="54" name="TextBox 53"/>
          <p:cNvSpPr txBox="1"/>
          <p:nvPr/>
        </p:nvSpPr>
        <p:spPr>
          <a:xfrm>
            <a:off x="566928" y="6309360"/>
            <a:ext cx="10607040" cy="310896"/>
          </a:xfrm>
          <a:prstGeom prst="rect">
            <a:avLst/>
          </a:prstGeom>
          <a:noFill/>
        </p:spPr>
        <p:txBody>
          <a:bodyPr wrap="square" anchor="t" lIns="0" rIns="0" tIns="0" bIns="0">
            <a:spAutoFit/>
          </a:bodyPr>
          <a:lstStyle/>
          <a:p>
            <a:pPr algn="l">
              <a:lnSpc>
                <a:spcPct val="105000"/>
              </a:lnSpc>
              <a:spcAft>
                <a:spcPts val="0"/>
              </a:spcAft>
            </a:pPr>
            <a:r>
              <a:rPr sz="850" b="0" i="1">
                <a:solidFill>
                  <a:srgbClr val="8A8A80"/>
                </a:solidFill>
                <a:latin typeface="Segoe UI"/>
              </a:rPr>
              <a:t>203 is the sum of every territory baseline in the appendix. Figures are proposed for 2H 2026, subject to leadership approval.</a:t>
            </a:r>
          </a:p>
        </p:txBody>
      </p:sp>
    </p:spTree>
    <p:extLst>
      <p:ext uri="{BB962C8B-B14F-4D97-AF65-F5344CB8AC3E}">
        <p14:creationId xmlns:p14="http://schemas.microsoft.com/office/powerpoint/2010/main" val="2315609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6928" y="310896"/>
            <a:ext cx="10515600" cy="274320"/>
          </a:xfrm>
          <a:prstGeom prst="rect">
            <a:avLst/>
          </a:prstGeom>
          <a:noFill/>
          <a:ln/>
        </p:spPr>
        <p:txBody>
          <a:bodyPr wrap="square" lIns="0" tIns="0" rIns="0" bIns="0" rtlCol="0" anchor="ctr"/>
          <a:lstStyle/>
          <a:p>
            <a:pPr marL="0" indent="0">
              <a:buNone/>
            </a:pPr>
            <a:r>
              <a:rPr lang="en-US" sz="1200" b="1" kern="0" spc="120" dirty="0">
                <a:solidFill>
                  <a:srgbClr val="2F5D8A"/>
                </a:solidFill>
                <a:latin typeface="Segoe UI" pitchFamily="34" charset="0"/>
                <a:cs typeface="Segoe UI" pitchFamily="34" charset="-120"/>
              </a:rPr>
              <a:t>REFERENCE  |  THE BASELINES</a:t>
            </a:r>
          </a:p>
        </p:txBody>
      </p:sp>
      <p:sp>
        <p:nvSpPr>
          <p:cNvPr id="3" name="Shape 1"/>
          <p:cNvSpPr/>
          <p:nvPr/>
        </p:nvSpPr>
        <p:spPr>
          <a:xfrm>
            <a:off x="329184" y="731520"/>
            <a:ext cx="109728" cy="109728"/>
          </a:xfrm>
          <a:prstGeom prst="rect">
            <a:avLst/>
          </a:prstGeom>
          <a:solidFill>
            <a:srgbClr val="567A2E"/>
          </a:solidFill>
          <a:ln/>
        </p:spPr>
        <p:txBody>
          <a:bodyPr/>
          <a:lstStyle/>
          <a:p>
            <a:endParaRPr lang="en-US"/>
          </a:p>
        </p:txBody>
      </p:sp>
      <p:sp>
        <p:nvSpPr>
          <p:cNvPr id="4" name="Shape 2"/>
          <p:cNvSpPr/>
          <p:nvPr/>
        </p:nvSpPr>
        <p:spPr>
          <a:xfrm>
            <a:off x="11750040" y="731520"/>
            <a:ext cx="109728" cy="109728"/>
          </a:xfrm>
          <a:prstGeom prst="rect">
            <a:avLst/>
          </a:prstGeom>
          <a:solidFill>
            <a:srgbClr val="567A2E"/>
          </a:solidFill>
          <a:ln/>
        </p:spPr>
        <p:txBody>
          <a:bodyPr/>
          <a:lstStyle/>
          <a:p>
            <a:endParaRPr lang="en-US"/>
          </a:p>
        </p:txBody>
      </p:sp>
      <p:sp>
        <p:nvSpPr>
          <p:cNvPr id="5" name="Text 3"/>
          <p:cNvSpPr/>
          <p:nvPr/>
        </p:nvSpPr>
        <p:spPr>
          <a:xfrm>
            <a:off x="566928" y="566928"/>
            <a:ext cx="11018520" cy="868680"/>
          </a:xfrm>
          <a:prstGeom prst="rect">
            <a:avLst/>
          </a:prstGeom>
          <a:noFill/>
          <a:ln/>
        </p:spPr>
        <p:txBody>
          <a:bodyPr wrap="square" lIns="0" tIns="0" rIns="0" bIns="0" rtlCol="0" anchor="t"/>
          <a:lstStyle/>
          <a:p>
            <a:pPr marL="0" indent="0">
              <a:lnSpc>
                <a:spcPct val="100000"/>
              </a:lnSpc>
              <a:buNone/>
            </a:pPr>
            <a:r>
              <a:rPr lang="en-US" sz="2300" b="1" dirty="0">
                <a:solidFill>
                  <a:srgbClr val="17344F"/>
                </a:solidFill>
                <a:latin typeface="Segoe UI" pitchFamily="34" charset="0"/>
                <a:cs typeface="Segoe UI" pitchFamily="34" charset="-120"/>
              </a:rPr>
              <a:t>All 28 territories and the baseline each has to beat,</a:t>
            </a:r>
          </a:p>
          <a:p>
            <a:pPr marL="0" indent="0">
              <a:lnSpc>
                <a:spcPct val="100000"/>
              </a:lnSpc>
              <a:buNone/>
            </a:pPr>
            <a:r>
              <a:rPr lang="en-US" sz="2300" b="1" dirty="0">
                <a:solidFill>
                  <a:srgbClr val="17344F"/>
                </a:solidFill>
                <a:latin typeface="Segoe UI" pitchFamily="34" charset="0"/>
                <a:cs typeface="Segoe UI" pitchFamily="34" charset="-120"/>
              </a:rPr>
              <a:t>inside its volume bucket</a:t>
            </a:r>
          </a:p>
        </p:txBody>
      </p:sp>
      <p:sp>
        <p:nvSpPr>
          <p:cNvPr id="6" name="Shape 4"/>
          <p:cNvSpPr/>
          <p:nvPr/>
        </p:nvSpPr>
        <p:spPr>
          <a:xfrm>
            <a:off x="0" y="6556248"/>
            <a:ext cx="12191695" cy="301752"/>
          </a:xfrm>
          <a:prstGeom prst="rect">
            <a:avLst/>
          </a:prstGeom>
          <a:solidFill>
            <a:srgbClr val="9DC13C"/>
          </a:solidFill>
          <a:ln/>
        </p:spPr>
        <p:txBody>
          <a:bodyPr/>
          <a:lstStyle/>
          <a:p>
            <a:endParaRPr lang="en-US"/>
          </a:p>
        </p:txBody>
      </p:sp>
      <p:sp>
        <p:nvSpPr>
          <p:cNvPr id="7" name="Shape 5"/>
          <p:cNvSpPr/>
          <p:nvPr/>
        </p:nvSpPr>
        <p:spPr>
          <a:xfrm flipH="1">
            <a:off x="9646920" y="6309360"/>
            <a:ext cx="502920" cy="548640"/>
          </a:xfrm>
          <a:prstGeom prst="rtTriangle">
            <a:avLst/>
          </a:prstGeom>
          <a:solidFill>
            <a:srgbClr val="9DC13C"/>
          </a:solidFill>
          <a:ln/>
        </p:spPr>
        <p:txBody>
          <a:bodyPr/>
          <a:lstStyle/>
          <a:p>
            <a:endParaRPr lang="en-US"/>
          </a:p>
        </p:txBody>
      </p:sp>
      <p:sp>
        <p:nvSpPr>
          <p:cNvPr id="8" name="Shape 6"/>
          <p:cNvSpPr/>
          <p:nvPr/>
        </p:nvSpPr>
        <p:spPr>
          <a:xfrm>
            <a:off x="10131552" y="6309360"/>
            <a:ext cx="2060143" cy="548640"/>
          </a:xfrm>
          <a:prstGeom prst="rect">
            <a:avLst/>
          </a:prstGeom>
          <a:solidFill>
            <a:srgbClr val="9DC13C"/>
          </a:solidFill>
          <a:ln/>
        </p:spPr>
        <p:txBody>
          <a:bodyPr/>
          <a:lstStyle/>
          <a:p>
            <a:endParaRPr lang="en-US"/>
          </a:p>
        </p:txBody>
      </p:sp>
      <p:sp>
        <p:nvSpPr>
          <p:cNvPr id="9" name="Text 7"/>
          <p:cNvSpPr/>
          <p:nvPr/>
        </p:nvSpPr>
        <p:spPr>
          <a:xfrm>
            <a:off x="274320" y="6556248"/>
            <a:ext cx="7772400" cy="301752"/>
          </a:xfrm>
          <a:prstGeom prst="rect">
            <a:avLst/>
          </a:prstGeom>
          <a:noFill/>
          <a:ln/>
        </p:spPr>
        <p:txBody>
          <a:bodyPr wrap="square" lIns="0" tIns="0" rIns="0" bIns="0" rtlCol="0" anchor="ctr"/>
          <a:lstStyle/>
          <a:p>
            <a:pPr marL="0" indent="0">
              <a:buNone/>
            </a:pPr>
            <a:r>
              <a:rPr lang="en-US" sz="700" dirty="0">
                <a:solidFill>
                  <a:srgbClr val="FFFFFF"/>
                </a:solidFill>
                <a:latin typeface="Segoe UI" pitchFamily="34" charset="0"/>
                <a:ea typeface="Segoe UI" pitchFamily="34" charset="-122"/>
                <a:cs typeface="Segoe UI" pitchFamily="34" charset="-120"/>
              </a:rPr>
              <a:t>© 2026, Iovance Biotherapeutics, Inc.  |  Confidential for Internal Use Only</a:t>
            </a:r>
            <a:endParaRPr lang="en-US" sz="700" dirty="0"/>
          </a:p>
        </p:txBody>
      </p:sp>
      <p:sp>
        <p:nvSpPr>
          <p:cNvPr id="10" name="Text 8"/>
          <p:cNvSpPr/>
          <p:nvPr/>
        </p:nvSpPr>
        <p:spPr>
          <a:xfrm>
            <a:off x="10058400" y="6309360"/>
            <a:ext cx="1600200" cy="548640"/>
          </a:xfrm>
          <a:prstGeom prst="rect">
            <a:avLst/>
          </a:prstGeom>
          <a:noFill/>
          <a:ln/>
        </p:spPr>
        <p:txBody>
          <a:bodyPr wrap="square" lIns="0" tIns="0" rIns="0" bIns="0" rtlCol="0" anchor="ctr"/>
          <a:lstStyle/>
          <a:p>
            <a:pPr marL="0" indent="0" algn="r">
              <a:buNone/>
            </a:pPr>
            <a:r>
              <a:rPr lang="en-US" sz="1300" b="1" kern="0" spc="100" dirty="0">
                <a:solidFill>
                  <a:srgbClr val="FFFFFF"/>
                </a:solidFill>
                <a:latin typeface="Cambria" pitchFamily="34" charset="0"/>
                <a:ea typeface="Cambria" pitchFamily="34" charset="-122"/>
                <a:cs typeface="Cambria" pitchFamily="34" charset="-120"/>
              </a:rPr>
              <a:t>IOVANCE</a:t>
            </a:r>
            <a:endParaRPr lang="en-US" sz="1300" dirty="0"/>
          </a:p>
        </p:txBody>
      </p:sp>
      <p:sp>
        <p:nvSpPr>
          <p:cNvPr id="11" name="Shape 9"/>
          <p:cNvSpPr/>
          <p:nvPr/>
        </p:nvSpPr>
        <p:spPr>
          <a:xfrm>
            <a:off x="11722608" y="6473952"/>
            <a:ext cx="219456" cy="219456"/>
          </a:xfrm>
          <a:prstGeom prst="ellipse">
            <a:avLst/>
          </a:prstGeom>
          <a:solidFill>
            <a:srgbClr val="FFFFFF"/>
          </a:solidFill>
          <a:ln/>
        </p:spPr>
        <p:txBody>
          <a:bodyPr/>
          <a:lstStyle/>
          <a:p>
            <a:endParaRPr lang="en-US"/>
          </a:p>
        </p:txBody>
      </p:sp>
      <p:sp>
        <p:nvSpPr>
          <p:cNvPr id="12" name="Text 10"/>
          <p:cNvSpPr/>
          <p:nvPr/>
        </p:nvSpPr>
        <p:spPr>
          <a:xfrm>
            <a:off x="11722608" y="6473952"/>
            <a:ext cx="219456" cy="219456"/>
          </a:xfrm>
          <a:prstGeom prst="rect">
            <a:avLst/>
          </a:prstGeom>
          <a:noFill/>
          <a:ln/>
        </p:spPr>
        <p:txBody>
          <a:bodyPr wrap="square" lIns="0" tIns="0" rIns="0" bIns="0" rtlCol="0" anchor="ctr"/>
          <a:lstStyle/>
          <a:p>
            <a:pPr marL="0" indent="0" algn="ctr">
              <a:buNone/>
            </a:pPr>
            <a:r>
              <a:rPr lang="en-US" sz="900" b="1" dirty="0">
                <a:solidFill>
                  <a:srgbClr val="567A2E"/>
                </a:solidFill>
                <a:latin typeface="Segoe UI" pitchFamily="34" charset="0"/>
                <a:ea typeface="Segoe UI" pitchFamily="34" charset="-122"/>
                <a:cs typeface="Segoe UI" pitchFamily="34" charset="-120"/>
              </a:rPr>
              <a:t>9</a:t>
            </a:r>
            <a:endParaRPr lang="en-US" sz="900" dirty="0"/>
          </a:p>
        </p:txBody>
      </p:sp>
      <p:graphicFrame>
        <p:nvGraphicFramePr>
          <p:cNvPr id="15" name="Table 14"/>
          <p:cNvGraphicFramePr>
            <a:graphicFrameLocks noGrp="1"/>
          </p:cNvGraphicFramePr>
          <p:nvPr/>
        </p:nvGraphicFramePr>
        <p:xfrm>
          <a:off x="566928" y="2395728"/>
          <a:ext cx="3474720" cy="3108960"/>
        </p:xfrm>
        <a:graphic>
          <a:graphicData uri="http://schemas.openxmlformats.org/drawingml/2006/table">
            <a:tbl>
              <a:tblPr firstRow="1">
                <a:tableStyleId>{5C22544A-7EE6-4342-B048-85BDC9FD1C3A}</a:tableStyleId>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tblGrid>
              <a:tr h="310896">
                <a:tc>
                  <a:txBody>
                    <a:bodyPr/>
                    <a:lstStyle/>
                    <a:p>
                      <a:pPr algn="l"/>
                      <a:r>
                        <a:rPr sz="1050" b="1" i="1">
                          <a:solidFill>
                            <a:srgbClr val="FFFFFF"/>
                          </a:solidFill>
                          <a:latin typeface="Segoe UI"/>
                        </a:rPr>
                        <a:t>Territory</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567A2E"/>
                    </a:solidFill>
                  </a:tcPr>
                </a:tc>
                <a:tc>
                  <a:txBody>
                    <a:bodyPr/>
                    <a:lstStyle/>
                    <a:p>
                      <a:pPr algn="r"/>
                      <a:r>
                        <a:rPr sz="1050" b="1" i="1">
                          <a:solidFill>
                            <a:srgbClr val="FFFFFF"/>
                          </a:solidFill>
                          <a:latin typeface="Segoe UI"/>
                        </a:rPr>
                        <a:t>Baseline</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567A2E"/>
                    </a:solidFill>
                  </a:tcPr>
                </a:tc>
                <a:extLst>
                  <a:ext uri="{0D108BD9-81ED-4DB2-BD59-A6C34878D82A}">
                    <a16:rowId xmlns:a16="http://schemas.microsoft.com/office/drawing/2014/main" val="10000"/>
                  </a:ext>
                </a:extLst>
              </a:tr>
              <a:tr h="310896">
                <a:tc>
                  <a:txBody>
                    <a:bodyPr/>
                    <a:lstStyle/>
                    <a:p>
                      <a:pPr algn="l"/>
                      <a:r>
                        <a:rPr sz="1050" b="0">
                          <a:solidFill>
                            <a:srgbClr val="000000"/>
                          </a:solidFill>
                          <a:latin typeface="Segoe UI"/>
                        </a:rPr>
                        <a:t>South FL</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15</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10896">
                <a:tc>
                  <a:txBody>
                    <a:bodyPr/>
                    <a:lstStyle/>
                    <a:p>
                      <a:pPr algn="l"/>
                      <a:r>
                        <a:rPr sz="1050" b="0">
                          <a:solidFill>
                            <a:srgbClr val="000000"/>
                          </a:solidFill>
                          <a:latin typeface="Segoe UI"/>
                        </a:rPr>
                        <a:t>CT / NYC</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14</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10896">
                <a:tc>
                  <a:txBody>
                    <a:bodyPr/>
                    <a:lstStyle/>
                    <a:p>
                      <a:pPr algn="l"/>
                      <a:r>
                        <a:rPr sz="1050" b="0">
                          <a:solidFill>
                            <a:srgbClr val="000000"/>
                          </a:solidFill>
                          <a:latin typeface="Segoe UI"/>
                        </a:rPr>
                        <a:t>South TX / LA</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13</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10896">
                <a:tc>
                  <a:txBody>
                    <a:bodyPr/>
                    <a:lstStyle/>
                    <a:p>
                      <a:pPr algn="l"/>
                      <a:r>
                        <a:rPr sz="1050" b="0">
                          <a:solidFill>
                            <a:srgbClr val="000000"/>
                          </a:solidFill>
                          <a:latin typeface="Segoe UI"/>
                        </a:rPr>
                        <a:t>Virginia / DMV</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12</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r h="310896">
                <a:tc>
                  <a:txBody>
                    <a:bodyPr/>
                    <a:lstStyle/>
                    <a:p>
                      <a:pPr algn="l"/>
                      <a:r>
                        <a:rPr sz="1050" b="0">
                          <a:solidFill>
                            <a:srgbClr val="000000"/>
                          </a:solidFill>
                          <a:latin typeface="Segoe UI"/>
                        </a:rPr>
                        <a:t>Philly / Eastern PA</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11</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5"/>
                  </a:ext>
                </a:extLst>
              </a:tr>
              <a:tr h="310896">
                <a:tc>
                  <a:txBody>
                    <a:bodyPr/>
                    <a:lstStyle/>
                    <a:p>
                      <a:pPr algn="l"/>
                      <a:r>
                        <a:rPr sz="1050" b="0">
                          <a:solidFill>
                            <a:srgbClr val="000000"/>
                          </a:solidFill>
                          <a:latin typeface="Segoe UI"/>
                        </a:rPr>
                        <a:t>Los Angeles</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11</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6"/>
                  </a:ext>
                </a:extLst>
              </a:tr>
              <a:tr h="310896">
                <a:tc>
                  <a:txBody>
                    <a:bodyPr/>
                    <a:lstStyle/>
                    <a:p>
                      <a:pPr algn="l"/>
                      <a:r>
                        <a:rPr sz="1050" b="0">
                          <a:solidFill>
                            <a:srgbClr val="000000"/>
                          </a:solidFill>
                          <a:latin typeface="Segoe UI"/>
                        </a:rPr>
                        <a:t>Pacific Northwest</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11</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7"/>
                  </a:ext>
                </a:extLst>
              </a:tr>
              <a:tr h="310896">
                <a:tc>
                  <a:txBody>
                    <a:bodyPr/>
                    <a:lstStyle/>
                    <a:p>
                      <a:pPr algn="l"/>
                      <a:r>
                        <a:rPr sz="1050" b="0">
                          <a:solidFill>
                            <a:srgbClr val="000000"/>
                          </a:solidFill>
                          <a:latin typeface="Segoe UI"/>
                        </a:rPr>
                        <a:t>Illinois</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11</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8"/>
                  </a:ext>
                </a:extLst>
              </a:tr>
              <a:tr h="310896">
                <a:tc>
                  <a:txBody>
                    <a:bodyPr/>
                    <a:lstStyle/>
                    <a:p>
                      <a:pPr algn="l"/>
                      <a:r>
                        <a:rPr sz="1050" b="0">
                          <a:solidFill>
                            <a:srgbClr val="000000"/>
                          </a:solidFill>
                          <a:latin typeface="Segoe UI"/>
                        </a:rPr>
                        <a:t>Rocky Mountains</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11</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nvGraphicFramePr>
        <p:xfrm>
          <a:off x="4352544" y="2395728"/>
          <a:ext cx="3474720" cy="3419856"/>
        </p:xfrm>
        <a:graphic>
          <a:graphicData uri="http://schemas.openxmlformats.org/drawingml/2006/table">
            <a:tbl>
              <a:tblPr firstRow="1">
                <a:tableStyleId>{5C22544A-7EE6-4342-B048-85BDC9FD1C3A}</a:tableStyleId>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tblGrid>
              <a:tr h="310896">
                <a:tc>
                  <a:txBody>
                    <a:bodyPr/>
                    <a:lstStyle/>
                    <a:p>
                      <a:pPr algn="l"/>
                      <a:r>
                        <a:rPr sz="1050" b="1" i="1">
                          <a:solidFill>
                            <a:srgbClr val="FFFFFF"/>
                          </a:solidFill>
                          <a:latin typeface="Segoe UI"/>
                        </a:rPr>
                        <a:t>Territory</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567A2E"/>
                    </a:solidFill>
                  </a:tcPr>
                </a:tc>
                <a:tc>
                  <a:txBody>
                    <a:bodyPr/>
                    <a:lstStyle/>
                    <a:p>
                      <a:pPr algn="r"/>
                      <a:r>
                        <a:rPr sz="1050" b="1" i="1">
                          <a:solidFill>
                            <a:srgbClr val="FFFFFF"/>
                          </a:solidFill>
                          <a:latin typeface="Segoe UI"/>
                        </a:rPr>
                        <a:t>Baseline</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567A2E"/>
                    </a:solidFill>
                  </a:tcPr>
                </a:tc>
                <a:extLst>
                  <a:ext uri="{0D108BD9-81ED-4DB2-BD59-A6C34878D82A}">
                    <a16:rowId xmlns:a16="http://schemas.microsoft.com/office/drawing/2014/main" val="10000"/>
                  </a:ext>
                </a:extLst>
              </a:tr>
              <a:tr h="310896">
                <a:tc>
                  <a:txBody>
                    <a:bodyPr/>
                    <a:lstStyle/>
                    <a:p>
                      <a:pPr algn="l"/>
                      <a:r>
                        <a:rPr sz="1050" b="1">
                          <a:solidFill>
                            <a:srgbClr val="000000"/>
                          </a:solidFill>
                          <a:latin typeface="Segoe UI"/>
                        </a:rPr>
                        <a:t>Desert Plains</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1">
                          <a:solidFill>
                            <a:srgbClr val="000000"/>
                          </a:solidFill>
                          <a:latin typeface="Segoe UI"/>
                        </a:rPr>
                        <a:t>9</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10896">
                <a:tc>
                  <a:txBody>
                    <a:bodyPr/>
                    <a:lstStyle/>
                    <a:p>
                      <a:pPr algn="l"/>
                      <a:r>
                        <a:rPr sz="1050" b="0">
                          <a:solidFill>
                            <a:srgbClr val="000000"/>
                          </a:solidFill>
                          <a:latin typeface="Segoe UI"/>
                        </a:rPr>
                        <a:t>New England</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8</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10896">
                <a:tc>
                  <a:txBody>
                    <a:bodyPr/>
                    <a:lstStyle/>
                    <a:p>
                      <a:pPr algn="l"/>
                      <a:r>
                        <a:rPr sz="1050" b="0">
                          <a:solidFill>
                            <a:srgbClr val="000000"/>
                          </a:solidFill>
                          <a:latin typeface="Segoe UI"/>
                        </a:rPr>
                        <a:t>Western OH</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8</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10896">
                <a:tc>
                  <a:txBody>
                    <a:bodyPr/>
                    <a:lstStyle/>
                    <a:p>
                      <a:pPr algn="l"/>
                      <a:r>
                        <a:rPr sz="1050" b="0">
                          <a:solidFill>
                            <a:srgbClr val="000000"/>
                          </a:solidFill>
                          <a:latin typeface="Segoe UI"/>
                        </a:rPr>
                        <a:t>Wisconsin / Minnesota</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8</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r h="310896">
                <a:tc>
                  <a:txBody>
                    <a:bodyPr/>
                    <a:lstStyle/>
                    <a:p>
                      <a:pPr algn="l"/>
                      <a:r>
                        <a:rPr sz="1050" b="0">
                          <a:solidFill>
                            <a:srgbClr val="000000"/>
                          </a:solidFill>
                          <a:latin typeface="Segoe UI"/>
                        </a:rPr>
                        <a:t>Georgia / Eastern TN</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7</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5"/>
                  </a:ext>
                </a:extLst>
              </a:tr>
              <a:tr h="310896">
                <a:tc>
                  <a:txBody>
                    <a:bodyPr/>
                    <a:lstStyle/>
                    <a:p>
                      <a:pPr algn="l"/>
                      <a:r>
                        <a:rPr sz="1050" b="0">
                          <a:solidFill>
                            <a:srgbClr val="000000"/>
                          </a:solidFill>
                          <a:latin typeface="Segoe UI"/>
                        </a:rPr>
                        <a:t>Eastern OH</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7</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6"/>
                  </a:ext>
                </a:extLst>
              </a:tr>
              <a:tr h="310896">
                <a:tc>
                  <a:txBody>
                    <a:bodyPr/>
                    <a:lstStyle/>
                    <a:p>
                      <a:pPr algn="l"/>
                      <a:r>
                        <a:rPr sz="1050" b="0">
                          <a:solidFill>
                            <a:srgbClr val="000000"/>
                          </a:solidFill>
                          <a:latin typeface="Segoe UI"/>
                        </a:rPr>
                        <a:t>Western PA / WV</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6</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7"/>
                  </a:ext>
                </a:extLst>
              </a:tr>
              <a:tr h="310896">
                <a:tc>
                  <a:txBody>
                    <a:bodyPr/>
                    <a:lstStyle/>
                    <a:p>
                      <a:pPr algn="l"/>
                      <a:r>
                        <a:rPr sz="1050" b="0">
                          <a:solidFill>
                            <a:srgbClr val="000000"/>
                          </a:solidFill>
                          <a:latin typeface="Segoe UI"/>
                        </a:rPr>
                        <a:t>Northern Cal</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6</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8"/>
                  </a:ext>
                </a:extLst>
              </a:tr>
              <a:tr h="310896">
                <a:tc>
                  <a:txBody>
                    <a:bodyPr/>
                    <a:lstStyle/>
                    <a:p>
                      <a:pPr algn="l"/>
                      <a:r>
                        <a:rPr sz="1050" b="0">
                          <a:solidFill>
                            <a:srgbClr val="000000"/>
                          </a:solidFill>
                          <a:latin typeface="Segoe UI"/>
                        </a:rPr>
                        <a:t>Indiana / Kentucky</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6</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10896">
                <a:tc>
                  <a:txBody>
                    <a:bodyPr/>
                    <a:lstStyle/>
                    <a:p>
                      <a:pPr algn="l"/>
                      <a:r>
                        <a:rPr sz="1050" b="0">
                          <a:solidFill>
                            <a:srgbClr val="000000"/>
                          </a:solidFill>
                          <a:latin typeface="Segoe UI"/>
                        </a:rPr>
                        <a:t>Carolinas</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6</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bl>
          </a:graphicData>
        </a:graphic>
      </p:graphicFrame>
      <p:graphicFrame>
        <p:nvGraphicFramePr>
          <p:cNvPr id="21" name="Table 20"/>
          <p:cNvGraphicFramePr>
            <a:graphicFrameLocks noGrp="1"/>
          </p:cNvGraphicFramePr>
          <p:nvPr/>
        </p:nvGraphicFramePr>
        <p:xfrm>
          <a:off x="8138160" y="2395728"/>
          <a:ext cx="3474720" cy="3108960"/>
        </p:xfrm>
        <a:graphic>
          <a:graphicData uri="http://schemas.openxmlformats.org/drawingml/2006/table">
            <a:tbl>
              <a:tblPr firstRow="1">
                <a:tableStyleId>{5C22544A-7EE6-4342-B048-85BDC9FD1C3A}</a:tableStyleId>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tblGrid>
              <a:tr h="310896">
                <a:tc>
                  <a:txBody>
                    <a:bodyPr/>
                    <a:lstStyle/>
                    <a:p>
                      <a:pPr algn="l"/>
                      <a:r>
                        <a:rPr sz="1050" b="1" i="1">
                          <a:solidFill>
                            <a:srgbClr val="FFFFFF"/>
                          </a:solidFill>
                          <a:latin typeface="Segoe UI"/>
                        </a:rPr>
                        <a:t>Territory</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567A2E"/>
                    </a:solidFill>
                  </a:tcPr>
                </a:tc>
                <a:tc>
                  <a:txBody>
                    <a:bodyPr/>
                    <a:lstStyle/>
                    <a:p>
                      <a:pPr algn="r"/>
                      <a:r>
                        <a:rPr sz="1050" b="1" i="1">
                          <a:solidFill>
                            <a:srgbClr val="FFFFFF"/>
                          </a:solidFill>
                          <a:latin typeface="Segoe UI"/>
                        </a:rPr>
                        <a:t>Baseline</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567A2E"/>
                    </a:solidFill>
                  </a:tcPr>
                </a:tc>
                <a:extLst>
                  <a:ext uri="{0D108BD9-81ED-4DB2-BD59-A6C34878D82A}">
                    <a16:rowId xmlns:a16="http://schemas.microsoft.com/office/drawing/2014/main" val="10000"/>
                  </a:ext>
                </a:extLst>
              </a:tr>
              <a:tr h="310896">
                <a:tc>
                  <a:txBody>
                    <a:bodyPr/>
                    <a:lstStyle/>
                    <a:p>
                      <a:pPr algn="l"/>
                      <a:r>
                        <a:rPr sz="1050" b="0">
                          <a:solidFill>
                            <a:srgbClr val="000000"/>
                          </a:solidFill>
                          <a:latin typeface="Segoe UI"/>
                        </a:rPr>
                        <a:t>Missouri / Kansas</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5</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r h="310896">
                <a:tc>
                  <a:txBody>
                    <a:bodyPr/>
                    <a:lstStyle/>
                    <a:p>
                      <a:pPr algn="l"/>
                      <a:r>
                        <a:rPr sz="1050" b="0">
                          <a:solidFill>
                            <a:srgbClr val="000000"/>
                          </a:solidFill>
                          <a:latin typeface="Segoe UI"/>
                        </a:rPr>
                        <a:t>Memphis / Bama / MS</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3</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2"/>
                  </a:ext>
                </a:extLst>
              </a:tr>
              <a:tr h="310896">
                <a:tc>
                  <a:txBody>
                    <a:bodyPr/>
                    <a:lstStyle/>
                    <a:p>
                      <a:pPr algn="l"/>
                      <a:r>
                        <a:rPr sz="1050" b="0">
                          <a:solidFill>
                            <a:srgbClr val="000000"/>
                          </a:solidFill>
                          <a:latin typeface="Segoe UI"/>
                        </a:rPr>
                        <a:t>Northern NJ / NYC</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3</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3"/>
                  </a:ext>
                </a:extLst>
              </a:tr>
              <a:tr h="310896">
                <a:tc>
                  <a:txBody>
                    <a:bodyPr/>
                    <a:lstStyle/>
                    <a:p>
                      <a:pPr algn="l"/>
                      <a:r>
                        <a:rPr sz="1050" b="0">
                          <a:solidFill>
                            <a:srgbClr val="000000"/>
                          </a:solidFill>
                          <a:latin typeface="Segoe UI"/>
                        </a:rPr>
                        <a:t>Oklahoma / Arkansas</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3</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4"/>
                  </a:ext>
                </a:extLst>
              </a:tr>
              <a:tr h="310896">
                <a:tc>
                  <a:txBody>
                    <a:bodyPr/>
                    <a:lstStyle/>
                    <a:p>
                      <a:pPr algn="l"/>
                      <a:r>
                        <a:rPr sz="1050" b="0">
                          <a:solidFill>
                            <a:srgbClr val="000000"/>
                          </a:solidFill>
                          <a:latin typeface="Segoe UI"/>
                        </a:rPr>
                        <a:t>North FL</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3</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5"/>
                  </a:ext>
                </a:extLst>
              </a:tr>
              <a:tr h="310896">
                <a:tc>
                  <a:txBody>
                    <a:bodyPr/>
                    <a:lstStyle/>
                    <a:p>
                      <a:pPr algn="l"/>
                      <a:r>
                        <a:rPr sz="1050" b="0">
                          <a:solidFill>
                            <a:srgbClr val="000000"/>
                          </a:solidFill>
                          <a:latin typeface="Segoe UI"/>
                        </a:rPr>
                        <a:t>Michigan</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2</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6"/>
                  </a:ext>
                </a:extLst>
              </a:tr>
              <a:tr h="310896">
                <a:tc>
                  <a:txBody>
                    <a:bodyPr/>
                    <a:lstStyle/>
                    <a:p>
                      <a:pPr algn="l"/>
                      <a:r>
                        <a:rPr sz="1050" b="0">
                          <a:solidFill>
                            <a:srgbClr val="000000"/>
                          </a:solidFill>
                          <a:latin typeface="Segoe UI"/>
                        </a:rPr>
                        <a:t>North TX</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2</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7"/>
                  </a:ext>
                </a:extLst>
              </a:tr>
              <a:tr h="310896">
                <a:tc>
                  <a:txBody>
                    <a:bodyPr/>
                    <a:lstStyle/>
                    <a:p>
                      <a:pPr algn="l"/>
                      <a:r>
                        <a:rPr sz="1050" b="0">
                          <a:solidFill>
                            <a:srgbClr val="000000"/>
                          </a:solidFill>
                          <a:latin typeface="Segoe UI"/>
                        </a:rPr>
                        <a:t>San Diego / OC</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8"/>
                  </a:ext>
                </a:extLst>
              </a:tr>
              <a:tr h="310896">
                <a:tc>
                  <a:txBody>
                    <a:bodyPr/>
                    <a:lstStyle/>
                    <a:p>
                      <a:pPr algn="l"/>
                      <a:r>
                        <a:rPr sz="1050" b="0">
                          <a:solidFill>
                            <a:srgbClr val="000000"/>
                          </a:solidFill>
                          <a:latin typeface="Segoe UI"/>
                        </a:rPr>
                        <a:t>North Central</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tc>
                  <a:txBody>
                    <a:bodyPr/>
                    <a:lstStyle/>
                    <a:p>
                      <a:pPr algn="r"/>
                      <a:r>
                        <a:rPr sz="1050" b="0">
                          <a:solidFill>
                            <a:srgbClr val="000000"/>
                          </a:solidFill>
                          <a:latin typeface="Segoe UI"/>
                        </a:rPr>
                        <a:t>1</a:t>
                      </a:r>
                    </a:p>
                  </a:txBody>
                  <a:tcPr marL="73152" marR="73152" anchor="ctr">
                    <a:lnL w="6350" cap="flat" cmpd="sng" algn="ctr">
                      <a:solidFill>
                        <a:srgbClr val="000000"/>
                      </a:solidFill>
                      <a:prstDash val="solid"/>
                    </a:lnL>
                    <a:lnR w="6350" cap="flat" cmpd="sng" algn="ctr">
                      <a:solidFill>
                        <a:srgbClr val="000000"/>
                      </a:solidFill>
                      <a:prstDash val="solid"/>
                    </a:lnR>
                    <a:lnT w="6350" cap="flat" cmpd="sng" algn="ctr">
                      <a:solidFill>
                        <a:srgbClr val="000000"/>
                      </a:solidFill>
                      <a:prstDash val="solid"/>
                    </a:lnT>
                    <a:lnB w="6350" cap="flat" cmpd="sng" algn="ctr">
                      <a:solidFill>
                        <a:srgbClr val="000000"/>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22" name="TextBox 21"/>
          <p:cNvSpPr txBox="1"/>
          <p:nvPr/>
        </p:nvSpPr>
        <p:spPr>
          <a:xfrm>
            <a:off x="566928" y="1691640"/>
            <a:ext cx="3474720" cy="256032"/>
          </a:xfrm>
          <a:prstGeom prst="rect">
            <a:avLst/>
          </a:prstGeom>
          <a:noFill/>
        </p:spPr>
        <p:txBody>
          <a:bodyPr wrap="square" anchor="t" lIns="0" rIns="0" tIns="0" bIns="0">
            <a:spAutoFit/>
          </a:bodyPr>
          <a:lstStyle/>
          <a:p>
            <a:pPr algn="l">
              <a:spcAft>
                <a:spcPts val="0"/>
              </a:spcAft>
            </a:pPr>
            <a:r>
              <a:rPr sz="1300" b="1" i="0">
                <a:solidFill>
                  <a:srgbClr val="567A2E"/>
                </a:solidFill>
                <a:latin typeface="Segoe UI"/>
              </a:rPr>
              <a:t>High volume</a:t>
            </a:r>
          </a:p>
        </p:txBody>
      </p:sp>
      <p:sp>
        <p:nvSpPr>
          <p:cNvPr id="23" name="Rectangle 22"/>
          <p:cNvSpPr/>
          <p:nvPr/>
        </p:nvSpPr>
        <p:spPr>
          <a:xfrm>
            <a:off x="566928" y="1965960"/>
            <a:ext cx="3474720"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2057400"/>
            <a:ext cx="3474720" cy="219456"/>
          </a:xfrm>
          <a:prstGeom prst="rect">
            <a:avLst/>
          </a:prstGeom>
          <a:noFill/>
        </p:spPr>
        <p:txBody>
          <a:bodyPr wrap="square" anchor="t" lIns="0" rIns="0" tIns="0" bIns="0">
            <a:spAutoFit/>
          </a:bodyPr>
          <a:lstStyle/>
          <a:p>
            <a:pPr algn="l">
              <a:spcAft>
                <a:spcPts val="0"/>
              </a:spcAft>
            </a:pPr>
            <a:r>
              <a:rPr sz="950" b="0" i="0">
                <a:solidFill>
                  <a:srgbClr val="8A8A80"/>
                </a:solidFill>
                <a:latin typeface="Segoe UI"/>
              </a:rPr>
              <a:t>9 territories, baseline of 11 to 15</a:t>
            </a:r>
          </a:p>
        </p:txBody>
      </p:sp>
      <p:sp>
        <p:nvSpPr>
          <p:cNvPr id="25" name="TextBox 24"/>
          <p:cNvSpPr txBox="1"/>
          <p:nvPr/>
        </p:nvSpPr>
        <p:spPr>
          <a:xfrm>
            <a:off x="4352544" y="1691640"/>
            <a:ext cx="3474720" cy="256032"/>
          </a:xfrm>
          <a:prstGeom prst="rect">
            <a:avLst/>
          </a:prstGeom>
          <a:noFill/>
        </p:spPr>
        <p:txBody>
          <a:bodyPr wrap="square" anchor="t" lIns="0" rIns="0" tIns="0" bIns="0">
            <a:spAutoFit/>
          </a:bodyPr>
          <a:lstStyle/>
          <a:p>
            <a:pPr algn="l">
              <a:spcAft>
                <a:spcPts val="0"/>
              </a:spcAft>
            </a:pPr>
            <a:r>
              <a:rPr sz="1300" b="1" i="0">
                <a:solidFill>
                  <a:srgbClr val="567A2E"/>
                </a:solidFill>
                <a:latin typeface="Segoe UI"/>
              </a:rPr>
              <a:t>Medium volume</a:t>
            </a:r>
          </a:p>
        </p:txBody>
      </p:sp>
      <p:sp>
        <p:nvSpPr>
          <p:cNvPr id="26" name="Rectangle 25"/>
          <p:cNvSpPr/>
          <p:nvPr/>
        </p:nvSpPr>
        <p:spPr>
          <a:xfrm>
            <a:off x="4352544" y="1965960"/>
            <a:ext cx="3474720"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52544" y="2057400"/>
            <a:ext cx="3474720" cy="219456"/>
          </a:xfrm>
          <a:prstGeom prst="rect">
            <a:avLst/>
          </a:prstGeom>
          <a:noFill/>
        </p:spPr>
        <p:txBody>
          <a:bodyPr wrap="square" anchor="t" lIns="0" rIns="0" tIns="0" bIns="0">
            <a:spAutoFit/>
          </a:bodyPr>
          <a:lstStyle/>
          <a:p>
            <a:pPr algn="l">
              <a:spcAft>
                <a:spcPts val="0"/>
              </a:spcAft>
            </a:pPr>
            <a:r>
              <a:rPr sz="950" b="0" i="0">
                <a:solidFill>
                  <a:srgbClr val="8A8A80"/>
                </a:solidFill>
                <a:latin typeface="Segoe UI"/>
              </a:rPr>
              <a:t>10 territories, baseline of 6 to 9</a:t>
            </a:r>
          </a:p>
        </p:txBody>
      </p:sp>
      <p:sp>
        <p:nvSpPr>
          <p:cNvPr id="28" name="TextBox 27"/>
          <p:cNvSpPr txBox="1"/>
          <p:nvPr/>
        </p:nvSpPr>
        <p:spPr>
          <a:xfrm>
            <a:off x="8138160" y="1691640"/>
            <a:ext cx="3474720" cy="256032"/>
          </a:xfrm>
          <a:prstGeom prst="rect">
            <a:avLst/>
          </a:prstGeom>
          <a:noFill/>
        </p:spPr>
        <p:txBody>
          <a:bodyPr wrap="square" anchor="t" lIns="0" rIns="0" tIns="0" bIns="0">
            <a:spAutoFit/>
          </a:bodyPr>
          <a:lstStyle/>
          <a:p>
            <a:pPr algn="l">
              <a:spcAft>
                <a:spcPts val="0"/>
              </a:spcAft>
            </a:pPr>
            <a:r>
              <a:rPr sz="1300" b="1" i="0">
                <a:solidFill>
                  <a:srgbClr val="567A2E"/>
                </a:solidFill>
                <a:latin typeface="Segoe UI"/>
              </a:rPr>
              <a:t>Low volume</a:t>
            </a:r>
          </a:p>
        </p:txBody>
      </p:sp>
      <p:sp>
        <p:nvSpPr>
          <p:cNvPr id="29" name="Rectangle 28"/>
          <p:cNvSpPr/>
          <p:nvPr/>
        </p:nvSpPr>
        <p:spPr>
          <a:xfrm>
            <a:off x="8138160" y="1965960"/>
            <a:ext cx="3474720" cy="20320"/>
          </a:xfrm>
          <a:prstGeom prst="rect">
            <a:avLst/>
          </a:prstGeom>
          <a:solidFill>
            <a:srgbClr val="567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38160" y="2057400"/>
            <a:ext cx="3474720" cy="219456"/>
          </a:xfrm>
          <a:prstGeom prst="rect">
            <a:avLst/>
          </a:prstGeom>
          <a:noFill/>
        </p:spPr>
        <p:txBody>
          <a:bodyPr wrap="square" anchor="t" lIns="0" rIns="0" tIns="0" bIns="0">
            <a:spAutoFit/>
          </a:bodyPr>
          <a:lstStyle/>
          <a:p>
            <a:pPr algn="l">
              <a:spcAft>
                <a:spcPts val="0"/>
              </a:spcAft>
            </a:pPr>
            <a:r>
              <a:rPr sz="950" b="0" i="0">
                <a:solidFill>
                  <a:srgbClr val="8A8A80"/>
                </a:solidFill>
                <a:latin typeface="Segoe UI"/>
              </a:rPr>
              <a:t>9 territories, baseline of 1 to 5</a:t>
            </a:r>
          </a:p>
        </p:txBody>
      </p:sp>
      <p:sp>
        <p:nvSpPr>
          <p:cNvPr id="31" name="TextBox 30"/>
          <p:cNvSpPr txBox="1"/>
          <p:nvPr/>
        </p:nvSpPr>
        <p:spPr>
          <a:xfrm>
            <a:off x="566928" y="5961888"/>
            <a:ext cx="10607040" cy="310896"/>
          </a:xfrm>
          <a:prstGeom prst="rect">
            <a:avLst/>
          </a:prstGeom>
          <a:noFill/>
        </p:spPr>
        <p:txBody>
          <a:bodyPr wrap="square" anchor="t" lIns="0" rIns="0" tIns="0" bIns="0">
            <a:spAutoFit/>
          </a:bodyPr>
          <a:lstStyle/>
          <a:p>
            <a:pPr algn="l">
              <a:lnSpc>
                <a:spcPct val="105000"/>
              </a:lnSpc>
              <a:spcAft>
                <a:spcPts val="0"/>
              </a:spcAft>
            </a:pPr>
            <a:r>
              <a:rPr sz="850" b="0" i="1">
                <a:solidFill>
                  <a:srgbClr val="8A8A80"/>
                </a:solidFill>
                <a:latin typeface="Segoe UI"/>
              </a:rPr>
              <a:t>Baseline is each territory's average enrollments across 4Q 2025, 1Q 2026 and 2Q 2026, scaled to the two month contest window. Desert Plains sits in medium volume at leadership direction. The 28 baselines total 203.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4C3395-2CF4-7C4C-AF6A-A4A45159D157}">
  <we:reference id="wa200010001" version="1.0.0.1" store="en-US" storeType="OMEX"/>
  <we:alternateReferences>
    <we:reference id="wa200010001" version="1.0.0.1" store="en-US" storeType="OMEX"/>
  </we:alternateReferences>
  <we:properties>
    <we:property name="claude.fileId" value="&quot;6fdb1c44-bde7-4162-86be-44dd48d102d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161</TotalTime>
  <Words>2016</Words>
  <Application>Microsoft Macintosh PowerPoint</Application>
  <PresentationFormat>Widescreen</PresentationFormat>
  <Paragraphs>314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Cambria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Proposed 3Q 2026 AMTAGVI Enrollment Contest</dc:title>
  <dc:subject>PptxGenJS Presentation</dc:subject>
  <dc:creator>BAI Team</dc:creator>
  <cp:lastModifiedBy>Srinidhi Gowda</cp:lastModifiedBy>
  <cp:revision>5</cp:revision>
  <dcterms:created xsi:type="dcterms:W3CDTF">2026-07-16T16:21:08Z</dcterms:created>
  <dcterms:modified xsi:type="dcterms:W3CDTF">2026-07-17T14:41:08Z</dcterms:modified>
</cp:coreProperties>
</file>