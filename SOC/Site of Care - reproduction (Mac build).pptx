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36"/>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A7C13B"/>
          </a:solidFill>
          <a:ln/>
        </p:spPr>
      </p:sp>
      <p:sp>
        <p:nvSpPr>
          <p:cNvPr id="3" name="Shape 1"/>
          <p:cNvSpPr/>
          <p:nvPr/>
        </p:nvSpPr>
        <p:spPr>
          <a:xfrm>
            <a:off x="0" y="5943600"/>
            <a:ext cx="12188952" cy="914400"/>
          </a:xfrm>
          <a:prstGeom prst="rect">
            <a:avLst/>
          </a:prstGeom>
          <a:solidFill>
            <a:srgbClr val="A7C13B"/>
          </a:solidFill>
          <a:ln/>
        </p:spPr>
      </p:sp>
      <p:sp>
        <p:nvSpPr>
          <p:cNvPr id="4" name="Text 2"/>
          <p:cNvSpPr/>
          <p:nvPr/>
        </p:nvSpPr>
        <p:spPr>
          <a:xfrm>
            <a:off x="822960" y="1051560"/>
            <a:ext cx="7315200" cy="731520"/>
          </a:xfrm>
          <a:prstGeom prst="rect">
            <a:avLst/>
          </a:prstGeom>
          <a:noFill/>
          <a:ln/>
        </p:spPr>
        <p:txBody>
          <a:bodyPr wrap="square" lIns="0" tIns="0" rIns="0" bIns="0" rtlCol="0" anchor="ctr"/>
          <a:lstStyle/>
          <a:p>
            <a:pPr algn="l" indent="0" marL="0">
              <a:buNone/>
            </a:pPr>
            <a:r>
              <a:rPr lang="en-US" sz="4000" b="1" i="1" spc="200" kern="0" dirty="0">
                <a:solidFill>
                  <a:srgbClr val="FFFFFF"/>
                </a:solidFill>
                <a:latin typeface="Arial" pitchFamily="34" charset="0"/>
                <a:ea typeface="Arial" pitchFamily="34" charset="-122"/>
                <a:cs typeface="Arial" pitchFamily="34" charset="-120"/>
              </a:rPr>
              <a:t>IOVANCE</a:t>
            </a:r>
            <a:endParaRPr lang="en-US" sz="4000" dirty="0"/>
          </a:p>
        </p:txBody>
      </p:sp>
      <p:sp>
        <p:nvSpPr>
          <p:cNvPr id="5" name="Text 3"/>
          <p:cNvSpPr/>
          <p:nvPr/>
        </p:nvSpPr>
        <p:spPr>
          <a:xfrm>
            <a:off x="868680" y="1783080"/>
            <a:ext cx="7315200" cy="365760"/>
          </a:xfrm>
          <a:prstGeom prst="rect">
            <a:avLst/>
          </a:prstGeom>
          <a:noFill/>
          <a:ln/>
        </p:spPr>
        <p:txBody>
          <a:bodyPr wrap="square" lIns="0" tIns="0" rIns="0" bIns="0" rtlCol="0" anchor="ctr"/>
          <a:lstStyle/>
          <a:p>
            <a:pPr indent="0" marL="0">
              <a:buNone/>
            </a:pPr>
            <a:r>
              <a:rPr lang="en-US" sz="1600" b="1" spc="600" kern="0" dirty="0">
                <a:solidFill>
                  <a:srgbClr val="A7C13B"/>
                </a:solidFill>
                <a:latin typeface="Arial" pitchFamily="34" charset="0"/>
                <a:ea typeface="Arial" pitchFamily="34" charset="-122"/>
                <a:cs typeface="Arial" pitchFamily="34" charset="-120"/>
              </a:rPr>
              <a:t>BIOTHERAPEUTICS</a:t>
            </a:r>
            <a:endParaRPr lang="en-US" sz="1600" dirty="0"/>
          </a:p>
        </p:txBody>
      </p:sp>
      <p:sp>
        <p:nvSpPr>
          <p:cNvPr id="6" name="Text 4"/>
          <p:cNvSpPr/>
          <p:nvPr/>
        </p:nvSpPr>
        <p:spPr>
          <a:xfrm>
            <a:off x="822960" y="3063240"/>
            <a:ext cx="100584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ATC Network vs Non-ATC Site of Care Analysis</a:t>
            </a:r>
            <a:endParaRPr lang="en-US" sz="2800" dirty="0"/>
          </a:p>
        </p:txBody>
      </p:sp>
      <p:sp>
        <p:nvSpPr>
          <p:cNvPr id="7" name="Text 5"/>
          <p:cNvSpPr/>
          <p:nvPr/>
        </p:nvSpPr>
        <p:spPr>
          <a:xfrm>
            <a:off x="822960" y="3639312"/>
            <a:ext cx="10058400" cy="457200"/>
          </a:xfrm>
          <a:prstGeom prst="rect">
            <a:avLst/>
          </a:prstGeom>
          <a:noFill/>
          <a:ln/>
        </p:spPr>
        <p:txBody>
          <a:bodyPr wrap="square" lIns="0" tIns="0" rIns="0" bIns="0" rtlCol="0" anchor="ctr"/>
          <a:lstStyle/>
          <a:p>
            <a:pPr indent="0" marL="0">
              <a:buNone/>
            </a:pPr>
            <a:r>
              <a:rPr lang="en-US" sz="2200" dirty="0">
                <a:solidFill>
                  <a:srgbClr val="CFE0A8"/>
                </a:solidFill>
                <a:latin typeface="Arial" pitchFamily="34" charset="0"/>
                <a:ea typeface="Arial" pitchFamily="34" charset="-122"/>
                <a:cs typeface="Arial" pitchFamily="34" charset="-120"/>
              </a:rPr>
              <a:t>Metastatic Melanoma</a:t>
            </a:r>
            <a:endParaRPr lang="en-US" sz="2200" dirty="0"/>
          </a:p>
        </p:txBody>
      </p:sp>
      <p:sp>
        <p:nvSpPr>
          <p:cNvPr id="8" name="Text 6"/>
          <p:cNvSpPr/>
          <p:nvPr/>
        </p:nvSpPr>
        <p:spPr>
          <a:xfrm>
            <a:off x="822960" y="4297680"/>
            <a:ext cx="1005840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Patient Distribution and Non-ATC Opportunity</a:t>
            </a:r>
            <a:endParaRPr lang="en-US" sz="1300" dirty="0"/>
          </a:p>
        </p:txBody>
      </p:sp>
      <p:sp>
        <p:nvSpPr>
          <p:cNvPr id="9" name="Text 7"/>
          <p:cNvSpPr/>
          <p:nvPr/>
        </p:nvSpPr>
        <p:spPr>
          <a:xfrm>
            <a:off x="822960" y="4617720"/>
            <a:ext cx="10058400" cy="320040"/>
          </a:xfrm>
          <a:prstGeom prst="rect">
            <a:avLst/>
          </a:prstGeom>
          <a:noFill/>
          <a:ln/>
        </p:spPr>
        <p:txBody>
          <a:bodyPr wrap="square" lIns="0" tIns="0" rIns="0" bIns="0" rtlCol="0" anchor="ctr"/>
          <a:lstStyle/>
          <a:p>
            <a:pPr indent="0" marL="0">
              <a:buNone/>
            </a:pPr>
            <a:r>
              <a:rPr lang="en-US" sz="1200" dirty="0">
                <a:solidFill>
                  <a:srgbClr val="AEC0CE"/>
                </a:solidFill>
                <a:latin typeface="Arial" pitchFamily="34" charset="0"/>
                <a:ea typeface="Arial" pitchFamily="34" charset="-122"/>
                <a:cs typeface="Arial" pitchFamily="34" charset="-120"/>
              </a:rPr>
              <a:t>July 2026</a:t>
            </a:r>
            <a:endParaRPr lang="en-US" sz="1200" dirty="0"/>
          </a:p>
        </p:txBody>
      </p:sp>
      <p:sp>
        <p:nvSpPr>
          <p:cNvPr id="10" name="Text 8"/>
          <p:cNvSpPr/>
          <p:nvPr/>
        </p:nvSpPr>
        <p:spPr>
          <a:xfrm>
            <a:off x="0" y="5943600"/>
            <a:ext cx="12188952" cy="914400"/>
          </a:xfrm>
          <a:prstGeom prst="rect">
            <a:avLst/>
          </a:prstGeom>
          <a:noFill/>
          <a:ln/>
        </p:spPr>
        <p:txBody>
          <a:bodyPr wrap="square" lIns="0" tIns="0" rIns="0" bIns="0" rtlCol="0" anchor="ctr"/>
          <a:lstStyle/>
          <a:p>
            <a:pPr algn="ctr" indent="0" marL="0">
              <a:buNone/>
            </a:pPr>
            <a:r>
              <a:rPr lang="en-US" sz="2000" b="1" spc="600" kern="0" dirty="0">
                <a:solidFill>
                  <a:srgbClr val="0F2436"/>
                </a:solidFill>
                <a:latin typeface="Arial" pitchFamily="34" charset="0"/>
                <a:ea typeface="Arial" pitchFamily="34" charset="-122"/>
                <a:cs typeface="Arial" pitchFamily="34" charset="-120"/>
              </a:rPr>
              <a:t>ADVANCING IMMUNO-ONCOLOGY</a:t>
            </a:r>
            <a:endParaRPr lang="en-US" sz="2000" dirty="0"/>
          </a:p>
        </p:txBody>
      </p:sp>
      <p:sp>
        <p:nvSpPr>
          <p:cNvPr id="11" name="Text 9"/>
          <p:cNvSpPr/>
          <p:nvPr/>
        </p:nvSpPr>
        <p:spPr>
          <a:xfrm>
            <a:off x="822960" y="5532120"/>
            <a:ext cx="8229600" cy="274320"/>
          </a:xfrm>
          <a:prstGeom prst="rect">
            <a:avLst/>
          </a:prstGeom>
          <a:noFill/>
          <a:ln/>
        </p:spPr>
        <p:txBody>
          <a:bodyPr wrap="square" lIns="0" tIns="0" rIns="0" bIns="0" rtlCol="0" anchor="ctr"/>
          <a:lstStyle/>
          <a:p>
            <a:pPr indent="0" marL="0">
              <a:buNone/>
            </a:pPr>
            <a:r>
              <a:rPr lang="en-US" sz="800" dirty="0">
                <a:solidFill>
                  <a:srgbClr val="9FB3C2"/>
                </a:solidFill>
                <a:latin typeface="Arial" pitchFamily="34" charset="0"/>
                <a:ea typeface="Arial" pitchFamily="34" charset="-122"/>
                <a:cs typeface="Arial" pitchFamily="34" charset="-120"/>
              </a:rPr>
              <a:t>© 2026, Iovance Biotherapeutics, Inc.  |  Confidential for Internal Use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058400" cy="274320"/>
          </a:xfrm>
          <a:prstGeom prst="rect">
            <a:avLst/>
          </a:prstGeom>
          <a:noFill/>
          <a:ln/>
        </p:spPr>
        <p:txBody>
          <a:bodyPr wrap="square" lIns="0" tIns="0" rIns="0" bIns="0" rtlCol="0" anchor="ctr"/>
          <a:lstStyle/>
          <a:p>
            <a:pPr indent="0" marL="0">
              <a:buNone/>
            </a:pPr>
            <a:r>
              <a:rPr lang="en-US" sz="1100" b="1" spc="200" kern="0" dirty="0">
                <a:solidFill>
                  <a:srgbClr val="5C7FA6"/>
                </a:solidFill>
                <a:latin typeface="Arial" pitchFamily="34" charset="0"/>
                <a:ea typeface="Arial" pitchFamily="34" charset="-122"/>
                <a:cs typeface="Arial" pitchFamily="34" charset="-120"/>
              </a:rPr>
              <a:t>METHODOLOGY</a:t>
            </a:r>
            <a:endParaRPr lang="en-US" sz="1100" dirty="0"/>
          </a:p>
        </p:txBody>
      </p:sp>
      <p:sp>
        <p:nvSpPr>
          <p:cNvPr id="3" name="Shape 1"/>
          <p:cNvSpPr/>
          <p:nvPr/>
        </p:nvSpPr>
        <p:spPr>
          <a:xfrm>
            <a:off x="566928" y="658368"/>
            <a:ext cx="146304" cy="310896"/>
          </a:xfrm>
          <a:prstGeom prst="rect">
            <a:avLst/>
          </a:prstGeom>
          <a:solidFill>
            <a:srgbClr val="7C8A3B"/>
          </a:solidFill>
          <a:ln/>
        </p:spPr>
      </p:sp>
      <p:sp>
        <p:nvSpPr>
          <p:cNvPr id="4" name="Shape 2"/>
          <p:cNvSpPr/>
          <p:nvPr/>
        </p:nvSpPr>
        <p:spPr>
          <a:xfrm>
            <a:off x="11475720" y="658368"/>
            <a:ext cx="146304" cy="310896"/>
          </a:xfrm>
          <a:prstGeom prst="rect">
            <a:avLst/>
          </a:prstGeom>
          <a:solidFill>
            <a:srgbClr val="7C8A3B"/>
          </a:solidFill>
          <a:ln/>
        </p:spPr>
      </p:sp>
      <p:sp>
        <p:nvSpPr>
          <p:cNvPr id="5" name="Text 3"/>
          <p:cNvSpPr/>
          <p:nvPr/>
        </p:nvSpPr>
        <p:spPr>
          <a:xfrm>
            <a:off x="868680" y="566928"/>
            <a:ext cx="10515600" cy="548640"/>
          </a:xfrm>
          <a:prstGeom prst="rect">
            <a:avLst/>
          </a:prstGeom>
          <a:noFill/>
          <a:ln/>
        </p:spPr>
        <p:txBody>
          <a:bodyPr wrap="square" lIns="0" tIns="0" rIns="0" bIns="0" rtlCol="0" anchor="t"/>
          <a:lstStyle/>
          <a:p>
            <a:pPr algn="l" indent="0" marL="0">
              <a:lnSpc>
                <a:spcPct val="98000"/>
              </a:lnSpc>
              <a:buNone/>
            </a:pPr>
            <a:r>
              <a:rPr lang="en-US" sz="2600" b="1" dirty="0">
                <a:solidFill>
                  <a:srgbClr val="16324B"/>
                </a:solidFill>
                <a:latin typeface="Arial" pitchFamily="34" charset="0"/>
                <a:ea typeface="Arial" pitchFamily="34" charset="-122"/>
                <a:cs typeface="Arial" pitchFamily="34" charset="-120"/>
              </a:rPr>
              <a:t>How each patient is classified, and why the numbers hold</a:t>
            </a:r>
            <a:endParaRPr lang="en-US" sz="2600" dirty="0"/>
          </a:p>
        </p:txBody>
      </p:sp>
      <p:sp>
        <p:nvSpPr>
          <p:cNvPr id="6" name="Shape 4"/>
          <p:cNvSpPr/>
          <p:nvPr/>
        </p:nvSpPr>
        <p:spPr>
          <a:xfrm>
            <a:off x="640080" y="1773936"/>
            <a:ext cx="310896" cy="310896"/>
          </a:xfrm>
          <a:prstGeom prst="ellipse">
            <a:avLst/>
          </a:prstGeom>
          <a:solidFill>
            <a:srgbClr val="6E7F32"/>
          </a:solidFill>
          <a:ln/>
        </p:spPr>
      </p:sp>
      <p:sp>
        <p:nvSpPr>
          <p:cNvPr id="7" name="Text 5"/>
          <p:cNvSpPr/>
          <p:nvPr/>
        </p:nvSpPr>
        <p:spPr>
          <a:xfrm>
            <a:off x="640080" y="177393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143000" y="1682496"/>
            <a:ext cx="3749040" cy="457200"/>
          </a:xfrm>
          <a:prstGeom prst="rect">
            <a:avLst/>
          </a:prstGeom>
          <a:noFill/>
          <a:ln/>
        </p:spPr>
        <p:txBody>
          <a:bodyPr wrap="square" lIns="0" tIns="0" rIns="0" bIns="0" rtlCol="0" anchor="t"/>
          <a:lstStyle/>
          <a:p>
            <a:pPr indent="0" marL="0">
              <a:buNone/>
            </a:pPr>
            <a:r>
              <a:rPr lang="en-US" sz="1500" b="1" dirty="0">
                <a:solidFill>
                  <a:srgbClr val="16324B"/>
                </a:solidFill>
                <a:latin typeface="Arial" pitchFamily="34" charset="0"/>
                <a:ea typeface="Arial" pitchFamily="34" charset="-122"/>
                <a:cs typeface="Arial" pitchFamily="34" charset="-120"/>
              </a:rPr>
              <a:t>Defined at the parent level</a:t>
            </a:r>
            <a:endParaRPr lang="en-US" sz="1500" dirty="0"/>
          </a:p>
        </p:txBody>
      </p:sp>
      <p:sp>
        <p:nvSpPr>
          <p:cNvPr id="9" name="Text 7"/>
          <p:cNvSpPr/>
          <p:nvPr/>
        </p:nvSpPr>
        <p:spPr>
          <a:xfrm>
            <a:off x="5029200" y="1682496"/>
            <a:ext cx="6309360" cy="731520"/>
          </a:xfrm>
          <a:prstGeom prst="rect">
            <a:avLst/>
          </a:prstGeom>
          <a:noFill/>
          <a:ln/>
        </p:spPr>
        <p:txBody>
          <a:bodyPr wrap="square" lIns="0" tIns="0" rIns="0" bIns="0" rtlCol="0" anchor="t"/>
          <a:lstStyle/>
          <a:p>
            <a:pPr indent="0" marL="0">
              <a:lnSpc>
                <a:spcPct val="105000"/>
              </a:lnSpc>
              <a:buNone/>
            </a:pPr>
            <a:r>
              <a:rPr lang="en-US" sz="1300" dirty="0">
                <a:solidFill>
                  <a:srgbClr val="222831"/>
                </a:solidFill>
                <a:latin typeface="Arial" pitchFamily="34" charset="0"/>
                <a:ea typeface="Arial" pitchFamily="34" charset="-122"/>
                <a:cs typeface="Arial" pitchFamily="34" charset="-120"/>
              </a:rPr>
              <a:t>ATC is set by the authorized parent, so satellite sites of an authorized center count as ATC, not just the flagship campus.</a:t>
            </a:r>
            <a:endParaRPr lang="en-US" sz="1300" dirty="0"/>
          </a:p>
        </p:txBody>
      </p:sp>
      <p:sp>
        <p:nvSpPr>
          <p:cNvPr id="10" name="Shape 8"/>
          <p:cNvSpPr/>
          <p:nvPr/>
        </p:nvSpPr>
        <p:spPr>
          <a:xfrm>
            <a:off x="640080" y="2825496"/>
            <a:ext cx="310896" cy="310896"/>
          </a:xfrm>
          <a:prstGeom prst="ellipse">
            <a:avLst/>
          </a:prstGeom>
          <a:solidFill>
            <a:srgbClr val="6E7F32"/>
          </a:solidFill>
          <a:ln/>
        </p:spPr>
      </p:sp>
      <p:sp>
        <p:nvSpPr>
          <p:cNvPr id="11" name="Text 9"/>
          <p:cNvSpPr/>
          <p:nvPr/>
        </p:nvSpPr>
        <p:spPr>
          <a:xfrm>
            <a:off x="640080" y="282549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1143000" y="2734056"/>
            <a:ext cx="3749040" cy="457200"/>
          </a:xfrm>
          <a:prstGeom prst="rect">
            <a:avLst/>
          </a:prstGeom>
          <a:noFill/>
          <a:ln/>
        </p:spPr>
        <p:txBody>
          <a:bodyPr wrap="square" lIns="0" tIns="0" rIns="0" bIns="0" rtlCol="0" anchor="t"/>
          <a:lstStyle/>
          <a:p>
            <a:pPr indent="0" marL="0">
              <a:buNone/>
            </a:pPr>
            <a:r>
              <a:rPr lang="en-US" sz="1500" b="1" dirty="0">
                <a:solidFill>
                  <a:srgbClr val="16324B"/>
                </a:solidFill>
                <a:latin typeface="Arial" pitchFamily="34" charset="0"/>
                <a:ea typeface="Arial" pitchFamily="34" charset="-122"/>
                <a:cs typeface="Arial" pitchFamily="34" charset="-120"/>
              </a:rPr>
              <a:t>Matched, then de-duplicated</a:t>
            </a:r>
            <a:endParaRPr lang="en-US" sz="1500" dirty="0"/>
          </a:p>
        </p:txBody>
      </p:sp>
      <p:sp>
        <p:nvSpPr>
          <p:cNvPr id="13" name="Text 11"/>
          <p:cNvSpPr/>
          <p:nvPr/>
        </p:nvSpPr>
        <p:spPr>
          <a:xfrm>
            <a:off x="5029200" y="2734056"/>
            <a:ext cx="6309360" cy="731520"/>
          </a:xfrm>
          <a:prstGeom prst="rect">
            <a:avLst/>
          </a:prstGeom>
          <a:noFill/>
          <a:ln/>
        </p:spPr>
        <p:txBody>
          <a:bodyPr wrap="square" lIns="0" tIns="0" rIns="0" bIns="0" rtlCol="0" anchor="t"/>
          <a:lstStyle/>
          <a:p>
            <a:pPr indent="0" marL="0">
              <a:lnSpc>
                <a:spcPct val="105000"/>
              </a:lnSpc>
              <a:buNone/>
            </a:pPr>
            <a:r>
              <a:rPr lang="en-US" sz="1300" dirty="0">
                <a:solidFill>
                  <a:srgbClr val="222831"/>
                </a:solidFill>
                <a:latin typeface="Arial" pitchFamily="34" charset="0"/>
                <a:ea typeface="Arial" pitchFamily="34" charset="-122"/>
                <a:cs typeface="Arial" pitchFamily="34" charset="-120"/>
              </a:rPr>
              <a:t>Each patient is matched first on the treating provider NPI, then on the parent account name, and counted once at the site with the most treatment.</a:t>
            </a:r>
            <a:endParaRPr lang="en-US" sz="1300" dirty="0"/>
          </a:p>
        </p:txBody>
      </p:sp>
      <p:sp>
        <p:nvSpPr>
          <p:cNvPr id="14" name="Shape 12"/>
          <p:cNvSpPr/>
          <p:nvPr/>
        </p:nvSpPr>
        <p:spPr>
          <a:xfrm>
            <a:off x="640080" y="3877056"/>
            <a:ext cx="310896" cy="310896"/>
          </a:xfrm>
          <a:prstGeom prst="ellipse">
            <a:avLst/>
          </a:prstGeom>
          <a:solidFill>
            <a:srgbClr val="6E7F32"/>
          </a:solidFill>
          <a:ln/>
        </p:spPr>
      </p:sp>
      <p:sp>
        <p:nvSpPr>
          <p:cNvPr id="15" name="Text 13"/>
          <p:cNvSpPr/>
          <p:nvPr/>
        </p:nvSpPr>
        <p:spPr>
          <a:xfrm>
            <a:off x="640080" y="387705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p:nvPr/>
        </p:nvSpPr>
        <p:spPr>
          <a:xfrm>
            <a:off x="1143000" y="3785616"/>
            <a:ext cx="3749040" cy="457200"/>
          </a:xfrm>
          <a:prstGeom prst="rect">
            <a:avLst/>
          </a:prstGeom>
          <a:noFill/>
          <a:ln/>
        </p:spPr>
        <p:txBody>
          <a:bodyPr wrap="square" lIns="0" tIns="0" rIns="0" bIns="0" rtlCol="0" anchor="t"/>
          <a:lstStyle/>
          <a:p>
            <a:pPr indent="0" marL="0">
              <a:buNone/>
            </a:pPr>
            <a:r>
              <a:rPr lang="en-US" sz="1500" b="1" dirty="0">
                <a:solidFill>
                  <a:srgbClr val="16324B"/>
                </a:solidFill>
                <a:latin typeface="Arial" pitchFamily="34" charset="0"/>
                <a:ea typeface="Arial" pitchFamily="34" charset="-122"/>
                <a:cs typeface="Arial" pitchFamily="34" charset="-120"/>
              </a:rPr>
              <a:t>One market, two drugs</a:t>
            </a:r>
            <a:endParaRPr lang="en-US" sz="1500" dirty="0"/>
          </a:p>
        </p:txBody>
      </p:sp>
      <p:sp>
        <p:nvSpPr>
          <p:cNvPr id="17" name="Text 15"/>
          <p:cNvSpPr/>
          <p:nvPr/>
        </p:nvSpPr>
        <p:spPr>
          <a:xfrm>
            <a:off x="5029200" y="3785616"/>
            <a:ext cx="6309360" cy="731520"/>
          </a:xfrm>
          <a:prstGeom prst="rect">
            <a:avLst/>
          </a:prstGeom>
          <a:noFill/>
          <a:ln/>
        </p:spPr>
        <p:txBody>
          <a:bodyPr wrap="square" lIns="0" tIns="0" rIns="0" bIns="0" rtlCol="0" anchor="t"/>
          <a:lstStyle/>
          <a:p>
            <a:pPr indent="0" marL="0">
              <a:lnSpc>
                <a:spcPct val="105000"/>
              </a:lnSpc>
              <a:buNone/>
            </a:pPr>
            <a:r>
              <a:rPr lang="en-US" sz="1300" dirty="0">
                <a:solidFill>
                  <a:srgbClr val="222831"/>
                </a:solidFill>
                <a:latin typeface="Arial" pitchFamily="34" charset="0"/>
                <a:ea typeface="Arial" pitchFamily="34" charset="-122"/>
                <a:cs typeface="Arial" pitchFamily="34" charset="-120"/>
              </a:rPr>
              <a:t>16,246 metastatic melanoma patients on Yervoy or Opdualag, McKesson (Compile) claims, 2021 to 2025.</a:t>
            </a:r>
            <a:endParaRPr lang="en-US" sz="1300" dirty="0"/>
          </a:p>
        </p:txBody>
      </p:sp>
      <p:sp>
        <p:nvSpPr>
          <p:cNvPr id="18" name="Shape 16"/>
          <p:cNvSpPr/>
          <p:nvPr/>
        </p:nvSpPr>
        <p:spPr>
          <a:xfrm>
            <a:off x="640080" y="5029200"/>
            <a:ext cx="10881360" cy="731520"/>
          </a:xfrm>
          <a:prstGeom prst="rect">
            <a:avLst/>
          </a:prstGeom>
          <a:solidFill>
            <a:srgbClr val="F3F5EC"/>
          </a:solidFill>
          <a:ln w="9525">
            <a:solidFill>
              <a:srgbClr val="D7DBE0"/>
            </a:solidFill>
            <a:prstDash val="solid"/>
          </a:ln>
        </p:spPr>
      </p:sp>
      <p:sp>
        <p:nvSpPr>
          <p:cNvPr id="19" name="Text 17"/>
          <p:cNvSpPr/>
          <p:nvPr/>
        </p:nvSpPr>
        <p:spPr>
          <a:xfrm>
            <a:off x="868680" y="5120640"/>
            <a:ext cx="2743200" cy="548640"/>
          </a:xfrm>
          <a:prstGeom prst="rect">
            <a:avLst/>
          </a:prstGeom>
          <a:noFill/>
          <a:ln/>
        </p:spPr>
        <p:txBody>
          <a:bodyPr wrap="square" lIns="0" tIns="0" rIns="0" bIns="0" rtlCol="0" anchor="ctr"/>
          <a:lstStyle/>
          <a:p>
            <a:pPr indent="0" marL="0">
              <a:buNone/>
            </a:pPr>
            <a:r>
              <a:rPr lang="en-US" sz="1200" b="1" dirty="0">
                <a:solidFill>
                  <a:srgbClr val="16324B"/>
                </a:solidFill>
                <a:latin typeface="Arial" pitchFamily="34" charset="0"/>
                <a:ea typeface="Arial" pitchFamily="34" charset="-122"/>
                <a:cs typeface="Arial" pitchFamily="34" charset="-120"/>
              </a:rPr>
              <a:t>How solid is 46%</a:t>
            </a:r>
            <a:endParaRPr lang="en-US" sz="1200" dirty="0"/>
          </a:p>
        </p:txBody>
      </p:sp>
      <p:sp>
        <p:nvSpPr>
          <p:cNvPr id="20" name="Text 18"/>
          <p:cNvSpPr/>
          <p:nvPr/>
        </p:nvSpPr>
        <p:spPr>
          <a:xfrm>
            <a:off x="3657600" y="5120640"/>
            <a:ext cx="1920240" cy="548640"/>
          </a:xfrm>
          <a:prstGeom prst="rect">
            <a:avLst/>
          </a:prstGeom>
          <a:noFill/>
          <a:ln/>
        </p:spPr>
        <p:txBody>
          <a:bodyPr wrap="square" lIns="0" tIns="0" rIns="0" bIns="0" rtlCol="0" anchor="ctr"/>
          <a:lstStyle/>
          <a:p>
            <a:pPr indent="0" marL="0">
              <a:buNone/>
            </a:pPr>
            <a:r>
              <a:rPr lang="en-US" sz="1500" b="1" dirty="0">
                <a:solidFill>
                  <a:srgbClr val="16324B"/>
                </a:solidFill>
                <a:latin typeface="Arial" pitchFamily="34" charset="0"/>
                <a:ea typeface="Arial" pitchFamily="34" charset="-122"/>
                <a:cs typeface="Arial" pitchFamily="34" charset="-120"/>
              </a:rPr>
              <a:t>20%  </a:t>
            </a:r>
            <a:pPr indent="0" marL="0">
              <a:buNone/>
            </a:pPr>
            <a:r>
              <a:rPr lang="en-US" sz="1000" dirty="0">
                <a:solidFill>
                  <a:srgbClr val="6B7280"/>
                </a:solidFill>
                <a:latin typeface="Arial" pitchFamily="34" charset="0"/>
                <a:ea typeface="Arial" pitchFamily="34" charset="-122"/>
                <a:cs typeface="Arial" pitchFamily="34" charset="-120"/>
              </a:rPr>
              <a:t>NPI only</a:t>
            </a:r>
            <a:endParaRPr lang="en-US" sz="1500" dirty="0"/>
          </a:p>
        </p:txBody>
      </p:sp>
      <p:sp>
        <p:nvSpPr>
          <p:cNvPr id="21" name="Text 19"/>
          <p:cNvSpPr/>
          <p:nvPr/>
        </p:nvSpPr>
        <p:spPr>
          <a:xfrm>
            <a:off x="5623560" y="5120640"/>
            <a:ext cx="1920240" cy="548640"/>
          </a:xfrm>
          <a:prstGeom prst="rect">
            <a:avLst/>
          </a:prstGeom>
          <a:noFill/>
          <a:ln/>
        </p:spPr>
        <p:txBody>
          <a:bodyPr wrap="square" lIns="0" tIns="0" rIns="0" bIns="0" rtlCol="0" anchor="ctr"/>
          <a:lstStyle/>
          <a:p>
            <a:pPr indent="0" marL="0">
              <a:buNone/>
            </a:pPr>
            <a:r>
              <a:rPr lang="en-US" sz="1500" b="1" dirty="0">
                <a:solidFill>
                  <a:srgbClr val="16324B"/>
                </a:solidFill>
                <a:latin typeface="Arial" pitchFamily="34" charset="0"/>
                <a:ea typeface="Arial" pitchFamily="34" charset="-122"/>
                <a:cs typeface="Arial" pitchFamily="34" charset="-120"/>
              </a:rPr>
              <a:t>39%  </a:t>
            </a:r>
            <a:pPr indent="0" marL="0">
              <a:buNone/>
            </a:pPr>
            <a:r>
              <a:rPr lang="en-US" sz="1000" dirty="0">
                <a:solidFill>
                  <a:srgbClr val="6B7280"/>
                </a:solidFill>
                <a:latin typeface="Arial" pitchFamily="34" charset="0"/>
                <a:ea typeface="Arial" pitchFamily="34" charset="-122"/>
                <a:cs typeface="Arial" pitchFamily="34" charset="-120"/>
              </a:rPr>
              <a:t>+ single-state parents</a:t>
            </a:r>
            <a:endParaRPr lang="en-US" sz="1500" dirty="0"/>
          </a:p>
        </p:txBody>
      </p:sp>
      <p:sp>
        <p:nvSpPr>
          <p:cNvPr id="22" name="Text 20"/>
          <p:cNvSpPr/>
          <p:nvPr/>
        </p:nvSpPr>
        <p:spPr>
          <a:xfrm>
            <a:off x="7589520" y="5120640"/>
            <a:ext cx="1920240" cy="548640"/>
          </a:xfrm>
          <a:prstGeom prst="rect">
            <a:avLst/>
          </a:prstGeom>
          <a:noFill/>
          <a:ln/>
        </p:spPr>
        <p:txBody>
          <a:bodyPr wrap="square" lIns="0" tIns="0" rIns="0" bIns="0" rtlCol="0" anchor="ctr"/>
          <a:lstStyle/>
          <a:p>
            <a:pPr indent="0" marL="0">
              <a:buNone/>
            </a:pPr>
            <a:r>
              <a:rPr lang="en-US" sz="1500" b="1" dirty="0">
                <a:solidFill>
                  <a:srgbClr val="6E7F32"/>
                </a:solidFill>
                <a:latin typeface="Arial" pitchFamily="34" charset="0"/>
                <a:ea typeface="Arial" pitchFamily="34" charset="-122"/>
                <a:cs typeface="Arial" pitchFamily="34" charset="-120"/>
              </a:rPr>
              <a:t>46%  </a:t>
            </a:r>
            <a:pPr indent="0" marL="0">
              <a:buNone/>
            </a:pPr>
            <a:r>
              <a:rPr lang="en-US" sz="1000" dirty="0">
                <a:solidFill>
                  <a:srgbClr val="6B7280"/>
                </a:solidFill>
                <a:latin typeface="Arial" pitchFamily="34" charset="0"/>
                <a:ea typeface="Arial" pitchFamily="34" charset="-122"/>
                <a:cs typeface="Arial" pitchFamily="34" charset="-120"/>
              </a:rPr>
              <a:t>+ satellites (current)</a:t>
            </a:r>
            <a:endParaRPr lang="en-US" sz="1500" dirty="0"/>
          </a:p>
        </p:txBody>
      </p:sp>
      <p:sp>
        <p:nvSpPr>
          <p:cNvPr id="23" name="Text 21"/>
          <p:cNvSpPr/>
          <p:nvPr/>
        </p:nvSpPr>
        <p:spPr>
          <a:xfrm>
            <a:off x="9555480" y="5120640"/>
            <a:ext cx="1920240" cy="548640"/>
          </a:xfrm>
          <a:prstGeom prst="rect">
            <a:avLst/>
          </a:prstGeom>
          <a:noFill/>
          <a:ln/>
        </p:spPr>
        <p:txBody>
          <a:bodyPr wrap="square" lIns="0" tIns="0" rIns="0" bIns="0" rtlCol="0" anchor="ctr"/>
          <a:lstStyle/>
          <a:p>
            <a:pPr indent="0" marL="0">
              <a:buNone/>
            </a:pPr>
            <a:r>
              <a:rPr lang="en-US" sz="1500" b="1" dirty="0">
                <a:solidFill>
                  <a:srgbClr val="16324B"/>
                </a:solidFill>
                <a:latin typeface="Arial" pitchFamily="34" charset="0"/>
                <a:ea typeface="Arial" pitchFamily="34" charset="-122"/>
                <a:cs typeface="Arial" pitchFamily="34" charset="-120"/>
              </a:rPr>
              <a:t>46%  </a:t>
            </a:r>
            <a:pPr indent="0" marL="0">
              <a:buNone/>
            </a:pPr>
            <a:r>
              <a:rPr lang="en-US" sz="1000" dirty="0">
                <a:solidFill>
                  <a:srgbClr val="6B7280"/>
                </a:solidFill>
                <a:latin typeface="Arial" pitchFamily="34" charset="0"/>
                <a:ea typeface="Arial" pitchFamily="34" charset="-122"/>
                <a:cs typeface="Arial" pitchFamily="34" charset="-120"/>
              </a:rPr>
              <a:t>+ 3-state parents</a:t>
            </a:r>
            <a:endParaRPr lang="en-US" sz="1500" dirty="0"/>
          </a:p>
        </p:txBody>
      </p:sp>
      <p:sp>
        <p:nvSpPr>
          <p:cNvPr id="24" name="Text 22"/>
          <p:cNvSpPr/>
          <p:nvPr/>
        </p:nvSpPr>
        <p:spPr>
          <a:xfrm>
            <a:off x="566928" y="5897880"/>
            <a:ext cx="10972800" cy="457200"/>
          </a:xfrm>
          <a:prstGeom prst="rect">
            <a:avLst/>
          </a:prstGeom>
          <a:noFill/>
          <a:ln/>
        </p:spPr>
        <p:txBody>
          <a:bodyPr wrap="square" lIns="0" tIns="0" rIns="0" bIns="0" rtlCol="0" anchor="t"/>
          <a:lstStyle/>
          <a:p>
            <a:pPr algn="l" indent="0" marL="0">
              <a:lnSpc>
                <a:spcPct val="105000"/>
              </a:lnSpc>
              <a:buNone/>
            </a:pPr>
            <a:r>
              <a:rPr lang="en-US" sz="850" i="1" dirty="0">
                <a:solidFill>
                  <a:srgbClr val="6B7280"/>
                </a:solidFill>
                <a:latin typeface="Arial" pitchFamily="34" charset="0"/>
                <a:ea typeface="Arial" pitchFamily="34" charset="-122"/>
                <a:cs typeface="Arial" pitchFamily="34" charset="-120"/>
              </a:rPr>
              <a:t>Source: McKesson (Compile) medical claims (2021 to 2025). Metastatic melanoma patients treated with Yervoy or Opdualag. ATC roster per Infinity authorized account list.</a:t>
            </a:r>
            <a:endParaRPr lang="en-US" sz="850" dirty="0"/>
          </a:p>
        </p:txBody>
      </p:sp>
      <p:sp>
        <p:nvSpPr>
          <p:cNvPr id="25" name="Shape 23"/>
          <p:cNvSpPr/>
          <p:nvPr/>
        </p:nvSpPr>
        <p:spPr>
          <a:xfrm>
            <a:off x="0" y="6455664"/>
            <a:ext cx="12188952" cy="402336"/>
          </a:xfrm>
          <a:prstGeom prst="rect">
            <a:avLst/>
          </a:prstGeom>
          <a:solidFill>
            <a:srgbClr val="8DA640"/>
          </a:solidFill>
          <a:ln/>
        </p:spPr>
      </p:sp>
      <p:sp>
        <p:nvSpPr>
          <p:cNvPr id="26" name="Text 24"/>
          <p:cNvSpPr/>
          <p:nvPr/>
        </p:nvSpPr>
        <p:spPr>
          <a:xfrm>
            <a:off x="502920" y="6455664"/>
            <a:ext cx="7315200" cy="402336"/>
          </a:xfrm>
          <a:prstGeom prst="rect">
            <a:avLst/>
          </a:prstGeom>
          <a:noFill/>
          <a:ln/>
        </p:spPr>
        <p:txBody>
          <a:bodyPr wrap="square" lIns="0" tIns="0" rIns="0" bIns="0" rtlCol="0" anchor="ctr"/>
          <a:lstStyle/>
          <a:p>
            <a:pPr algn="l" indent="0" marL="0">
              <a:buNone/>
            </a:pPr>
            <a:r>
              <a:rPr lang="en-US" sz="800" dirty="0">
                <a:solidFill>
                  <a:srgbClr val="F2F5E9"/>
                </a:solidFill>
                <a:latin typeface="Arial" pitchFamily="34" charset="0"/>
                <a:ea typeface="Arial" pitchFamily="34" charset="-122"/>
                <a:cs typeface="Arial" pitchFamily="34" charset="-120"/>
              </a:rPr>
              <a:t>© 2026, Iovance Biotherapeutics, Inc.  |  Confidential for Internal Use Only</a:t>
            </a:r>
            <a:endParaRPr lang="en-US" sz="800" dirty="0"/>
          </a:p>
        </p:txBody>
      </p:sp>
      <p:sp>
        <p:nvSpPr>
          <p:cNvPr id="27" name="Text 25"/>
          <p:cNvSpPr/>
          <p:nvPr/>
        </p:nvSpPr>
        <p:spPr>
          <a:xfrm>
            <a:off x="10195560" y="6455664"/>
            <a:ext cx="1371600" cy="402336"/>
          </a:xfrm>
          <a:prstGeom prst="rect">
            <a:avLst/>
          </a:prstGeom>
          <a:noFill/>
          <a:ln/>
        </p:spPr>
        <p:txBody>
          <a:bodyPr wrap="square" lIns="0" tIns="0" rIns="0" bIns="0" rtlCol="0" anchor="ctr"/>
          <a:lstStyle/>
          <a:p>
            <a:pPr algn="r" indent="0" marL="0">
              <a:buNone/>
            </a:pPr>
            <a:r>
              <a:rPr lang="en-US" sz="1300" b="1" i="1" spc="100" kern="0" dirty="0">
                <a:solidFill>
                  <a:srgbClr val="FFFFFF"/>
                </a:solidFill>
                <a:latin typeface="Arial" pitchFamily="34" charset="0"/>
                <a:ea typeface="Arial" pitchFamily="34" charset="-122"/>
                <a:cs typeface="Arial" pitchFamily="34" charset="-120"/>
              </a:rPr>
              <a:t>IOVANCE</a:t>
            </a:r>
            <a:endParaRPr lang="en-US" sz="1300" dirty="0"/>
          </a:p>
        </p:txBody>
      </p:sp>
      <p:sp>
        <p:nvSpPr>
          <p:cNvPr id="28" name="Shape 26"/>
          <p:cNvSpPr/>
          <p:nvPr/>
        </p:nvSpPr>
        <p:spPr>
          <a:xfrm>
            <a:off x="11686032" y="6528816"/>
            <a:ext cx="256032" cy="256032"/>
          </a:xfrm>
          <a:prstGeom prst="ellipse">
            <a:avLst/>
          </a:prstGeom>
          <a:solidFill>
            <a:srgbClr val="16324B"/>
          </a:solidFill>
          <a:ln/>
        </p:spPr>
      </p:sp>
      <p:sp>
        <p:nvSpPr>
          <p:cNvPr id="29" name="Text 27"/>
          <p:cNvSpPr/>
          <p:nvPr/>
        </p:nvSpPr>
        <p:spPr>
          <a:xfrm>
            <a:off x="11686032" y="6528816"/>
            <a:ext cx="256032" cy="256032"/>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058400" cy="274320"/>
          </a:xfrm>
          <a:prstGeom prst="rect">
            <a:avLst/>
          </a:prstGeom>
          <a:noFill/>
          <a:ln/>
        </p:spPr>
        <p:txBody>
          <a:bodyPr wrap="square" lIns="0" tIns="0" rIns="0" bIns="0" rtlCol="0" anchor="ctr"/>
          <a:lstStyle/>
          <a:p>
            <a:pPr indent="0" marL="0">
              <a:buNone/>
            </a:pPr>
            <a:r>
              <a:rPr lang="en-US" sz="1100" b="1" spc="200" kern="0" dirty="0">
                <a:solidFill>
                  <a:srgbClr val="5C7FA6"/>
                </a:solidFill>
                <a:latin typeface="Arial" pitchFamily="34" charset="0"/>
                <a:ea typeface="Arial" pitchFamily="34" charset="-122"/>
                <a:cs typeface="Arial" pitchFamily="34" charset="-120"/>
              </a:rPr>
              <a:t>MARKET STRUCTURE</a:t>
            </a:r>
            <a:endParaRPr lang="en-US" sz="1100" dirty="0"/>
          </a:p>
        </p:txBody>
      </p:sp>
      <p:sp>
        <p:nvSpPr>
          <p:cNvPr id="3" name="Shape 1"/>
          <p:cNvSpPr/>
          <p:nvPr/>
        </p:nvSpPr>
        <p:spPr>
          <a:xfrm>
            <a:off x="566928" y="658368"/>
            <a:ext cx="146304" cy="310896"/>
          </a:xfrm>
          <a:prstGeom prst="rect">
            <a:avLst/>
          </a:prstGeom>
          <a:solidFill>
            <a:srgbClr val="7C8A3B"/>
          </a:solidFill>
          <a:ln/>
        </p:spPr>
      </p:sp>
      <p:sp>
        <p:nvSpPr>
          <p:cNvPr id="4" name="Shape 2"/>
          <p:cNvSpPr/>
          <p:nvPr/>
        </p:nvSpPr>
        <p:spPr>
          <a:xfrm>
            <a:off x="11475720" y="658368"/>
            <a:ext cx="146304" cy="310896"/>
          </a:xfrm>
          <a:prstGeom prst="rect">
            <a:avLst/>
          </a:prstGeom>
          <a:solidFill>
            <a:srgbClr val="7C8A3B"/>
          </a:solidFill>
          <a:ln/>
        </p:spPr>
      </p:sp>
      <p:sp>
        <p:nvSpPr>
          <p:cNvPr id="5" name="Text 3"/>
          <p:cNvSpPr/>
          <p:nvPr/>
        </p:nvSpPr>
        <p:spPr>
          <a:xfrm>
            <a:off x="868680" y="566928"/>
            <a:ext cx="10515600" cy="914400"/>
          </a:xfrm>
          <a:prstGeom prst="rect">
            <a:avLst/>
          </a:prstGeom>
          <a:noFill/>
          <a:ln/>
        </p:spPr>
        <p:txBody>
          <a:bodyPr wrap="square" lIns="0" tIns="0" rIns="0" bIns="0" rtlCol="0" anchor="t"/>
          <a:lstStyle/>
          <a:p>
            <a:pPr algn="l" indent="0" marL="0">
              <a:lnSpc>
                <a:spcPct val="98000"/>
              </a:lnSpc>
              <a:buNone/>
            </a:pPr>
            <a:r>
              <a:rPr lang="en-US" sz="2600" b="1" dirty="0">
                <a:solidFill>
                  <a:srgbClr val="16324B"/>
                </a:solidFill>
                <a:latin typeface="Arial" pitchFamily="34" charset="0"/>
                <a:ea typeface="Arial" pitchFamily="34" charset="-122"/>
                <a:cs typeface="Arial" pitchFamily="34" charset="-120"/>
              </a:rPr>
              <a:t>A majority of metastatic melanoma patients are receiving their treatments outside our current ATC Network</a:t>
            </a:r>
            <a:endParaRPr lang="en-US" sz="2600" dirty="0"/>
          </a:p>
        </p:txBody>
      </p:sp>
      <p:sp>
        <p:nvSpPr>
          <p:cNvPr id="6" name="Text 4"/>
          <p:cNvSpPr/>
          <p:nvPr/>
        </p:nvSpPr>
        <p:spPr>
          <a:xfrm>
            <a:off x="868680" y="1737360"/>
            <a:ext cx="4754880" cy="822960"/>
          </a:xfrm>
          <a:prstGeom prst="rect">
            <a:avLst/>
          </a:prstGeom>
          <a:noFill/>
          <a:ln/>
        </p:spPr>
        <p:txBody>
          <a:bodyPr wrap="square" lIns="0" tIns="0" rIns="0" bIns="0" rtlCol="0" anchor="ctr"/>
          <a:lstStyle/>
          <a:p>
            <a:pPr indent="0" marL="0">
              <a:buNone/>
            </a:pPr>
            <a:r>
              <a:rPr lang="en-US" sz="4600" b="1" dirty="0">
                <a:solidFill>
                  <a:srgbClr val="6E7F32"/>
                </a:solidFill>
                <a:latin typeface="Arial" pitchFamily="34" charset="0"/>
                <a:ea typeface="Arial" pitchFamily="34" charset="-122"/>
                <a:cs typeface="Arial" pitchFamily="34" charset="-120"/>
              </a:rPr>
              <a:t>46.2%</a:t>
            </a:r>
            <a:endParaRPr lang="en-US" sz="4600" dirty="0"/>
          </a:p>
        </p:txBody>
      </p:sp>
      <p:sp>
        <p:nvSpPr>
          <p:cNvPr id="7" name="Text 5"/>
          <p:cNvSpPr/>
          <p:nvPr/>
        </p:nvSpPr>
        <p:spPr>
          <a:xfrm>
            <a:off x="886968" y="2578608"/>
            <a:ext cx="4937760" cy="320040"/>
          </a:xfrm>
          <a:prstGeom prst="rect">
            <a:avLst/>
          </a:prstGeom>
          <a:noFill/>
          <a:ln/>
        </p:spPr>
        <p:txBody>
          <a:bodyPr wrap="square" lIns="0" tIns="0" rIns="0" bIns="0" rtlCol="0" anchor="ctr"/>
          <a:lstStyle/>
          <a:p>
            <a:pPr indent="0" marL="0">
              <a:buNone/>
            </a:pPr>
            <a:r>
              <a:rPr lang="en-US" sz="1500" b="1" dirty="0">
                <a:solidFill>
                  <a:srgbClr val="16324B"/>
                </a:solidFill>
                <a:latin typeface="Arial" pitchFamily="34" charset="0"/>
                <a:ea typeface="Arial" pitchFamily="34" charset="-122"/>
                <a:cs typeface="Arial" pitchFamily="34" charset="-120"/>
              </a:rPr>
              <a:t>Treated in the ATC Network</a:t>
            </a:r>
            <a:endParaRPr lang="en-US" sz="1500" dirty="0"/>
          </a:p>
        </p:txBody>
      </p:sp>
      <p:sp>
        <p:nvSpPr>
          <p:cNvPr id="8" name="Text 6"/>
          <p:cNvSpPr/>
          <p:nvPr/>
        </p:nvSpPr>
        <p:spPr>
          <a:xfrm>
            <a:off x="886968" y="2889504"/>
            <a:ext cx="4937760" cy="27432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7,501 of 16,246 patients</a:t>
            </a:r>
            <a:endParaRPr lang="en-US" sz="1100" dirty="0"/>
          </a:p>
        </p:txBody>
      </p:sp>
      <p:sp>
        <p:nvSpPr>
          <p:cNvPr id="9" name="Text 7"/>
          <p:cNvSpPr/>
          <p:nvPr/>
        </p:nvSpPr>
        <p:spPr>
          <a:xfrm>
            <a:off x="6400800" y="1737360"/>
            <a:ext cx="4754880" cy="822960"/>
          </a:xfrm>
          <a:prstGeom prst="rect">
            <a:avLst/>
          </a:prstGeom>
          <a:noFill/>
          <a:ln/>
        </p:spPr>
        <p:txBody>
          <a:bodyPr wrap="square" lIns="0" tIns="0" rIns="0" bIns="0" rtlCol="0" anchor="ctr"/>
          <a:lstStyle/>
          <a:p>
            <a:pPr indent="0" marL="0">
              <a:buNone/>
            </a:pPr>
            <a:r>
              <a:rPr lang="en-US" sz="4600" b="1" dirty="0">
                <a:solidFill>
                  <a:srgbClr val="B0521E"/>
                </a:solidFill>
                <a:latin typeface="Arial" pitchFamily="34" charset="0"/>
                <a:ea typeface="Arial" pitchFamily="34" charset="-122"/>
                <a:cs typeface="Arial" pitchFamily="34" charset="-120"/>
              </a:rPr>
              <a:t>53.8%</a:t>
            </a:r>
            <a:endParaRPr lang="en-US" sz="4600" dirty="0"/>
          </a:p>
        </p:txBody>
      </p:sp>
      <p:sp>
        <p:nvSpPr>
          <p:cNvPr id="10" name="Text 8"/>
          <p:cNvSpPr/>
          <p:nvPr/>
        </p:nvSpPr>
        <p:spPr>
          <a:xfrm>
            <a:off x="6419088" y="2578608"/>
            <a:ext cx="4937760" cy="320040"/>
          </a:xfrm>
          <a:prstGeom prst="rect">
            <a:avLst/>
          </a:prstGeom>
          <a:noFill/>
          <a:ln/>
        </p:spPr>
        <p:txBody>
          <a:bodyPr wrap="square" lIns="0" tIns="0" rIns="0" bIns="0" rtlCol="0" anchor="ctr"/>
          <a:lstStyle/>
          <a:p>
            <a:pPr indent="0" marL="0">
              <a:buNone/>
            </a:pPr>
            <a:r>
              <a:rPr lang="en-US" sz="1500" b="1" dirty="0">
                <a:solidFill>
                  <a:srgbClr val="16324B"/>
                </a:solidFill>
                <a:latin typeface="Arial" pitchFamily="34" charset="0"/>
                <a:ea typeface="Arial" pitchFamily="34" charset="-122"/>
                <a:cs typeface="Arial" pitchFamily="34" charset="-120"/>
              </a:rPr>
              <a:t>Treated outside the Network</a:t>
            </a:r>
            <a:endParaRPr lang="en-US" sz="1500" dirty="0"/>
          </a:p>
        </p:txBody>
      </p:sp>
      <p:sp>
        <p:nvSpPr>
          <p:cNvPr id="11" name="Text 9"/>
          <p:cNvSpPr/>
          <p:nvPr/>
        </p:nvSpPr>
        <p:spPr>
          <a:xfrm>
            <a:off x="6419088" y="2889504"/>
            <a:ext cx="4937760" cy="27432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8,745 patients, mostly hospital and community sites</a:t>
            </a:r>
            <a:endParaRPr lang="en-US" sz="1100" dirty="0"/>
          </a:p>
        </p:txBody>
      </p:sp>
      <p:sp>
        <p:nvSpPr>
          <p:cNvPr id="12" name="Shape 10"/>
          <p:cNvSpPr/>
          <p:nvPr/>
        </p:nvSpPr>
        <p:spPr>
          <a:xfrm>
            <a:off x="868680" y="3566160"/>
            <a:ext cx="4858207" cy="457200"/>
          </a:xfrm>
          <a:prstGeom prst="rect">
            <a:avLst/>
          </a:prstGeom>
          <a:solidFill>
            <a:srgbClr val="6E7F32"/>
          </a:solidFill>
          <a:ln/>
        </p:spPr>
      </p:sp>
      <p:sp>
        <p:nvSpPr>
          <p:cNvPr id="13" name="Text 11"/>
          <p:cNvSpPr/>
          <p:nvPr/>
        </p:nvSpPr>
        <p:spPr>
          <a:xfrm>
            <a:off x="868680" y="3566160"/>
            <a:ext cx="4858207"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7,501</a:t>
            </a:r>
            <a:endParaRPr lang="en-US" sz="1100" dirty="0"/>
          </a:p>
        </p:txBody>
      </p:sp>
      <p:sp>
        <p:nvSpPr>
          <p:cNvPr id="14" name="Shape 12"/>
          <p:cNvSpPr/>
          <p:nvPr/>
        </p:nvSpPr>
        <p:spPr>
          <a:xfrm>
            <a:off x="5726887" y="3566160"/>
            <a:ext cx="4647895" cy="457200"/>
          </a:xfrm>
          <a:prstGeom prst="rect">
            <a:avLst/>
          </a:prstGeom>
          <a:solidFill>
            <a:srgbClr val="D96E1E"/>
          </a:solidFill>
          <a:ln/>
        </p:spPr>
      </p:sp>
      <p:sp>
        <p:nvSpPr>
          <p:cNvPr id="15" name="Text 13"/>
          <p:cNvSpPr/>
          <p:nvPr/>
        </p:nvSpPr>
        <p:spPr>
          <a:xfrm>
            <a:off x="5726887" y="3566160"/>
            <a:ext cx="4647895"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7,183</a:t>
            </a:r>
            <a:endParaRPr lang="en-US" sz="1100" dirty="0"/>
          </a:p>
        </p:txBody>
      </p:sp>
      <p:sp>
        <p:nvSpPr>
          <p:cNvPr id="16" name="Shape 14"/>
          <p:cNvSpPr/>
          <p:nvPr/>
        </p:nvSpPr>
        <p:spPr>
          <a:xfrm>
            <a:off x="10374782" y="3566160"/>
            <a:ext cx="851764" cy="457200"/>
          </a:xfrm>
          <a:prstGeom prst="rect">
            <a:avLst/>
          </a:prstGeom>
          <a:solidFill>
            <a:srgbClr val="E0A83C"/>
          </a:solidFill>
          <a:ln/>
        </p:spPr>
      </p:sp>
      <p:sp>
        <p:nvSpPr>
          <p:cNvPr id="17" name="Text 15"/>
          <p:cNvSpPr/>
          <p:nvPr/>
        </p:nvSpPr>
        <p:spPr>
          <a:xfrm>
            <a:off x="10374782" y="3566160"/>
            <a:ext cx="85176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1,317</a:t>
            </a:r>
            <a:endParaRPr lang="en-US" sz="1100" dirty="0"/>
          </a:p>
        </p:txBody>
      </p:sp>
      <p:sp>
        <p:nvSpPr>
          <p:cNvPr id="18" name="Shape 16"/>
          <p:cNvSpPr/>
          <p:nvPr/>
        </p:nvSpPr>
        <p:spPr>
          <a:xfrm>
            <a:off x="11226546" y="3566160"/>
            <a:ext cx="157734" cy="457200"/>
          </a:xfrm>
          <a:prstGeom prst="rect">
            <a:avLst/>
          </a:prstGeom>
          <a:solidFill>
            <a:srgbClr val="AEB6BF"/>
          </a:solidFill>
          <a:ln/>
        </p:spPr>
      </p:sp>
      <p:sp>
        <p:nvSpPr>
          <p:cNvPr id="19" name="Shape 17"/>
          <p:cNvSpPr/>
          <p:nvPr/>
        </p:nvSpPr>
        <p:spPr>
          <a:xfrm>
            <a:off x="868680" y="4187952"/>
            <a:ext cx="164592" cy="164592"/>
          </a:xfrm>
          <a:prstGeom prst="rect">
            <a:avLst/>
          </a:prstGeom>
          <a:solidFill>
            <a:srgbClr val="6E7F32"/>
          </a:solidFill>
          <a:ln/>
        </p:spPr>
      </p:sp>
      <p:sp>
        <p:nvSpPr>
          <p:cNvPr id="20" name="Text 18"/>
          <p:cNvSpPr/>
          <p:nvPr/>
        </p:nvSpPr>
        <p:spPr>
          <a:xfrm>
            <a:off x="1088136" y="4142232"/>
            <a:ext cx="2468880" cy="256032"/>
          </a:xfrm>
          <a:prstGeom prst="rect">
            <a:avLst/>
          </a:prstGeom>
          <a:noFill/>
          <a:ln/>
        </p:spPr>
        <p:txBody>
          <a:bodyPr wrap="square" lIns="0" tIns="0" rIns="0" bIns="0" rtlCol="0" anchor="ctr"/>
          <a:lstStyle/>
          <a:p>
            <a:pPr indent="0" marL="0">
              <a:buNone/>
            </a:pPr>
            <a:r>
              <a:rPr lang="en-US" sz="1100" dirty="0">
                <a:solidFill>
                  <a:srgbClr val="222831"/>
                </a:solidFill>
                <a:latin typeface="Arial" pitchFamily="34" charset="0"/>
                <a:ea typeface="Arial" pitchFamily="34" charset="-122"/>
                <a:cs typeface="Arial" pitchFamily="34" charset="-120"/>
              </a:rPr>
              <a:t>ATC  46.2%</a:t>
            </a:r>
            <a:endParaRPr lang="en-US" sz="1100" dirty="0"/>
          </a:p>
        </p:txBody>
      </p:sp>
      <p:sp>
        <p:nvSpPr>
          <p:cNvPr id="21" name="Shape 19"/>
          <p:cNvSpPr/>
          <p:nvPr/>
        </p:nvSpPr>
        <p:spPr>
          <a:xfrm>
            <a:off x="3566160" y="4187952"/>
            <a:ext cx="164592" cy="164592"/>
          </a:xfrm>
          <a:prstGeom prst="rect">
            <a:avLst/>
          </a:prstGeom>
          <a:solidFill>
            <a:srgbClr val="D96E1E"/>
          </a:solidFill>
          <a:ln/>
        </p:spPr>
      </p:sp>
      <p:sp>
        <p:nvSpPr>
          <p:cNvPr id="22" name="Text 20"/>
          <p:cNvSpPr/>
          <p:nvPr/>
        </p:nvSpPr>
        <p:spPr>
          <a:xfrm>
            <a:off x="3785616" y="4142232"/>
            <a:ext cx="2468880" cy="256032"/>
          </a:xfrm>
          <a:prstGeom prst="rect">
            <a:avLst/>
          </a:prstGeom>
          <a:noFill/>
          <a:ln/>
        </p:spPr>
        <p:txBody>
          <a:bodyPr wrap="square" lIns="0" tIns="0" rIns="0" bIns="0" rtlCol="0" anchor="ctr"/>
          <a:lstStyle/>
          <a:p>
            <a:pPr indent="0" marL="0">
              <a:buNone/>
            </a:pPr>
            <a:r>
              <a:rPr lang="en-US" sz="1100" dirty="0">
                <a:solidFill>
                  <a:srgbClr val="222831"/>
                </a:solidFill>
                <a:latin typeface="Arial" pitchFamily="34" charset="0"/>
                <a:ea typeface="Arial" pitchFamily="34" charset="-122"/>
                <a:cs typeface="Arial" pitchFamily="34" charset="-120"/>
              </a:rPr>
              <a:t>Hospital  44.2%</a:t>
            </a:r>
            <a:endParaRPr lang="en-US" sz="1100" dirty="0"/>
          </a:p>
        </p:txBody>
      </p:sp>
      <p:sp>
        <p:nvSpPr>
          <p:cNvPr id="23" name="Shape 21"/>
          <p:cNvSpPr/>
          <p:nvPr/>
        </p:nvSpPr>
        <p:spPr>
          <a:xfrm>
            <a:off x="6263640" y="4187952"/>
            <a:ext cx="164592" cy="164592"/>
          </a:xfrm>
          <a:prstGeom prst="rect">
            <a:avLst/>
          </a:prstGeom>
          <a:solidFill>
            <a:srgbClr val="E0A83C"/>
          </a:solidFill>
          <a:ln/>
        </p:spPr>
      </p:sp>
      <p:sp>
        <p:nvSpPr>
          <p:cNvPr id="24" name="Text 22"/>
          <p:cNvSpPr/>
          <p:nvPr/>
        </p:nvSpPr>
        <p:spPr>
          <a:xfrm>
            <a:off x="6483096" y="4142232"/>
            <a:ext cx="2468880" cy="256032"/>
          </a:xfrm>
          <a:prstGeom prst="rect">
            <a:avLst/>
          </a:prstGeom>
          <a:noFill/>
          <a:ln/>
        </p:spPr>
        <p:txBody>
          <a:bodyPr wrap="square" lIns="0" tIns="0" rIns="0" bIns="0" rtlCol="0" anchor="ctr"/>
          <a:lstStyle/>
          <a:p>
            <a:pPr indent="0" marL="0">
              <a:buNone/>
            </a:pPr>
            <a:r>
              <a:rPr lang="en-US" sz="1100" dirty="0">
                <a:solidFill>
                  <a:srgbClr val="222831"/>
                </a:solidFill>
                <a:latin typeface="Arial" pitchFamily="34" charset="0"/>
                <a:ea typeface="Arial" pitchFamily="34" charset="-122"/>
                <a:cs typeface="Arial" pitchFamily="34" charset="-120"/>
              </a:rPr>
              <a:t>Community  8.1%</a:t>
            </a:r>
            <a:endParaRPr lang="en-US" sz="1100" dirty="0"/>
          </a:p>
        </p:txBody>
      </p:sp>
      <p:sp>
        <p:nvSpPr>
          <p:cNvPr id="25" name="Shape 23"/>
          <p:cNvSpPr/>
          <p:nvPr/>
        </p:nvSpPr>
        <p:spPr>
          <a:xfrm>
            <a:off x="8961120" y="4187952"/>
            <a:ext cx="164592" cy="164592"/>
          </a:xfrm>
          <a:prstGeom prst="rect">
            <a:avLst/>
          </a:prstGeom>
          <a:solidFill>
            <a:srgbClr val="AEB6BF"/>
          </a:solidFill>
          <a:ln/>
        </p:spPr>
      </p:sp>
      <p:sp>
        <p:nvSpPr>
          <p:cNvPr id="26" name="Text 24"/>
          <p:cNvSpPr/>
          <p:nvPr/>
        </p:nvSpPr>
        <p:spPr>
          <a:xfrm>
            <a:off x="9180576" y="4142232"/>
            <a:ext cx="2468880" cy="256032"/>
          </a:xfrm>
          <a:prstGeom prst="rect">
            <a:avLst/>
          </a:prstGeom>
          <a:noFill/>
          <a:ln/>
        </p:spPr>
        <p:txBody>
          <a:bodyPr wrap="square" lIns="0" tIns="0" rIns="0" bIns="0" rtlCol="0" anchor="ctr"/>
          <a:lstStyle/>
          <a:p>
            <a:pPr indent="0" marL="0">
              <a:buNone/>
            </a:pPr>
            <a:r>
              <a:rPr lang="en-US" sz="1100" dirty="0">
                <a:solidFill>
                  <a:srgbClr val="222831"/>
                </a:solidFill>
                <a:latin typeface="Arial" pitchFamily="34" charset="0"/>
                <a:ea typeface="Arial" pitchFamily="34" charset="-122"/>
                <a:cs typeface="Arial" pitchFamily="34" charset="-120"/>
              </a:rPr>
              <a:t>Other  1.5%</a:t>
            </a:r>
            <a:endParaRPr lang="en-US" sz="1100" dirty="0"/>
          </a:p>
        </p:txBody>
      </p:sp>
      <p:sp>
        <p:nvSpPr>
          <p:cNvPr id="27" name="Shape 25"/>
          <p:cNvSpPr/>
          <p:nvPr/>
        </p:nvSpPr>
        <p:spPr>
          <a:xfrm>
            <a:off x="566928" y="4937760"/>
            <a:ext cx="11055096" cy="566928"/>
          </a:xfrm>
          <a:prstGeom prst="rect">
            <a:avLst/>
          </a:prstGeom>
          <a:solidFill>
            <a:srgbClr val="E7E8D3"/>
          </a:solidFill>
          <a:ln/>
        </p:spPr>
      </p:sp>
      <p:sp>
        <p:nvSpPr>
          <p:cNvPr id="28" name="Text 26"/>
          <p:cNvSpPr/>
          <p:nvPr/>
        </p:nvSpPr>
        <p:spPr>
          <a:xfrm>
            <a:off x="822960" y="4937760"/>
            <a:ext cx="10515600" cy="566928"/>
          </a:xfrm>
          <a:prstGeom prst="rect">
            <a:avLst/>
          </a:prstGeom>
          <a:noFill/>
          <a:ln/>
        </p:spPr>
        <p:txBody>
          <a:bodyPr wrap="square" lIns="0" tIns="0" rIns="0" bIns="0" rtlCol="0" anchor="ctr"/>
          <a:lstStyle/>
          <a:p>
            <a:pPr algn="ctr" indent="0" marL="0">
              <a:buNone/>
            </a:pPr>
            <a:r>
              <a:rPr lang="en-US" sz="1400" b="1" dirty="0">
                <a:solidFill>
                  <a:srgbClr val="16324B"/>
                </a:solidFill>
                <a:latin typeface="Arial" pitchFamily="34" charset="0"/>
                <a:ea typeface="Arial" pitchFamily="34" charset="-122"/>
                <a:cs typeface="Arial" pitchFamily="34" charset="-120"/>
              </a:rPr>
              <a:t>Most treatment happens outside the ATC Network today, but the Network's share of new patients has grown from about 43% in 2021 to about 50% in 2025.</a:t>
            </a:r>
            <a:endParaRPr lang="en-US" sz="1400" dirty="0"/>
          </a:p>
        </p:txBody>
      </p:sp>
      <p:sp>
        <p:nvSpPr>
          <p:cNvPr id="29" name="Text 27"/>
          <p:cNvSpPr/>
          <p:nvPr/>
        </p:nvSpPr>
        <p:spPr>
          <a:xfrm>
            <a:off x="566928" y="5760720"/>
            <a:ext cx="10972800" cy="457200"/>
          </a:xfrm>
          <a:prstGeom prst="rect">
            <a:avLst/>
          </a:prstGeom>
          <a:noFill/>
          <a:ln/>
        </p:spPr>
        <p:txBody>
          <a:bodyPr wrap="square" lIns="0" tIns="0" rIns="0" bIns="0" rtlCol="0" anchor="t"/>
          <a:lstStyle/>
          <a:p>
            <a:pPr algn="l" indent="0" marL="0">
              <a:lnSpc>
                <a:spcPct val="105000"/>
              </a:lnSpc>
              <a:buNone/>
            </a:pPr>
            <a:r>
              <a:rPr lang="en-US" sz="850" i="1" dirty="0">
                <a:solidFill>
                  <a:srgbClr val="6B7280"/>
                </a:solidFill>
                <a:latin typeface="Arial" pitchFamily="34" charset="0"/>
                <a:ea typeface="Arial" pitchFamily="34" charset="-122"/>
                <a:cs typeface="Arial" pitchFamily="34" charset="-120"/>
              </a:rPr>
              <a:t>Reconciled July 2026 against the authorized ATC account list, including City of Hope, NYU Langone, Ohio State Wexner, and Hoag. Source: McKesson (Compile) medical claims (2021 to 2025). Metastatic melanoma patients treated with Yervoy or Opdualag.</a:t>
            </a:r>
            <a:endParaRPr lang="en-US" sz="850" dirty="0"/>
          </a:p>
        </p:txBody>
      </p:sp>
      <p:sp>
        <p:nvSpPr>
          <p:cNvPr id="30" name="Shape 28"/>
          <p:cNvSpPr/>
          <p:nvPr/>
        </p:nvSpPr>
        <p:spPr>
          <a:xfrm>
            <a:off x="0" y="6455664"/>
            <a:ext cx="12188952" cy="402336"/>
          </a:xfrm>
          <a:prstGeom prst="rect">
            <a:avLst/>
          </a:prstGeom>
          <a:solidFill>
            <a:srgbClr val="8DA640"/>
          </a:solidFill>
          <a:ln/>
        </p:spPr>
      </p:sp>
      <p:sp>
        <p:nvSpPr>
          <p:cNvPr id="31" name="Text 29"/>
          <p:cNvSpPr/>
          <p:nvPr/>
        </p:nvSpPr>
        <p:spPr>
          <a:xfrm>
            <a:off x="502920" y="6455664"/>
            <a:ext cx="7315200" cy="402336"/>
          </a:xfrm>
          <a:prstGeom prst="rect">
            <a:avLst/>
          </a:prstGeom>
          <a:noFill/>
          <a:ln/>
        </p:spPr>
        <p:txBody>
          <a:bodyPr wrap="square" lIns="0" tIns="0" rIns="0" bIns="0" rtlCol="0" anchor="ctr"/>
          <a:lstStyle/>
          <a:p>
            <a:pPr algn="l" indent="0" marL="0">
              <a:buNone/>
            </a:pPr>
            <a:r>
              <a:rPr lang="en-US" sz="800" dirty="0">
                <a:solidFill>
                  <a:srgbClr val="F2F5E9"/>
                </a:solidFill>
                <a:latin typeface="Arial" pitchFamily="34" charset="0"/>
                <a:ea typeface="Arial" pitchFamily="34" charset="-122"/>
                <a:cs typeface="Arial" pitchFamily="34" charset="-120"/>
              </a:rPr>
              <a:t>© 2026, Iovance Biotherapeutics, Inc.  |  Confidential for Internal Use Only</a:t>
            </a:r>
            <a:endParaRPr lang="en-US" sz="800" dirty="0"/>
          </a:p>
        </p:txBody>
      </p:sp>
      <p:sp>
        <p:nvSpPr>
          <p:cNvPr id="32" name="Text 30"/>
          <p:cNvSpPr/>
          <p:nvPr/>
        </p:nvSpPr>
        <p:spPr>
          <a:xfrm>
            <a:off x="10195560" y="6455664"/>
            <a:ext cx="1371600" cy="402336"/>
          </a:xfrm>
          <a:prstGeom prst="rect">
            <a:avLst/>
          </a:prstGeom>
          <a:noFill/>
          <a:ln/>
        </p:spPr>
        <p:txBody>
          <a:bodyPr wrap="square" lIns="0" tIns="0" rIns="0" bIns="0" rtlCol="0" anchor="ctr"/>
          <a:lstStyle/>
          <a:p>
            <a:pPr algn="r" indent="0" marL="0">
              <a:buNone/>
            </a:pPr>
            <a:r>
              <a:rPr lang="en-US" sz="1300" b="1" i="1" spc="100" kern="0" dirty="0">
                <a:solidFill>
                  <a:srgbClr val="FFFFFF"/>
                </a:solidFill>
                <a:latin typeface="Arial" pitchFamily="34" charset="0"/>
                <a:ea typeface="Arial" pitchFamily="34" charset="-122"/>
                <a:cs typeface="Arial" pitchFamily="34" charset="-120"/>
              </a:rPr>
              <a:t>IOVANCE</a:t>
            </a:r>
            <a:endParaRPr lang="en-US" sz="1300" dirty="0"/>
          </a:p>
        </p:txBody>
      </p:sp>
      <p:sp>
        <p:nvSpPr>
          <p:cNvPr id="33" name="Shape 31"/>
          <p:cNvSpPr/>
          <p:nvPr/>
        </p:nvSpPr>
        <p:spPr>
          <a:xfrm>
            <a:off x="11686032" y="6528816"/>
            <a:ext cx="256032" cy="256032"/>
          </a:xfrm>
          <a:prstGeom prst="ellipse">
            <a:avLst/>
          </a:prstGeom>
          <a:solidFill>
            <a:srgbClr val="16324B"/>
          </a:solidFill>
          <a:ln/>
        </p:spPr>
      </p:sp>
      <p:sp>
        <p:nvSpPr>
          <p:cNvPr id="34" name="Text 32"/>
          <p:cNvSpPr/>
          <p:nvPr/>
        </p:nvSpPr>
        <p:spPr>
          <a:xfrm>
            <a:off x="11686032" y="6528816"/>
            <a:ext cx="256032" cy="256032"/>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058400" cy="274320"/>
          </a:xfrm>
          <a:prstGeom prst="rect">
            <a:avLst/>
          </a:prstGeom>
          <a:noFill/>
          <a:ln/>
        </p:spPr>
        <p:txBody>
          <a:bodyPr wrap="square" lIns="0" tIns="0" rIns="0" bIns="0" rtlCol="0" anchor="ctr"/>
          <a:lstStyle/>
          <a:p>
            <a:pPr indent="0" marL="0">
              <a:buNone/>
            </a:pPr>
            <a:r>
              <a:rPr lang="en-US" sz="1100" b="1" spc="200" kern="0" dirty="0">
                <a:solidFill>
                  <a:srgbClr val="5C7FA6"/>
                </a:solidFill>
                <a:latin typeface="Arial" pitchFamily="34" charset="0"/>
                <a:ea typeface="Arial" pitchFamily="34" charset="-122"/>
                <a:cs typeface="Arial" pitchFamily="34" charset="-120"/>
              </a:rPr>
              <a:t>PATIENT JOURNEY</a:t>
            </a:r>
            <a:endParaRPr lang="en-US" sz="1100" dirty="0"/>
          </a:p>
        </p:txBody>
      </p:sp>
      <p:sp>
        <p:nvSpPr>
          <p:cNvPr id="3" name="Shape 1"/>
          <p:cNvSpPr/>
          <p:nvPr/>
        </p:nvSpPr>
        <p:spPr>
          <a:xfrm>
            <a:off x="566928" y="658368"/>
            <a:ext cx="146304" cy="310896"/>
          </a:xfrm>
          <a:prstGeom prst="rect">
            <a:avLst/>
          </a:prstGeom>
          <a:solidFill>
            <a:srgbClr val="7C8A3B"/>
          </a:solidFill>
          <a:ln/>
        </p:spPr>
      </p:sp>
      <p:sp>
        <p:nvSpPr>
          <p:cNvPr id="4" name="Shape 2"/>
          <p:cNvSpPr/>
          <p:nvPr/>
        </p:nvSpPr>
        <p:spPr>
          <a:xfrm>
            <a:off x="11475720" y="658368"/>
            <a:ext cx="146304" cy="310896"/>
          </a:xfrm>
          <a:prstGeom prst="rect">
            <a:avLst/>
          </a:prstGeom>
          <a:solidFill>
            <a:srgbClr val="7C8A3B"/>
          </a:solidFill>
          <a:ln/>
        </p:spPr>
      </p:sp>
      <p:sp>
        <p:nvSpPr>
          <p:cNvPr id="5" name="Text 3"/>
          <p:cNvSpPr/>
          <p:nvPr/>
        </p:nvSpPr>
        <p:spPr>
          <a:xfrm>
            <a:off x="868680" y="566928"/>
            <a:ext cx="10515600" cy="548640"/>
          </a:xfrm>
          <a:prstGeom prst="rect">
            <a:avLst/>
          </a:prstGeom>
          <a:noFill/>
          <a:ln/>
        </p:spPr>
        <p:txBody>
          <a:bodyPr wrap="square" lIns="0" tIns="0" rIns="0" bIns="0" rtlCol="0" anchor="t"/>
          <a:lstStyle/>
          <a:p>
            <a:pPr algn="l" indent="0" marL="0">
              <a:lnSpc>
                <a:spcPct val="98000"/>
              </a:lnSpc>
              <a:buNone/>
            </a:pPr>
            <a:r>
              <a:rPr lang="en-US" sz="2600" b="1" dirty="0">
                <a:solidFill>
                  <a:srgbClr val="16324B"/>
                </a:solidFill>
                <a:latin typeface="Arial" pitchFamily="34" charset="0"/>
                <a:ea typeface="Arial" pitchFamily="34" charset="-122"/>
                <a:cs typeface="Arial" pitchFamily="34" charset="-120"/>
              </a:rPr>
              <a:t>Patients rarely switch networks once treatment begins</a:t>
            </a:r>
            <a:endParaRPr lang="en-US" sz="2600" dirty="0"/>
          </a:p>
        </p:txBody>
      </p:sp>
      <p:sp>
        <p:nvSpPr>
          <p:cNvPr id="6" name="Text 4"/>
          <p:cNvSpPr/>
          <p:nvPr/>
        </p:nvSpPr>
        <p:spPr>
          <a:xfrm>
            <a:off x="3291840" y="1600200"/>
            <a:ext cx="3657600" cy="320040"/>
          </a:xfrm>
          <a:prstGeom prst="rect">
            <a:avLst/>
          </a:prstGeom>
          <a:noFill/>
          <a:ln/>
        </p:spPr>
        <p:txBody>
          <a:bodyPr wrap="square" lIns="0" tIns="0" rIns="0" bIns="0" rtlCol="0" anchor="ctr"/>
          <a:lstStyle/>
          <a:p>
            <a:pPr algn="ctr" indent="0" marL="0">
              <a:buNone/>
            </a:pPr>
            <a:r>
              <a:rPr lang="en-US" sz="1200" b="1" dirty="0">
                <a:solidFill>
                  <a:srgbClr val="6B7280"/>
                </a:solidFill>
                <a:latin typeface="Arial" pitchFamily="34" charset="0"/>
                <a:ea typeface="Arial" pitchFamily="34" charset="-122"/>
                <a:cs typeface="Arial" pitchFamily="34" charset="-120"/>
              </a:rPr>
              <a:t>Ended at an ATC</a:t>
            </a:r>
            <a:endParaRPr lang="en-US" sz="1200" dirty="0"/>
          </a:p>
        </p:txBody>
      </p:sp>
      <p:sp>
        <p:nvSpPr>
          <p:cNvPr id="7" name="Text 5"/>
          <p:cNvSpPr/>
          <p:nvPr/>
        </p:nvSpPr>
        <p:spPr>
          <a:xfrm>
            <a:off x="7406640" y="1600200"/>
            <a:ext cx="3657600" cy="320040"/>
          </a:xfrm>
          <a:prstGeom prst="rect">
            <a:avLst/>
          </a:prstGeom>
          <a:noFill/>
          <a:ln/>
        </p:spPr>
        <p:txBody>
          <a:bodyPr wrap="square" lIns="0" tIns="0" rIns="0" bIns="0" rtlCol="0" anchor="ctr"/>
          <a:lstStyle/>
          <a:p>
            <a:pPr algn="ctr" indent="0" marL="0">
              <a:buNone/>
            </a:pPr>
            <a:r>
              <a:rPr lang="en-US" sz="1200" b="1" dirty="0">
                <a:solidFill>
                  <a:srgbClr val="6B7280"/>
                </a:solidFill>
                <a:latin typeface="Arial" pitchFamily="34" charset="0"/>
                <a:ea typeface="Arial" pitchFamily="34" charset="-122"/>
                <a:cs typeface="Arial" pitchFamily="34" charset="-120"/>
              </a:rPr>
              <a:t>Ended non-ATC</a:t>
            </a:r>
            <a:endParaRPr lang="en-US" sz="1200" dirty="0"/>
          </a:p>
        </p:txBody>
      </p:sp>
      <p:sp>
        <p:nvSpPr>
          <p:cNvPr id="8" name="Text 6"/>
          <p:cNvSpPr/>
          <p:nvPr/>
        </p:nvSpPr>
        <p:spPr>
          <a:xfrm>
            <a:off x="640080" y="2148840"/>
            <a:ext cx="1463040" cy="1097280"/>
          </a:xfrm>
          <a:prstGeom prst="rect">
            <a:avLst/>
          </a:prstGeom>
          <a:noFill/>
          <a:ln/>
        </p:spPr>
        <p:txBody>
          <a:bodyPr wrap="square" lIns="0" tIns="0" rIns="0" bIns="0" rtlCol="0" anchor="ctr"/>
          <a:lstStyle/>
          <a:p>
            <a:pPr algn="l" indent="0" marL="0">
              <a:buNone/>
            </a:pPr>
            <a:r>
              <a:rPr lang="en-US" sz="1200" b="1" dirty="0">
                <a:solidFill>
                  <a:srgbClr val="6B7280"/>
                </a:solidFill>
                <a:latin typeface="Arial" pitchFamily="34" charset="0"/>
                <a:ea typeface="Arial" pitchFamily="34" charset="-122"/>
                <a:cs typeface="Arial" pitchFamily="34" charset="-120"/>
              </a:rPr>
              <a:t>Started</a:t>
            </a:r>
            <a:endParaRPr lang="en-US" sz="1200" dirty="0"/>
          </a:p>
          <a:p>
            <a:pPr algn="l" indent="0" marL="0">
              <a:buNone/>
            </a:pPr>
            <a:r>
              <a:rPr lang="en-US" sz="1200" b="1" dirty="0">
                <a:solidFill>
                  <a:srgbClr val="6B7280"/>
                </a:solidFill>
                <a:latin typeface="Arial" pitchFamily="34" charset="0"/>
                <a:ea typeface="Arial" pitchFamily="34" charset="-122"/>
                <a:cs typeface="Arial" pitchFamily="34" charset="-120"/>
              </a:rPr>
              <a:t>non-ATC</a:t>
            </a:r>
            <a:endParaRPr lang="en-US" sz="1200" dirty="0"/>
          </a:p>
        </p:txBody>
      </p:sp>
      <p:sp>
        <p:nvSpPr>
          <p:cNvPr id="9" name="Text 7"/>
          <p:cNvSpPr/>
          <p:nvPr/>
        </p:nvSpPr>
        <p:spPr>
          <a:xfrm>
            <a:off x="640080" y="3429000"/>
            <a:ext cx="1463040" cy="1097280"/>
          </a:xfrm>
          <a:prstGeom prst="rect">
            <a:avLst/>
          </a:prstGeom>
          <a:noFill/>
          <a:ln/>
        </p:spPr>
        <p:txBody>
          <a:bodyPr wrap="square" lIns="0" tIns="0" rIns="0" bIns="0" rtlCol="0" anchor="ctr"/>
          <a:lstStyle/>
          <a:p>
            <a:pPr algn="l" indent="0" marL="0">
              <a:buNone/>
            </a:pPr>
            <a:r>
              <a:rPr lang="en-US" sz="1200" b="1" dirty="0">
                <a:solidFill>
                  <a:srgbClr val="6B7280"/>
                </a:solidFill>
                <a:latin typeface="Arial" pitchFamily="34" charset="0"/>
                <a:ea typeface="Arial" pitchFamily="34" charset="-122"/>
                <a:cs typeface="Arial" pitchFamily="34" charset="-120"/>
              </a:rPr>
              <a:t>Started</a:t>
            </a:r>
            <a:endParaRPr lang="en-US" sz="1200" dirty="0"/>
          </a:p>
          <a:p>
            <a:pPr algn="l" indent="0" marL="0">
              <a:buNone/>
            </a:pPr>
            <a:r>
              <a:rPr lang="en-US" sz="1200" b="1" dirty="0">
                <a:solidFill>
                  <a:srgbClr val="6B7280"/>
                </a:solidFill>
                <a:latin typeface="Arial" pitchFamily="34" charset="0"/>
                <a:ea typeface="Arial" pitchFamily="34" charset="-122"/>
                <a:cs typeface="Arial" pitchFamily="34" charset="-120"/>
              </a:rPr>
              <a:t>at an ATC</a:t>
            </a:r>
            <a:endParaRPr lang="en-US" sz="1200" dirty="0"/>
          </a:p>
        </p:txBody>
      </p:sp>
      <p:sp>
        <p:nvSpPr>
          <p:cNvPr id="10" name="Shape 8"/>
          <p:cNvSpPr/>
          <p:nvPr/>
        </p:nvSpPr>
        <p:spPr>
          <a:xfrm>
            <a:off x="2194560" y="2103120"/>
            <a:ext cx="3931920" cy="1143000"/>
          </a:xfrm>
          <a:prstGeom prst="rect">
            <a:avLst/>
          </a:prstGeom>
          <a:solidFill>
            <a:srgbClr val="F7F8FA"/>
          </a:solidFill>
          <a:ln w="12700">
            <a:solidFill>
              <a:srgbClr val="E2E6EA"/>
            </a:solidFill>
            <a:prstDash val="solid"/>
          </a:ln>
        </p:spPr>
      </p:sp>
      <p:sp>
        <p:nvSpPr>
          <p:cNvPr id="11" name="Text 9"/>
          <p:cNvSpPr/>
          <p:nvPr/>
        </p:nvSpPr>
        <p:spPr>
          <a:xfrm>
            <a:off x="2423160" y="2212848"/>
            <a:ext cx="3474720" cy="548640"/>
          </a:xfrm>
          <a:prstGeom prst="rect">
            <a:avLst/>
          </a:prstGeom>
          <a:noFill/>
          <a:ln/>
        </p:spPr>
        <p:txBody>
          <a:bodyPr wrap="square" lIns="0" tIns="0" rIns="0" bIns="0" rtlCol="0" anchor="ctr"/>
          <a:lstStyle/>
          <a:p>
            <a:pPr indent="0" marL="0">
              <a:buNone/>
            </a:pPr>
            <a:r>
              <a:rPr lang="en-US" sz="2200" b="1" dirty="0">
                <a:solidFill>
                  <a:srgbClr val="16324B"/>
                </a:solidFill>
                <a:latin typeface="Arial" pitchFamily="34" charset="0"/>
                <a:ea typeface="Arial" pitchFamily="34" charset="-122"/>
                <a:cs typeface="Arial" pitchFamily="34" charset="-120"/>
              </a:rPr>
              <a:t>99   </a:t>
            </a:r>
            <a:pPr indent="0" marL="0">
              <a:buNone/>
            </a:pPr>
            <a:r>
              <a:rPr lang="en-US" sz="1200" dirty="0">
                <a:solidFill>
                  <a:srgbClr val="6B7280"/>
                </a:solidFill>
                <a:latin typeface="Arial" pitchFamily="34" charset="0"/>
                <a:ea typeface="Arial" pitchFamily="34" charset="-122"/>
                <a:cs typeface="Arial" pitchFamily="34" charset="-120"/>
              </a:rPr>
              <a:t>0.6% of all patients</a:t>
            </a:r>
            <a:endParaRPr lang="en-US" sz="2200" dirty="0"/>
          </a:p>
        </p:txBody>
      </p:sp>
      <p:sp>
        <p:nvSpPr>
          <p:cNvPr id="12" name="Text 10"/>
          <p:cNvSpPr/>
          <p:nvPr/>
        </p:nvSpPr>
        <p:spPr>
          <a:xfrm>
            <a:off x="2441448" y="2761488"/>
            <a:ext cx="3566160" cy="411480"/>
          </a:xfrm>
          <a:prstGeom prst="rect">
            <a:avLst/>
          </a:prstGeom>
          <a:noFill/>
          <a:ln/>
        </p:spPr>
        <p:txBody>
          <a:bodyPr wrap="square" lIns="0" tIns="0" rIns="0" bIns="0" rtlCol="0" anchor="t"/>
          <a:lstStyle/>
          <a:p>
            <a:pPr indent="0" marL="0">
              <a:buNone/>
            </a:pPr>
            <a:r>
              <a:rPr lang="en-US" sz="1100" dirty="0">
                <a:solidFill>
                  <a:srgbClr val="222831"/>
                </a:solidFill>
                <a:latin typeface="Arial" pitchFamily="34" charset="0"/>
                <a:ea typeface="Arial" pitchFamily="34" charset="-122"/>
                <a:cs typeface="Arial" pitchFamily="34" charset="-120"/>
              </a:rPr>
              <a:t>Started outside, then moved to an ATC</a:t>
            </a:r>
            <a:endParaRPr lang="en-US" sz="1100" dirty="0"/>
          </a:p>
        </p:txBody>
      </p:sp>
      <p:sp>
        <p:nvSpPr>
          <p:cNvPr id="13" name="Shape 11"/>
          <p:cNvSpPr/>
          <p:nvPr/>
        </p:nvSpPr>
        <p:spPr>
          <a:xfrm>
            <a:off x="7315200" y="2103120"/>
            <a:ext cx="3931920" cy="1143000"/>
          </a:xfrm>
          <a:prstGeom prst="rect">
            <a:avLst/>
          </a:prstGeom>
          <a:solidFill>
            <a:srgbClr val="F6F8EF"/>
          </a:solidFill>
          <a:ln w="19050">
            <a:solidFill>
              <a:srgbClr val="6E7F32"/>
            </a:solidFill>
            <a:prstDash val="solid"/>
          </a:ln>
        </p:spPr>
      </p:sp>
      <p:sp>
        <p:nvSpPr>
          <p:cNvPr id="14" name="Text 12"/>
          <p:cNvSpPr/>
          <p:nvPr/>
        </p:nvSpPr>
        <p:spPr>
          <a:xfrm>
            <a:off x="7543800" y="2212848"/>
            <a:ext cx="3474720" cy="548640"/>
          </a:xfrm>
          <a:prstGeom prst="rect">
            <a:avLst/>
          </a:prstGeom>
          <a:noFill/>
          <a:ln/>
        </p:spPr>
        <p:txBody>
          <a:bodyPr wrap="square" lIns="0" tIns="0" rIns="0" bIns="0" rtlCol="0" anchor="ctr"/>
          <a:lstStyle/>
          <a:p>
            <a:pPr indent="0" marL="0">
              <a:buNone/>
            </a:pPr>
            <a:r>
              <a:rPr lang="en-US" sz="3000" b="1" dirty="0">
                <a:solidFill>
                  <a:srgbClr val="6E7F32"/>
                </a:solidFill>
                <a:latin typeface="Arial" pitchFamily="34" charset="0"/>
                <a:ea typeface="Arial" pitchFamily="34" charset="-122"/>
                <a:cs typeface="Arial" pitchFamily="34" charset="-120"/>
              </a:rPr>
              <a:t>8,775   </a:t>
            </a:r>
            <a:pPr indent="0" marL="0">
              <a:buNone/>
            </a:pPr>
            <a:r>
              <a:rPr lang="en-US" sz="1200" dirty="0">
                <a:solidFill>
                  <a:srgbClr val="6B7280"/>
                </a:solidFill>
                <a:latin typeface="Arial" pitchFamily="34" charset="0"/>
                <a:ea typeface="Arial" pitchFamily="34" charset="-122"/>
                <a:cs typeface="Arial" pitchFamily="34" charset="-120"/>
              </a:rPr>
              <a:t>53.5% of all patients</a:t>
            </a:r>
            <a:endParaRPr lang="en-US" sz="3000" dirty="0"/>
          </a:p>
        </p:txBody>
      </p:sp>
      <p:sp>
        <p:nvSpPr>
          <p:cNvPr id="15" name="Text 13"/>
          <p:cNvSpPr/>
          <p:nvPr/>
        </p:nvSpPr>
        <p:spPr>
          <a:xfrm>
            <a:off x="7562088" y="2761488"/>
            <a:ext cx="3566160" cy="411480"/>
          </a:xfrm>
          <a:prstGeom prst="rect">
            <a:avLst/>
          </a:prstGeom>
          <a:noFill/>
          <a:ln/>
        </p:spPr>
        <p:txBody>
          <a:bodyPr wrap="square" lIns="0" tIns="0" rIns="0" bIns="0" rtlCol="0" anchor="t"/>
          <a:lstStyle/>
          <a:p>
            <a:pPr indent="0" marL="0">
              <a:buNone/>
            </a:pPr>
            <a:r>
              <a:rPr lang="en-US" sz="1100" dirty="0">
                <a:solidFill>
                  <a:srgbClr val="222831"/>
                </a:solidFill>
                <a:latin typeface="Arial" pitchFamily="34" charset="0"/>
                <a:ea typeface="Arial" pitchFamily="34" charset="-122"/>
                <a:cs typeface="Arial" pitchFamily="34" charset="-120"/>
              </a:rPr>
              <a:t>Treated entirely outside the ATC network</a:t>
            </a:r>
            <a:endParaRPr lang="en-US" sz="1100" dirty="0"/>
          </a:p>
        </p:txBody>
      </p:sp>
      <p:sp>
        <p:nvSpPr>
          <p:cNvPr id="16" name="Shape 14"/>
          <p:cNvSpPr/>
          <p:nvPr/>
        </p:nvSpPr>
        <p:spPr>
          <a:xfrm>
            <a:off x="2194560" y="3429000"/>
            <a:ext cx="3931920" cy="1143000"/>
          </a:xfrm>
          <a:prstGeom prst="rect">
            <a:avLst/>
          </a:prstGeom>
          <a:solidFill>
            <a:srgbClr val="F6F8EF"/>
          </a:solidFill>
          <a:ln w="19050">
            <a:solidFill>
              <a:srgbClr val="6E7F32"/>
            </a:solidFill>
            <a:prstDash val="solid"/>
          </a:ln>
        </p:spPr>
      </p:sp>
      <p:sp>
        <p:nvSpPr>
          <p:cNvPr id="17" name="Text 15"/>
          <p:cNvSpPr/>
          <p:nvPr/>
        </p:nvSpPr>
        <p:spPr>
          <a:xfrm>
            <a:off x="2423160" y="3538728"/>
            <a:ext cx="3474720" cy="548640"/>
          </a:xfrm>
          <a:prstGeom prst="rect">
            <a:avLst/>
          </a:prstGeom>
          <a:noFill/>
          <a:ln/>
        </p:spPr>
        <p:txBody>
          <a:bodyPr wrap="square" lIns="0" tIns="0" rIns="0" bIns="0" rtlCol="0" anchor="ctr"/>
          <a:lstStyle/>
          <a:p>
            <a:pPr indent="0" marL="0">
              <a:buNone/>
            </a:pPr>
            <a:r>
              <a:rPr lang="en-US" sz="3000" b="1" dirty="0">
                <a:solidFill>
                  <a:srgbClr val="6E7F32"/>
                </a:solidFill>
                <a:latin typeface="Arial" pitchFamily="34" charset="0"/>
                <a:ea typeface="Arial" pitchFamily="34" charset="-122"/>
                <a:cs typeface="Arial" pitchFamily="34" charset="-120"/>
              </a:rPr>
              <a:t>7,482   </a:t>
            </a:r>
            <a:pPr indent="0" marL="0">
              <a:buNone/>
            </a:pPr>
            <a:r>
              <a:rPr lang="en-US" sz="1200" dirty="0">
                <a:solidFill>
                  <a:srgbClr val="6B7280"/>
                </a:solidFill>
                <a:latin typeface="Arial" pitchFamily="34" charset="0"/>
                <a:ea typeface="Arial" pitchFamily="34" charset="-122"/>
                <a:cs typeface="Arial" pitchFamily="34" charset="-120"/>
              </a:rPr>
              <a:t>45.6% of all patients</a:t>
            </a:r>
            <a:endParaRPr lang="en-US" sz="3000" dirty="0"/>
          </a:p>
        </p:txBody>
      </p:sp>
      <p:sp>
        <p:nvSpPr>
          <p:cNvPr id="18" name="Text 16"/>
          <p:cNvSpPr/>
          <p:nvPr/>
        </p:nvSpPr>
        <p:spPr>
          <a:xfrm>
            <a:off x="2441448" y="4087368"/>
            <a:ext cx="3566160" cy="411480"/>
          </a:xfrm>
          <a:prstGeom prst="rect">
            <a:avLst/>
          </a:prstGeom>
          <a:noFill/>
          <a:ln/>
        </p:spPr>
        <p:txBody>
          <a:bodyPr wrap="square" lIns="0" tIns="0" rIns="0" bIns="0" rtlCol="0" anchor="t"/>
          <a:lstStyle/>
          <a:p>
            <a:pPr indent="0" marL="0">
              <a:buNone/>
            </a:pPr>
            <a:r>
              <a:rPr lang="en-US" sz="1100" dirty="0">
                <a:solidFill>
                  <a:srgbClr val="222831"/>
                </a:solidFill>
                <a:latin typeface="Arial" pitchFamily="34" charset="0"/>
                <a:ea typeface="Arial" pitchFamily="34" charset="-122"/>
                <a:cs typeface="Arial" pitchFamily="34" charset="-120"/>
              </a:rPr>
              <a:t>Started and stayed at an ATC</a:t>
            </a:r>
            <a:endParaRPr lang="en-US" sz="1100" dirty="0"/>
          </a:p>
        </p:txBody>
      </p:sp>
      <p:sp>
        <p:nvSpPr>
          <p:cNvPr id="19" name="Shape 17"/>
          <p:cNvSpPr/>
          <p:nvPr/>
        </p:nvSpPr>
        <p:spPr>
          <a:xfrm>
            <a:off x="7315200" y="3429000"/>
            <a:ext cx="3931920" cy="1143000"/>
          </a:xfrm>
          <a:prstGeom prst="rect">
            <a:avLst/>
          </a:prstGeom>
          <a:solidFill>
            <a:srgbClr val="F7F8FA"/>
          </a:solidFill>
          <a:ln w="12700">
            <a:solidFill>
              <a:srgbClr val="E2E6EA"/>
            </a:solidFill>
            <a:prstDash val="solid"/>
          </a:ln>
        </p:spPr>
      </p:sp>
      <p:sp>
        <p:nvSpPr>
          <p:cNvPr id="20" name="Text 18"/>
          <p:cNvSpPr/>
          <p:nvPr/>
        </p:nvSpPr>
        <p:spPr>
          <a:xfrm>
            <a:off x="7543800" y="3538728"/>
            <a:ext cx="3474720" cy="548640"/>
          </a:xfrm>
          <a:prstGeom prst="rect">
            <a:avLst/>
          </a:prstGeom>
          <a:noFill/>
          <a:ln/>
        </p:spPr>
        <p:txBody>
          <a:bodyPr wrap="square" lIns="0" tIns="0" rIns="0" bIns="0" rtlCol="0" anchor="ctr"/>
          <a:lstStyle/>
          <a:p>
            <a:pPr indent="0" marL="0">
              <a:buNone/>
            </a:pPr>
            <a:r>
              <a:rPr lang="en-US" sz="2200" b="1" dirty="0">
                <a:solidFill>
                  <a:srgbClr val="16324B"/>
                </a:solidFill>
                <a:latin typeface="Arial" pitchFamily="34" charset="0"/>
                <a:ea typeface="Arial" pitchFamily="34" charset="-122"/>
                <a:cs typeface="Arial" pitchFamily="34" charset="-120"/>
              </a:rPr>
              <a:t>48   </a:t>
            </a:r>
            <a:pPr indent="0" marL="0">
              <a:buNone/>
            </a:pPr>
            <a:r>
              <a:rPr lang="en-US" sz="1200" dirty="0">
                <a:solidFill>
                  <a:srgbClr val="6B7280"/>
                </a:solidFill>
                <a:latin typeface="Arial" pitchFamily="34" charset="0"/>
                <a:ea typeface="Arial" pitchFamily="34" charset="-122"/>
                <a:cs typeface="Arial" pitchFamily="34" charset="-120"/>
              </a:rPr>
              <a:t>0.3% of all patients</a:t>
            </a:r>
            <a:endParaRPr lang="en-US" sz="2200" dirty="0"/>
          </a:p>
        </p:txBody>
      </p:sp>
      <p:sp>
        <p:nvSpPr>
          <p:cNvPr id="21" name="Text 19"/>
          <p:cNvSpPr/>
          <p:nvPr/>
        </p:nvSpPr>
        <p:spPr>
          <a:xfrm>
            <a:off x="7562088" y="4087368"/>
            <a:ext cx="3566160" cy="411480"/>
          </a:xfrm>
          <a:prstGeom prst="rect">
            <a:avLst/>
          </a:prstGeom>
          <a:noFill/>
          <a:ln/>
        </p:spPr>
        <p:txBody>
          <a:bodyPr wrap="square" lIns="0" tIns="0" rIns="0" bIns="0" rtlCol="0" anchor="t"/>
          <a:lstStyle/>
          <a:p>
            <a:pPr indent="0" marL="0">
              <a:buNone/>
            </a:pPr>
            <a:r>
              <a:rPr lang="en-US" sz="1100" dirty="0">
                <a:solidFill>
                  <a:srgbClr val="222831"/>
                </a:solidFill>
                <a:latin typeface="Arial" pitchFamily="34" charset="0"/>
                <a:ea typeface="Arial" pitchFamily="34" charset="-122"/>
                <a:cs typeface="Arial" pitchFamily="34" charset="-120"/>
              </a:rPr>
              <a:t>Started at an ATC, then left to non-ATC</a:t>
            </a:r>
            <a:endParaRPr lang="en-US" sz="1100" dirty="0"/>
          </a:p>
        </p:txBody>
      </p:sp>
      <p:sp>
        <p:nvSpPr>
          <p:cNvPr id="22" name="Shape 20"/>
          <p:cNvSpPr/>
          <p:nvPr/>
        </p:nvSpPr>
        <p:spPr>
          <a:xfrm>
            <a:off x="566928" y="4892040"/>
            <a:ext cx="11055096" cy="566928"/>
          </a:xfrm>
          <a:prstGeom prst="rect">
            <a:avLst/>
          </a:prstGeom>
          <a:solidFill>
            <a:srgbClr val="E7E8D3"/>
          </a:solidFill>
          <a:ln/>
        </p:spPr>
      </p:sp>
      <p:sp>
        <p:nvSpPr>
          <p:cNvPr id="23" name="Text 21"/>
          <p:cNvSpPr/>
          <p:nvPr/>
        </p:nvSpPr>
        <p:spPr>
          <a:xfrm>
            <a:off x="822960" y="4892040"/>
            <a:ext cx="10515600" cy="566928"/>
          </a:xfrm>
          <a:prstGeom prst="rect">
            <a:avLst/>
          </a:prstGeom>
          <a:noFill/>
          <a:ln/>
        </p:spPr>
        <p:txBody>
          <a:bodyPr wrap="square" lIns="0" tIns="0" rIns="0" bIns="0" rtlCol="0" anchor="ctr"/>
          <a:lstStyle/>
          <a:p>
            <a:pPr algn="ctr" indent="0" marL="0">
              <a:buNone/>
            </a:pPr>
            <a:r>
              <a:rPr lang="en-US" sz="1400" b="1" dirty="0">
                <a:solidFill>
                  <a:srgbClr val="16324B"/>
                </a:solidFill>
                <a:latin typeface="Arial" pitchFamily="34" charset="0"/>
                <a:ea typeface="Arial" pitchFamily="34" charset="-122"/>
                <a:cs typeface="Arial" pitchFamily="34" charset="-120"/>
              </a:rPr>
              <a:t>Where a patient starts is where they stay. The network keeps about 99% of the patients it starts with, and almost no one crosses either way.</a:t>
            </a:r>
            <a:endParaRPr lang="en-US" sz="1400" dirty="0"/>
          </a:p>
        </p:txBody>
      </p:sp>
      <p:sp>
        <p:nvSpPr>
          <p:cNvPr id="24" name="Text 22"/>
          <p:cNvSpPr/>
          <p:nvPr/>
        </p:nvSpPr>
        <p:spPr>
          <a:xfrm>
            <a:off x="566928" y="5715000"/>
            <a:ext cx="10972800" cy="457200"/>
          </a:xfrm>
          <a:prstGeom prst="rect">
            <a:avLst/>
          </a:prstGeom>
          <a:noFill/>
          <a:ln/>
        </p:spPr>
        <p:txBody>
          <a:bodyPr wrap="square" lIns="0" tIns="0" rIns="0" bIns="0" rtlCol="0" anchor="t"/>
          <a:lstStyle/>
          <a:p>
            <a:pPr algn="l" indent="0" marL="0">
              <a:lnSpc>
                <a:spcPct val="105000"/>
              </a:lnSpc>
              <a:buNone/>
            </a:pPr>
            <a:r>
              <a:rPr lang="en-US" sz="850" i="1" dirty="0">
                <a:solidFill>
                  <a:srgbClr val="6B7280"/>
                </a:solidFill>
                <a:latin typeface="Arial" pitchFamily="34" charset="0"/>
                <a:ea typeface="Arial" pitchFamily="34" charset="-122"/>
                <a:cs typeface="Arial" pitchFamily="34" charset="-120"/>
              </a:rPr>
              <a:t>Source: McKesson (Compile) medical claims (2021 to 2025). Start = site of first treatment claim; End = site of last treatment claim. Patients may have activity across both settings.</a:t>
            </a:r>
            <a:endParaRPr lang="en-US" sz="850" dirty="0"/>
          </a:p>
        </p:txBody>
      </p:sp>
      <p:sp>
        <p:nvSpPr>
          <p:cNvPr id="25" name="Shape 23"/>
          <p:cNvSpPr/>
          <p:nvPr/>
        </p:nvSpPr>
        <p:spPr>
          <a:xfrm>
            <a:off x="0" y="6455664"/>
            <a:ext cx="12188952" cy="402336"/>
          </a:xfrm>
          <a:prstGeom prst="rect">
            <a:avLst/>
          </a:prstGeom>
          <a:solidFill>
            <a:srgbClr val="8DA640"/>
          </a:solidFill>
          <a:ln/>
        </p:spPr>
      </p:sp>
      <p:sp>
        <p:nvSpPr>
          <p:cNvPr id="26" name="Text 24"/>
          <p:cNvSpPr/>
          <p:nvPr/>
        </p:nvSpPr>
        <p:spPr>
          <a:xfrm>
            <a:off x="502920" y="6455664"/>
            <a:ext cx="7315200" cy="402336"/>
          </a:xfrm>
          <a:prstGeom prst="rect">
            <a:avLst/>
          </a:prstGeom>
          <a:noFill/>
          <a:ln/>
        </p:spPr>
        <p:txBody>
          <a:bodyPr wrap="square" lIns="0" tIns="0" rIns="0" bIns="0" rtlCol="0" anchor="ctr"/>
          <a:lstStyle/>
          <a:p>
            <a:pPr algn="l" indent="0" marL="0">
              <a:buNone/>
            </a:pPr>
            <a:r>
              <a:rPr lang="en-US" sz="800" dirty="0">
                <a:solidFill>
                  <a:srgbClr val="F2F5E9"/>
                </a:solidFill>
                <a:latin typeface="Arial" pitchFamily="34" charset="0"/>
                <a:ea typeface="Arial" pitchFamily="34" charset="-122"/>
                <a:cs typeface="Arial" pitchFamily="34" charset="-120"/>
              </a:rPr>
              <a:t>© 2026, Iovance Biotherapeutics, Inc.  |  Confidential for Internal Use Only</a:t>
            </a:r>
            <a:endParaRPr lang="en-US" sz="800" dirty="0"/>
          </a:p>
        </p:txBody>
      </p:sp>
      <p:sp>
        <p:nvSpPr>
          <p:cNvPr id="27" name="Text 25"/>
          <p:cNvSpPr/>
          <p:nvPr/>
        </p:nvSpPr>
        <p:spPr>
          <a:xfrm>
            <a:off x="10195560" y="6455664"/>
            <a:ext cx="1371600" cy="402336"/>
          </a:xfrm>
          <a:prstGeom prst="rect">
            <a:avLst/>
          </a:prstGeom>
          <a:noFill/>
          <a:ln/>
        </p:spPr>
        <p:txBody>
          <a:bodyPr wrap="square" lIns="0" tIns="0" rIns="0" bIns="0" rtlCol="0" anchor="ctr"/>
          <a:lstStyle/>
          <a:p>
            <a:pPr algn="r" indent="0" marL="0">
              <a:buNone/>
            </a:pPr>
            <a:r>
              <a:rPr lang="en-US" sz="1300" b="1" i="1" spc="100" kern="0" dirty="0">
                <a:solidFill>
                  <a:srgbClr val="FFFFFF"/>
                </a:solidFill>
                <a:latin typeface="Arial" pitchFamily="34" charset="0"/>
                <a:ea typeface="Arial" pitchFamily="34" charset="-122"/>
                <a:cs typeface="Arial" pitchFamily="34" charset="-120"/>
              </a:rPr>
              <a:t>IOVANCE</a:t>
            </a:r>
            <a:endParaRPr lang="en-US" sz="1300" dirty="0"/>
          </a:p>
        </p:txBody>
      </p:sp>
      <p:sp>
        <p:nvSpPr>
          <p:cNvPr id="28" name="Shape 26"/>
          <p:cNvSpPr/>
          <p:nvPr/>
        </p:nvSpPr>
        <p:spPr>
          <a:xfrm>
            <a:off x="11686032" y="6528816"/>
            <a:ext cx="256032" cy="256032"/>
          </a:xfrm>
          <a:prstGeom prst="ellipse">
            <a:avLst/>
          </a:prstGeom>
          <a:solidFill>
            <a:srgbClr val="16324B"/>
          </a:solidFill>
          <a:ln/>
        </p:spPr>
      </p:sp>
      <p:sp>
        <p:nvSpPr>
          <p:cNvPr id="29" name="Text 27"/>
          <p:cNvSpPr/>
          <p:nvPr/>
        </p:nvSpPr>
        <p:spPr>
          <a:xfrm>
            <a:off x="11686032" y="6528816"/>
            <a:ext cx="256032" cy="256032"/>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058400" cy="274320"/>
          </a:xfrm>
          <a:prstGeom prst="rect">
            <a:avLst/>
          </a:prstGeom>
          <a:noFill/>
          <a:ln/>
        </p:spPr>
        <p:txBody>
          <a:bodyPr wrap="square" lIns="0" tIns="0" rIns="0" bIns="0" rtlCol="0" anchor="ctr"/>
          <a:lstStyle/>
          <a:p>
            <a:pPr indent="0" marL="0">
              <a:buNone/>
            </a:pPr>
            <a:r>
              <a:rPr lang="en-US" sz="1100" b="1" spc="200" kern="0" dirty="0">
                <a:solidFill>
                  <a:srgbClr val="5C7FA6"/>
                </a:solidFill>
                <a:latin typeface="Arial" pitchFamily="34" charset="0"/>
                <a:ea typeface="Arial" pitchFamily="34" charset="-122"/>
                <a:cs typeface="Arial" pitchFamily="34" charset="-120"/>
              </a:rPr>
              <a:t>REGIONAL VIEW</a:t>
            </a:r>
            <a:endParaRPr lang="en-US" sz="1100" dirty="0"/>
          </a:p>
        </p:txBody>
      </p:sp>
      <p:sp>
        <p:nvSpPr>
          <p:cNvPr id="3" name="Shape 1"/>
          <p:cNvSpPr/>
          <p:nvPr/>
        </p:nvSpPr>
        <p:spPr>
          <a:xfrm>
            <a:off x="566928" y="658368"/>
            <a:ext cx="146304" cy="310896"/>
          </a:xfrm>
          <a:prstGeom prst="rect">
            <a:avLst/>
          </a:prstGeom>
          <a:solidFill>
            <a:srgbClr val="7C8A3B"/>
          </a:solidFill>
          <a:ln/>
        </p:spPr>
      </p:sp>
      <p:sp>
        <p:nvSpPr>
          <p:cNvPr id="4" name="Shape 2"/>
          <p:cNvSpPr/>
          <p:nvPr/>
        </p:nvSpPr>
        <p:spPr>
          <a:xfrm>
            <a:off x="11475720" y="658368"/>
            <a:ext cx="146304" cy="310896"/>
          </a:xfrm>
          <a:prstGeom prst="rect">
            <a:avLst/>
          </a:prstGeom>
          <a:solidFill>
            <a:srgbClr val="7C8A3B"/>
          </a:solidFill>
          <a:ln/>
        </p:spPr>
      </p:sp>
      <p:sp>
        <p:nvSpPr>
          <p:cNvPr id="5" name="Text 3"/>
          <p:cNvSpPr/>
          <p:nvPr/>
        </p:nvSpPr>
        <p:spPr>
          <a:xfrm>
            <a:off x="868680" y="566928"/>
            <a:ext cx="10515600" cy="548640"/>
          </a:xfrm>
          <a:prstGeom prst="rect">
            <a:avLst/>
          </a:prstGeom>
          <a:noFill/>
          <a:ln/>
        </p:spPr>
        <p:txBody>
          <a:bodyPr wrap="square" lIns="0" tIns="0" rIns="0" bIns="0" rtlCol="0" anchor="t"/>
          <a:lstStyle/>
          <a:p>
            <a:pPr algn="l" indent="0" marL="0">
              <a:lnSpc>
                <a:spcPct val="98000"/>
              </a:lnSpc>
              <a:buNone/>
            </a:pPr>
            <a:r>
              <a:rPr lang="en-US" sz="2600" b="1" dirty="0">
                <a:solidFill>
                  <a:srgbClr val="16324B"/>
                </a:solidFill>
                <a:latin typeface="Arial" pitchFamily="34" charset="0"/>
                <a:ea typeface="Arial" pitchFamily="34" charset="-122"/>
                <a:cs typeface="Arial" pitchFamily="34" charset="-120"/>
              </a:rPr>
              <a:t>The biggest opportunity isn't where penetration is lowest</a:t>
            </a:r>
            <a:endParaRPr lang="en-US" sz="2600" dirty="0"/>
          </a:p>
        </p:txBody>
      </p:sp>
      <p:sp>
        <p:nvSpPr>
          <p:cNvPr id="6" name="Shape 4"/>
          <p:cNvSpPr/>
          <p:nvPr/>
        </p:nvSpPr>
        <p:spPr>
          <a:xfrm>
            <a:off x="3840480" y="1371600"/>
            <a:ext cx="201168" cy="201168"/>
          </a:xfrm>
          <a:prstGeom prst="rect">
            <a:avLst/>
          </a:prstGeom>
          <a:solidFill>
            <a:srgbClr val="6E7F32"/>
          </a:solidFill>
          <a:ln/>
        </p:spPr>
      </p:sp>
      <p:sp>
        <p:nvSpPr>
          <p:cNvPr id="7" name="Text 5"/>
          <p:cNvSpPr/>
          <p:nvPr/>
        </p:nvSpPr>
        <p:spPr>
          <a:xfrm>
            <a:off x="4096512" y="1353312"/>
            <a:ext cx="2651760" cy="237744"/>
          </a:xfrm>
          <a:prstGeom prst="rect">
            <a:avLst/>
          </a:prstGeom>
          <a:noFill/>
          <a:ln/>
        </p:spPr>
        <p:txBody>
          <a:bodyPr wrap="square" lIns="0" tIns="0" rIns="0" bIns="0" rtlCol="0" anchor="ctr"/>
          <a:lstStyle/>
          <a:p>
            <a:pPr indent="0" marL="0">
              <a:buNone/>
            </a:pPr>
            <a:r>
              <a:rPr lang="en-US" sz="1100" dirty="0">
                <a:solidFill>
                  <a:srgbClr val="222831"/>
                </a:solidFill>
                <a:latin typeface="Arial" pitchFamily="34" charset="0"/>
                <a:ea typeface="Arial" pitchFamily="34" charset="-122"/>
                <a:cs typeface="Arial" pitchFamily="34" charset="-120"/>
              </a:rPr>
              <a:t>Treated in ATC Network</a:t>
            </a:r>
            <a:endParaRPr lang="en-US" sz="1100" dirty="0"/>
          </a:p>
        </p:txBody>
      </p:sp>
      <p:sp>
        <p:nvSpPr>
          <p:cNvPr id="8" name="Shape 6"/>
          <p:cNvSpPr/>
          <p:nvPr/>
        </p:nvSpPr>
        <p:spPr>
          <a:xfrm>
            <a:off x="6858000" y="1371600"/>
            <a:ext cx="201168" cy="201168"/>
          </a:xfrm>
          <a:prstGeom prst="rect">
            <a:avLst/>
          </a:prstGeom>
          <a:solidFill>
            <a:srgbClr val="D96E1E"/>
          </a:solidFill>
          <a:ln/>
        </p:spPr>
      </p:sp>
      <p:sp>
        <p:nvSpPr>
          <p:cNvPr id="9" name="Text 7"/>
          <p:cNvSpPr/>
          <p:nvPr/>
        </p:nvSpPr>
        <p:spPr>
          <a:xfrm>
            <a:off x="7114032" y="1353312"/>
            <a:ext cx="3383280" cy="237744"/>
          </a:xfrm>
          <a:prstGeom prst="rect">
            <a:avLst/>
          </a:prstGeom>
          <a:noFill/>
          <a:ln/>
        </p:spPr>
        <p:txBody>
          <a:bodyPr wrap="square" lIns="0" tIns="0" rIns="0" bIns="0" rtlCol="0" anchor="ctr"/>
          <a:lstStyle/>
          <a:p>
            <a:pPr indent="0" marL="0">
              <a:buNone/>
            </a:pPr>
            <a:r>
              <a:rPr lang="en-US" sz="1100" dirty="0">
                <a:solidFill>
                  <a:srgbClr val="222831"/>
                </a:solidFill>
                <a:latin typeface="Arial" pitchFamily="34" charset="0"/>
                <a:ea typeface="Arial" pitchFamily="34" charset="-122"/>
                <a:cs typeface="Arial" pitchFamily="34" charset="-120"/>
              </a:rPr>
              <a:t>Untapped (outside ATC network)</a:t>
            </a:r>
            <a:endParaRPr lang="en-US" sz="1100" dirty="0"/>
          </a:p>
        </p:txBody>
      </p:sp>
      <p:sp>
        <p:nvSpPr>
          <p:cNvPr id="10" name="Text 8"/>
          <p:cNvSpPr/>
          <p:nvPr/>
        </p:nvSpPr>
        <p:spPr>
          <a:xfrm>
            <a:off x="548640" y="1920240"/>
            <a:ext cx="2057400" cy="347472"/>
          </a:xfrm>
          <a:prstGeom prst="rect">
            <a:avLst/>
          </a:prstGeom>
          <a:noFill/>
          <a:ln/>
        </p:spPr>
        <p:txBody>
          <a:bodyPr wrap="square" lIns="0" tIns="0" rIns="0" bIns="0" rtlCol="0" anchor="ctr"/>
          <a:lstStyle/>
          <a:p>
            <a:pPr algn="r" indent="0" marL="0">
              <a:buNone/>
            </a:pPr>
            <a:r>
              <a:rPr lang="en-US" sz="1200" b="1" dirty="0">
                <a:solidFill>
                  <a:srgbClr val="16324B"/>
                </a:solidFill>
                <a:latin typeface="Arial" pitchFamily="34" charset="0"/>
                <a:ea typeface="Arial" pitchFamily="34" charset="-122"/>
                <a:cs typeface="Arial" pitchFamily="34" charset="-120"/>
              </a:rPr>
              <a:t>West · 50%</a:t>
            </a:r>
            <a:endParaRPr lang="en-US" sz="1200" dirty="0"/>
          </a:p>
        </p:txBody>
      </p:sp>
      <p:sp>
        <p:nvSpPr>
          <p:cNvPr id="11" name="Shape 9"/>
          <p:cNvSpPr/>
          <p:nvPr/>
        </p:nvSpPr>
        <p:spPr>
          <a:xfrm>
            <a:off x="2743200" y="1920240"/>
            <a:ext cx="3663062" cy="347472"/>
          </a:xfrm>
          <a:prstGeom prst="rect">
            <a:avLst/>
          </a:prstGeom>
          <a:solidFill>
            <a:srgbClr val="6E7F32"/>
          </a:solidFill>
          <a:ln/>
        </p:spPr>
      </p:sp>
      <p:sp>
        <p:nvSpPr>
          <p:cNvPr id="12" name="Shape 10"/>
          <p:cNvSpPr/>
          <p:nvPr/>
        </p:nvSpPr>
        <p:spPr>
          <a:xfrm>
            <a:off x="6406262" y="1920240"/>
            <a:ext cx="3652138" cy="347472"/>
          </a:xfrm>
          <a:prstGeom prst="rect">
            <a:avLst/>
          </a:prstGeom>
          <a:solidFill>
            <a:srgbClr val="D96E1E"/>
          </a:solidFill>
          <a:ln/>
        </p:spPr>
      </p:sp>
      <p:sp>
        <p:nvSpPr>
          <p:cNvPr id="13" name="Text 11"/>
          <p:cNvSpPr/>
          <p:nvPr/>
        </p:nvSpPr>
        <p:spPr>
          <a:xfrm>
            <a:off x="2743200" y="1920240"/>
            <a:ext cx="366306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2,012</a:t>
            </a:r>
            <a:endParaRPr lang="en-US" sz="1000" dirty="0"/>
          </a:p>
        </p:txBody>
      </p:sp>
      <p:sp>
        <p:nvSpPr>
          <p:cNvPr id="14" name="Text 12"/>
          <p:cNvSpPr/>
          <p:nvPr/>
        </p:nvSpPr>
        <p:spPr>
          <a:xfrm>
            <a:off x="6406262" y="1920240"/>
            <a:ext cx="365213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2,006</a:t>
            </a:r>
            <a:endParaRPr lang="en-US" sz="1000" dirty="0"/>
          </a:p>
        </p:txBody>
      </p:sp>
      <p:sp>
        <p:nvSpPr>
          <p:cNvPr id="15" name="Text 13"/>
          <p:cNvSpPr/>
          <p:nvPr/>
        </p:nvSpPr>
        <p:spPr>
          <a:xfrm>
            <a:off x="10168128" y="1920240"/>
            <a:ext cx="914400" cy="347472"/>
          </a:xfrm>
          <a:prstGeom prst="rect">
            <a:avLst/>
          </a:prstGeom>
          <a:noFill/>
          <a:ln/>
        </p:spPr>
        <p:txBody>
          <a:bodyPr wrap="square" lIns="0" tIns="0" rIns="0" bIns="0" rtlCol="0" anchor="ctr"/>
          <a:lstStyle/>
          <a:p>
            <a:pPr algn="l" indent="0" marL="0">
              <a:buNone/>
            </a:pPr>
            <a:r>
              <a:rPr lang="en-US" sz="1100" b="1" dirty="0">
                <a:solidFill>
                  <a:srgbClr val="16324B"/>
                </a:solidFill>
                <a:latin typeface="Arial" pitchFamily="34" charset="0"/>
                <a:ea typeface="Arial" pitchFamily="34" charset="-122"/>
                <a:cs typeface="Arial" pitchFamily="34" charset="-120"/>
              </a:rPr>
              <a:t>4,018</a:t>
            </a:r>
            <a:endParaRPr lang="en-US" sz="1100" dirty="0"/>
          </a:p>
        </p:txBody>
      </p:sp>
      <p:sp>
        <p:nvSpPr>
          <p:cNvPr id="16" name="Text 14"/>
          <p:cNvSpPr/>
          <p:nvPr/>
        </p:nvSpPr>
        <p:spPr>
          <a:xfrm>
            <a:off x="548640" y="2377440"/>
            <a:ext cx="2057400" cy="347472"/>
          </a:xfrm>
          <a:prstGeom prst="rect">
            <a:avLst/>
          </a:prstGeom>
          <a:noFill/>
          <a:ln/>
        </p:spPr>
        <p:txBody>
          <a:bodyPr wrap="square" lIns="0" tIns="0" rIns="0" bIns="0" rtlCol="0" anchor="ctr"/>
          <a:lstStyle/>
          <a:p>
            <a:pPr algn="r" indent="0" marL="0">
              <a:buNone/>
            </a:pPr>
            <a:r>
              <a:rPr lang="en-US" sz="1200" b="1" dirty="0">
                <a:solidFill>
                  <a:srgbClr val="16324B"/>
                </a:solidFill>
                <a:latin typeface="Arial" pitchFamily="34" charset="0"/>
                <a:ea typeface="Arial" pitchFamily="34" charset="-122"/>
                <a:cs typeface="Arial" pitchFamily="34" charset="-120"/>
              </a:rPr>
              <a:t>Northeast · 55%</a:t>
            </a:r>
            <a:endParaRPr lang="en-US" sz="1200" dirty="0"/>
          </a:p>
        </p:txBody>
      </p:sp>
      <p:sp>
        <p:nvSpPr>
          <p:cNvPr id="17" name="Shape 15"/>
          <p:cNvSpPr/>
          <p:nvPr/>
        </p:nvSpPr>
        <p:spPr>
          <a:xfrm>
            <a:off x="2743200" y="2377440"/>
            <a:ext cx="3826916" cy="347472"/>
          </a:xfrm>
          <a:prstGeom prst="rect">
            <a:avLst/>
          </a:prstGeom>
          <a:solidFill>
            <a:srgbClr val="6E7F32"/>
          </a:solidFill>
          <a:ln/>
        </p:spPr>
      </p:sp>
      <p:sp>
        <p:nvSpPr>
          <p:cNvPr id="18" name="Shape 16"/>
          <p:cNvSpPr/>
          <p:nvPr/>
        </p:nvSpPr>
        <p:spPr>
          <a:xfrm>
            <a:off x="6570116" y="2377440"/>
            <a:ext cx="3191525" cy="347472"/>
          </a:xfrm>
          <a:prstGeom prst="rect">
            <a:avLst/>
          </a:prstGeom>
          <a:solidFill>
            <a:srgbClr val="D96E1E"/>
          </a:solidFill>
          <a:ln/>
        </p:spPr>
      </p:sp>
      <p:sp>
        <p:nvSpPr>
          <p:cNvPr id="19" name="Text 17"/>
          <p:cNvSpPr/>
          <p:nvPr/>
        </p:nvSpPr>
        <p:spPr>
          <a:xfrm>
            <a:off x="2743200" y="2377440"/>
            <a:ext cx="38269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2,102</a:t>
            </a:r>
            <a:endParaRPr lang="en-US" sz="1000" dirty="0"/>
          </a:p>
        </p:txBody>
      </p:sp>
      <p:sp>
        <p:nvSpPr>
          <p:cNvPr id="20" name="Text 18"/>
          <p:cNvSpPr/>
          <p:nvPr/>
        </p:nvSpPr>
        <p:spPr>
          <a:xfrm>
            <a:off x="6570116" y="2377440"/>
            <a:ext cx="3191525"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1,753</a:t>
            </a:r>
            <a:endParaRPr lang="en-US" sz="1000" dirty="0"/>
          </a:p>
        </p:txBody>
      </p:sp>
      <p:sp>
        <p:nvSpPr>
          <p:cNvPr id="21" name="Text 19"/>
          <p:cNvSpPr/>
          <p:nvPr/>
        </p:nvSpPr>
        <p:spPr>
          <a:xfrm>
            <a:off x="9871369" y="2377440"/>
            <a:ext cx="914400" cy="347472"/>
          </a:xfrm>
          <a:prstGeom prst="rect">
            <a:avLst/>
          </a:prstGeom>
          <a:noFill/>
          <a:ln/>
        </p:spPr>
        <p:txBody>
          <a:bodyPr wrap="square" lIns="0" tIns="0" rIns="0" bIns="0" rtlCol="0" anchor="ctr"/>
          <a:lstStyle/>
          <a:p>
            <a:pPr algn="l" indent="0" marL="0">
              <a:buNone/>
            </a:pPr>
            <a:r>
              <a:rPr lang="en-US" sz="1100" b="1" dirty="0">
                <a:solidFill>
                  <a:srgbClr val="16324B"/>
                </a:solidFill>
                <a:latin typeface="Arial" pitchFamily="34" charset="0"/>
                <a:ea typeface="Arial" pitchFamily="34" charset="-122"/>
                <a:cs typeface="Arial" pitchFamily="34" charset="-120"/>
              </a:rPr>
              <a:t>3,855</a:t>
            </a:r>
            <a:endParaRPr lang="en-US" sz="1100" dirty="0"/>
          </a:p>
        </p:txBody>
      </p:sp>
      <p:sp>
        <p:nvSpPr>
          <p:cNvPr id="22" name="Text 20"/>
          <p:cNvSpPr/>
          <p:nvPr/>
        </p:nvSpPr>
        <p:spPr>
          <a:xfrm>
            <a:off x="548640" y="2834640"/>
            <a:ext cx="2057400" cy="347472"/>
          </a:xfrm>
          <a:prstGeom prst="rect">
            <a:avLst/>
          </a:prstGeom>
          <a:noFill/>
          <a:ln/>
        </p:spPr>
        <p:txBody>
          <a:bodyPr wrap="square" lIns="0" tIns="0" rIns="0" bIns="0" rtlCol="0" anchor="ctr"/>
          <a:lstStyle/>
          <a:p>
            <a:pPr algn="r" indent="0" marL="0">
              <a:buNone/>
            </a:pPr>
            <a:r>
              <a:rPr lang="en-US" sz="1200" dirty="0">
                <a:solidFill>
                  <a:srgbClr val="45546A"/>
                </a:solidFill>
                <a:latin typeface="Arial" pitchFamily="34" charset="0"/>
                <a:ea typeface="Arial" pitchFamily="34" charset="-122"/>
                <a:cs typeface="Arial" pitchFamily="34" charset="-120"/>
              </a:rPr>
              <a:t>Southeast · 50%</a:t>
            </a:r>
            <a:endParaRPr lang="en-US" sz="1200" dirty="0"/>
          </a:p>
        </p:txBody>
      </p:sp>
      <p:sp>
        <p:nvSpPr>
          <p:cNvPr id="23" name="Shape 21"/>
          <p:cNvSpPr/>
          <p:nvPr/>
        </p:nvSpPr>
        <p:spPr>
          <a:xfrm>
            <a:off x="2743200" y="2834640"/>
            <a:ext cx="2920254" cy="347472"/>
          </a:xfrm>
          <a:prstGeom prst="rect">
            <a:avLst/>
          </a:prstGeom>
          <a:solidFill>
            <a:srgbClr val="6E7F32"/>
          </a:solidFill>
          <a:ln/>
        </p:spPr>
      </p:sp>
      <p:sp>
        <p:nvSpPr>
          <p:cNvPr id="24" name="Shape 22"/>
          <p:cNvSpPr/>
          <p:nvPr/>
        </p:nvSpPr>
        <p:spPr>
          <a:xfrm>
            <a:off x="5663454" y="2834640"/>
            <a:ext cx="2916613" cy="347472"/>
          </a:xfrm>
          <a:prstGeom prst="rect">
            <a:avLst/>
          </a:prstGeom>
          <a:solidFill>
            <a:srgbClr val="D96E1E"/>
          </a:solidFill>
          <a:ln/>
        </p:spPr>
      </p:sp>
      <p:sp>
        <p:nvSpPr>
          <p:cNvPr id="25" name="Text 23"/>
          <p:cNvSpPr/>
          <p:nvPr/>
        </p:nvSpPr>
        <p:spPr>
          <a:xfrm>
            <a:off x="2743200" y="2834640"/>
            <a:ext cx="2920254"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1,604</a:t>
            </a:r>
            <a:endParaRPr lang="en-US" sz="1000" dirty="0"/>
          </a:p>
        </p:txBody>
      </p:sp>
      <p:sp>
        <p:nvSpPr>
          <p:cNvPr id="26" name="Text 24"/>
          <p:cNvSpPr/>
          <p:nvPr/>
        </p:nvSpPr>
        <p:spPr>
          <a:xfrm>
            <a:off x="5663454" y="2834640"/>
            <a:ext cx="2916613"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1,602</a:t>
            </a:r>
            <a:endParaRPr lang="en-US" sz="1000" dirty="0"/>
          </a:p>
        </p:txBody>
      </p:sp>
      <p:sp>
        <p:nvSpPr>
          <p:cNvPr id="27" name="Text 25"/>
          <p:cNvSpPr/>
          <p:nvPr/>
        </p:nvSpPr>
        <p:spPr>
          <a:xfrm>
            <a:off x="8689795" y="2834640"/>
            <a:ext cx="914400" cy="347472"/>
          </a:xfrm>
          <a:prstGeom prst="rect">
            <a:avLst/>
          </a:prstGeom>
          <a:noFill/>
          <a:ln/>
        </p:spPr>
        <p:txBody>
          <a:bodyPr wrap="square" lIns="0" tIns="0" rIns="0" bIns="0" rtlCol="0" anchor="ctr"/>
          <a:lstStyle/>
          <a:p>
            <a:pPr algn="l" indent="0" marL="0">
              <a:buNone/>
            </a:pPr>
            <a:r>
              <a:rPr lang="en-US" sz="1100" b="1" dirty="0">
                <a:solidFill>
                  <a:srgbClr val="16324B"/>
                </a:solidFill>
                <a:latin typeface="Arial" pitchFamily="34" charset="0"/>
                <a:ea typeface="Arial" pitchFamily="34" charset="-122"/>
                <a:cs typeface="Arial" pitchFamily="34" charset="-120"/>
              </a:rPr>
              <a:t>3,206</a:t>
            </a:r>
            <a:endParaRPr lang="en-US" sz="1100" dirty="0"/>
          </a:p>
        </p:txBody>
      </p:sp>
      <p:sp>
        <p:nvSpPr>
          <p:cNvPr id="28" name="Text 26"/>
          <p:cNvSpPr/>
          <p:nvPr/>
        </p:nvSpPr>
        <p:spPr>
          <a:xfrm>
            <a:off x="548640" y="3291840"/>
            <a:ext cx="2057400" cy="347472"/>
          </a:xfrm>
          <a:prstGeom prst="rect">
            <a:avLst/>
          </a:prstGeom>
          <a:noFill/>
          <a:ln/>
        </p:spPr>
        <p:txBody>
          <a:bodyPr wrap="square" lIns="0" tIns="0" rIns="0" bIns="0" rtlCol="0" anchor="ctr"/>
          <a:lstStyle/>
          <a:p>
            <a:pPr algn="r" indent="0" marL="0">
              <a:buNone/>
            </a:pPr>
            <a:r>
              <a:rPr lang="en-US" sz="1200" dirty="0">
                <a:solidFill>
                  <a:srgbClr val="45546A"/>
                </a:solidFill>
                <a:latin typeface="Arial" pitchFamily="34" charset="0"/>
                <a:ea typeface="Arial" pitchFamily="34" charset="-122"/>
                <a:cs typeface="Arial" pitchFamily="34" charset="-120"/>
              </a:rPr>
              <a:t>Great Lakes · 40%</a:t>
            </a:r>
            <a:endParaRPr lang="en-US" sz="1200" dirty="0"/>
          </a:p>
        </p:txBody>
      </p:sp>
      <p:sp>
        <p:nvSpPr>
          <p:cNvPr id="29" name="Shape 27"/>
          <p:cNvSpPr/>
          <p:nvPr/>
        </p:nvSpPr>
        <p:spPr>
          <a:xfrm>
            <a:off x="2743200" y="3291840"/>
            <a:ext cx="1551157" cy="347472"/>
          </a:xfrm>
          <a:prstGeom prst="rect">
            <a:avLst/>
          </a:prstGeom>
          <a:solidFill>
            <a:srgbClr val="6E7F32"/>
          </a:solidFill>
          <a:ln/>
        </p:spPr>
      </p:sp>
      <p:sp>
        <p:nvSpPr>
          <p:cNvPr id="30" name="Shape 28"/>
          <p:cNvSpPr/>
          <p:nvPr/>
        </p:nvSpPr>
        <p:spPr>
          <a:xfrm>
            <a:off x="4294357" y="3291840"/>
            <a:ext cx="2295786" cy="347472"/>
          </a:xfrm>
          <a:prstGeom prst="rect">
            <a:avLst/>
          </a:prstGeom>
          <a:solidFill>
            <a:srgbClr val="D96E1E"/>
          </a:solidFill>
          <a:ln/>
        </p:spPr>
      </p:sp>
      <p:sp>
        <p:nvSpPr>
          <p:cNvPr id="31" name="Text 29"/>
          <p:cNvSpPr/>
          <p:nvPr/>
        </p:nvSpPr>
        <p:spPr>
          <a:xfrm>
            <a:off x="2743200" y="3291840"/>
            <a:ext cx="1551157"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852</a:t>
            </a:r>
            <a:endParaRPr lang="en-US" sz="1000" dirty="0"/>
          </a:p>
        </p:txBody>
      </p:sp>
      <p:sp>
        <p:nvSpPr>
          <p:cNvPr id="32" name="Text 30"/>
          <p:cNvSpPr/>
          <p:nvPr/>
        </p:nvSpPr>
        <p:spPr>
          <a:xfrm>
            <a:off x="4294357" y="3291840"/>
            <a:ext cx="229578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1,261</a:t>
            </a:r>
            <a:endParaRPr lang="en-US" sz="1000" dirty="0"/>
          </a:p>
        </p:txBody>
      </p:sp>
      <p:sp>
        <p:nvSpPr>
          <p:cNvPr id="33" name="Text 31"/>
          <p:cNvSpPr/>
          <p:nvPr/>
        </p:nvSpPr>
        <p:spPr>
          <a:xfrm>
            <a:off x="6699871" y="3291840"/>
            <a:ext cx="914400" cy="347472"/>
          </a:xfrm>
          <a:prstGeom prst="rect">
            <a:avLst/>
          </a:prstGeom>
          <a:noFill/>
          <a:ln/>
        </p:spPr>
        <p:txBody>
          <a:bodyPr wrap="square" lIns="0" tIns="0" rIns="0" bIns="0" rtlCol="0" anchor="ctr"/>
          <a:lstStyle/>
          <a:p>
            <a:pPr algn="l" indent="0" marL="0">
              <a:buNone/>
            </a:pPr>
            <a:r>
              <a:rPr lang="en-US" sz="1100" b="1" dirty="0">
                <a:solidFill>
                  <a:srgbClr val="16324B"/>
                </a:solidFill>
                <a:latin typeface="Arial" pitchFamily="34" charset="0"/>
                <a:ea typeface="Arial" pitchFamily="34" charset="-122"/>
                <a:cs typeface="Arial" pitchFamily="34" charset="-120"/>
              </a:rPr>
              <a:t>2,113</a:t>
            </a:r>
            <a:endParaRPr lang="en-US" sz="1100" dirty="0"/>
          </a:p>
        </p:txBody>
      </p:sp>
      <p:sp>
        <p:nvSpPr>
          <p:cNvPr id="34" name="Text 32"/>
          <p:cNvSpPr/>
          <p:nvPr/>
        </p:nvSpPr>
        <p:spPr>
          <a:xfrm>
            <a:off x="548640" y="3749040"/>
            <a:ext cx="2057400" cy="347472"/>
          </a:xfrm>
          <a:prstGeom prst="rect">
            <a:avLst/>
          </a:prstGeom>
          <a:noFill/>
          <a:ln/>
        </p:spPr>
        <p:txBody>
          <a:bodyPr wrap="square" lIns="0" tIns="0" rIns="0" bIns="0" rtlCol="0" anchor="ctr"/>
          <a:lstStyle/>
          <a:p>
            <a:pPr algn="r" indent="0" marL="0">
              <a:buNone/>
            </a:pPr>
            <a:r>
              <a:rPr lang="en-US" sz="1200" dirty="0">
                <a:solidFill>
                  <a:srgbClr val="45546A"/>
                </a:solidFill>
                <a:latin typeface="Arial" pitchFamily="34" charset="0"/>
                <a:ea typeface="Arial" pitchFamily="34" charset="-122"/>
                <a:cs typeface="Arial" pitchFamily="34" charset="-120"/>
              </a:rPr>
              <a:t>Ohio Valley · 35%</a:t>
            </a:r>
            <a:endParaRPr lang="en-US" sz="1200" dirty="0"/>
          </a:p>
        </p:txBody>
      </p:sp>
      <p:sp>
        <p:nvSpPr>
          <p:cNvPr id="35" name="Shape 33"/>
          <p:cNvSpPr/>
          <p:nvPr/>
        </p:nvSpPr>
        <p:spPr>
          <a:xfrm>
            <a:off x="2743200" y="3749040"/>
            <a:ext cx="1210704" cy="347472"/>
          </a:xfrm>
          <a:prstGeom prst="rect">
            <a:avLst/>
          </a:prstGeom>
          <a:solidFill>
            <a:srgbClr val="6E7F32"/>
          </a:solidFill>
          <a:ln/>
        </p:spPr>
      </p:sp>
      <p:sp>
        <p:nvSpPr>
          <p:cNvPr id="36" name="Shape 34"/>
          <p:cNvSpPr/>
          <p:nvPr/>
        </p:nvSpPr>
        <p:spPr>
          <a:xfrm>
            <a:off x="3953904" y="3749040"/>
            <a:ext cx="2253912" cy="347472"/>
          </a:xfrm>
          <a:prstGeom prst="rect">
            <a:avLst/>
          </a:prstGeom>
          <a:solidFill>
            <a:srgbClr val="D96E1E"/>
          </a:solidFill>
          <a:ln/>
        </p:spPr>
      </p:sp>
      <p:sp>
        <p:nvSpPr>
          <p:cNvPr id="37" name="Text 35"/>
          <p:cNvSpPr/>
          <p:nvPr/>
        </p:nvSpPr>
        <p:spPr>
          <a:xfrm>
            <a:off x="2743200" y="3749040"/>
            <a:ext cx="1210704"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665</a:t>
            </a:r>
            <a:endParaRPr lang="en-US" sz="1000" dirty="0"/>
          </a:p>
        </p:txBody>
      </p:sp>
      <p:sp>
        <p:nvSpPr>
          <p:cNvPr id="38" name="Text 36"/>
          <p:cNvSpPr/>
          <p:nvPr/>
        </p:nvSpPr>
        <p:spPr>
          <a:xfrm>
            <a:off x="3953904" y="3749040"/>
            <a:ext cx="225391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1,238</a:t>
            </a:r>
            <a:endParaRPr lang="en-US" sz="1000" dirty="0"/>
          </a:p>
        </p:txBody>
      </p:sp>
      <p:sp>
        <p:nvSpPr>
          <p:cNvPr id="39" name="Text 37"/>
          <p:cNvSpPr/>
          <p:nvPr/>
        </p:nvSpPr>
        <p:spPr>
          <a:xfrm>
            <a:off x="6317544" y="3749040"/>
            <a:ext cx="914400" cy="347472"/>
          </a:xfrm>
          <a:prstGeom prst="rect">
            <a:avLst/>
          </a:prstGeom>
          <a:noFill/>
          <a:ln/>
        </p:spPr>
        <p:txBody>
          <a:bodyPr wrap="square" lIns="0" tIns="0" rIns="0" bIns="0" rtlCol="0" anchor="ctr"/>
          <a:lstStyle/>
          <a:p>
            <a:pPr algn="l" indent="0" marL="0">
              <a:buNone/>
            </a:pPr>
            <a:r>
              <a:rPr lang="en-US" sz="1100" b="1" dirty="0">
                <a:solidFill>
                  <a:srgbClr val="16324B"/>
                </a:solidFill>
                <a:latin typeface="Arial" pitchFamily="34" charset="0"/>
                <a:ea typeface="Arial" pitchFamily="34" charset="-122"/>
                <a:cs typeface="Arial" pitchFamily="34" charset="-120"/>
              </a:rPr>
              <a:t>1,903</a:t>
            </a:r>
            <a:endParaRPr lang="en-US" sz="1100" dirty="0"/>
          </a:p>
        </p:txBody>
      </p:sp>
      <p:sp>
        <p:nvSpPr>
          <p:cNvPr id="40" name="Text 38"/>
          <p:cNvSpPr/>
          <p:nvPr/>
        </p:nvSpPr>
        <p:spPr>
          <a:xfrm>
            <a:off x="548640" y="4206240"/>
            <a:ext cx="2057400" cy="347472"/>
          </a:xfrm>
          <a:prstGeom prst="rect">
            <a:avLst/>
          </a:prstGeom>
          <a:noFill/>
          <a:ln/>
        </p:spPr>
        <p:txBody>
          <a:bodyPr wrap="square" lIns="0" tIns="0" rIns="0" bIns="0" rtlCol="0" anchor="ctr"/>
          <a:lstStyle/>
          <a:p>
            <a:pPr algn="r" indent="0" marL="0">
              <a:buNone/>
            </a:pPr>
            <a:r>
              <a:rPr lang="en-US" sz="1200" dirty="0">
                <a:solidFill>
                  <a:srgbClr val="45546A"/>
                </a:solidFill>
                <a:latin typeface="Arial" pitchFamily="34" charset="0"/>
                <a:ea typeface="Arial" pitchFamily="34" charset="-122"/>
                <a:cs typeface="Arial" pitchFamily="34" charset="-120"/>
              </a:rPr>
              <a:t>Central · 26%</a:t>
            </a:r>
            <a:endParaRPr lang="en-US" sz="1200" dirty="0"/>
          </a:p>
        </p:txBody>
      </p:sp>
      <p:sp>
        <p:nvSpPr>
          <p:cNvPr id="41" name="Shape 39"/>
          <p:cNvSpPr/>
          <p:nvPr/>
        </p:nvSpPr>
        <p:spPr>
          <a:xfrm>
            <a:off x="2743200" y="4206240"/>
            <a:ext cx="484282" cy="347472"/>
          </a:xfrm>
          <a:prstGeom prst="rect">
            <a:avLst/>
          </a:prstGeom>
          <a:solidFill>
            <a:srgbClr val="6E7F32"/>
          </a:solidFill>
          <a:ln/>
        </p:spPr>
      </p:sp>
      <p:sp>
        <p:nvSpPr>
          <p:cNvPr id="42" name="Shape 40"/>
          <p:cNvSpPr/>
          <p:nvPr/>
        </p:nvSpPr>
        <p:spPr>
          <a:xfrm>
            <a:off x="3227482" y="4206240"/>
            <a:ext cx="1367276" cy="347472"/>
          </a:xfrm>
          <a:prstGeom prst="rect">
            <a:avLst/>
          </a:prstGeom>
          <a:solidFill>
            <a:srgbClr val="D96E1E"/>
          </a:solidFill>
          <a:ln/>
        </p:spPr>
      </p:sp>
      <p:sp>
        <p:nvSpPr>
          <p:cNvPr id="43" name="Text 41"/>
          <p:cNvSpPr/>
          <p:nvPr/>
        </p:nvSpPr>
        <p:spPr>
          <a:xfrm>
            <a:off x="3227482" y="4206240"/>
            <a:ext cx="136727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751</a:t>
            </a:r>
            <a:endParaRPr lang="en-US" sz="1000" dirty="0"/>
          </a:p>
        </p:txBody>
      </p:sp>
      <p:sp>
        <p:nvSpPr>
          <p:cNvPr id="44" name="Text 42"/>
          <p:cNvSpPr/>
          <p:nvPr/>
        </p:nvSpPr>
        <p:spPr>
          <a:xfrm>
            <a:off x="4704486" y="4206240"/>
            <a:ext cx="914400" cy="347472"/>
          </a:xfrm>
          <a:prstGeom prst="rect">
            <a:avLst/>
          </a:prstGeom>
          <a:noFill/>
          <a:ln/>
        </p:spPr>
        <p:txBody>
          <a:bodyPr wrap="square" lIns="0" tIns="0" rIns="0" bIns="0" rtlCol="0" anchor="ctr"/>
          <a:lstStyle/>
          <a:p>
            <a:pPr algn="l" indent="0" marL="0">
              <a:buNone/>
            </a:pPr>
            <a:r>
              <a:rPr lang="en-US" sz="1100" b="1" dirty="0">
                <a:solidFill>
                  <a:srgbClr val="16324B"/>
                </a:solidFill>
                <a:latin typeface="Arial" pitchFamily="34" charset="0"/>
                <a:ea typeface="Arial" pitchFamily="34" charset="-122"/>
                <a:cs typeface="Arial" pitchFamily="34" charset="-120"/>
              </a:rPr>
              <a:t>1,017</a:t>
            </a:r>
            <a:endParaRPr lang="en-US" sz="1100" dirty="0"/>
          </a:p>
        </p:txBody>
      </p:sp>
      <p:sp>
        <p:nvSpPr>
          <p:cNvPr id="45" name="Shape 43"/>
          <p:cNvSpPr/>
          <p:nvPr/>
        </p:nvSpPr>
        <p:spPr>
          <a:xfrm>
            <a:off x="566928" y="4892040"/>
            <a:ext cx="11055096" cy="566928"/>
          </a:xfrm>
          <a:prstGeom prst="rect">
            <a:avLst/>
          </a:prstGeom>
          <a:solidFill>
            <a:srgbClr val="E7E8D3"/>
          </a:solidFill>
          <a:ln/>
        </p:spPr>
      </p:sp>
      <p:sp>
        <p:nvSpPr>
          <p:cNvPr id="46" name="Text 44"/>
          <p:cNvSpPr/>
          <p:nvPr/>
        </p:nvSpPr>
        <p:spPr>
          <a:xfrm>
            <a:off x="822960" y="4892040"/>
            <a:ext cx="10515600" cy="566928"/>
          </a:xfrm>
          <a:prstGeom prst="rect">
            <a:avLst/>
          </a:prstGeom>
          <a:noFill/>
          <a:ln/>
        </p:spPr>
        <p:txBody>
          <a:bodyPr wrap="square" lIns="0" tIns="0" rIns="0" bIns="0" rtlCol="0" anchor="ctr"/>
          <a:lstStyle/>
          <a:p>
            <a:pPr algn="ctr" indent="0" marL="0">
              <a:buNone/>
            </a:pPr>
            <a:r>
              <a:rPr lang="en-US" sz="1400" b="1" dirty="0">
                <a:solidFill>
                  <a:srgbClr val="16324B"/>
                </a:solidFill>
                <a:latin typeface="Arial" pitchFamily="34" charset="0"/>
                <a:ea typeface="Arial" pitchFamily="34" charset="-122"/>
                <a:cs typeface="Arial" pitchFamily="34" charset="-120"/>
              </a:rPr>
              <a:t>Central has the lowest penetration but one of the smallest pools. The most untapped patients are in the West and Northeast, together nearly half of the total opportunity.</a:t>
            </a:r>
            <a:endParaRPr lang="en-US" sz="1400" dirty="0"/>
          </a:p>
        </p:txBody>
      </p:sp>
      <p:sp>
        <p:nvSpPr>
          <p:cNvPr id="47" name="Text 45"/>
          <p:cNvSpPr/>
          <p:nvPr/>
        </p:nvSpPr>
        <p:spPr>
          <a:xfrm>
            <a:off x="566928" y="5715000"/>
            <a:ext cx="10972800" cy="457200"/>
          </a:xfrm>
          <a:prstGeom prst="rect">
            <a:avLst/>
          </a:prstGeom>
          <a:noFill/>
          <a:ln/>
        </p:spPr>
        <p:txBody>
          <a:bodyPr wrap="square" lIns="0" tIns="0" rIns="0" bIns="0" rtlCol="0" anchor="t"/>
          <a:lstStyle/>
          <a:p>
            <a:pPr algn="l" indent="0" marL="0">
              <a:lnSpc>
                <a:spcPct val="105000"/>
              </a:lnSpc>
              <a:buNone/>
            </a:pPr>
            <a:r>
              <a:rPr lang="en-US" sz="850" i="1" dirty="0">
                <a:solidFill>
                  <a:srgbClr val="6B7280"/>
                </a:solidFill>
                <a:latin typeface="Arial" pitchFamily="34" charset="0"/>
                <a:ea typeface="Arial" pitchFamily="34" charset="-122"/>
                <a:cs typeface="Arial" pitchFamily="34" charset="-120"/>
              </a:rPr>
              <a:t>The number at the end of each bar is the region's total patients. Regional views exclude 134 patients with unassigned geography. Source: McKesson (Compile) medical claims (2021 to 2025). Metastatic melanoma patients treated with Yervoy or Opdualag.</a:t>
            </a:r>
            <a:endParaRPr lang="en-US" sz="850" dirty="0"/>
          </a:p>
        </p:txBody>
      </p:sp>
      <p:sp>
        <p:nvSpPr>
          <p:cNvPr id="48" name="Shape 46"/>
          <p:cNvSpPr/>
          <p:nvPr/>
        </p:nvSpPr>
        <p:spPr>
          <a:xfrm>
            <a:off x="0" y="6455664"/>
            <a:ext cx="12188952" cy="402336"/>
          </a:xfrm>
          <a:prstGeom prst="rect">
            <a:avLst/>
          </a:prstGeom>
          <a:solidFill>
            <a:srgbClr val="8DA640"/>
          </a:solidFill>
          <a:ln/>
        </p:spPr>
      </p:sp>
      <p:sp>
        <p:nvSpPr>
          <p:cNvPr id="49" name="Text 47"/>
          <p:cNvSpPr/>
          <p:nvPr/>
        </p:nvSpPr>
        <p:spPr>
          <a:xfrm>
            <a:off x="502920" y="6455664"/>
            <a:ext cx="7315200" cy="402336"/>
          </a:xfrm>
          <a:prstGeom prst="rect">
            <a:avLst/>
          </a:prstGeom>
          <a:noFill/>
          <a:ln/>
        </p:spPr>
        <p:txBody>
          <a:bodyPr wrap="square" lIns="0" tIns="0" rIns="0" bIns="0" rtlCol="0" anchor="ctr"/>
          <a:lstStyle/>
          <a:p>
            <a:pPr algn="l" indent="0" marL="0">
              <a:buNone/>
            </a:pPr>
            <a:r>
              <a:rPr lang="en-US" sz="800" dirty="0">
                <a:solidFill>
                  <a:srgbClr val="F2F5E9"/>
                </a:solidFill>
                <a:latin typeface="Arial" pitchFamily="34" charset="0"/>
                <a:ea typeface="Arial" pitchFamily="34" charset="-122"/>
                <a:cs typeface="Arial" pitchFamily="34" charset="-120"/>
              </a:rPr>
              <a:t>© 2026, Iovance Biotherapeutics, Inc.  |  Confidential for Internal Use Only</a:t>
            </a:r>
            <a:endParaRPr lang="en-US" sz="800" dirty="0"/>
          </a:p>
        </p:txBody>
      </p:sp>
      <p:sp>
        <p:nvSpPr>
          <p:cNvPr id="50" name="Text 48"/>
          <p:cNvSpPr/>
          <p:nvPr/>
        </p:nvSpPr>
        <p:spPr>
          <a:xfrm>
            <a:off x="10195560" y="6455664"/>
            <a:ext cx="1371600" cy="402336"/>
          </a:xfrm>
          <a:prstGeom prst="rect">
            <a:avLst/>
          </a:prstGeom>
          <a:noFill/>
          <a:ln/>
        </p:spPr>
        <p:txBody>
          <a:bodyPr wrap="square" lIns="0" tIns="0" rIns="0" bIns="0" rtlCol="0" anchor="ctr"/>
          <a:lstStyle/>
          <a:p>
            <a:pPr algn="r" indent="0" marL="0">
              <a:buNone/>
            </a:pPr>
            <a:r>
              <a:rPr lang="en-US" sz="1300" b="1" i="1" spc="100" kern="0" dirty="0">
                <a:solidFill>
                  <a:srgbClr val="FFFFFF"/>
                </a:solidFill>
                <a:latin typeface="Arial" pitchFamily="34" charset="0"/>
                <a:ea typeface="Arial" pitchFamily="34" charset="-122"/>
                <a:cs typeface="Arial" pitchFamily="34" charset="-120"/>
              </a:rPr>
              <a:t>IOVANCE</a:t>
            </a:r>
            <a:endParaRPr lang="en-US" sz="1300" dirty="0"/>
          </a:p>
        </p:txBody>
      </p:sp>
      <p:sp>
        <p:nvSpPr>
          <p:cNvPr id="51" name="Shape 49"/>
          <p:cNvSpPr/>
          <p:nvPr/>
        </p:nvSpPr>
        <p:spPr>
          <a:xfrm>
            <a:off x="11686032" y="6528816"/>
            <a:ext cx="256032" cy="256032"/>
          </a:xfrm>
          <a:prstGeom prst="ellipse">
            <a:avLst/>
          </a:prstGeom>
          <a:solidFill>
            <a:srgbClr val="16324B"/>
          </a:solidFill>
          <a:ln/>
        </p:spPr>
      </p:sp>
      <p:sp>
        <p:nvSpPr>
          <p:cNvPr id="52" name="Text 50"/>
          <p:cNvSpPr/>
          <p:nvPr/>
        </p:nvSpPr>
        <p:spPr>
          <a:xfrm>
            <a:off x="11686032" y="6528816"/>
            <a:ext cx="256032" cy="256032"/>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058400" cy="274320"/>
          </a:xfrm>
          <a:prstGeom prst="rect">
            <a:avLst/>
          </a:prstGeom>
          <a:noFill/>
          <a:ln/>
        </p:spPr>
        <p:txBody>
          <a:bodyPr wrap="square" lIns="0" tIns="0" rIns="0" bIns="0" rtlCol="0" anchor="ctr"/>
          <a:lstStyle/>
          <a:p>
            <a:pPr indent="0" marL="0">
              <a:buNone/>
            </a:pPr>
            <a:r>
              <a:rPr lang="en-US" sz="1100" b="1" spc="200" kern="0" dirty="0">
                <a:solidFill>
                  <a:srgbClr val="5C7FA6"/>
                </a:solidFill>
                <a:latin typeface="Arial" pitchFamily="34" charset="0"/>
                <a:ea typeface="Arial" pitchFamily="34" charset="-122"/>
                <a:cs typeface="Arial" pitchFamily="34" charset="-120"/>
              </a:rPr>
              <a:t>STATE-LEVEL TARGETING</a:t>
            </a:r>
            <a:endParaRPr lang="en-US" sz="1100" dirty="0"/>
          </a:p>
        </p:txBody>
      </p:sp>
      <p:sp>
        <p:nvSpPr>
          <p:cNvPr id="3" name="Shape 1"/>
          <p:cNvSpPr/>
          <p:nvPr/>
        </p:nvSpPr>
        <p:spPr>
          <a:xfrm>
            <a:off x="566928" y="658368"/>
            <a:ext cx="146304" cy="310896"/>
          </a:xfrm>
          <a:prstGeom prst="rect">
            <a:avLst/>
          </a:prstGeom>
          <a:solidFill>
            <a:srgbClr val="7C8A3B"/>
          </a:solidFill>
          <a:ln/>
        </p:spPr>
      </p:sp>
      <p:sp>
        <p:nvSpPr>
          <p:cNvPr id="4" name="Shape 2"/>
          <p:cNvSpPr/>
          <p:nvPr/>
        </p:nvSpPr>
        <p:spPr>
          <a:xfrm>
            <a:off x="11475720" y="658368"/>
            <a:ext cx="146304" cy="310896"/>
          </a:xfrm>
          <a:prstGeom prst="rect">
            <a:avLst/>
          </a:prstGeom>
          <a:solidFill>
            <a:srgbClr val="7C8A3B"/>
          </a:solidFill>
          <a:ln/>
        </p:spPr>
      </p:sp>
      <p:sp>
        <p:nvSpPr>
          <p:cNvPr id="5" name="Text 3"/>
          <p:cNvSpPr/>
          <p:nvPr/>
        </p:nvSpPr>
        <p:spPr>
          <a:xfrm>
            <a:off x="868680" y="566928"/>
            <a:ext cx="10515600" cy="548640"/>
          </a:xfrm>
          <a:prstGeom prst="rect">
            <a:avLst/>
          </a:prstGeom>
          <a:noFill/>
          <a:ln/>
        </p:spPr>
        <p:txBody>
          <a:bodyPr wrap="square" lIns="0" tIns="0" rIns="0" bIns="0" rtlCol="0" anchor="t"/>
          <a:lstStyle/>
          <a:p>
            <a:pPr algn="l" indent="0" marL="0">
              <a:lnSpc>
                <a:spcPct val="98000"/>
              </a:lnSpc>
              <a:buNone/>
            </a:pPr>
            <a:r>
              <a:rPr lang="en-US" sz="2600" b="1" dirty="0">
                <a:solidFill>
                  <a:srgbClr val="16324B"/>
                </a:solidFill>
                <a:latin typeface="Arial" pitchFamily="34" charset="0"/>
                <a:ea typeface="Arial" pitchFamily="34" charset="-122"/>
                <a:cs typeface="Arial" pitchFamily="34" charset="-120"/>
              </a:rPr>
              <a:t>The sharpest targets combine large volume and low penetration</a:t>
            </a:r>
            <a:endParaRPr lang="en-US" sz="2600" dirty="0"/>
          </a:p>
        </p:txBody>
      </p:sp>
      <p:sp>
        <p:nvSpPr>
          <p:cNvPr id="6" name="Shape 4"/>
          <p:cNvSpPr/>
          <p:nvPr/>
        </p:nvSpPr>
        <p:spPr>
          <a:xfrm>
            <a:off x="3566160" y="1554480"/>
            <a:ext cx="1998617" cy="2272937"/>
          </a:xfrm>
          <a:prstGeom prst="rect">
            <a:avLst/>
          </a:prstGeom>
          <a:solidFill>
            <a:srgbClr val="F0F3E6"/>
          </a:solidFill>
          <a:ln w="12700">
            <a:solidFill>
              <a:srgbClr val="6E7F32"/>
            </a:solidFill>
            <a:prstDash val="dash"/>
          </a:ln>
        </p:spPr>
      </p:sp>
      <p:sp>
        <p:nvSpPr>
          <p:cNvPr id="7" name="Text 5"/>
          <p:cNvSpPr/>
          <p:nvPr/>
        </p:nvSpPr>
        <p:spPr>
          <a:xfrm>
            <a:off x="3657600" y="1627632"/>
            <a:ext cx="2011680" cy="274320"/>
          </a:xfrm>
          <a:prstGeom prst="rect">
            <a:avLst/>
          </a:prstGeom>
          <a:noFill/>
          <a:ln/>
        </p:spPr>
        <p:txBody>
          <a:bodyPr wrap="square" lIns="0" tIns="0" rIns="0" bIns="0" rtlCol="0" anchor="ctr"/>
          <a:lstStyle/>
          <a:p>
            <a:pPr indent="0" marL="0">
              <a:buNone/>
            </a:pPr>
            <a:r>
              <a:rPr lang="en-US" sz="1000" b="1" i="1" dirty="0">
                <a:solidFill>
                  <a:srgbClr val="6E7F32"/>
                </a:solidFill>
                <a:latin typeface="Arial" pitchFamily="34" charset="0"/>
                <a:ea typeface="Arial" pitchFamily="34" charset="-122"/>
                <a:cs typeface="Arial" pitchFamily="34" charset="-120"/>
              </a:rPr>
              <a:t>Priority target zone</a:t>
            </a:r>
            <a:endParaRPr lang="en-US" sz="1000" dirty="0"/>
          </a:p>
        </p:txBody>
      </p:sp>
      <p:sp>
        <p:nvSpPr>
          <p:cNvPr id="8" name="Shape 6"/>
          <p:cNvSpPr/>
          <p:nvPr/>
        </p:nvSpPr>
        <p:spPr>
          <a:xfrm>
            <a:off x="3566160" y="4206240"/>
            <a:ext cx="7772400" cy="0"/>
          </a:xfrm>
          <a:prstGeom prst="line">
            <a:avLst/>
          </a:prstGeom>
          <a:noFill/>
          <a:ln w="12700">
            <a:solidFill>
              <a:srgbClr val="6B7280"/>
            </a:solidFill>
            <a:prstDash val="solid"/>
          </a:ln>
        </p:spPr>
      </p:sp>
      <p:sp>
        <p:nvSpPr>
          <p:cNvPr id="9" name="Shape 7"/>
          <p:cNvSpPr/>
          <p:nvPr/>
        </p:nvSpPr>
        <p:spPr>
          <a:xfrm>
            <a:off x="3566160" y="1554480"/>
            <a:ext cx="0" cy="2651760"/>
          </a:xfrm>
          <a:prstGeom prst="line">
            <a:avLst/>
          </a:prstGeom>
          <a:noFill/>
          <a:ln w="12700">
            <a:solidFill>
              <a:srgbClr val="6B7280"/>
            </a:solidFill>
            <a:prstDash val="solid"/>
          </a:ln>
        </p:spPr>
      </p:sp>
      <p:sp>
        <p:nvSpPr>
          <p:cNvPr id="10" name="Text 8"/>
          <p:cNvSpPr/>
          <p:nvPr/>
        </p:nvSpPr>
        <p:spPr>
          <a:xfrm>
            <a:off x="3291840" y="4251960"/>
            <a:ext cx="54864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0</a:t>
            </a:r>
            <a:endParaRPr lang="en-US" sz="900" dirty="0"/>
          </a:p>
        </p:txBody>
      </p:sp>
      <p:sp>
        <p:nvSpPr>
          <p:cNvPr id="11" name="Text 9"/>
          <p:cNvSpPr/>
          <p:nvPr/>
        </p:nvSpPr>
        <p:spPr>
          <a:xfrm>
            <a:off x="4402183" y="4251960"/>
            <a:ext cx="54864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10</a:t>
            </a:r>
            <a:endParaRPr lang="en-US" sz="900" dirty="0"/>
          </a:p>
        </p:txBody>
      </p:sp>
      <p:sp>
        <p:nvSpPr>
          <p:cNvPr id="12" name="Text 10"/>
          <p:cNvSpPr/>
          <p:nvPr/>
        </p:nvSpPr>
        <p:spPr>
          <a:xfrm>
            <a:off x="5512526" y="4251960"/>
            <a:ext cx="54864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20</a:t>
            </a:r>
            <a:endParaRPr lang="en-US" sz="900" dirty="0"/>
          </a:p>
        </p:txBody>
      </p:sp>
      <p:sp>
        <p:nvSpPr>
          <p:cNvPr id="13" name="Text 11"/>
          <p:cNvSpPr/>
          <p:nvPr/>
        </p:nvSpPr>
        <p:spPr>
          <a:xfrm>
            <a:off x="6622869" y="4251960"/>
            <a:ext cx="54864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30</a:t>
            </a:r>
            <a:endParaRPr lang="en-US" sz="900" dirty="0"/>
          </a:p>
        </p:txBody>
      </p:sp>
      <p:sp>
        <p:nvSpPr>
          <p:cNvPr id="14" name="Text 12"/>
          <p:cNvSpPr/>
          <p:nvPr/>
        </p:nvSpPr>
        <p:spPr>
          <a:xfrm>
            <a:off x="7733211" y="4251960"/>
            <a:ext cx="54864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40</a:t>
            </a:r>
            <a:endParaRPr lang="en-US" sz="900" dirty="0"/>
          </a:p>
        </p:txBody>
      </p:sp>
      <p:sp>
        <p:nvSpPr>
          <p:cNvPr id="15" name="Text 13"/>
          <p:cNvSpPr/>
          <p:nvPr/>
        </p:nvSpPr>
        <p:spPr>
          <a:xfrm>
            <a:off x="8843554" y="4251960"/>
            <a:ext cx="54864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50</a:t>
            </a:r>
            <a:endParaRPr lang="en-US" sz="900" dirty="0"/>
          </a:p>
        </p:txBody>
      </p:sp>
      <p:sp>
        <p:nvSpPr>
          <p:cNvPr id="16" name="Text 14"/>
          <p:cNvSpPr/>
          <p:nvPr/>
        </p:nvSpPr>
        <p:spPr>
          <a:xfrm>
            <a:off x="9953897" y="4251960"/>
            <a:ext cx="54864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60</a:t>
            </a:r>
            <a:endParaRPr lang="en-US" sz="900" dirty="0"/>
          </a:p>
        </p:txBody>
      </p:sp>
      <p:sp>
        <p:nvSpPr>
          <p:cNvPr id="17" name="Text 15"/>
          <p:cNvSpPr/>
          <p:nvPr/>
        </p:nvSpPr>
        <p:spPr>
          <a:xfrm>
            <a:off x="11064240" y="4251960"/>
            <a:ext cx="548640" cy="228600"/>
          </a:xfrm>
          <a:prstGeom prst="rect">
            <a:avLst/>
          </a:prstGeom>
          <a:noFill/>
          <a:ln/>
        </p:spPr>
        <p:txBody>
          <a:bodyPr wrap="square" lIns="0" tIns="0" rIns="0" bIns="0"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70</a:t>
            </a:r>
            <a:endParaRPr lang="en-US" sz="900" dirty="0"/>
          </a:p>
        </p:txBody>
      </p:sp>
      <p:sp>
        <p:nvSpPr>
          <p:cNvPr id="18" name="Text 16"/>
          <p:cNvSpPr/>
          <p:nvPr/>
        </p:nvSpPr>
        <p:spPr>
          <a:xfrm>
            <a:off x="2971800" y="4096512"/>
            <a:ext cx="502920" cy="219456"/>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0</a:t>
            </a:r>
            <a:endParaRPr lang="en-US" sz="900" dirty="0"/>
          </a:p>
        </p:txBody>
      </p:sp>
      <p:sp>
        <p:nvSpPr>
          <p:cNvPr id="19" name="Text 17"/>
          <p:cNvSpPr/>
          <p:nvPr/>
        </p:nvSpPr>
        <p:spPr>
          <a:xfrm>
            <a:off x="2971800" y="3717689"/>
            <a:ext cx="502920" cy="219456"/>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200</a:t>
            </a:r>
            <a:endParaRPr lang="en-US" sz="900" dirty="0"/>
          </a:p>
        </p:txBody>
      </p:sp>
      <p:sp>
        <p:nvSpPr>
          <p:cNvPr id="20" name="Text 18"/>
          <p:cNvSpPr/>
          <p:nvPr/>
        </p:nvSpPr>
        <p:spPr>
          <a:xfrm>
            <a:off x="2971800" y="3338866"/>
            <a:ext cx="502920" cy="219456"/>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400</a:t>
            </a:r>
            <a:endParaRPr lang="en-US" sz="900" dirty="0"/>
          </a:p>
        </p:txBody>
      </p:sp>
      <p:sp>
        <p:nvSpPr>
          <p:cNvPr id="21" name="Text 19"/>
          <p:cNvSpPr/>
          <p:nvPr/>
        </p:nvSpPr>
        <p:spPr>
          <a:xfrm>
            <a:off x="2971800" y="2960043"/>
            <a:ext cx="502920" cy="219456"/>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600</a:t>
            </a:r>
            <a:endParaRPr lang="en-US" sz="900" dirty="0"/>
          </a:p>
        </p:txBody>
      </p:sp>
      <p:sp>
        <p:nvSpPr>
          <p:cNvPr id="22" name="Text 20"/>
          <p:cNvSpPr/>
          <p:nvPr/>
        </p:nvSpPr>
        <p:spPr>
          <a:xfrm>
            <a:off x="2971800" y="2581221"/>
            <a:ext cx="502920" cy="219456"/>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800</a:t>
            </a:r>
            <a:endParaRPr lang="en-US" sz="900" dirty="0"/>
          </a:p>
        </p:txBody>
      </p:sp>
      <p:sp>
        <p:nvSpPr>
          <p:cNvPr id="23" name="Text 21"/>
          <p:cNvSpPr/>
          <p:nvPr/>
        </p:nvSpPr>
        <p:spPr>
          <a:xfrm>
            <a:off x="2971800" y="2202398"/>
            <a:ext cx="502920" cy="219456"/>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1000</a:t>
            </a:r>
            <a:endParaRPr lang="en-US" sz="900" dirty="0"/>
          </a:p>
        </p:txBody>
      </p:sp>
      <p:sp>
        <p:nvSpPr>
          <p:cNvPr id="24" name="Text 22"/>
          <p:cNvSpPr/>
          <p:nvPr/>
        </p:nvSpPr>
        <p:spPr>
          <a:xfrm>
            <a:off x="2971800" y="1823575"/>
            <a:ext cx="502920" cy="219456"/>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1200</a:t>
            </a:r>
            <a:endParaRPr lang="en-US" sz="900" dirty="0"/>
          </a:p>
        </p:txBody>
      </p:sp>
      <p:sp>
        <p:nvSpPr>
          <p:cNvPr id="25" name="Text 23"/>
          <p:cNvSpPr/>
          <p:nvPr/>
        </p:nvSpPr>
        <p:spPr>
          <a:xfrm>
            <a:off x="2971800" y="1444752"/>
            <a:ext cx="502920" cy="219456"/>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1400</a:t>
            </a:r>
            <a:endParaRPr lang="en-US" sz="900" dirty="0"/>
          </a:p>
        </p:txBody>
      </p:sp>
      <p:sp>
        <p:nvSpPr>
          <p:cNvPr id="26" name="Text 24"/>
          <p:cNvSpPr/>
          <p:nvPr/>
        </p:nvSpPr>
        <p:spPr>
          <a:xfrm>
            <a:off x="3566160" y="4498848"/>
            <a:ext cx="777240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ATC penetration (%)</a:t>
            </a:r>
            <a:endParaRPr lang="en-US" sz="1000" dirty="0"/>
          </a:p>
        </p:txBody>
      </p:sp>
      <p:sp>
        <p:nvSpPr>
          <p:cNvPr id="27" name="Text 25"/>
          <p:cNvSpPr/>
          <p:nvPr/>
        </p:nvSpPr>
        <p:spPr>
          <a:xfrm rot="16200000">
            <a:off x="2651760" y="2651760"/>
            <a:ext cx="91440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Untapped patients</a:t>
            </a:r>
            <a:endParaRPr lang="en-US" sz="1000" dirty="0"/>
          </a:p>
        </p:txBody>
      </p:sp>
      <p:sp>
        <p:nvSpPr>
          <p:cNvPr id="28" name="Shape 26"/>
          <p:cNvSpPr/>
          <p:nvPr/>
        </p:nvSpPr>
        <p:spPr>
          <a:xfrm>
            <a:off x="4816275" y="2873829"/>
            <a:ext cx="164592" cy="164592"/>
          </a:xfrm>
          <a:prstGeom prst="ellipse">
            <a:avLst/>
          </a:prstGeom>
          <a:solidFill>
            <a:srgbClr val="D96E1E"/>
          </a:solidFill>
          <a:ln/>
        </p:spPr>
      </p:sp>
      <p:sp>
        <p:nvSpPr>
          <p:cNvPr id="29" name="Text 27"/>
          <p:cNvSpPr/>
          <p:nvPr/>
        </p:nvSpPr>
        <p:spPr>
          <a:xfrm>
            <a:off x="5026587" y="2837253"/>
            <a:ext cx="640080" cy="237744"/>
          </a:xfrm>
          <a:prstGeom prst="rect">
            <a:avLst/>
          </a:prstGeom>
          <a:noFill/>
          <a:ln/>
        </p:spPr>
        <p:txBody>
          <a:bodyPr wrap="square" lIns="0" tIns="0" rIns="0" bIns="0" rtlCol="0" anchor="ctr"/>
          <a:lstStyle/>
          <a:p>
            <a:pPr indent="0" marL="0">
              <a:buNone/>
            </a:pPr>
            <a:r>
              <a:rPr lang="en-US" sz="1000" b="1" dirty="0">
                <a:solidFill>
                  <a:srgbClr val="222831"/>
                </a:solidFill>
                <a:latin typeface="Arial" pitchFamily="34" charset="0"/>
                <a:ea typeface="Arial" pitchFamily="34" charset="-122"/>
                <a:cs typeface="Arial" pitchFamily="34" charset="-120"/>
              </a:rPr>
              <a:t>MI</a:t>
            </a:r>
            <a:endParaRPr lang="en-US" sz="1000" dirty="0"/>
          </a:p>
        </p:txBody>
      </p:sp>
      <p:sp>
        <p:nvSpPr>
          <p:cNvPr id="30" name="Shape 28"/>
          <p:cNvSpPr/>
          <p:nvPr/>
        </p:nvSpPr>
        <p:spPr>
          <a:xfrm>
            <a:off x="3594898" y="3366298"/>
            <a:ext cx="164592" cy="164592"/>
          </a:xfrm>
          <a:prstGeom prst="ellipse">
            <a:avLst/>
          </a:prstGeom>
          <a:solidFill>
            <a:srgbClr val="D96E1E"/>
          </a:solidFill>
          <a:ln/>
        </p:spPr>
      </p:sp>
      <p:sp>
        <p:nvSpPr>
          <p:cNvPr id="31" name="Text 29"/>
          <p:cNvSpPr/>
          <p:nvPr/>
        </p:nvSpPr>
        <p:spPr>
          <a:xfrm>
            <a:off x="3805210" y="3329722"/>
            <a:ext cx="640080" cy="237744"/>
          </a:xfrm>
          <a:prstGeom prst="rect">
            <a:avLst/>
          </a:prstGeom>
          <a:noFill/>
          <a:ln/>
        </p:spPr>
        <p:txBody>
          <a:bodyPr wrap="square" lIns="0" tIns="0" rIns="0" bIns="0" rtlCol="0" anchor="ctr"/>
          <a:lstStyle/>
          <a:p>
            <a:pPr indent="0" marL="0">
              <a:buNone/>
            </a:pPr>
            <a:r>
              <a:rPr lang="en-US" sz="1000" b="1" dirty="0">
                <a:solidFill>
                  <a:srgbClr val="222831"/>
                </a:solidFill>
                <a:latin typeface="Arial" pitchFamily="34" charset="0"/>
                <a:ea typeface="Arial" pitchFamily="34" charset="-122"/>
                <a:cs typeface="Arial" pitchFamily="34" charset="-120"/>
              </a:rPr>
              <a:t>IN</a:t>
            </a:r>
            <a:endParaRPr lang="en-US" sz="1000" dirty="0"/>
          </a:p>
        </p:txBody>
      </p:sp>
      <p:sp>
        <p:nvSpPr>
          <p:cNvPr id="32" name="Shape 30"/>
          <p:cNvSpPr/>
          <p:nvPr/>
        </p:nvSpPr>
        <p:spPr>
          <a:xfrm>
            <a:off x="3705933" y="3461004"/>
            <a:ext cx="164592" cy="164592"/>
          </a:xfrm>
          <a:prstGeom prst="ellipse">
            <a:avLst/>
          </a:prstGeom>
          <a:solidFill>
            <a:srgbClr val="D96E1E"/>
          </a:solidFill>
          <a:ln/>
        </p:spPr>
      </p:sp>
      <p:sp>
        <p:nvSpPr>
          <p:cNvPr id="33" name="Text 31"/>
          <p:cNvSpPr/>
          <p:nvPr/>
        </p:nvSpPr>
        <p:spPr>
          <a:xfrm>
            <a:off x="3916245" y="3424428"/>
            <a:ext cx="640080" cy="237744"/>
          </a:xfrm>
          <a:prstGeom prst="rect">
            <a:avLst/>
          </a:prstGeom>
          <a:noFill/>
          <a:ln/>
        </p:spPr>
        <p:txBody>
          <a:bodyPr wrap="square" lIns="0" tIns="0" rIns="0" bIns="0" rtlCol="0" anchor="ctr"/>
          <a:lstStyle/>
          <a:p>
            <a:pPr indent="0" marL="0">
              <a:buNone/>
            </a:pPr>
            <a:r>
              <a:rPr lang="en-US" sz="1000" b="1" dirty="0">
                <a:solidFill>
                  <a:srgbClr val="222831"/>
                </a:solidFill>
                <a:latin typeface="Arial" pitchFamily="34" charset="0"/>
                <a:ea typeface="Arial" pitchFamily="34" charset="-122"/>
                <a:cs typeface="Arial" pitchFamily="34" charset="-120"/>
              </a:rPr>
              <a:t>VA</a:t>
            </a:r>
            <a:endParaRPr lang="en-US" sz="1000" dirty="0"/>
          </a:p>
        </p:txBody>
      </p:sp>
      <p:sp>
        <p:nvSpPr>
          <p:cNvPr id="34" name="Shape 32"/>
          <p:cNvSpPr/>
          <p:nvPr/>
        </p:nvSpPr>
        <p:spPr>
          <a:xfrm>
            <a:off x="4594207" y="3669357"/>
            <a:ext cx="164592" cy="164592"/>
          </a:xfrm>
          <a:prstGeom prst="ellipse">
            <a:avLst/>
          </a:prstGeom>
          <a:solidFill>
            <a:srgbClr val="16324B"/>
          </a:solidFill>
          <a:ln/>
        </p:spPr>
      </p:sp>
      <p:sp>
        <p:nvSpPr>
          <p:cNvPr id="35" name="Text 33"/>
          <p:cNvSpPr/>
          <p:nvPr/>
        </p:nvSpPr>
        <p:spPr>
          <a:xfrm>
            <a:off x="4804519" y="3632781"/>
            <a:ext cx="640080" cy="237744"/>
          </a:xfrm>
          <a:prstGeom prst="rect">
            <a:avLst/>
          </a:prstGeom>
          <a:noFill/>
          <a:ln/>
        </p:spPr>
        <p:txBody>
          <a:bodyPr wrap="square" lIns="0" tIns="0" rIns="0" bIns="0" rtlCol="0" anchor="ctr"/>
          <a:lstStyle/>
          <a:p>
            <a:pPr indent="0" marL="0">
              <a:buNone/>
            </a:pPr>
            <a:r>
              <a:rPr lang="en-US" sz="1000" b="1" dirty="0">
                <a:solidFill>
                  <a:srgbClr val="222831"/>
                </a:solidFill>
                <a:latin typeface="Arial" pitchFamily="34" charset="0"/>
                <a:ea typeface="Arial" pitchFamily="34" charset="-122"/>
                <a:cs typeface="Arial" pitchFamily="34" charset="-120"/>
              </a:rPr>
              <a:t>KY</a:t>
            </a:r>
            <a:endParaRPr lang="en-US" sz="1000" dirty="0"/>
          </a:p>
        </p:txBody>
      </p:sp>
      <p:sp>
        <p:nvSpPr>
          <p:cNvPr id="36" name="Shape 34"/>
          <p:cNvSpPr/>
          <p:nvPr/>
        </p:nvSpPr>
        <p:spPr>
          <a:xfrm>
            <a:off x="6259721" y="3555710"/>
            <a:ext cx="164592" cy="164592"/>
          </a:xfrm>
          <a:prstGeom prst="ellipse">
            <a:avLst/>
          </a:prstGeom>
          <a:solidFill>
            <a:srgbClr val="16324B"/>
          </a:solidFill>
          <a:ln/>
        </p:spPr>
      </p:sp>
      <p:sp>
        <p:nvSpPr>
          <p:cNvPr id="37" name="Text 35"/>
          <p:cNvSpPr/>
          <p:nvPr/>
        </p:nvSpPr>
        <p:spPr>
          <a:xfrm>
            <a:off x="6470033" y="3519134"/>
            <a:ext cx="640080" cy="237744"/>
          </a:xfrm>
          <a:prstGeom prst="rect">
            <a:avLst/>
          </a:prstGeom>
          <a:noFill/>
          <a:ln/>
        </p:spPr>
        <p:txBody>
          <a:bodyPr wrap="square" lIns="0" tIns="0" rIns="0" bIns="0" rtlCol="0" anchor="ctr"/>
          <a:lstStyle/>
          <a:p>
            <a:pPr indent="0" marL="0">
              <a:buNone/>
            </a:pPr>
            <a:r>
              <a:rPr lang="en-US" sz="1000" b="1" dirty="0">
                <a:solidFill>
                  <a:srgbClr val="222831"/>
                </a:solidFill>
                <a:latin typeface="Arial" pitchFamily="34" charset="0"/>
                <a:ea typeface="Arial" pitchFamily="34" charset="-122"/>
                <a:cs typeface="Arial" pitchFamily="34" charset="-120"/>
              </a:rPr>
              <a:t>AL</a:t>
            </a:r>
            <a:endParaRPr lang="en-US" sz="1000" dirty="0"/>
          </a:p>
        </p:txBody>
      </p:sp>
      <p:sp>
        <p:nvSpPr>
          <p:cNvPr id="38" name="Shape 36"/>
          <p:cNvSpPr/>
          <p:nvPr/>
        </p:nvSpPr>
        <p:spPr>
          <a:xfrm>
            <a:off x="7147995" y="3366298"/>
            <a:ext cx="164592" cy="164592"/>
          </a:xfrm>
          <a:prstGeom prst="ellipse">
            <a:avLst/>
          </a:prstGeom>
          <a:solidFill>
            <a:srgbClr val="16324B"/>
          </a:solidFill>
          <a:ln/>
        </p:spPr>
      </p:sp>
      <p:sp>
        <p:nvSpPr>
          <p:cNvPr id="39" name="Text 37"/>
          <p:cNvSpPr/>
          <p:nvPr/>
        </p:nvSpPr>
        <p:spPr>
          <a:xfrm>
            <a:off x="7358307" y="3329722"/>
            <a:ext cx="640080" cy="237744"/>
          </a:xfrm>
          <a:prstGeom prst="rect">
            <a:avLst/>
          </a:prstGeom>
          <a:noFill/>
          <a:ln/>
        </p:spPr>
        <p:txBody>
          <a:bodyPr wrap="square" lIns="0" tIns="0" rIns="0" bIns="0" rtlCol="0" anchor="ctr"/>
          <a:lstStyle/>
          <a:p>
            <a:pPr indent="0" marL="0">
              <a:buNone/>
            </a:pPr>
            <a:r>
              <a:rPr lang="en-US" sz="1000" b="1" dirty="0">
                <a:solidFill>
                  <a:srgbClr val="222831"/>
                </a:solidFill>
                <a:latin typeface="Arial" pitchFamily="34" charset="0"/>
                <a:ea typeface="Arial" pitchFamily="34" charset="-122"/>
                <a:cs typeface="Arial" pitchFamily="34" charset="-120"/>
              </a:rPr>
              <a:t>TX</a:t>
            </a:r>
            <a:endParaRPr lang="en-US" sz="1000" dirty="0"/>
          </a:p>
        </p:txBody>
      </p:sp>
      <p:sp>
        <p:nvSpPr>
          <p:cNvPr id="40" name="Shape 38"/>
          <p:cNvSpPr/>
          <p:nvPr/>
        </p:nvSpPr>
        <p:spPr>
          <a:xfrm>
            <a:off x="9590750" y="3366298"/>
            <a:ext cx="164592" cy="164592"/>
          </a:xfrm>
          <a:prstGeom prst="ellipse">
            <a:avLst/>
          </a:prstGeom>
          <a:solidFill>
            <a:srgbClr val="16324B"/>
          </a:solidFill>
          <a:ln/>
        </p:spPr>
      </p:sp>
      <p:sp>
        <p:nvSpPr>
          <p:cNvPr id="41" name="Text 39"/>
          <p:cNvSpPr/>
          <p:nvPr/>
        </p:nvSpPr>
        <p:spPr>
          <a:xfrm>
            <a:off x="9801062" y="3329722"/>
            <a:ext cx="640080" cy="237744"/>
          </a:xfrm>
          <a:prstGeom prst="rect">
            <a:avLst/>
          </a:prstGeom>
          <a:noFill/>
          <a:ln/>
        </p:spPr>
        <p:txBody>
          <a:bodyPr wrap="square" lIns="0" tIns="0" rIns="0" bIns="0" rtlCol="0" anchor="ctr"/>
          <a:lstStyle/>
          <a:p>
            <a:pPr indent="0" marL="0">
              <a:buNone/>
            </a:pPr>
            <a:r>
              <a:rPr lang="en-US" sz="1000" b="1" dirty="0">
                <a:solidFill>
                  <a:srgbClr val="222831"/>
                </a:solidFill>
                <a:latin typeface="Arial" pitchFamily="34" charset="0"/>
                <a:ea typeface="Arial" pitchFamily="34" charset="-122"/>
                <a:cs typeface="Arial" pitchFamily="34" charset="-120"/>
              </a:rPr>
              <a:t>OH</a:t>
            </a:r>
            <a:endParaRPr lang="en-US" sz="1000" dirty="0"/>
          </a:p>
        </p:txBody>
      </p:sp>
      <p:sp>
        <p:nvSpPr>
          <p:cNvPr id="42" name="Shape 40"/>
          <p:cNvSpPr/>
          <p:nvPr/>
        </p:nvSpPr>
        <p:spPr>
          <a:xfrm>
            <a:off x="8924544" y="1775242"/>
            <a:ext cx="164592" cy="164592"/>
          </a:xfrm>
          <a:prstGeom prst="ellipse">
            <a:avLst/>
          </a:prstGeom>
          <a:solidFill>
            <a:srgbClr val="16324B"/>
          </a:solidFill>
          <a:ln/>
        </p:spPr>
      </p:sp>
      <p:sp>
        <p:nvSpPr>
          <p:cNvPr id="43" name="Text 41"/>
          <p:cNvSpPr/>
          <p:nvPr/>
        </p:nvSpPr>
        <p:spPr>
          <a:xfrm>
            <a:off x="9134856" y="1738666"/>
            <a:ext cx="640080" cy="237744"/>
          </a:xfrm>
          <a:prstGeom prst="rect">
            <a:avLst/>
          </a:prstGeom>
          <a:noFill/>
          <a:ln/>
        </p:spPr>
        <p:txBody>
          <a:bodyPr wrap="square" lIns="0" tIns="0" rIns="0" bIns="0" rtlCol="0" anchor="ctr"/>
          <a:lstStyle/>
          <a:p>
            <a:pPr indent="0" marL="0">
              <a:buNone/>
            </a:pPr>
            <a:r>
              <a:rPr lang="en-US" sz="1000" b="1" dirty="0">
                <a:solidFill>
                  <a:srgbClr val="222831"/>
                </a:solidFill>
                <a:latin typeface="Arial" pitchFamily="34" charset="0"/>
                <a:ea typeface="Arial" pitchFamily="34" charset="-122"/>
                <a:cs typeface="Arial" pitchFamily="34" charset="-120"/>
              </a:rPr>
              <a:t>CA</a:t>
            </a:r>
            <a:endParaRPr lang="en-US" sz="1000" dirty="0"/>
          </a:p>
        </p:txBody>
      </p:sp>
      <p:sp>
        <p:nvSpPr>
          <p:cNvPr id="44" name="Shape 42"/>
          <p:cNvSpPr/>
          <p:nvPr/>
        </p:nvSpPr>
        <p:spPr>
          <a:xfrm>
            <a:off x="10367990" y="2835946"/>
            <a:ext cx="164592" cy="164592"/>
          </a:xfrm>
          <a:prstGeom prst="ellipse">
            <a:avLst/>
          </a:prstGeom>
          <a:solidFill>
            <a:srgbClr val="16324B"/>
          </a:solidFill>
          <a:ln/>
        </p:spPr>
      </p:sp>
      <p:sp>
        <p:nvSpPr>
          <p:cNvPr id="45" name="Text 43"/>
          <p:cNvSpPr/>
          <p:nvPr/>
        </p:nvSpPr>
        <p:spPr>
          <a:xfrm>
            <a:off x="10578302" y="2799370"/>
            <a:ext cx="640080" cy="237744"/>
          </a:xfrm>
          <a:prstGeom prst="rect">
            <a:avLst/>
          </a:prstGeom>
          <a:noFill/>
          <a:ln/>
        </p:spPr>
        <p:txBody>
          <a:bodyPr wrap="square" lIns="0" tIns="0" rIns="0" bIns="0" rtlCol="0" anchor="ctr"/>
          <a:lstStyle/>
          <a:p>
            <a:pPr indent="0" marL="0">
              <a:buNone/>
            </a:pPr>
            <a:r>
              <a:rPr lang="en-US" sz="1000" b="1" dirty="0">
                <a:solidFill>
                  <a:srgbClr val="222831"/>
                </a:solidFill>
                <a:latin typeface="Arial" pitchFamily="34" charset="0"/>
                <a:ea typeface="Arial" pitchFamily="34" charset="-122"/>
                <a:cs typeface="Arial" pitchFamily="34" charset="-120"/>
              </a:rPr>
              <a:t>FL</a:t>
            </a:r>
            <a:endParaRPr lang="en-US" sz="1000" dirty="0"/>
          </a:p>
        </p:txBody>
      </p:sp>
      <p:sp>
        <p:nvSpPr>
          <p:cNvPr id="46" name="Shape 44"/>
          <p:cNvSpPr/>
          <p:nvPr/>
        </p:nvSpPr>
        <p:spPr>
          <a:xfrm>
            <a:off x="566928" y="4892040"/>
            <a:ext cx="11055096" cy="566928"/>
          </a:xfrm>
          <a:prstGeom prst="rect">
            <a:avLst/>
          </a:prstGeom>
          <a:solidFill>
            <a:srgbClr val="E7E8D3"/>
          </a:solidFill>
          <a:ln/>
        </p:spPr>
      </p:sp>
      <p:sp>
        <p:nvSpPr>
          <p:cNvPr id="47" name="Text 45"/>
          <p:cNvSpPr/>
          <p:nvPr/>
        </p:nvSpPr>
        <p:spPr>
          <a:xfrm>
            <a:off x="822960" y="4892040"/>
            <a:ext cx="10515600" cy="566928"/>
          </a:xfrm>
          <a:prstGeom prst="rect">
            <a:avLst/>
          </a:prstGeom>
          <a:noFill/>
          <a:ln/>
        </p:spPr>
        <p:txBody>
          <a:bodyPr wrap="square" lIns="0" tIns="0" rIns="0" bIns="0" rtlCol="0" anchor="ctr"/>
          <a:lstStyle/>
          <a:p>
            <a:pPr algn="ctr" indent="0" marL="0">
              <a:buNone/>
            </a:pPr>
            <a:r>
              <a:rPr lang="en-US" sz="1400" b="1" dirty="0">
                <a:solidFill>
                  <a:srgbClr val="16324B"/>
                </a:solidFill>
                <a:latin typeface="Arial" pitchFamily="34" charset="0"/>
                <a:ea typeface="Arial" pitchFamily="34" charset="-122"/>
                <a:cs typeface="Arial" pitchFamily="34" charset="-120"/>
              </a:rPr>
              <a:t>Michigan, Indiana, and Virginia have a lot of patients but minimal ATC coverage. These states are where adding ATCs could reach the most patients.</a:t>
            </a:r>
            <a:endParaRPr lang="en-US" sz="1400" dirty="0"/>
          </a:p>
        </p:txBody>
      </p:sp>
      <p:sp>
        <p:nvSpPr>
          <p:cNvPr id="48" name="Text 46"/>
          <p:cNvSpPr/>
          <p:nvPr/>
        </p:nvSpPr>
        <p:spPr>
          <a:xfrm>
            <a:off x="566928" y="5715000"/>
            <a:ext cx="10972800" cy="457200"/>
          </a:xfrm>
          <a:prstGeom prst="rect">
            <a:avLst/>
          </a:prstGeom>
          <a:noFill/>
          <a:ln/>
        </p:spPr>
        <p:txBody>
          <a:bodyPr wrap="square" lIns="0" tIns="0" rIns="0" bIns="0" rtlCol="0" anchor="t"/>
          <a:lstStyle/>
          <a:p>
            <a:pPr algn="l" indent="0" marL="0">
              <a:lnSpc>
                <a:spcPct val="105000"/>
              </a:lnSpc>
              <a:buNone/>
            </a:pPr>
            <a:r>
              <a:rPr lang="en-US" sz="850" i="1" dirty="0">
                <a:solidFill>
                  <a:srgbClr val="6B7280"/>
                </a:solidFill>
                <a:latin typeface="Arial" pitchFamily="34" charset="0"/>
                <a:ea typeface="Arial" pitchFamily="34" charset="-122"/>
                <a:cs typeface="Arial" pitchFamily="34" charset="-120"/>
              </a:rPr>
              <a:t>Priority states are a judgment call combining large non-ATC volume with low ATC penetration, not a fixed threshold. Regions reflect Iovance commercial territory. Source: McKesson (Compile) medical claims (2021 to 2025). Metastatic melanoma patients treated with Yervoy or Opdualag.</a:t>
            </a:r>
            <a:endParaRPr lang="en-US" sz="850" dirty="0"/>
          </a:p>
        </p:txBody>
      </p:sp>
      <p:sp>
        <p:nvSpPr>
          <p:cNvPr id="49" name="Shape 47"/>
          <p:cNvSpPr/>
          <p:nvPr/>
        </p:nvSpPr>
        <p:spPr>
          <a:xfrm>
            <a:off x="0" y="6455664"/>
            <a:ext cx="12188952" cy="402336"/>
          </a:xfrm>
          <a:prstGeom prst="rect">
            <a:avLst/>
          </a:prstGeom>
          <a:solidFill>
            <a:srgbClr val="8DA640"/>
          </a:solidFill>
          <a:ln/>
        </p:spPr>
      </p:sp>
      <p:sp>
        <p:nvSpPr>
          <p:cNvPr id="50" name="Text 48"/>
          <p:cNvSpPr/>
          <p:nvPr/>
        </p:nvSpPr>
        <p:spPr>
          <a:xfrm>
            <a:off x="502920" y="6455664"/>
            <a:ext cx="7315200" cy="402336"/>
          </a:xfrm>
          <a:prstGeom prst="rect">
            <a:avLst/>
          </a:prstGeom>
          <a:noFill/>
          <a:ln/>
        </p:spPr>
        <p:txBody>
          <a:bodyPr wrap="square" lIns="0" tIns="0" rIns="0" bIns="0" rtlCol="0" anchor="ctr"/>
          <a:lstStyle/>
          <a:p>
            <a:pPr algn="l" indent="0" marL="0">
              <a:buNone/>
            </a:pPr>
            <a:r>
              <a:rPr lang="en-US" sz="800" dirty="0">
                <a:solidFill>
                  <a:srgbClr val="F2F5E9"/>
                </a:solidFill>
                <a:latin typeface="Arial" pitchFamily="34" charset="0"/>
                <a:ea typeface="Arial" pitchFamily="34" charset="-122"/>
                <a:cs typeface="Arial" pitchFamily="34" charset="-120"/>
              </a:rPr>
              <a:t>© 2026, Iovance Biotherapeutics, Inc.  |  Confidential for Internal Use Only</a:t>
            </a:r>
            <a:endParaRPr lang="en-US" sz="800" dirty="0"/>
          </a:p>
        </p:txBody>
      </p:sp>
      <p:sp>
        <p:nvSpPr>
          <p:cNvPr id="51" name="Text 49"/>
          <p:cNvSpPr/>
          <p:nvPr/>
        </p:nvSpPr>
        <p:spPr>
          <a:xfrm>
            <a:off x="10195560" y="6455664"/>
            <a:ext cx="1371600" cy="402336"/>
          </a:xfrm>
          <a:prstGeom prst="rect">
            <a:avLst/>
          </a:prstGeom>
          <a:noFill/>
          <a:ln/>
        </p:spPr>
        <p:txBody>
          <a:bodyPr wrap="square" lIns="0" tIns="0" rIns="0" bIns="0" rtlCol="0" anchor="ctr"/>
          <a:lstStyle/>
          <a:p>
            <a:pPr algn="r" indent="0" marL="0">
              <a:buNone/>
            </a:pPr>
            <a:r>
              <a:rPr lang="en-US" sz="1300" b="1" i="1" spc="100" kern="0" dirty="0">
                <a:solidFill>
                  <a:srgbClr val="FFFFFF"/>
                </a:solidFill>
                <a:latin typeface="Arial" pitchFamily="34" charset="0"/>
                <a:ea typeface="Arial" pitchFamily="34" charset="-122"/>
                <a:cs typeface="Arial" pitchFamily="34" charset="-120"/>
              </a:rPr>
              <a:t>IOVANCE</a:t>
            </a:r>
            <a:endParaRPr lang="en-US" sz="1300" dirty="0"/>
          </a:p>
        </p:txBody>
      </p:sp>
      <p:sp>
        <p:nvSpPr>
          <p:cNvPr id="52" name="Shape 50"/>
          <p:cNvSpPr/>
          <p:nvPr/>
        </p:nvSpPr>
        <p:spPr>
          <a:xfrm>
            <a:off x="11686032" y="6528816"/>
            <a:ext cx="256032" cy="256032"/>
          </a:xfrm>
          <a:prstGeom prst="ellipse">
            <a:avLst/>
          </a:prstGeom>
          <a:solidFill>
            <a:srgbClr val="16324B"/>
          </a:solidFill>
          <a:ln/>
        </p:spPr>
      </p:sp>
      <p:sp>
        <p:nvSpPr>
          <p:cNvPr id="53" name="Text 51"/>
          <p:cNvSpPr/>
          <p:nvPr/>
        </p:nvSpPr>
        <p:spPr>
          <a:xfrm>
            <a:off x="11686032" y="6528816"/>
            <a:ext cx="256032" cy="256032"/>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058400" cy="274320"/>
          </a:xfrm>
          <a:prstGeom prst="rect">
            <a:avLst/>
          </a:prstGeom>
          <a:noFill/>
          <a:ln/>
        </p:spPr>
        <p:txBody>
          <a:bodyPr wrap="square" lIns="0" tIns="0" rIns="0" bIns="0" rtlCol="0" anchor="ctr"/>
          <a:lstStyle/>
          <a:p>
            <a:pPr indent="0" marL="0">
              <a:buNone/>
            </a:pPr>
            <a:r>
              <a:rPr lang="en-US" sz="1100" b="1" spc="200" kern="0" dirty="0">
                <a:solidFill>
                  <a:srgbClr val="5C7FA6"/>
                </a:solidFill>
                <a:latin typeface="Arial" pitchFamily="34" charset="0"/>
                <a:ea typeface="Arial" pitchFamily="34" charset="-122"/>
                <a:cs typeface="Arial" pitchFamily="34" charset="-120"/>
              </a:rPr>
              <a:t>REGIONAL VIEW · NON-ATC ACCOUNTS</a:t>
            </a:r>
            <a:endParaRPr lang="en-US" sz="1100" dirty="0"/>
          </a:p>
        </p:txBody>
      </p:sp>
      <p:sp>
        <p:nvSpPr>
          <p:cNvPr id="3" name="Shape 1"/>
          <p:cNvSpPr/>
          <p:nvPr/>
        </p:nvSpPr>
        <p:spPr>
          <a:xfrm>
            <a:off x="566928" y="658368"/>
            <a:ext cx="146304" cy="310896"/>
          </a:xfrm>
          <a:prstGeom prst="rect">
            <a:avLst/>
          </a:prstGeom>
          <a:solidFill>
            <a:srgbClr val="7C8A3B"/>
          </a:solidFill>
          <a:ln/>
        </p:spPr>
      </p:sp>
      <p:sp>
        <p:nvSpPr>
          <p:cNvPr id="4" name="Shape 2"/>
          <p:cNvSpPr/>
          <p:nvPr/>
        </p:nvSpPr>
        <p:spPr>
          <a:xfrm>
            <a:off x="11475720" y="658368"/>
            <a:ext cx="146304" cy="310896"/>
          </a:xfrm>
          <a:prstGeom prst="rect">
            <a:avLst/>
          </a:prstGeom>
          <a:solidFill>
            <a:srgbClr val="7C8A3B"/>
          </a:solidFill>
          <a:ln/>
        </p:spPr>
      </p:sp>
      <p:sp>
        <p:nvSpPr>
          <p:cNvPr id="5" name="Text 3"/>
          <p:cNvSpPr/>
          <p:nvPr/>
        </p:nvSpPr>
        <p:spPr>
          <a:xfrm>
            <a:off x="868680" y="566928"/>
            <a:ext cx="10515600" cy="548640"/>
          </a:xfrm>
          <a:prstGeom prst="rect">
            <a:avLst/>
          </a:prstGeom>
          <a:noFill/>
          <a:ln/>
        </p:spPr>
        <p:txBody>
          <a:bodyPr wrap="square" lIns="0" tIns="0" rIns="0" bIns="0" rtlCol="0" anchor="t"/>
          <a:lstStyle/>
          <a:p>
            <a:pPr algn="l" indent="0" marL="0">
              <a:lnSpc>
                <a:spcPct val="98000"/>
              </a:lnSpc>
              <a:buNone/>
            </a:pPr>
            <a:r>
              <a:rPr lang="en-US" sz="2600" b="1" dirty="0">
                <a:solidFill>
                  <a:srgbClr val="16324B"/>
                </a:solidFill>
                <a:latin typeface="Arial" pitchFamily="34" charset="0"/>
                <a:ea typeface="Arial" pitchFamily="34" charset="-122"/>
                <a:cs typeface="Arial" pitchFamily="34" charset="-120"/>
              </a:rPr>
              <a:t>The largest non-ATC accounts differ by region</a:t>
            </a:r>
            <a:endParaRPr lang="en-US" sz="2600" dirty="0"/>
          </a:p>
        </p:txBody>
      </p:sp>
      <p:sp>
        <p:nvSpPr>
          <p:cNvPr id="6" name="Shape 4"/>
          <p:cNvSpPr/>
          <p:nvPr/>
        </p:nvSpPr>
        <p:spPr>
          <a:xfrm>
            <a:off x="566928" y="1554480"/>
            <a:ext cx="3520440" cy="1874520"/>
          </a:xfrm>
          <a:prstGeom prst="rect">
            <a:avLst/>
          </a:prstGeom>
          <a:solidFill>
            <a:srgbClr val="FFFFFF"/>
          </a:solidFill>
          <a:ln w="12700">
            <a:solidFill>
              <a:srgbClr val="E2E6EA"/>
            </a:solidFill>
            <a:prstDash val="solid"/>
          </a:ln>
        </p:spPr>
      </p:sp>
      <p:sp>
        <p:nvSpPr>
          <p:cNvPr id="7" name="Shape 5"/>
          <p:cNvSpPr/>
          <p:nvPr/>
        </p:nvSpPr>
        <p:spPr>
          <a:xfrm>
            <a:off x="566928" y="1554480"/>
            <a:ext cx="3520440" cy="384048"/>
          </a:xfrm>
          <a:prstGeom prst="rect">
            <a:avLst/>
          </a:prstGeom>
          <a:solidFill>
            <a:srgbClr val="16324B"/>
          </a:solidFill>
          <a:ln/>
        </p:spPr>
      </p:sp>
      <p:sp>
        <p:nvSpPr>
          <p:cNvPr id="8" name="Text 6"/>
          <p:cNvSpPr/>
          <p:nvPr/>
        </p:nvSpPr>
        <p:spPr>
          <a:xfrm>
            <a:off x="704088" y="1554480"/>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West</a:t>
            </a:r>
            <a:endParaRPr lang="en-US" sz="1200" dirty="0"/>
          </a:p>
        </p:txBody>
      </p:sp>
      <p:sp>
        <p:nvSpPr>
          <p:cNvPr id="9" name="Text 7"/>
          <p:cNvSpPr/>
          <p:nvPr/>
        </p:nvSpPr>
        <p:spPr>
          <a:xfrm>
            <a:off x="2395728" y="1554480"/>
            <a:ext cx="1554480" cy="384048"/>
          </a:xfrm>
          <a:prstGeom prst="rect">
            <a:avLst/>
          </a:prstGeom>
          <a:noFill/>
          <a:ln/>
        </p:spPr>
        <p:txBody>
          <a:bodyPr wrap="square" lIns="0" tIns="0" rIns="0" bIns="0" rtlCol="0" anchor="ctr"/>
          <a:lstStyle/>
          <a:p>
            <a:pPr algn="r" indent="0" marL="0">
              <a:buNone/>
            </a:pPr>
            <a:r>
              <a:rPr lang="en-US" sz="950" dirty="0">
                <a:solidFill>
                  <a:srgbClr val="C9D3DC"/>
                </a:solidFill>
                <a:latin typeface="Arial" pitchFamily="34" charset="0"/>
                <a:ea typeface="Arial" pitchFamily="34" charset="-122"/>
                <a:cs typeface="Arial" pitchFamily="34" charset="-120"/>
              </a:rPr>
              <a:t>2,006 untapped</a:t>
            </a:r>
            <a:endParaRPr lang="en-US" sz="950" dirty="0"/>
          </a:p>
        </p:txBody>
      </p:sp>
      <p:sp>
        <p:nvSpPr>
          <p:cNvPr id="10" name="Text 8"/>
          <p:cNvSpPr/>
          <p:nvPr/>
        </p:nvSpPr>
        <p:spPr>
          <a:xfrm>
            <a:off x="731520" y="2103120"/>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Sutter Health</a:t>
            </a:r>
            <a:endParaRPr lang="en-US" sz="1050" dirty="0"/>
          </a:p>
        </p:txBody>
      </p:sp>
      <p:sp>
        <p:nvSpPr>
          <p:cNvPr id="11" name="Text 9"/>
          <p:cNvSpPr/>
          <p:nvPr/>
        </p:nvSpPr>
        <p:spPr>
          <a:xfrm>
            <a:off x="3310128" y="2103120"/>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186</a:t>
            </a:r>
            <a:endParaRPr lang="en-US" sz="1100" dirty="0"/>
          </a:p>
        </p:txBody>
      </p:sp>
      <p:sp>
        <p:nvSpPr>
          <p:cNvPr id="12" name="Shape 10"/>
          <p:cNvSpPr/>
          <p:nvPr/>
        </p:nvSpPr>
        <p:spPr>
          <a:xfrm>
            <a:off x="731520" y="2395728"/>
            <a:ext cx="768716" cy="64008"/>
          </a:xfrm>
          <a:prstGeom prst="rect">
            <a:avLst/>
          </a:prstGeom>
          <a:solidFill>
            <a:srgbClr val="6E7F32"/>
          </a:solidFill>
          <a:ln/>
        </p:spPr>
      </p:sp>
      <p:sp>
        <p:nvSpPr>
          <p:cNvPr id="13" name="Text 11"/>
          <p:cNvSpPr/>
          <p:nvPr/>
        </p:nvSpPr>
        <p:spPr>
          <a:xfrm>
            <a:off x="731520" y="254203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CommonSpirit</a:t>
            </a:r>
            <a:endParaRPr lang="en-US" sz="1050" dirty="0"/>
          </a:p>
        </p:txBody>
      </p:sp>
      <p:sp>
        <p:nvSpPr>
          <p:cNvPr id="14" name="Text 12"/>
          <p:cNvSpPr/>
          <p:nvPr/>
        </p:nvSpPr>
        <p:spPr>
          <a:xfrm>
            <a:off x="3310128" y="254203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76</a:t>
            </a:r>
            <a:endParaRPr lang="en-US" sz="1100" dirty="0"/>
          </a:p>
        </p:txBody>
      </p:sp>
      <p:sp>
        <p:nvSpPr>
          <p:cNvPr id="15" name="Shape 13"/>
          <p:cNvSpPr/>
          <p:nvPr/>
        </p:nvSpPr>
        <p:spPr>
          <a:xfrm>
            <a:off x="731520" y="2834640"/>
            <a:ext cx="314099" cy="64008"/>
          </a:xfrm>
          <a:prstGeom prst="rect">
            <a:avLst/>
          </a:prstGeom>
          <a:solidFill>
            <a:srgbClr val="6E7F32"/>
          </a:solidFill>
          <a:ln/>
        </p:spPr>
      </p:sp>
      <p:sp>
        <p:nvSpPr>
          <p:cNvPr id="16" name="Text 14"/>
          <p:cNvSpPr/>
          <p:nvPr/>
        </p:nvSpPr>
        <p:spPr>
          <a:xfrm>
            <a:off x="731520" y="2980944"/>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Northwest Medical</a:t>
            </a:r>
            <a:endParaRPr lang="en-US" sz="1050" dirty="0"/>
          </a:p>
        </p:txBody>
      </p:sp>
      <p:sp>
        <p:nvSpPr>
          <p:cNvPr id="17" name="Text 15"/>
          <p:cNvSpPr/>
          <p:nvPr/>
        </p:nvSpPr>
        <p:spPr>
          <a:xfrm>
            <a:off x="3310128" y="2980944"/>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65</a:t>
            </a:r>
            <a:endParaRPr lang="en-US" sz="1100" dirty="0"/>
          </a:p>
        </p:txBody>
      </p:sp>
      <p:sp>
        <p:nvSpPr>
          <p:cNvPr id="18" name="Shape 16"/>
          <p:cNvSpPr/>
          <p:nvPr/>
        </p:nvSpPr>
        <p:spPr>
          <a:xfrm>
            <a:off x="731520" y="3273552"/>
            <a:ext cx="268637" cy="64008"/>
          </a:xfrm>
          <a:prstGeom prst="rect">
            <a:avLst/>
          </a:prstGeom>
          <a:solidFill>
            <a:srgbClr val="6E7F32"/>
          </a:solidFill>
          <a:ln/>
        </p:spPr>
      </p:sp>
      <p:sp>
        <p:nvSpPr>
          <p:cNvPr id="19" name="Shape 17"/>
          <p:cNvSpPr/>
          <p:nvPr/>
        </p:nvSpPr>
        <p:spPr>
          <a:xfrm>
            <a:off x="4343400" y="1554480"/>
            <a:ext cx="3520440" cy="1874520"/>
          </a:xfrm>
          <a:prstGeom prst="rect">
            <a:avLst/>
          </a:prstGeom>
          <a:solidFill>
            <a:srgbClr val="FFFFFF"/>
          </a:solidFill>
          <a:ln w="12700">
            <a:solidFill>
              <a:srgbClr val="E2E6EA"/>
            </a:solidFill>
            <a:prstDash val="solid"/>
          </a:ln>
        </p:spPr>
      </p:sp>
      <p:sp>
        <p:nvSpPr>
          <p:cNvPr id="20" name="Shape 18"/>
          <p:cNvSpPr/>
          <p:nvPr/>
        </p:nvSpPr>
        <p:spPr>
          <a:xfrm>
            <a:off x="4343400" y="1554480"/>
            <a:ext cx="3520440" cy="384048"/>
          </a:xfrm>
          <a:prstGeom prst="rect">
            <a:avLst/>
          </a:prstGeom>
          <a:solidFill>
            <a:srgbClr val="16324B"/>
          </a:solidFill>
          <a:ln/>
        </p:spPr>
      </p:sp>
      <p:sp>
        <p:nvSpPr>
          <p:cNvPr id="21" name="Text 19"/>
          <p:cNvSpPr/>
          <p:nvPr/>
        </p:nvSpPr>
        <p:spPr>
          <a:xfrm>
            <a:off x="4480560" y="1554480"/>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Northeast</a:t>
            </a:r>
            <a:endParaRPr lang="en-US" sz="1200" dirty="0"/>
          </a:p>
        </p:txBody>
      </p:sp>
      <p:sp>
        <p:nvSpPr>
          <p:cNvPr id="22" name="Text 20"/>
          <p:cNvSpPr/>
          <p:nvPr/>
        </p:nvSpPr>
        <p:spPr>
          <a:xfrm>
            <a:off x="6172200" y="1554480"/>
            <a:ext cx="1554480" cy="384048"/>
          </a:xfrm>
          <a:prstGeom prst="rect">
            <a:avLst/>
          </a:prstGeom>
          <a:noFill/>
          <a:ln/>
        </p:spPr>
        <p:txBody>
          <a:bodyPr wrap="square" lIns="0" tIns="0" rIns="0" bIns="0" rtlCol="0" anchor="ctr"/>
          <a:lstStyle/>
          <a:p>
            <a:pPr algn="r" indent="0" marL="0">
              <a:buNone/>
            </a:pPr>
            <a:r>
              <a:rPr lang="en-US" sz="950" dirty="0">
                <a:solidFill>
                  <a:srgbClr val="C9D3DC"/>
                </a:solidFill>
                <a:latin typeface="Arial" pitchFamily="34" charset="0"/>
                <a:ea typeface="Arial" pitchFamily="34" charset="-122"/>
                <a:cs typeface="Arial" pitchFamily="34" charset="-120"/>
              </a:rPr>
              <a:t>1,753 untapped</a:t>
            </a:r>
            <a:endParaRPr lang="en-US" sz="950" dirty="0"/>
          </a:p>
        </p:txBody>
      </p:sp>
      <p:sp>
        <p:nvSpPr>
          <p:cNvPr id="23" name="Text 21"/>
          <p:cNvSpPr/>
          <p:nvPr/>
        </p:nvSpPr>
        <p:spPr>
          <a:xfrm>
            <a:off x="4507992" y="2103120"/>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Dartmouth Health</a:t>
            </a:r>
            <a:endParaRPr lang="en-US" sz="1050" dirty="0"/>
          </a:p>
        </p:txBody>
      </p:sp>
      <p:sp>
        <p:nvSpPr>
          <p:cNvPr id="24" name="Text 22"/>
          <p:cNvSpPr/>
          <p:nvPr/>
        </p:nvSpPr>
        <p:spPr>
          <a:xfrm>
            <a:off x="7086600" y="2103120"/>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189</a:t>
            </a:r>
            <a:endParaRPr lang="en-US" sz="1100" dirty="0"/>
          </a:p>
        </p:txBody>
      </p:sp>
      <p:sp>
        <p:nvSpPr>
          <p:cNvPr id="25" name="Shape 23"/>
          <p:cNvSpPr/>
          <p:nvPr/>
        </p:nvSpPr>
        <p:spPr>
          <a:xfrm>
            <a:off x="4507992" y="2395728"/>
            <a:ext cx="781115" cy="64008"/>
          </a:xfrm>
          <a:prstGeom prst="rect">
            <a:avLst/>
          </a:prstGeom>
          <a:solidFill>
            <a:srgbClr val="6E7F32"/>
          </a:solidFill>
          <a:ln/>
        </p:spPr>
      </p:sp>
      <p:sp>
        <p:nvSpPr>
          <p:cNvPr id="26" name="Text 24"/>
          <p:cNvSpPr/>
          <p:nvPr/>
        </p:nvSpPr>
        <p:spPr>
          <a:xfrm>
            <a:off x="4507992" y="254203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University of Virginia</a:t>
            </a:r>
            <a:endParaRPr lang="en-US" sz="1050" dirty="0"/>
          </a:p>
        </p:txBody>
      </p:sp>
      <p:sp>
        <p:nvSpPr>
          <p:cNvPr id="27" name="Text 25"/>
          <p:cNvSpPr/>
          <p:nvPr/>
        </p:nvSpPr>
        <p:spPr>
          <a:xfrm>
            <a:off x="7086600" y="254203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138</a:t>
            </a:r>
            <a:endParaRPr lang="en-US" sz="1100" dirty="0"/>
          </a:p>
        </p:txBody>
      </p:sp>
      <p:sp>
        <p:nvSpPr>
          <p:cNvPr id="28" name="Shape 26"/>
          <p:cNvSpPr/>
          <p:nvPr/>
        </p:nvSpPr>
        <p:spPr>
          <a:xfrm>
            <a:off x="4507992" y="2834640"/>
            <a:ext cx="570338" cy="64008"/>
          </a:xfrm>
          <a:prstGeom prst="rect">
            <a:avLst/>
          </a:prstGeom>
          <a:solidFill>
            <a:srgbClr val="6E7F32"/>
          </a:solidFill>
          <a:ln/>
        </p:spPr>
      </p:sp>
      <p:sp>
        <p:nvSpPr>
          <p:cNvPr id="29" name="Text 27"/>
          <p:cNvSpPr/>
          <p:nvPr/>
        </p:nvSpPr>
        <p:spPr>
          <a:xfrm>
            <a:off x="4507992" y="2980944"/>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Hartford</a:t>
            </a:r>
            <a:endParaRPr lang="en-US" sz="1050" dirty="0"/>
          </a:p>
        </p:txBody>
      </p:sp>
      <p:sp>
        <p:nvSpPr>
          <p:cNvPr id="30" name="Text 28"/>
          <p:cNvSpPr/>
          <p:nvPr/>
        </p:nvSpPr>
        <p:spPr>
          <a:xfrm>
            <a:off x="7086600" y="2980944"/>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109</a:t>
            </a:r>
            <a:endParaRPr lang="en-US" sz="1100" dirty="0"/>
          </a:p>
        </p:txBody>
      </p:sp>
      <p:sp>
        <p:nvSpPr>
          <p:cNvPr id="31" name="Shape 29"/>
          <p:cNvSpPr/>
          <p:nvPr/>
        </p:nvSpPr>
        <p:spPr>
          <a:xfrm>
            <a:off x="4507992" y="3273552"/>
            <a:ext cx="450484" cy="64008"/>
          </a:xfrm>
          <a:prstGeom prst="rect">
            <a:avLst/>
          </a:prstGeom>
          <a:solidFill>
            <a:srgbClr val="6E7F32"/>
          </a:solidFill>
          <a:ln/>
        </p:spPr>
      </p:sp>
      <p:sp>
        <p:nvSpPr>
          <p:cNvPr id="32" name="Shape 30"/>
          <p:cNvSpPr/>
          <p:nvPr/>
        </p:nvSpPr>
        <p:spPr>
          <a:xfrm>
            <a:off x="8119872" y="1554480"/>
            <a:ext cx="3520440" cy="1874520"/>
          </a:xfrm>
          <a:prstGeom prst="rect">
            <a:avLst/>
          </a:prstGeom>
          <a:solidFill>
            <a:srgbClr val="FFFFFF"/>
          </a:solidFill>
          <a:ln w="12700">
            <a:solidFill>
              <a:srgbClr val="E2E6EA"/>
            </a:solidFill>
            <a:prstDash val="solid"/>
          </a:ln>
        </p:spPr>
      </p:sp>
      <p:sp>
        <p:nvSpPr>
          <p:cNvPr id="33" name="Shape 31"/>
          <p:cNvSpPr/>
          <p:nvPr/>
        </p:nvSpPr>
        <p:spPr>
          <a:xfrm>
            <a:off x="8119872" y="1554480"/>
            <a:ext cx="3520440" cy="384048"/>
          </a:xfrm>
          <a:prstGeom prst="rect">
            <a:avLst/>
          </a:prstGeom>
          <a:solidFill>
            <a:srgbClr val="16324B"/>
          </a:solidFill>
          <a:ln/>
        </p:spPr>
      </p:sp>
      <p:sp>
        <p:nvSpPr>
          <p:cNvPr id="34" name="Text 32"/>
          <p:cNvSpPr/>
          <p:nvPr/>
        </p:nvSpPr>
        <p:spPr>
          <a:xfrm>
            <a:off x="8257032" y="1554480"/>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Southeast</a:t>
            </a:r>
            <a:endParaRPr lang="en-US" sz="1200" dirty="0"/>
          </a:p>
        </p:txBody>
      </p:sp>
      <p:sp>
        <p:nvSpPr>
          <p:cNvPr id="35" name="Text 33"/>
          <p:cNvSpPr/>
          <p:nvPr/>
        </p:nvSpPr>
        <p:spPr>
          <a:xfrm>
            <a:off x="9948672" y="1554480"/>
            <a:ext cx="1554480" cy="384048"/>
          </a:xfrm>
          <a:prstGeom prst="rect">
            <a:avLst/>
          </a:prstGeom>
          <a:noFill/>
          <a:ln/>
        </p:spPr>
        <p:txBody>
          <a:bodyPr wrap="square" lIns="0" tIns="0" rIns="0" bIns="0" rtlCol="0" anchor="ctr"/>
          <a:lstStyle/>
          <a:p>
            <a:pPr algn="r" indent="0" marL="0">
              <a:buNone/>
            </a:pPr>
            <a:r>
              <a:rPr lang="en-US" sz="950" dirty="0">
                <a:solidFill>
                  <a:srgbClr val="C9D3DC"/>
                </a:solidFill>
                <a:latin typeface="Arial" pitchFamily="34" charset="0"/>
                <a:ea typeface="Arial" pitchFamily="34" charset="-122"/>
                <a:cs typeface="Arial" pitchFamily="34" charset="-120"/>
              </a:rPr>
              <a:t>1,602 untapped</a:t>
            </a:r>
            <a:endParaRPr lang="en-US" sz="950" dirty="0"/>
          </a:p>
        </p:txBody>
      </p:sp>
      <p:sp>
        <p:nvSpPr>
          <p:cNvPr id="36" name="Text 34"/>
          <p:cNvSpPr/>
          <p:nvPr/>
        </p:nvSpPr>
        <p:spPr>
          <a:xfrm>
            <a:off x="8284464" y="2103120"/>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Clearview Cancer Institute</a:t>
            </a:r>
            <a:endParaRPr lang="en-US" sz="1050" dirty="0"/>
          </a:p>
        </p:txBody>
      </p:sp>
      <p:sp>
        <p:nvSpPr>
          <p:cNvPr id="37" name="Text 35"/>
          <p:cNvSpPr/>
          <p:nvPr/>
        </p:nvSpPr>
        <p:spPr>
          <a:xfrm>
            <a:off x="10863072" y="2103120"/>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234</a:t>
            </a:r>
            <a:endParaRPr lang="en-US" sz="1100" dirty="0"/>
          </a:p>
        </p:txBody>
      </p:sp>
      <p:sp>
        <p:nvSpPr>
          <p:cNvPr id="38" name="Shape 36"/>
          <p:cNvSpPr/>
          <p:nvPr/>
        </p:nvSpPr>
        <p:spPr>
          <a:xfrm>
            <a:off x="8284464" y="2395728"/>
            <a:ext cx="967094" cy="64008"/>
          </a:xfrm>
          <a:prstGeom prst="rect">
            <a:avLst/>
          </a:prstGeom>
          <a:solidFill>
            <a:srgbClr val="6E7F32"/>
          </a:solidFill>
          <a:ln/>
        </p:spPr>
      </p:sp>
      <p:sp>
        <p:nvSpPr>
          <p:cNvPr id="39" name="Text 37"/>
          <p:cNvSpPr/>
          <p:nvPr/>
        </p:nvSpPr>
        <p:spPr>
          <a:xfrm>
            <a:off x="8284464" y="254203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Florida Cancer Specialists</a:t>
            </a:r>
            <a:endParaRPr lang="en-US" sz="1050" dirty="0"/>
          </a:p>
        </p:txBody>
      </p:sp>
      <p:sp>
        <p:nvSpPr>
          <p:cNvPr id="40" name="Text 38"/>
          <p:cNvSpPr/>
          <p:nvPr/>
        </p:nvSpPr>
        <p:spPr>
          <a:xfrm>
            <a:off x="10863072" y="254203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197</a:t>
            </a:r>
            <a:endParaRPr lang="en-US" sz="1100" dirty="0"/>
          </a:p>
        </p:txBody>
      </p:sp>
      <p:sp>
        <p:nvSpPr>
          <p:cNvPr id="41" name="Shape 39"/>
          <p:cNvSpPr/>
          <p:nvPr/>
        </p:nvSpPr>
        <p:spPr>
          <a:xfrm>
            <a:off x="8284464" y="2834640"/>
            <a:ext cx="814178" cy="64008"/>
          </a:xfrm>
          <a:prstGeom prst="rect">
            <a:avLst/>
          </a:prstGeom>
          <a:solidFill>
            <a:srgbClr val="6E7F32"/>
          </a:solidFill>
          <a:ln/>
        </p:spPr>
      </p:sp>
      <p:sp>
        <p:nvSpPr>
          <p:cNvPr id="42" name="Text 40"/>
          <p:cNvSpPr/>
          <p:nvPr/>
        </p:nvSpPr>
        <p:spPr>
          <a:xfrm>
            <a:off x="8284464" y="2980944"/>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Baptist Health S. FL</a:t>
            </a:r>
            <a:endParaRPr lang="en-US" sz="1050" dirty="0"/>
          </a:p>
        </p:txBody>
      </p:sp>
      <p:sp>
        <p:nvSpPr>
          <p:cNvPr id="43" name="Text 41"/>
          <p:cNvSpPr/>
          <p:nvPr/>
        </p:nvSpPr>
        <p:spPr>
          <a:xfrm>
            <a:off x="10863072" y="2980944"/>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134</a:t>
            </a:r>
            <a:endParaRPr lang="en-US" sz="1100" dirty="0"/>
          </a:p>
        </p:txBody>
      </p:sp>
      <p:sp>
        <p:nvSpPr>
          <p:cNvPr id="44" name="Shape 42"/>
          <p:cNvSpPr/>
          <p:nvPr/>
        </p:nvSpPr>
        <p:spPr>
          <a:xfrm>
            <a:off x="8284464" y="3273552"/>
            <a:ext cx="553806" cy="64008"/>
          </a:xfrm>
          <a:prstGeom prst="rect">
            <a:avLst/>
          </a:prstGeom>
          <a:solidFill>
            <a:srgbClr val="6E7F32"/>
          </a:solidFill>
          <a:ln/>
        </p:spPr>
      </p:sp>
      <p:sp>
        <p:nvSpPr>
          <p:cNvPr id="45" name="Shape 43"/>
          <p:cNvSpPr/>
          <p:nvPr/>
        </p:nvSpPr>
        <p:spPr>
          <a:xfrm>
            <a:off x="566928" y="3685032"/>
            <a:ext cx="3520440" cy="1874520"/>
          </a:xfrm>
          <a:prstGeom prst="rect">
            <a:avLst/>
          </a:prstGeom>
          <a:solidFill>
            <a:srgbClr val="FFFFFF"/>
          </a:solidFill>
          <a:ln w="12700">
            <a:solidFill>
              <a:srgbClr val="E2E6EA"/>
            </a:solidFill>
            <a:prstDash val="solid"/>
          </a:ln>
        </p:spPr>
      </p:sp>
      <p:sp>
        <p:nvSpPr>
          <p:cNvPr id="46" name="Shape 44"/>
          <p:cNvSpPr/>
          <p:nvPr/>
        </p:nvSpPr>
        <p:spPr>
          <a:xfrm>
            <a:off x="566928" y="3685032"/>
            <a:ext cx="3520440" cy="384048"/>
          </a:xfrm>
          <a:prstGeom prst="rect">
            <a:avLst/>
          </a:prstGeom>
          <a:solidFill>
            <a:srgbClr val="16324B"/>
          </a:solidFill>
          <a:ln/>
        </p:spPr>
      </p:sp>
      <p:sp>
        <p:nvSpPr>
          <p:cNvPr id="47" name="Text 45"/>
          <p:cNvSpPr/>
          <p:nvPr/>
        </p:nvSpPr>
        <p:spPr>
          <a:xfrm>
            <a:off x="704088" y="3685032"/>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Ohio Valley</a:t>
            </a:r>
            <a:endParaRPr lang="en-US" sz="1200" dirty="0"/>
          </a:p>
        </p:txBody>
      </p:sp>
      <p:sp>
        <p:nvSpPr>
          <p:cNvPr id="48" name="Text 46"/>
          <p:cNvSpPr/>
          <p:nvPr/>
        </p:nvSpPr>
        <p:spPr>
          <a:xfrm>
            <a:off x="2395728" y="3685032"/>
            <a:ext cx="1554480" cy="384048"/>
          </a:xfrm>
          <a:prstGeom prst="rect">
            <a:avLst/>
          </a:prstGeom>
          <a:noFill/>
          <a:ln/>
        </p:spPr>
        <p:txBody>
          <a:bodyPr wrap="square" lIns="0" tIns="0" rIns="0" bIns="0" rtlCol="0" anchor="ctr"/>
          <a:lstStyle/>
          <a:p>
            <a:pPr algn="r" indent="0" marL="0">
              <a:buNone/>
            </a:pPr>
            <a:r>
              <a:rPr lang="en-US" sz="950" dirty="0">
                <a:solidFill>
                  <a:srgbClr val="C9D3DC"/>
                </a:solidFill>
                <a:latin typeface="Arial" pitchFamily="34" charset="0"/>
                <a:ea typeface="Arial" pitchFamily="34" charset="-122"/>
                <a:cs typeface="Arial" pitchFamily="34" charset="-120"/>
              </a:rPr>
              <a:t>1,238 untapped</a:t>
            </a:r>
            <a:endParaRPr lang="en-US" sz="950" dirty="0"/>
          </a:p>
        </p:txBody>
      </p:sp>
      <p:sp>
        <p:nvSpPr>
          <p:cNvPr id="49" name="Text 47"/>
          <p:cNvSpPr/>
          <p:nvPr/>
        </p:nvSpPr>
        <p:spPr>
          <a:xfrm>
            <a:off x="731520" y="423367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Indiana University Health</a:t>
            </a:r>
            <a:endParaRPr lang="en-US" sz="1050" dirty="0"/>
          </a:p>
        </p:txBody>
      </p:sp>
      <p:sp>
        <p:nvSpPr>
          <p:cNvPr id="50" name="Text 48"/>
          <p:cNvSpPr/>
          <p:nvPr/>
        </p:nvSpPr>
        <p:spPr>
          <a:xfrm>
            <a:off x="3310128" y="423367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188</a:t>
            </a:r>
            <a:endParaRPr lang="en-US" sz="1100" dirty="0"/>
          </a:p>
        </p:txBody>
      </p:sp>
      <p:sp>
        <p:nvSpPr>
          <p:cNvPr id="51" name="Shape 49"/>
          <p:cNvSpPr/>
          <p:nvPr/>
        </p:nvSpPr>
        <p:spPr>
          <a:xfrm>
            <a:off x="731520" y="4526280"/>
            <a:ext cx="776982" cy="64008"/>
          </a:xfrm>
          <a:prstGeom prst="rect">
            <a:avLst/>
          </a:prstGeom>
          <a:solidFill>
            <a:srgbClr val="6E7F32"/>
          </a:solidFill>
          <a:ln/>
        </p:spPr>
      </p:sp>
      <p:sp>
        <p:nvSpPr>
          <p:cNvPr id="52" name="Text 50"/>
          <p:cNvSpPr/>
          <p:nvPr/>
        </p:nvSpPr>
        <p:spPr>
          <a:xfrm>
            <a:off x="731520" y="4672584"/>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Baptist Health</a:t>
            </a:r>
            <a:endParaRPr lang="en-US" sz="1050" dirty="0"/>
          </a:p>
        </p:txBody>
      </p:sp>
      <p:sp>
        <p:nvSpPr>
          <p:cNvPr id="53" name="Text 51"/>
          <p:cNvSpPr/>
          <p:nvPr/>
        </p:nvSpPr>
        <p:spPr>
          <a:xfrm>
            <a:off x="3310128" y="4672584"/>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138</a:t>
            </a:r>
            <a:endParaRPr lang="en-US" sz="1100" dirty="0"/>
          </a:p>
        </p:txBody>
      </p:sp>
      <p:sp>
        <p:nvSpPr>
          <p:cNvPr id="54" name="Shape 52"/>
          <p:cNvSpPr/>
          <p:nvPr/>
        </p:nvSpPr>
        <p:spPr>
          <a:xfrm>
            <a:off x="731520" y="4965192"/>
            <a:ext cx="570338" cy="64008"/>
          </a:xfrm>
          <a:prstGeom prst="rect">
            <a:avLst/>
          </a:prstGeom>
          <a:solidFill>
            <a:srgbClr val="6E7F32"/>
          </a:solidFill>
          <a:ln/>
        </p:spPr>
      </p:sp>
      <p:sp>
        <p:nvSpPr>
          <p:cNvPr id="55" name="Text 53"/>
          <p:cNvSpPr/>
          <p:nvPr/>
        </p:nvSpPr>
        <p:spPr>
          <a:xfrm>
            <a:off x="731520" y="5111496"/>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Kettering Health</a:t>
            </a:r>
            <a:endParaRPr lang="en-US" sz="1050" dirty="0"/>
          </a:p>
        </p:txBody>
      </p:sp>
      <p:sp>
        <p:nvSpPr>
          <p:cNvPr id="56" name="Text 54"/>
          <p:cNvSpPr/>
          <p:nvPr/>
        </p:nvSpPr>
        <p:spPr>
          <a:xfrm>
            <a:off x="3310128" y="5111496"/>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85</a:t>
            </a:r>
            <a:endParaRPr lang="en-US" sz="1100" dirty="0"/>
          </a:p>
        </p:txBody>
      </p:sp>
      <p:sp>
        <p:nvSpPr>
          <p:cNvPr id="57" name="Shape 55"/>
          <p:cNvSpPr/>
          <p:nvPr/>
        </p:nvSpPr>
        <p:spPr>
          <a:xfrm>
            <a:off x="731520" y="5404104"/>
            <a:ext cx="351295" cy="64008"/>
          </a:xfrm>
          <a:prstGeom prst="rect">
            <a:avLst/>
          </a:prstGeom>
          <a:solidFill>
            <a:srgbClr val="6E7F32"/>
          </a:solidFill>
          <a:ln/>
        </p:spPr>
      </p:sp>
      <p:sp>
        <p:nvSpPr>
          <p:cNvPr id="58" name="Shape 56"/>
          <p:cNvSpPr/>
          <p:nvPr/>
        </p:nvSpPr>
        <p:spPr>
          <a:xfrm>
            <a:off x="4343400" y="3685032"/>
            <a:ext cx="3520440" cy="1874520"/>
          </a:xfrm>
          <a:prstGeom prst="rect">
            <a:avLst/>
          </a:prstGeom>
          <a:solidFill>
            <a:srgbClr val="FFFFFF"/>
          </a:solidFill>
          <a:ln w="12700">
            <a:solidFill>
              <a:srgbClr val="E2E6EA"/>
            </a:solidFill>
            <a:prstDash val="solid"/>
          </a:ln>
        </p:spPr>
      </p:sp>
      <p:sp>
        <p:nvSpPr>
          <p:cNvPr id="59" name="Shape 57"/>
          <p:cNvSpPr/>
          <p:nvPr/>
        </p:nvSpPr>
        <p:spPr>
          <a:xfrm>
            <a:off x="4343400" y="3685032"/>
            <a:ext cx="3520440" cy="384048"/>
          </a:xfrm>
          <a:prstGeom prst="rect">
            <a:avLst/>
          </a:prstGeom>
          <a:solidFill>
            <a:srgbClr val="16324B"/>
          </a:solidFill>
          <a:ln/>
        </p:spPr>
      </p:sp>
      <p:sp>
        <p:nvSpPr>
          <p:cNvPr id="60" name="Text 58"/>
          <p:cNvSpPr/>
          <p:nvPr/>
        </p:nvSpPr>
        <p:spPr>
          <a:xfrm>
            <a:off x="4480560" y="3685032"/>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Great Lakes</a:t>
            </a:r>
            <a:endParaRPr lang="en-US" sz="1200" dirty="0"/>
          </a:p>
        </p:txBody>
      </p:sp>
      <p:sp>
        <p:nvSpPr>
          <p:cNvPr id="61" name="Text 59"/>
          <p:cNvSpPr/>
          <p:nvPr/>
        </p:nvSpPr>
        <p:spPr>
          <a:xfrm>
            <a:off x="6172200" y="3685032"/>
            <a:ext cx="1554480" cy="384048"/>
          </a:xfrm>
          <a:prstGeom prst="rect">
            <a:avLst/>
          </a:prstGeom>
          <a:noFill/>
          <a:ln/>
        </p:spPr>
        <p:txBody>
          <a:bodyPr wrap="square" lIns="0" tIns="0" rIns="0" bIns="0" rtlCol="0" anchor="ctr"/>
          <a:lstStyle/>
          <a:p>
            <a:pPr algn="r" indent="0" marL="0">
              <a:buNone/>
            </a:pPr>
            <a:r>
              <a:rPr lang="en-US" sz="950" dirty="0">
                <a:solidFill>
                  <a:srgbClr val="C9D3DC"/>
                </a:solidFill>
                <a:latin typeface="Arial" pitchFamily="34" charset="0"/>
                <a:ea typeface="Arial" pitchFamily="34" charset="-122"/>
                <a:cs typeface="Arial" pitchFamily="34" charset="-120"/>
              </a:rPr>
              <a:t>1,261 untapped</a:t>
            </a:r>
            <a:endParaRPr lang="en-US" sz="950" dirty="0"/>
          </a:p>
        </p:txBody>
      </p:sp>
      <p:sp>
        <p:nvSpPr>
          <p:cNvPr id="62" name="Text 60"/>
          <p:cNvSpPr/>
          <p:nvPr/>
        </p:nvSpPr>
        <p:spPr>
          <a:xfrm>
            <a:off x="4507992" y="423367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University of Michigan</a:t>
            </a:r>
            <a:endParaRPr lang="en-US" sz="1050" dirty="0"/>
          </a:p>
        </p:txBody>
      </p:sp>
      <p:sp>
        <p:nvSpPr>
          <p:cNvPr id="63" name="Text 61"/>
          <p:cNvSpPr/>
          <p:nvPr/>
        </p:nvSpPr>
        <p:spPr>
          <a:xfrm>
            <a:off x="7086600" y="423367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531</a:t>
            </a:r>
            <a:endParaRPr lang="en-US" sz="1100" dirty="0"/>
          </a:p>
        </p:txBody>
      </p:sp>
      <p:sp>
        <p:nvSpPr>
          <p:cNvPr id="64" name="Shape 62"/>
          <p:cNvSpPr/>
          <p:nvPr/>
        </p:nvSpPr>
        <p:spPr>
          <a:xfrm>
            <a:off x="4507992" y="4526280"/>
            <a:ext cx="2194560" cy="64008"/>
          </a:xfrm>
          <a:prstGeom prst="rect">
            <a:avLst/>
          </a:prstGeom>
          <a:solidFill>
            <a:srgbClr val="6E7F32"/>
          </a:solidFill>
          <a:ln/>
        </p:spPr>
      </p:sp>
      <p:sp>
        <p:nvSpPr>
          <p:cNvPr id="65" name="Text 63"/>
          <p:cNvSpPr/>
          <p:nvPr/>
        </p:nvSpPr>
        <p:spPr>
          <a:xfrm>
            <a:off x="4507992" y="4672584"/>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Allina Health</a:t>
            </a:r>
            <a:endParaRPr lang="en-US" sz="1050" dirty="0"/>
          </a:p>
        </p:txBody>
      </p:sp>
      <p:sp>
        <p:nvSpPr>
          <p:cNvPr id="66" name="Text 64"/>
          <p:cNvSpPr/>
          <p:nvPr/>
        </p:nvSpPr>
        <p:spPr>
          <a:xfrm>
            <a:off x="7086600" y="4672584"/>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77</a:t>
            </a:r>
            <a:endParaRPr lang="en-US" sz="1100" dirty="0"/>
          </a:p>
        </p:txBody>
      </p:sp>
      <p:sp>
        <p:nvSpPr>
          <p:cNvPr id="67" name="Shape 65"/>
          <p:cNvSpPr/>
          <p:nvPr/>
        </p:nvSpPr>
        <p:spPr>
          <a:xfrm>
            <a:off x="4507992" y="4965192"/>
            <a:ext cx="318232" cy="64008"/>
          </a:xfrm>
          <a:prstGeom prst="rect">
            <a:avLst/>
          </a:prstGeom>
          <a:solidFill>
            <a:srgbClr val="6E7F32"/>
          </a:solidFill>
          <a:ln/>
        </p:spPr>
      </p:sp>
      <p:sp>
        <p:nvSpPr>
          <p:cNvPr id="68" name="Text 66"/>
          <p:cNvSpPr/>
          <p:nvPr/>
        </p:nvSpPr>
        <p:spPr>
          <a:xfrm>
            <a:off x="4507992" y="5111496"/>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Aspirus</a:t>
            </a:r>
            <a:endParaRPr lang="en-US" sz="1050" dirty="0"/>
          </a:p>
        </p:txBody>
      </p:sp>
      <p:sp>
        <p:nvSpPr>
          <p:cNvPr id="69" name="Text 67"/>
          <p:cNvSpPr/>
          <p:nvPr/>
        </p:nvSpPr>
        <p:spPr>
          <a:xfrm>
            <a:off x="7086600" y="5111496"/>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66</a:t>
            </a:r>
            <a:endParaRPr lang="en-US" sz="1100" dirty="0"/>
          </a:p>
        </p:txBody>
      </p:sp>
      <p:sp>
        <p:nvSpPr>
          <p:cNvPr id="70" name="Shape 68"/>
          <p:cNvSpPr/>
          <p:nvPr/>
        </p:nvSpPr>
        <p:spPr>
          <a:xfrm>
            <a:off x="4507992" y="5404104"/>
            <a:ext cx="272770" cy="64008"/>
          </a:xfrm>
          <a:prstGeom prst="rect">
            <a:avLst/>
          </a:prstGeom>
          <a:solidFill>
            <a:srgbClr val="6E7F32"/>
          </a:solidFill>
          <a:ln/>
        </p:spPr>
      </p:sp>
      <p:sp>
        <p:nvSpPr>
          <p:cNvPr id="71" name="Shape 69"/>
          <p:cNvSpPr/>
          <p:nvPr/>
        </p:nvSpPr>
        <p:spPr>
          <a:xfrm>
            <a:off x="8119872" y="3685032"/>
            <a:ext cx="3520440" cy="1874520"/>
          </a:xfrm>
          <a:prstGeom prst="rect">
            <a:avLst/>
          </a:prstGeom>
          <a:solidFill>
            <a:srgbClr val="FFFFFF"/>
          </a:solidFill>
          <a:ln w="12700">
            <a:solidFill>
              <a:srgbClr val="E2E6EA"/>
            </a:solidFill>
            <a:prstDash val="solid"/>
          </a:ln>
        </p:spPr>
      </p:sp>
      <p:sp>
        <p:nvSpPr>
          <p:cNvPr id="72" name="Shape 70"/>
          <p:cNvSpPr/>
          <p:nvPr/>
        </p:nvSpPr>
        <p:spPr>
          <a:xfrm>
            <a:off x="8119872" y="3685032"/>
            <a:ext cx="3520440" cy="384048"/>
          </a:xfrm>
          <a:prstGeom prst="rect">
            <a:avLst/>
          </a:prstGeom>
          <a:solidFill>
            <a:srgbClr val="16324B"/>
          </a:solidFill>
          <a:ln/>
        </p:spPr>
      </p:sp>
      <p:sp>
        <p:nvSpPr>
          <p:cNvPr id="73" name="Text 71"/>
          <p:cNvSpPr/>
          <p:nvPr/>
        </p:nvSpPr>
        <p:spPr>
          <a:xfrm>
            <a:off x="8257032" y="3685032"/>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Central</a:t>
            </a:r>
            <a:endParaRPr lang="en-US" sz="1200" dirty="0"/>
          </a:p>
        </p:txBody>
      </p:sp>
      <p:sp>
        <p:nvSpPr>
          <p:cNvPr id="74" name="Text 72"/>
          <p:cNvSpPr/>
          <p:nvPr/>
        </p:nvSpPr>
        <p:spPr>
          <a:xfrm>
            <a:off x="9948672" y="3685032"/>
            <a:ext cx="1554480" cy="384048"/>
          </a:xfrm>
          <a:prstGeom prst="rect">
            <a:avLst/>
          </a:prstGeom>
          <a:noFill/>
          <a:ln/>
        </p:spPr>
        <p:txBody>
          <a:bodyPr wrap="square" lIns="0" tIns="0" rIns="0" bIns="0" rtlCol="0" anchor="ctr"/>
          <a:lstStyle/>
          <a:p>
            <a:pPr algn="r" indent="0" marL="0">
              <a:buNone/>
            </a:pPr>
            <a:r>
              <a:rPr lang="en-US" sz="950" dirty="0">
                <a:solidFill>
                  <a:srgbClr val="C9D3DC"/>
                </a:solidFill>
                <a:latin typeface="Arial" pitchFamily="34" charset="0"/>
                <a:ea typeface="Arial" pitchFamily="34" charset="-122"/>
                <a:cs typeface="Arial" pitchFamily="34" charset="-120"/>
              </a:rPr>
              <a:t>751 untapped</a:t>
            </a:r>
            <a:endParaRPr lang="en-US" sz="950" dirty="0"/>
          </a:p>
        </p:txBody>
      </p:sp>
      <p:sp>
        <p:nvSpPr>
          <p:cNvPr id="75" name="Text 73"/>
          <p:cNvSpPr/>
          <p:nvPr/>
        </p:nvSpPr>
        <p:spPr>
          <a:xfrm>
            <a:off x="8284464" y="423367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Texas Oncology</a:t>
            </a:r>
            <a:endParaRPr lang="en-US" sz="1050" dirty="0"/>
          </a:p>
        </p:txBody>
      </p:sp>
      <p:sp>
        <p:nvSpPr>
          <p:cNvPr id="76" name="Text 74"/>
          <p:cNvSpPr/>
          <p:nvPr/>
        </p:nvSpPr>
        <p:spPr>
          <a:xfrm>
            <a:off x="10863072" y="423367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211</a:t>
            </a:r>
            <a:endParaRPr lang="en-US" sz="1100" dirty="0"/>
          </a:p>
        </p:txBody>
      </p:sp>
      <p:sp>
        <p:nvSpPr>
          <p:cNvPr id="77" name="Shape 75"/>
          <p:cNvSpPr/>
          <p:nvPr/>
        </p:nvSpPr>
        <p:spPr>
          <a:xfrm>
            <a:off x="8284464" y="4526280"/>
            <a:ext cx="872038" cy="64008"/>
          </a:xfrm>
          <a:prstGeom prst="rect">
            <a:avLst/>
          </a:prstGeom>
          <a:solidFill>
            <a:srgbClr val="6E7F32"/>
          </a:solidFill>
          <a:ln/>
        </p:spPr>
      </p:sp>
      <p:sp>
        <p:nvSpPr>
          <p:cNvPr id="78" name="Text 76"/>
          <p:cNvSpPr/>
          <p:nvPr/>
        </p:nvSpPr>
        <p:spPr>
          <a:xfrm>
            <a:off x="8284464" y="4672584"/>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University of Arkansas</a:t>
            </a:r>
            <a:endParaRPr lang="en-US" sz="1050" dirty="0"/>
          </a:p>
        </p:txBody>
      </p:sp>
      <p:sp>
        <p:nvSpPr>
          <p:cNvPr id="79" name="Text 77"/>
          <p:cNvSpPr/>
          <p:nvPr/>
        </p:nvSpPr>
        <p:spPr>
          <a:xfrm>
            <a:off x="10863072" y="4672584"/>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52</a:t>
            </a:r>
            <a:endParaRPr lang="en-US" sz="1100" dirty="0"/>
          </a:p>
        </p:txBody>
      </p:sp>
      <p:sp>
        <p:nvSpPr>
          <p:cNvPr id="80" name="Shape 78"/>
          <p:cNvSpPr/>
          <p:nvPr/>
        </p:nvSpPr>
        <p:spPr>
          <a:xfrm>
            <a:off x="8284464" y="4965192"/>
            <a:ext cx="214910" cy="64008"/>
          </a:xfrm>
          <a:prstGeom prst="rect">
            <a:avLst/>
          </a:prstGeom>
          <a:solidFill>
            <a:srgbClr val="6E7F32"/>
          </a:solidFill>
          <a:ln/>
        </p:spPr>
      </p:sp>
      <p:sp>
        <p:nvSpPr>
          <p:cNvPr id="81" name="Text 79"/>
          <p:cNvSpPr/>
          <p:nvPr/>
        </p:nvSpPr>
        <p:spPr>
          <a:xfrm>
            <a:off x="8284464" y="5111496"/>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Monument Health</a:t>
            </a:r>
            <a:endParaRPr lang="en-US" sz="1050" dirty="0"/>
          </a:p>
        </p:txBody>
      </p:sp>
      <p:sp>
        <p:nvSpPr>
          <p:cNvPr id="82" name="Text 80"/>
          <p:cNvSpPr/>
          <p:nvPr/>
        </p:nvSpPr>
        <p:spPr>
          <a:xfrm>
            <a:off x="10863072" y="5111496"/>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37</a:t>
            </a:r>
            <a:endParaRPr lang="en-US" sz="1100" dirty="0"/>
          </a:p>
        </p:txBody>
      </p:sp>
      <p:sp>
        <p:nvSpPr>
          <p:cNvPr id="83" name="Shape 81"/>
          <p:cNvSpPr/>
          <p:nvPr/>
        </p:nvSpPr>
        <p:spPr>
          <a:xfrm>
            <a:off x="8284464" y="5404104"/>
            <a:ext cx="152917" cy="64008"/>
          </a:xfrm>
          <a:prstGeom prst="rect">
            <a:avLst/>
          </a:prstGeom>
          <a:solidFill>
            <a:srgbClr val="6E7F32"/>
          </a:solidFill>
          <a:ln/>
        </p:spPr>
      </p:sp>
      <p:sp>
        <p:nvSpPr>
          <p:cNvPr id="84" name="Text 82"/>
          <p:cNvSpPr/>
          <p:nvPr/>
        </p:nvSpPr>
        <p:spPr>
          <a:xfrm>
            <a:off x="566928" y="5806440"/>
            <a:ext cx="10972800" cy="457200"/>
          </a:xfrm>
          <a:prstGeom prst="rect">
            <a:avLst/>
          </a:prstGeom>
          <a:noFill/>
          <a:ln/>
        </p:spPr>
        <p:txBody>
          <a:bodyPr wrap="square" lIns="0" tIns="0" rIns="0" bIns="0" rtlCol="0" anchor="t"/>
          <a:lstStyle/>
          <a:p>
            <a:pPr algn="l" indent="0" marL="0">
              <a:lnSpc>
                <a:spcPct val="105000"/>
              </a:lnSpc>
              <a:buNone/>
            </a:pPr>
            <a:r>
              <a:rPr lang="en-US" sz="850" i="1" dirty="0">
                <a:solidFill>
                  <a:srgbClr val="6B7280"/>
                </a:solidFill>
                <a:latin typeface="Arial" pitchFamily="34" charset="0"/>
                <a:ea typeface="Arial" pitchFamily="34" charset="-122"/>
                <a:cs typeface="Arial" pitchFamily="34" charset="-120"/>
              </a:rPr>
              <a:t>City of Hope and NYU Langone are now counted as ATC and no longer appear here. Totals exclude patients with unassigned geography. Source: McKesson (Compile) medical claims (2021 to 2025); ATC roster per Infinity. Untapped = non-ATC patients per region.</a:t>
            </a:r>
            <a:endParaRPr lang="en-US" sz="850" dirty="0"/>
          </a:p>
        </p:txBody>
      </p:sp>
      <p:sp>
        <p:nvSpPr>
          <p:cNvPr id="85" name="Shape 83"/>
          <p:cNvSpPr/>
          <p:nvPr/>
        </p:nvSpPr>
        <p:spPr>
          <a:xfrm>
            <a:off x="0" y="6455664"/>
            <a:ext cx="12188952" cy="402336"/>
          </a:xfrm>
          <a:prstGeom prst="rect">
            <a:avLst/>
          </a:prstGeom>
          <a:solidFill>
            <a:srgbClr val="8DA640"/>
          </a:solidFill>
          <a:ln/>
        </p:spPr>
      </p:sp>
      <p:sp>
        <p:nvSpPr>
          <p:cNvPr id="86" name="Text 84"/>
          <p:cNvSpPr/>
          <p:nvPr/>
        </p:nvSpPr>
        <p:spPr>
          <a:xfrm>
            <a:off x="502920" y="6455664"/>
            <a:ext cx="7315200" cy="402336"/>
          </a:xfrm>
          <a:prstGeom prst="rect">
            <a:avLst/>
          </a:prstGeom>
          <a:noFill/>
          <a:ln/>
        </p:spPr>
        <p:txBody>
          <a:bodyPr wrap="square" lIns="0" tIns="0" rIns="0" bIns="0" rtlCol="0" anchor="ctr"/>
          <a:lstStyle/>
          <a:p>
            <a:pPr algn="l" indent="0" marL="0">
              <a:buNone/>
            </a:pPr>
            <a:r>
              <a:rPr lang="en-US" sz="800" dirty="0">
                <a:solidFill>
                  <a:srgbClr val="F2F5E9"/>
                </a:solidFill>
                <a:latin typeface="Arial" pitchFamily="34" charset="0"/>
                <a:ea typeface="Arial" pitchFamily="34" charset="-122"/>
                <a:cs typeface="Arial" pitchFamily="34" charset="-120"/>
              </a:rPr>
              <a:t>© 2026, Iovance Biotherapeutics, Inc.  |  Confidential for Internal Use Only</a:t>
            </a:r>
            <a:endParaRPr lang="en-US" sz="800" dirty="0"/>
          </a:p>
        </p:txBody>
      </p:sp>
      <p:sp>
        <p:nvSpPr>
          <p:cNvPr id="87" name="Text 85"/>
          <p:cNvSpPr/>
          <p:nvPr/>
        </p:nvSpPr>
        <p:spPr>
          <a:xfrm>
            <a:off x="10195560" y="6455664"/>
            <a:ext cx="1371600" cy="402336"/>
          </a:xfrm>
          <a:prstGeom prst="rect">
            <a:avLst/>
          </a:prstGeom>
          <a:noFill/>
          <a:ln/>
        </p:spPr>
        <p:txBody>
          <a:bodyPr wrap="square" lIns="0" tIns="0" rIns="0" bIns="0" rtlCol="0" anchor="ctr"/>
          <a:lstStyle/>
          <a:p>
            <a:pPr algn="r" indent="0" marL="0">
              <a:buNone/>
            </a:pPr>
            <a:r>
              <a:rPr lang="en-US" sz="1300" b="1" i="1" spc="100" kern="0" dirty="0">
                <a:solidFill>
                  <a:srgbClr val="FFFFFF"/>
                </a:solidFill>
                <a:latin typeface="Arial" pitchFamily="34" charset="0"/>
                <a:ea typeface="Arial" pitchFamily="34" charset="-122"/>
                <a:cs typeface="Arial" pitchFamily="34" charset="-120"/>
              </a:rPr>
              <a:t>IOVANCE</a:t>
            </a:r>
            <a:endParaRPr lang="en-US" sz="1300" dirty="0"/>
          </a:p>
        </p:txBody>
      </p:sp>
      <p:sp>
        <p:nvSpPr>
          <p:cNvPr id="88" name="Shape 86"/>
          <p:cNvSpPr/>
          <p:nvPr/>
        </p:nvSpPr>
        <p:spPr>
          <a:xfrm>
            <a:off x="11686032" y="6528816"/>
            <a:ext cx="256032" cy="256032"/>
          </a:xfrm>
          <a:prstGeom prst="ellipse">
            <a:avLst/>
          </a:prstGeom>
          <a:solidFill>
            <a:srgbClr val="16324B"/>
          </a:solidFill>
          <a:ln/>
        </p:spPr>
      </p:sp>
      <p:sp>
        <p:nvSpPr>
          <p:cNvPr id="89" name="Text 87"/>
          <p:cNvSpPr/>
          <p:nvPr/>
        </p:nvSpPr>
        <p:spPr>
          <a:xfrm>
            <a:off x="11686032" y="6528816"/>
            <a:ext cx="256032" cy="256032"/>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058400" cy="274320"/>
          </a:xfrm>
          <a:prstGeom prst="rect">
            <a:avLst/>
          </a:prstGeom>
          <a:noFill/>
          <a:ln/>
        </p:spPr>
        <p:txBody>
          <a:bodyPr wrap="square" lIns="0" tIns="0" rIns="0" bIns="0" rtlCol="0" anchor="ctr"/>
          <a:lstStyle/>
          <a:p>
            <a:pPr indent="0" marL="0">
              <a:buNone/>
            </a:pPr>
            <a:r>
              <a:rPr lang="en-US" sz="1100" b="1" spc="200" kern="0" dirty="0">
                <a:solidFill>
                  <a:srgbClr val="5C7FA6"/>
                </a:solidFill>
                <a:latin typeface="Arial" pitchFamily="34" charset="0"/>
                <a:ea typeface="Arial" pitchFamily="34" charset="-122"/>
                <a:cs typeface="Arial" pitchFamily="34" charset="-120"/>
              </a:rPr>
              <a:t>STATE VIEW · NON-ATC ACCOUNTS</a:t>
            </a:r>
            <a:endParaRPr lang="en-US" sz="1100" dirty="0"/>
          </a:p>
        </p:txBody>
      </p:sp>
      <p:sp>
        <p:nvSpPr>
          <p:cNvPr id="3" name="Shape 1"/>
          <p:cNvSpPr/>
          <p:nvPr/>
        </p:nvSpPr>
        <p:spPr>
          <a:xfrm>
            <a:off x="566928" y="658368"/>
            <a:ext cx="146304" cy="310896"/>
          </a:xfrm>
          <a:prstGeom prst="rect">
            <a:avLst/>
          </a:prstGeom>
          <a:solidFill>
            <a:srgbClr val="7C8A3B"/>
          </a:solidFill>
          <a:ln/>
        </p:spPr>
      </p:sp>
      <p:sp>
        <p:nvSpPr>
          <p:cNvPr id="4" name="Shape 2"/>
          <p:cNvSpPr/>
          <p:nvPr/>
        </p:nvSpPr>
        <p:spPr>
          <a:xfrm>
            <a:off x="11475720" y="658368"/>
            <a:ext cx="146304" cy="310896"/>
          </a:xfrm>
          <a:prstGeom prst="rect">
            <a:avLst/>
          </a:prstGeom>
          <a:solidFill>
            <a:srgbClr val="7C8A3B"/>
          </a:solidFill>
          <a:ln/>
        </p:spPr>
      </p:sp>
      <p:sp>
        <p:nvSpPr>
          <p:cNvPr id="5" name="Text 3"/>
          <p:cNvSpPr/>
          <p:nvPr/>
        </p:nvSpPr>
        <p:spPr>
          <a:xfrm>
            <a:off x="868680" y="566928"/>
            <a:ext cx="10515600" cy="548640"/>
          </a:xfrm>
          <a:prstGeom prst="rect">
            <a:avLst/>
          </a:prstGeom>
          <a:noFill/>
          <a:ln/>
        </p:spPr>
        <p:txBody>
          <a:bodyPr wrap="square" lIns="0" tIns="0" rIns="0" bIns="0" rtlCol="0" anchor="t"/>
          <a:lstStyle/>
          <a:p>
            <a:pPr algn="l" indent="0" marL="0">
              <a:lnSpc>
                <a:spcPct val="98000"/>
              </a:lnSpc>
              <a:buNone/>
            </a:pPr>
            <a:r>
              <a:rPr lang="en-US" sz="2600" b="1" dirty="0">
                <a:solidFill>
                  <a:srgbClr val="16324B"/>
                </a:solidFill>
                <a:latin typeface="Arial" pitchFamily="34" charset="0"/>
                <a:ea typeface="Arial" pitchFamily="34" charset="-122"/>
                <a:cs typeface="Arial" pitchFamily="34" charset="-120"/>
              </a:rPr>
              <a:t>State by state, non-ATC volume usually runs through one dominant account</a:t>
            </a:r>
            <a:endParaRPr lang="en-US" sz="2600" dirty="0"/>
          </a:p>
        </p:txBody>
      </p:sp>
      <p:sp>
        <p:nvSpPr>
          <p:cNvPr id="6" name="Shape 4"/>
          <p:cNvSpPr/>
          <p:nvPr/>
        </p:nvSpPr>
        <p:spPr>
          <a:xfrm>
            <a:off x="566928" y="1554480"/>
            <a:ext cx="3520440" cy="1874520"/>
          </a:xfrm>
          <a:prstGeom prst="rect">
            <a:avLst/>
          </a:prstGeom>
          <a:solidFill>
            <a:srgbClr val="FFFFFF"/>
          </a:solidFill>
          <a:ln w="12700">
            <a:solidFill>
              <a:srgbClr val="E2E6EA"/>
            </a:solidFill>
            <a:prstDash val="solid"/>
          </a:ln>
        </p:spPr>
      </p:sp>
      <p:sp>
        <p:nvSpPr>
          <p:cNvPr id="7" name="Shape 5"/>
          <p:cNvSpPr/>
          <p:nvPr/>
        </p:nvSpPr>
        <p:spPr>
          <a:xfrm>
            <a:off x="566928" y="1554480"/>
            <a:ext cx="3520440" cy="384048"/>
          </a:xfrm>
          <a:prstGeom prst="rect">
            <a:avLst/>
          </a:prstGeom>
          <a:solidFill>
            <a:srgbClr val="16324B"/>
          </a:solidFill>
          <a:ln/>
        </p:spPr>
      </p:sp>
      <p:sp>
        <p:nvSpPr>
          <p:cNvPr id="8" name="Text 6"/>
          <p:cNvSpPr/>
          <p:nvPr/>
        </p:nvSpPr>
        <p:spPr>
          <a:xfrm>
            <a:off x="704088" y="1554480"/>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California</a:t>
            </a:r>
            <a:endParaRPr lang="en-US" sz="1200" dirty="0"/>
          </a:p>
        </p:txBody>
      </p:sp>
      <p:sp>
        <p:nvSpPr>
          <p:cNvPr id="9" name="Text 7"/>
          <p:cNvSpPr/>
          <p:nvPr/>
        </p:nvSpPr>
        <p:spPr>
          <a:xfrm>
            <a:off x="731520" y="2103120"/>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Sutter Health</a:t>
            </a:r>
            <a:endParaRPr lang="en-US" sz="1050" dirty="0"/>
          </a:p>
        </p:txBody>
      </p:sp>
      <p:sp>
        <p:nvSpPr>
          <p:cNvPr id="10" name="Text 8"/>
          <p:cNvSpPr/>
          <p:nvPr/>
        </p:nvSpPr>
        <p:spPr>
          <a:xfrm>
            <a:off x="3310128" y="2103120"/>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186</a:t>
            </a:r>
            <a:endParaRPr lang="en-US" sz="1100" dirty="0"/>
          </a:p>
        </p:txBody>
      </p:sp>
      <p:sp>
        <p:nvSpPr>
          <p:cNvPr id="11" name="Shape 9"/>
          <p:cNvSpPr/>
          <p:nvPr/>
        </p:nvSpPr>
        <p:spPr>
          <a:xfrm>
            <a:off x="731520" y="2395728"/>
            <a:ext cx="768716" cy="64008"/>
          </a:xfrm>
          <a:prstGeom prst="rect">
            <a:avLst/>
          </a:prstGeom>
          <a:solidFill>
            <a:srgbClr val="6E7F32"/>
          </a:solidFill>
          <a:ln/>
        </p:spPr>
      </p:sp>
      <p:sp>
        <p:nvSpPr>
          <p:cNvPr id="12" name="Text 10"/>
          <p:cNvSpPr/>
          <p:nvPr/>
        </p:nvSpPr>
        <p:spPr>
          <a:xfrm>
            <a:off x="731520" y="254203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Loma Linda</a:t>
            </a:r>
            <a:endParaRPr lang="en-US" sz="1050" dirty="0"/>
          </a:p>
        </p:txBody>
      </p:sp>
      <p:sp>
        <p:nvSpPr>
          <p:cNvPr id="13" name="Text 11"/>
          <p:cNvSpPr/>
          <p:nvPr/>
        </p:nvSpPr>
        <p:spPr>
          <a:xfrm>
            <a:off x="3310128" y="254203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57</a:t>
            </a:r>
            <a:endParaRPr lang="en-US" sz="1100" dirty="0"/>
          </a:p>
        </p:txBody>
      </p:sp>
      <p:sp>
        <p:nvSpPr>
          <p:cNvPr id="14" name="Shape 12"/>
          <p:cNvSpPr/>
          <p:nvPr/>
        </p:nvSpPr>
        <p:spPr>
          <a:xfrm>
            <a:off x="731520" y="2834640"/>
            <a:ext cx="235574" cy="64008"/>
          </a:xfrm>
          <a:prstGeom prst="rect">
            <a:avLst/>
          </a:prstGeom>
          <a:solidFill>
            <a:srgbClr val="6E7F32"/>
          </a:solidFill>
          <a:ln/>
        </p:spPr>
      </p:sp>
      <p:sp>
        <p:nvSpPr>
          <p:cNvPr id="15" name="Text 13"/>
          <p:cNvSpPr/>
          <p:nvPr/>
        </p:nvSpPr>
        <p:spPr>
          <a:xfrm>
            <a:off x="731520" y="2980944"/>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SF Oncology</a:t>
            </a:r>
            <a:endParaRPr lang="en-US" sz="1050" dirty="0"/>
          </a:p>
        </p:txBody>
      </p:sp>
      <p:sp>
        <p:nvSpPr>
          <p:cNvPr id="16" name="Text 14"/>
          <p:cNvSpPr/>
          <p:nvPr/>
        </p:nvSpPr>
        <p:spPr>
          <a:xfrm>
            <a:off x="3310128" y="2980944"/>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51</a:t>
            </a:r>
            <a:endParaRPr lang="en-US" sz="1100" dirty="0"/>
          </a:p>
        </p:txBody>
      </p:sp>
      <p:sp>
        <p:nvSpPr>
          <p:cNvPr id="17" name="Shape 15"/>
          <p:cNvSpPr/>
          <p:nvPr/>
        </p:nvSpPr>
        <p:spPr>
          <a:xfrm>
            <a:off x="731520" y="3273552"/>
            <a:ext cx="210777" cy="64008"/>
          </a:xfrm>
          <a:prstGeom prst="rect">
            <a:avLst/>
          </a:prstGeom>
          <a:solidFill>
            <a:srgbClr val="6E7F32"/>
          </a:solidFill>
          <a:ln/>
        </p:spPr>
      </p:sp>
      <p:sp>
        <p:nvSpPr>
          <p:cNvPr id="18" name="Shape 16"/>
          <p:cNvSpPr/>
          <p:nvPr/>
        </p:nvSpPr>
        <p:spPr>
          <a:xfrm>
            <a:off x="4343400" y="1554480"/>
            <a:ext cx="3520440" cy="1874520"/>
          </a:xfrm>
          <a:prstGeom prst="rect">
            <a:avLst/>
          </a:prstGeom>
          <a:solidFill>
            <a:srgbClr val="FFFFFF"/>
          </a:solidFill>
          <a:ln w="12700">
            <a:solidFill>
              <a:srgbClr val="E2E6EA"/>
            </a:solidFill>
            <a:prstDash val="solid"/>
          </a:ln>
        </p:spPr>
      </p:sp>
      <p:sp>
        <p:nvSpPr>
          <p:cNvPr id="19" name="Shape 17"/>
          <p:cNvSpPr/>
          <p:nvPr/>
        </p:nvSpPr>
        <p:spPr>
          <a:xfrm>
            <a:off x="4343400" y="1554480"/>
            <a:ext cx="3520440" cy="384048"/>
          </a:xfrm>
          <a:prstGeom prst="rect">
            <a:avLst/>
          </a:prstGeom>
          <a:solidFill>
            <a:srgbClr val="16324B"/>
          </a:solidFill>
          <a:ln/>
        </p:spPr>
      </p:sp>
      <p:sp>
        <p:nvSpPr>
          <p:cNvPr id="20" name="Text 18"/>
          <p:cNvSpPr/>
          <p:nvPr/>
        </p:nvSpPr>
        <p:spPr>
          <a:xfrm>
            <a:off x="4480560" y="1554480"/>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Florida</a:t>
            </a:r>
            <a:endParaRPr lang="en-US" sz="1200" dirty="0"/>
          </a:p>
        </p:txBody>
      </p:sp>
      <p:sp>
        <p:nvSpPr>
          <p:cNvPr id="21" name="Text 19"/>
          <p:cNvSpPr/>
          <p:nvPr/>
        </p:nvSpPr>
        <p:spPr>
          <a:xfrm>
            <a:off x="4507992" y="2103120"/>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Florida Cancer Specialists</a:t>
            </a:r>
            <a:endParaRPr lang="en-US" sz="1050" dirty="0"/>
          </a:p>
        </p:txBody>
      </p:sp>
      <p:sp>
        <p:nvSpPr>
          <p:cNvPr id="22" name="Text 20"/>
          <p:cNvSpPr/>
          <p:nvPr/>
        </p:nvSpPr>
        <p:spPr>
          <a:xfrm>
            <a:off x="7086600" y="2103120"/>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197</a:t>
            </a:r>
            <a:endParaRPr lang="en-US" sz="1100" dirty="0"/>
          </a:p>
        </p:txBody>
      </p:sp>
      <p:sp>
        <p:nvSpPr>
          <p:cNvPr id="23" name="Shape 21"/>
          <p:cNvSpPr/>
          <p:nvPr/>
        </p:nvSpPr>
        <p:spPr>
          <a:xfrm>
            <a:off x="4507992" y="2395728"/>
            <a:ext cx="814178" cy="64008"/>
          </a:xfrm>
          <a:prstGeom prst="rect">
            <a:avLst/>
          </a:prstGeom>
          <a:solidFill>
            <a:srgbClr val="6E7F32"/>
          </a:solidFill>
          <a:ln/>
        </p:spPr>
      </p:sp>
      <p:sp>
        <p:nvSpPr>
          <p:cNvPr id="24" name="Text 22"/>
          <p:cNvSpPr/>
          <p:nvPr/>
        </p:nvSpPr>
        <p:spPr>
          <a:xfrm>
            <a:off x="4507992" y="254203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Baptist Health S. FL</a:t>
            </a:r>
            <a:endParaRPr lang="en-US" sz="1050" dirty="0"/>
          </a:p>
        </p:txBody>
      </p:sp>
      <p:sp>
        <p:nvSpPr>
          <p:cNvPr id="25" name="Text 23"/>
          <p:cNvSpPr/>
          <p:nvPr/>
        </p:nvSpPr>
        <p:spPr>
          <a:xfrm>
            <a:off x="7086600" y="254203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134</a:t>
            </a:r>
            <a:endParaRPr lang="en-US" sz="1100" dirty="0"/>
          </a:p>
        </p:txBody>
      </p:sp>
      <p:sp>
        <p:nvSpPr>
          <p:cNvPr id="26" name="Shape 24"/>
          <p:cNvSpPr/>
          <p:nvPr/>
        </p:nvSpPr>
        <p:spPr>
          <a:xfrm>
            <a:off x="4507992" y="2834640"/>
            <a:ext cx="553806" cy="64008"/>
          </a:xfrm>
          <a:prstGeom prst="rect">
            <a:avLst/>
          </a:prstGeom>
          <a:solidFill>
            <a:srgbClr val="6E7F32"/>
          </a:solidFill>
          <a:ln/>
        </p:spPr>
      </p:sp>
      <p:sp>
        <p:nvSpPr>
          <p:cNvPr id="27" name="Text 25"/>
          <p:cNvSpPr/>
          <p:nvPr/>
        </p:nvSpPr>
        <p:spPr>
          <a:xfrm>
            <a:off x="4507992" y="2980944"/>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Tampa General</a:t>
            </a:r>
            <a:endParaRPr lang="en-US" sz="1050" dirty="0"/>
          </a:p>
        </p:txBody>
      </p:sp>
      <p:sp>
        <p:nvSpPr>
          <p:cNvPr id="28" name="Text 26"/>
          <p:cNvSpPr/>
          <p:nvPr/>
        </p:nvSpPr>
        <p:spPr>
          <a:xfrm>
            <a:off x="7086600" y="2980944"/>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60</a:t>
            </a:r>
            <a:endParaRPr lang="en-US" sz="1100" dirty="0"/>
          </a:p>
        </p:txBody>
      </p:sp>
      <p:sp>
        <p:nvSpPr>
          <p:cNvPr id="29" name="Shape 27"/>
          <p:cNvSpPr/>
          <p:nvPr/>
        </p:nvSpPr>
        <p:spPr>
          <a:xfrm>
            <a:off x="4507992" y="3273552"/>
            <a:ext cx="247973" cy="64008"/>
          </a:xfrm>
          <a:prstGeom prst="rect">
            <a:avLst/>
          </a:prstGeom>
          <a:solidFill>
            <a:srgbClr val="6E7F32"/>
          </a:solidFill>
          <a:ln/>
        </p:spPr>
      </p:sp>
      <p:sp>
        <p:nvSpPr>
          <p:cNvPr id="30" name="Shape 28"/>
          <p:cNvSpPr/>
          <p:nvPr/>
        </p:nvSpPr>
        <p:spPr>
          <a:xfrm>
            <a:off x="8119872" y="1554480"/>
            <a:ext cx="3520440" cy="1874520"/>
          </a:xfrm>
          <a:prstGeom prst="rect">
            <a:avLst/>
          </a:prstGeom>
          <a:solidFill>
            <a:srgbClr val="FFFFFF"/>
          </a:solidFill>
          <a:ln w="12700">
            <a:solidFill>
              <a:srgbClr val="E2E6EA"/>
            </a:solidFill>
            <a:prstDash val="solid"/>
          </a:ln>
        </p:spPr>
      </p:sp>
      <p:sp>
        <p:nvSpPr>
          <p:cNvPr id="31" name="Shape 29"/>
          <p:cNvSpPr/>
          <p:nvPr/>
        </p:nvSpPr>
        <p:spPr>
          <a:xfrm>
            <a:off x="8119872" y="1554480"/>
            <a:ext cx="3520440" cy="384048"/>
          </a:xfrm>
          <a:prstGeom prst="rect">
            <a:avLst/>
          </a:prstGeom>
          <a:solidFill>
            <a:srgbClr val="16324B"/>
          </a:solidFill>
          <a:ln/>
        </p:spPr>
      </p:sp>
      <p:sp>
        <p:nvSpPr>
          <p:cNvPr id="32" name="Text 30"/>
          <p:cNvSpPr/>
          <p:nvPr/>
        </p:nvSpPr>
        <p:spPr>
          <a:xfrm>
            <a:off x="8257032" y="1554480"/>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Michigan</a:t>
            </a:r>
            <a:endParaRPr lang="en-US" sz="1200" dirty="0"/>
          </a:p>
        </p:txBody>
      </p:sp>
      <p:sp>
        <p:nvSpPr>
          <p:cNvPr id="33" name="Text 31"/>
          <p:cNvSpPr/>
          <p:nvPr/>
        </p:nvSpPr>
        <p:spPr>
          <a:xfrm>
            <a:off x="8284464" y="2103120"/>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University of Michigan</a:t>
            </a:r>
            <a:endParaRPr lang="en-US" sz="1050" dirty="0"/>
          </a:p>
        </p:txBody>
      </p:sp>
      <p:sp>
        <p:nvSpPr>
          <p:cNvPr id="34" name="Text 32"/>
          <p:cNvSpPr/>
          <p:nvPr/>
        </p:nvSpPr>
        <p:spPr>
          <a:xfrm>
            <a:off x="10863072" y="2103120"/>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531</a:t>
            </a:r>
            <a:endParaRPr lang="en-US" sz="1100" dirty="0"/>
          </a:p>
        </p:txBody>
      </p:sp>
      <p:sp>
        <p:nvSpPr>
          <p:cNvPr id="35" name="Shape 33"/>
          <p:cNvSpPr/>
          <p:nvPr/>
        </p:nvSpPr>
        <p:spPr>
          <a:xfrm>
            <a:off x="8284464" y="2395728"/>
            <a:ext cx="2194560" cy="64008"/>
          </a:xfrm>
          <a:prstGeom prst="rect">
            <a:avLst/>
          </a:prstGeom>
          <a:solidFill>
            <a:srgbClr val="6E7F32"/>
          </a:solidFill>
          <a:ln/>
        </p:spPr>
      </p:sp>
      <p:sp>
        <p:nvSpPr>
          <p:cNvPr id="36" name="Text 34"/>
          <p:cNvSpPr/>
          <p:nvPr/>
        </p:nvSpPr>
        <p:spPr>
          <a:xfrm>
            <a:off x="8284464" y="254203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Cancer &amp; Hem. of W. Michigan</a:t>
            </a:r>
            <a:endParaRPr lang="en-US" sz="1050" dirty="0"/>
          </a:p>
        </p:txBody>
      </p:sp>
      <p:sp>
        <p:nvSpPr>
          <p:cNvPr id="37" name="Text 35"/>
          <p:cNvSpPr/>
          <p:nvPr/>
        </p:nvSpPr>
        <p:spPr>
          <a:xfrm>
            <a:off x="10863072" y="254203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43</a:t>
            </a:r>
            <a:endParaRPr lang="en-US" sz="1100" dirty="0"/>
          </a:p>
        </p:txBody>
      </p:sp>
      <p:sp>
        <p:nvSpPr>
          <p:cNvPr id="38" name="Shape 36"/>
          <p:cNvSpPr/>
          <p:nvPr/>
        </p:nvSpPr>
        <p:spPr>
          <a:xfrm>
            <a:off x="8284464" y="2834640"/>
            <a:ext cx="177714" cy="64008"/>
          </a:xfrm>
          <a:prstGeom prst="rect">
            <a:avLst/>
          </a:prstGeom>
          <a:solidFill>
            <a:srgbClr val="6E7F32"/>
          </a:solidFill>
          <a:ln/>
        </p:spPr>
      </p:sp>
      <p:sp>
        <p:nvSpPr>
          <p:cNvPr id="39" name="Text 37"/>
          <p:cNvSpPr/>
          <p:nvPr/>
        </p:nvSpPr>
        <p:spPr>
          <a:xfrm>
            <a:off x="8284464" y="2980944"/>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Bronson</a:t>
            </a:r>
            <a:endParaRPr lang="en-US" sz="1050" dirty="0"/>
          </a:p>
        </p:txBody>
      </p:sp>
      <p:sp>
        <p:nvSpPr>
          <p:cNvPr id="40" name="Text 38"/>
          <p:cNvSpPr/>
          <p:nvPr/>
        </p:nvSpPr>
        <p:spPr>
          <a:xfrm>
            <a:off x="10863072" y="2980944"/>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34</a:t>
            </a:r>
            <a:endParaRPr lang="en-US" sz="1100" dirty="0"/>
          </a:p>
        </p:txBody>
      </p:sp>
      <p:sp>
        <p:nvSpPr>
          <p:cNvPr id="41" name="Shape 39"/>
          <p:cNvSpPr/>
          <p:nvPr/>
        </p:nvSpPr>
        <p:spPr>
          <a:xfrm>
            <a:off x="8284464" y="3273552"/>
            <a:ext cx="140518" cy="64008"/>
          </a:xfrm>
          <a:prstGeom prst="rect">
            <a:avLst/>
          </a:prstGeom>
          <a:solidFill>
            <a:srgbClr val="6E7F32"/>
          </a:solidFill>
          <a:ln/>
        </p:spPr>
      </p:sp>
      <p:sp>
        <p:nvSpPr>
          <p:cNvPr id="42" name="Shape 40"/>
          <p:cNvSpPr/>
          <p:nvPr/>
        </p:nvSpPr>
        <p:spPr>
          <a:xfrm>
            <a:off x="566928" y="3685032"/>
            <a:ext cx="3520440" cy="1874520"/>
          </a:xfrm>
          <a:prstGeom prst="rect">
            <a:avLst/>
          </a:prstGeom>
          <a:solidFill>
            <a:srgbClr val="FFFFFF"/>
          </a:solidFill>
          <a:ln w="12700">
            <a:solidFill>
              <a:srgbClr val="E2E6EA"/>
            </a:solidFill>
            <a:prstDash val="solid"/>
          </a:ln>
        </p:spPr>
      </p:sp>
      <p:sp>
        <p:nvSpPr>
          <p:cNvPr id="43" name="Shape 41"/>
          <p:cNvSpPr/>
          <p:nvPr/>
        </p:nvSpPr>
        <p:spPr>
          <a:xfrm>
            <a:off x="566928" y="3685032"/>
            <a:ext cx="3520440" cy="384048"/>
          </a:xfrm>
          <a:prstGeom prst="rect">
            <a:avLst/>
          </a:prstGeom>
          <a:solidFill>
            <a:srgbClr val="16324B"/>
          </a:solidFill>
          <a:ln/>
        </p:spPr>
      </p:sp>
      <p:sp>
        <p:nvSpPr>
          <p:cNvPr id="44" name="Text 42"/>
          <p:cNvSpPr/>
          <p:nvPr/>
        </p:nvSpPr>
        <p:spPr>
          <a:xfrm>
            <a:off x="704088" y="3685032"/>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Texas</a:t>
            </a:r>
            <a:endParaRPr lang="en-US" sz="1200" dirty="0"/>
          </a:p>
        </p:txBody>
      </p:sp>
      <p:sp>
        <p:nvSpPr>
          <p:cNvPr id="45" name="Text 43"/>
          <p:cNvSpPr/>
          <p:nvPr/>
        </p:nvSpPr>
        <p:spPr>
          <a:xfrm>
            <a:off x="731520" y="423367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Texas Oncology</a:t>
            </a:r>
            <a:endParaRPr lang="en-US" sz="1050" dirty="0"/>
          </a:p>
        </p:txBody>
      </p:sp>
      <p:sp>
        <p:nvSpPr>
          <p:cNvPr id="46" name="Text 44"/>
          <p:cNvSpPr/>
          <p:nvPr/>
        </p:nvSpPr>
        <p:spPr>
          <a:xfrm>
            <a:off x="3310128" y="423367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211</a:t>
            </a:r>
            <a:endParaRPr lang="en-US" sz="1100" dirty="0"/>
          </a:p>
        </p:txBody>
      </p:sp>
      <p:sp>
        <p:nvSpPr>
          <p:cNvPr id="47" name="Shape 45"/>
          <p:cNvSpPr/>
          <p:nvPr/>
        </p:nvSpPr>
        <p:spPr>
          <a:xfrm>
            <a:off x="731520" y="4526280"/>
            <a:ext cx="872038" cy="64008"/>
          </a:xfrm>
          <a:prstGeom prst="rect">
            <a:avLst/>
          </a:prstGeom>
          <a:solidFill>
            <a:srgbClr val="6E7F32"/>
          </a:solidFill>
          <a:ln/>
        </p:spPr>
      </p:sp>
      <p:sp>
        <p:nvSpPr>
          <p:cNvPr id="48" name="Text 46"/>
          <p:cNvSpPr/>
          <p:nvPr/>
        </p:nvSpPr>
        <p:spPr>
          <a:xfrm>
            <a:off x="731520" y="4718304"/>
            <a:ext cx="3191256" cy="640080"/>
          </a:xfrm>
          <a:prstGeom prst="rect">
            <a:avLst/>
          </a:prstGeom>
          <a:noFill/>
          <a:ln/>
        </p:spPr>
        <p:txBody>
          <a:bodyPr wrap="square" lIns="0" tIns="0" rIns="0" bIns="0" rtlCol="0" anchor="t"/>
          <a:lstStyle/>
          <a:p>
            <a:pPr indent="0" marL="0">
              <a:lnSpc>
                <a:spcPct val="105000"/>
              </a:lnSpc>
              <a:buNone/>
            </a:pPr>
            <a:r>
              <a:rPr lang="en-US" sz="950" i="1" dirty="0">
                <a:solidFill>
                  <a:srgbClr val="6B7280"/>
                </a:solidFill>
                <a:latin typeface="Arial" pitchFamily="34" charset="0"/>
                <a:ea typeface="Arial" pitchFamily="34" charset="-122"/>
                <a:cs typeface="Arial" pitchFamily="34" charset="-120"/>
              </a:rPr>
              <a:t>One account carries most of the state; the rest is a long tail of smaller sites.</a:t>
            </a:r>
            <a:endParaRPr lang="en-US" sz="950" dirty="0"/>
          </a:p>
        </p:txBody>
      </p:sp>
      <p:sp>
        <p:nvSpPr>
          <p:cNvPr id="49" name="Shape 47"/>
          <p:cNvSpPr/>
          <p:nvPr/>
        </p:nvSpPr>
        <p:spPr>
          <a:xfrm>
            <a:off x="4343400" y="3685032"/>
            <a:ext cx="3520440" cy="1874520"/>
          </a:xfrm>
          <a:prstGeom prst="rect">
            <a:avLst/>
          </a:prstGeom>
          <a:solidFill>
            <a:srgbClr val="FFFFFF"/>
          </a:solidFill>
          <a:ln w="12700">
            <a:solidFill>
              <a:srgbClr val="E2E6EA"/>
            </a:solidFill>
            <a:prstDash val="solid"/>
          </a:ln>
        </p:spPr>
      </p:sp>
      <p:sp>
        <p:nvSpPr>
          <p:cNvPr id="50" name="Shape 48"/>
          <p:cNvSpPr/>
          <p:nvPr/>
        </p:nvSpPr>
        <p:spPr>
          <a:xfrm>
            <a:off x="4343400" y="3685032"/>
            <a:ext cx="3520440" cy="384048"/>
          </a:xfrm>
          <a:prstGeom prst="rect">
            <a:avLst/>
          </a:prstGeom>
          <a:solidFill>
            <a:srgbClr val="16324B"/>
          </a:solidFill>
          <a:ln/>
        </p:spPr>
      </p:sp>
      <p:sp>
        <p:nvSpPr>
          <p:cNvPr id="51" name="Text 49"/>
          <p:cNvSpPr/>
          <p:nvPr/>
        </p:nvSpPr>
        <p:spPr>
          <a:xfrm>
            <a:off x="4480560" y="3685032"/>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Ohio</a:t>
            </a:r>
            <a:endParaRPr lang="en-US" sz="1200" dirty="0"/>
          </a:p>
        </p:txBody>
      </p:sp>
      <p:sp>
        <p:nvSpPr>
          <p:cNvPr id="52" name="Text 50"/>
          <p:cNvSpPr/>
          <p:nvPr/>
        </p:nvSpPr>
        <p:spPr>
          <a:xfrm>
            <a:off x="4507992" y="423367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Kettering Health</a:t>
            </a:r>
            <a:endParaRPr lang="en-US" sz="1050" dirty="0"/>
          </a:p>
        </p:txBody>
      </p:sp>
      <p:sp>
        <p:nvSpPr>
          <p:cNvPr id="53" name="Text 51"/>
          <p:cNvSpPr/>
          <p:nvPr/>
        </p:nvSpPr>
        <p:spPr>
          <a:xfrm>
            <a:off x="7086600" y="423367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85</a:t>
            </a:r>
            <a:endParaRPr lang="en-US" sz="1100" dirty="0"/>
          </a:p>
        </p:txBody>
      </p:sp>
      <p:sp>
        <p:nvSpPr>
          <p:cNvPr id="54" name="Shape 52"/>
          <p:cNvSpPr/>
          <p:nvPr/>
        </p:nvSpPr>
        <p:spPr>
          <a:xfrm>
            <a:off x="4507992" y="4526280"/>
            <a:ext cx="351295" cy="64008"/>
          </a:xfrm>
          <a:prstGeom prst="rect">
            <a:avLst/>
          </a:prstGeom>
          <a:solidFill>
            <a:srgbClr val="6E7F32"/>
          </a:solidFill>
          <a:ln/>
        </p:spPr>
      </p:sp>
      <p:sp>
        <p:nvSpPr>
          <p:cNvPr id="55" name="Text 53"/>
          <p:cNvSpPr/>
          <p:nvPr/>
        </p:nvSpPr>
        <p:spPr>
          <a:xfrm>
            <a:off x="4507992" y="4672584"/>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American Oncology Network</a:t>
            </a:r>
            <a:endParaRPr lang="en-US" sz="1050" dirty="0"/>
          </a:p>
        </p:txBody>
      </p:sp>
      <p:sp>
        <p:nvSpPr>
          <p:cNvPr id="56" name="Text 54"/>
          <p:cNvSpPr/>
          <p:nvPr/>
        </p:nvSpPr>
        <p:spPr>
          <a:xfrm>
            <a:off x="7086600" y="4672584"/>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45</a:t>
            </a:r>
            <a:endParaRPr lang="en-US" sz="1100" dirty="0"/>
          </a:p>
        </p:txBody>
      </p:sp>
      <p:sp>
        <p:nvSpPr>
          <p:cNvPr id="57" name="Shape 55"/>
          <p:cNvSpPr/>
          <p:nvPr/>
        </p:nvSpPr>
        <p:spPr>
          <a:xfrm>
            <a:off x="4507992" y="4965192"/>
            <a:ext cx="185980" cy="64008"/>
          </a:xfrm>
          <a:prstGeom prst="rect">
            <a:avLst/>
          </a:prstGeom>
          <a:solidFill>
            <a:srgbClr val="6E7F32"/>
          </a:solidFill>
          <a:ln/>
        </p:spPr>
      </p:sp>
      <p:sp>
        <p:nvSpPr>
          <p:cNvPr id="58" name="Text 56"/>
          <p:cNvSpPr/>
          <p:nvPr/>
        </p:nvSpPr>
        <p:spPr>
          <a:xfrm>
            <a:off x="4507992" y="5111496"/>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Premier Health</a:t>
            </a:r>
            <a:endParaRPr lang="en-US" sz="1050" dirty="0"/>
          </a:p>
        </p:txBody>
      </p:sp>
      <p:sp>
        <p:nvSpPr>
          <p:cNvPr id="59" name="Text 57"/>
          <p:cNvSpPr/>
          <p:nvPr/>
        </p:nvSpPr>
        <p:spPr>
          <a:xfrm>
            <a:off x="7086600" y="5111496"/>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41</a:t>
            </a:r>
            <a:endParaRPr lang="en-US" sz="1100" dirty="0"/>
          </a:p>
        </p:txBody>
      </p:sp>
      <p:sp>
        <p:nvSpPr>
          <p:cNvPr id="60" name="Shape 58"/>
          <p:cNvSpPr/>
          <p:nvPr/>
        </p:nvSpPr>
        <p:spPr>
          <a:xfrm>
            <a:off x="4507992" y="5404104"/>
            <a:ext cx="169448" cy="64008"/>
          </a:xfrm>
          <a:prstGeom prst="rect">
            <a:avLst/>
          </a:prstGeom>
          <a:solidFill>
            <a:srgbClr val="6E7F32"/>
          </a:solidFill>
          <a:ln/>
        </p:spPr>
      </p:sp>
      <p:sp>
        <p:nvSpPr>
          <p:cNvPr id="61" name="Shape 59"/>
          <p:cNvSpPr/>
          <p:nvPr/>
        </p:nvSpPr>
        <p:spPr>
          <a:xfrm>
            <a:off x="8119872" y="3685032"/>
            <a:ext cx="3520440" cy="1874520"/>
          </a:xfrm>
          <a:prstGeom prst="rect">
            <a:avLst/>
          </a:prstGeom>
          <a:solidFill>
            <a:srgbClr val="FFFFFF"/>
          </a:solidFill>
          <a:ln w="12700">
            <a:solidFill>
              <a:srgbClr val="E2E6EA"/>
            </a:solidFill>
            <a:prstDash val="solid"/>
          </a:ln>
        </p:spPr>
      </p:sp>
      <p:sp>
        <p:nvSpPr>
          <p:cNvPr id="62" name="Shape 60"/>
          <p:cNvSpPr/>
          <p:nvPr/>
        </p:nvSpPr>
        <p:spPr>
          <a:xfrm>
            <a:off x="8119872" y="3685032"/>
            <a:ext cx="3520440" cy="384048"/>
          </a:xfrm>
          <a:prstGeom prst="rect">
            <a:avLst/>
          </a:prstGeom>
          <a:solidFill>
            <a:srgbClr val="16324B"/>
          </a:solidFill>
          <a:ln/>
        </p:spPr>
      </p:sp>
      <p:sp>
        <p:nvSpPr>
          <p:cNvPr id="63" name="Text 61"/>
          <p:cNvSpPr/>
          <p:nvPr/>
        </p:nvSpPr>
        <p:spPr>
          <a:xfrm>
            <a:off x="8257032" y="3685032"/>
            <a:ext cx="2194560" cy="38404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Indiana</a:t>
            </a:r>
            <a:endParaRPr lang="en-US" sz="1200" dirty="0"/>
          </a:p>
        </p:txBody>
      </p:sp>
      <p:sp>
        <p:nvSpPr>
          <p:cNvPr id="64" name="Text 62"/>
          <p:cNvSpPr/>
          <p:nvPr/>
        </p:nvSpPr>
        <p:spPr>
          <a:xfrm>
            <a:off x="8284464" y="4233672"/>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Indiana University Health</a:t>
            </a:r>
            <a:endParaRPr lang="en-US" sz="1050" dirty="0"/>
          </a:p>
        </p:txBody>
      </p:sp>
      <p:sp>
        <p:nvSpPr>
          <p:cNvPr id="65" name="Text 63"/>
          <p:cNvSpPr/>
          <p:nvPr/>
        </p:nvSpPr>
        <p:spPr>
          <a:xfrm>
            <a:off x="10863072" y="4233672"/>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188</a:t>
            </a:r>
            <a:endParaRPr lang="en-US" sz="1100" dirty="0"/>
          </a:p>
        </p:txBody>
      </p:sp>
      <p:sp>
        <p:nvSpPr>
          <p:cNvPr id="66" name="Shape 64"/>
          <p:cNvSpPr/>
          <p:nvPr/>
        </p:nvSpPr>
        <p:spPr>
          <a:xfrm>
            <a:off x="8284464" y="4526280"/>
            <a:ext cx="776982" cy="64008"/>
          </a:xfrm>
          <a:prstGeom prst="rect">
            <a:avLst/>
          </a:prstGeom>
          <a:solidFill>
            <a:srgbClr val="6E7F32"/>
          </a:solidFill>
          <a:ln/>
        </p:spPr>
      </p:sp>
      <p:sp>
        <p:nvSpPr>
          <p:cNvPr id="67" name="Text 65"/>
          <p:cNvSpPr/>
          <p:nvPr/>
        </p:nvSpPr>
        <p:spPr>
          <a:xfrm>
            <a:off x="8284464" y="4672584"/>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Parkview Health</a:t>
            </a:r>
            <a:endParaRPr lang="en-US" sz="1050" dirty="0"/>
          </a:p>
        </p:txBody>
      </p:sp>
      <p:sp>
        <p:nvSpPr>
          <p:cNvPr id="68" name="Text 66"/>
          <p:cNvSpPr/>
          <p:nvPr/>
        </p:nvSpPr>
        <p:spPr>
          <a:xfrm>
            <a:off x="10863072" y="4672584"/>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55</a:t>
            </a:r>
            <a:endParaRPr lang="en-US" sz="1100" dirty="0"/>
          </a:p>
        </p:txBody>
      </p:sp>
      <p:sp>
        <p:nvSpPr>
          <p:cNvPr id="69" name="Shape 67"/>
          <p:cNvSpPr/>
          <p:nvPr/>
        </p:nvSpPr>
        <p:spPr>
          <a:xfrm>
            <a:off x="8284464" y="4965192"/>
            <a:ext cx="227308" cy="64008"/>
          </a:xfrm>
          <a:prstGeom prst="rect">
            <a:avLst/>
          </a:prstGeom>
          <a:solidFill>
            <a:srgbClr val="6E7F32"/>
          </a:solidFill>
          <a:ln/>
        </p:spPr>
      </p:sp>
      <p:sp>
        <p:nvSpPr>
          <p:cNvPr id="70" name="Text 68"/>
          <p:cNvSpPr/>
          <p:nvPr/>
        </p:nvSpPr>
        <p:spPr>
          <a:xfrm>
            <a:off x="8284464" y="5111496"/>
            <a:ext cx="2286000" cy="274320"/>
          </a:xfrm>
          <a:prstGeom prst="rect">
            <a:avLst/>
          </a:prstGeom>
          <a:noFill/>
          <a:ln/>
        </p:spPr>
        <p:txBody>
          <a:bodyPr wrap="square" lIns="0" tIns="0" rIns="0" bIns="0" rtlCol="0" anchor="ctr"/>
          <a:lstStyle/>
          <a:p>
            <a:pPr indent="0" marL="0">
              <a:buNone/>
            </a:pPr>
            <a:r>
              <a:rPr lang="en-US" sz="1050" dirty="0">
                <a:solidFill>
                  <a:srgbClr val="222831"/>
                </a:solidFill>
                <a:latin typeface="Arial" pitchFamily="34" charset="0"/>
                <a:ea typeface="Arial" pitchFamily="34" charset="-122"/>
                <a:cs typeface="Arial" pitchFamily="34" charset="-120"/>
              </a:rPr>
              <a:t>Goshen Health</a:t>
            </a:r>
            <a:endParaRPr lang="en-US" sz="1050" dirty="0"/>
          </a:p>
        </p:txBody>
      </p:sp>
      <p:sp>
        <p:nvSpPr>
          <p:cNvPr id="71" name="Text 69"/>
          <p:cNvSpPr/>
          <p:nvPr/>
        </p:nvSpPr>
        <p:spPr>
          <a:xfrm>
            <a:off x="10863072" y="5111496"/>
            <a:ext cx="640080" cy="274320"/>
          </a:xfrm>
          <a:prstGeom prst="rect">
            <a:avLst/>
          </a:prstGeom>
          <a:noFill/>
          <a:ln/>
        </p:spPr>
        <p:txBody>
          <a:bodyPr wrap="square" lIns="0" tIns="0" rIns="0" bIns="0" rtlCol="0" anchor="ctr"/>
          <a:lstStyle/>
          <a:p>
            <a:pPr algn="r" indent="0" marL="0">
              <a:buNone/>
            </a:pPr>
            <a:r>
              <a:rPr lang="en-US" sz="1100" b="1" dirty="0">
                <a:solidFill>
                  <a:srgbClr val="16324B"/>
                </a:solidFill>
                <a:latin typeface="Arial" pitchFamily="34" charset="0"/>
                <a:ea typeface="Arial" pitchFamily="34" charset="-122"/>
                <a:cs typeface="Arial" pitchFamily="34" charset="-120"/>
              </a:rPr>
              <a:t>33</a:t>
            </a:r>
            <a:endParaRPr lang="en-US" sz="1100" dirty="0"/>
          </a:p>
        </p:txBody>
      </p:sp>
      <p:sp>
        <p:nvSpPr>
          <p:cNvPr id="72" name="Shape 70"/>
          <p:cNvSpPr/>
          <p:nvPr/>
        </p:nvSpPr>
        <p:spPr>
          <a:xfrm>
            <a:off x="8284464" y="5404104"/>
            <a:ext cx="136385" cy="64008"/>
          </a:xfrm>
          <a:prstGeom prst="rect">
            <a:avLst/>
          </a:prstGeom>
          <a:solidFill>
            <a:srgbClr val="6E7F32"/>
          </a:solidFill>
          <a:ln/>
        </p:spPr>
      </p:sp>
      <p:sp>
        <p:nvSpPr>
          <p:cNvPr id="73" name="Text 71"/>
          <p:cNvSpPr/>
          <p:nvPr/>
        </p:nvSpPr>
        <p:spPr>
          <a:xfrm>
            <a:off x="566928" y="5806440"/>
            <a:ext cx="10972800" cy="457200"/>
          </a:xfrm>
          <a:prstGeom prst="rect">
            <a:avLst/>
          </a:prstGeom>
          <a:noFill/>
          <a:ln/>
        </p:spPr>
        <p:txBody>
          <a:bodyPr wrap="square" lIns="0" tIns="0" rIns="0" bIns="0" rtlCol="0" anchor="t"/>
          <a:lstStyle/>
          <a:p>
            <a:pPr algn="l" indent="0" marL="0">
              <a:lnSpc>
                <a:spcPct val="105000"/>
              </a:lnSpc>
              <a:buNone/>
            </a:pPr>
            <a:r>
              <a:rPr lang="en-US" sz="850" i="1" dirty="0">
                <a:solidFill>
                  <a:srgbClr val="6B7280"/>
                </a:solidFill>
                <a:latin typeface="Arial" pitchFamily="34" charset="0"/>
                <a:ea typeface="Arial" pitchFamily="34" charset="-122"/>
                <a:cs typeface="Arial" pitchFamily="34" charset="-120"/>
              </a:rPr>
              <a:t>Counts are unique patients, assigned to the site with the most claims. New York drops out and Texas enters once NYU Langone is counted as ATC. Six largest states by non-ATC volume; bars share one scale. Source: McKesson (Compile) medical claims (2021 to 2025).</a:t>
            </a:r>
            <a:endParaRPr lang="en-US" sz="850" dirty="0"/>
          </a:p>
        </p:txBody>
      </p:sp>
      <p:sp>
        <p:nvSpPr>
          <p:cNvPr id="74" name="Shape 72"/>
          <p:cNvSpPr/>
          <p:nvPr/>
        </p:nvSpPr>
        <p:spPr>
          <a:xfrm>
            <a:off x="0" y="6455664"/>
            <a:ext cx="12188952" cy="402336"/>
          </a:xfrm>
          <a:prstGeom prst="rect">
            <a:avLst/>
          </a:prstGeom>
          <a:solidFill>
            <a:srgbClr val="8DA640"/>
          </a:solidFill>
          <a:ln/>
        </p:spPr>
      </p:sp>
      <p:sp>
        <p:nvSpPr>
          <p:cNvPr id="75" name="Text 73"/>
          <p:cNvSpPr/>
          <p:nvPr/>
        </p:nvSpPr>
        <p:spPr>
          <a:xfrm>
            <a:off x="502920" y="6455664"/>
            <a:ext cx="7315200" cy="402336"/>
          </a:xfrm>
          <a:prstGeom prst="rect">
            <a:avLst/>
          </a:prstGeom>
          <a:noFill/>
          <a:ln/>
        </p:spPr>
        <p:txBody>
          <a:bodyPr wrap="square" lIns="0" tIns="0" rIns="0" bIns="0" rtlCol="0" anchor="ctr"/>
          <a:lstStyle/>
          <a:p>
            <a:pPr algn="l" indent="0" marL="0">
              <a:buNone/>
            </a:pPr>
            <a:r>
              <a:rPr lang="en-US" sz="800" dirty="0">
                <a:solidFill>
                  <a:srgbClr val="F2F5E9"/>
                </a:solidFill>
                <a:latin typeface="Arial" pitchFamily="34" charset="0"/>
                <a:ea typeface="Arial" pitchFamily="34" charset="-122"/>
                <a:cs typeface="Arial" pitchFamily="34" charset="-120"/>
              </a:rPr>
              <a:t>© 2026, Iovance Biotherapeutics, Inc.  |  Confidential for Internal Use Only</a:t>
            </a:r>
            <a:endParaRPr lang="en-US" sz="800" dirty="0"/>
          </a:p>
        </p:txBody>
      </p:sp>
      <p:sp>
        <p:nvSpPr>
          <p:cNvPr id="76" name="Text 74"/>
          <p:cNvSpPr/>
          <p:nvPr/>
        </p:nvSpPr>
        <p:spPr>
          <a:xfrm>
            <a:off x="10195560" y="6455664"/>
            <a:ext cx="1371600" cy="402336"/>
          </a:xfrm>
          <a:prstGeom prst="rect">
            <a:avLst/>
          </a:prstGeom>
          <a:noFill/>
          <a:ln/>
        </p:spPr>
        <p:txBody>
          <a:bodyPr wrap="square" lIns="0" tIns="0" rIns="0" bIns="0" rtlCol="0" anchor="ctr"/>
          <a:lstStyle/>
          <a:p>
            <a:pPr algn="r" indent="0" marL="0">
              <a:buNone/>
            </a:pPr>
            <a:r>
              <a:rPr lang="en-US" sz="1300" b="1" i="1" spc="100" kern="0" dirty="0">
                <a:solidFill>
                  <a:srgbClr val="FFFFFF"/>
                </a:solidFill>
                <a:latin typeface="Arial" pitchFamily="34" charset="0"/>
                <a:ea typeface="Arial" pitchFamily="34" charset="-122"/>
                <a:cs typeface="Arial" pitchFamily="34" charset="-120"/>
              </a:rPr>
              <a:t>IOVANCE</a:t>
            </a:r>
            <a:endParaRPr lang="en-US" sz="1300" dirty="0"/>
          </a:p>
        </p:txBody>
      </p:sp>
      <p:sp>
        <p:nvSpPr>
          <p:cNvPr id="77" name="Shape 75"/>
          <p:cNvSpPr/>
          <p:nvPr/>
        </p:nvSpPr>
        <p:spPr>
          <a:xfrm>
            <a:off x="11686032" y="6528816"/>
            <a:ext cx="256032" cy="256032"/>
          </a:xfrm>
          <a:prstGeom prst="ellipse">
            <a:avLst/>
          </a:prstGeom>
          <a:solidFill>
            <a:srgbClr val="16324B"/>
          </a:solidFill>
          <a:ln/>
        </p:spPr>
      </p:sp>
      <p:sp>
        <p:nvSpPr>
          <p:cNvPr id="78" name="Text 76"/>
          <p:cNvSpPr/>
          <p:nvPr/>
        </p:nvSpPr>
        <p:spPr>
          <a:xfrm>
            <a:off x="11686032" y="6528816"/>
            <a:ext cx="256032" cy="256032"/>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058400" cy="274320"/>
          </a:xfrm>
          <a:prstGeom prst="rect">
            <a:avLst/>
          </a:prstGeom>
          <a:noFill/>
          <a:ln/>
        </p:spPr>
        <p:txBody>
          <a:bodyPr wrap="square" lIns="0" tIns="0" rIns="0" bIns="0" rtlCol="0" anchor="ctr"/>
          <a:lstStyle/>
          <a:p>
            <a:pPr indent="0" marL="0">
              <a:buNone/>
            </a:pPr>
            <a:r>
              <a:rPr lang="en-US" sz="1100" b="1" spc="200" kern="0" dirty="0">
                <a:solidFill>
                  <a:srgbClr val="5C7FA6"/>
                </a:solidFill>
                <a:latin typeface="Arial" pitchFamily="34" charset="0"/>
                <a:ea typeface="Arial" pitchFamily="34" charset="-122"/>
                <a:cs typeface="Arial" pitchFamily="34" charset="-120"/>
              </a:rPr>
              <a:t>APPENDIX</a:t>
            </a:r>
            <a:endParaRPr lang="en-US" sz="1100" dirty="0"/>
          </a:p>
        </p:txBody>
      </p:sp>
      <p:sp>
        <p:nvSpPr>
          <p:cNvPr id="3" name="Shape 1"/>
          <p:cNvSpPr/>
          <p:nvPr/>
        </p:nvSpPr>
        <p:spPr>
          <a:xfrm>
            <a:off x="566928" y="658368"/>
            <a:ext cx="146304" cy="310896"/>
          </a:xfrm>
          <a:prstGeom prst="rect">
            <a:avLst/>
          </a:prstGeom>
          <a:solidFill>
            <a:srgbClr val="7C8A3B"/>
          </a:solidFill>
          <a:ln/>
        </p:spPr>
      </p:sp>
      <p:sp>
        <p:nvSpPr>
          <p:cNvPr id="4" name="Shape 2"/>
          <p:cNvSpPr/>
          <p:nvPr/>
        </p:nvSpPr>
        <p:spPr>
          <a:xfrm>
            <a:off x="11475720" y="658368"/>
            <a:ext cx="146304" cy="310896"/>
          </a:xfrm>
          <a:prstGeom prst="rect">
            <a:avLst/>
          </a:prstGeom>
          <a:solidFill>
            <a:srgbClr val="7C8A3B"/>
          </a:solidFill>
          <a:ln/>
        </p:spPr>
      </p:sp>
      <p:sp>
        <p:nvSpPr>
          <p:cNvPr id="5" name="Text 3"/>
          <p:cNvSpPr/>
          <p:nvPr/>
        </p:nvSpPr>
        <p:spPr>
          <a:xfrm>
            <a:off x="868680" y="566928"/>
            <a:ext cx="10515600" cy="548640"/>
          </a:xfrm>
          <a:prstGeom prst="rect">
            <a:avLst/>
          </a:prstGeom>
          <a:noFill/>
          <a:ln/>
        </p:spPr>
        <p:txBody>
          <a:bodyPr wrap="square" lIns="0" tIns="0" rIns="0" bIns="0" rtlCol="0" anchor="t"/>
          <a:lstStyle/>
          <a:p>
            <a:pPr algn="l" indent="0" marL="0">
              <a:lnSpc>
                <a:spcPct val="98000"/>
              </a:lnSpc>
              <a:buNone/>
            </a:pPr>
            <a:r>
              <a:rPr lang="en-US" sz="2600" b="1" dirty="0">
                <a:solidFill>
                  <a:srgbClr val="16324B"/>
                </a:solidFill>
                <a:latin typeface="Arial" pitchFamily="34" charset="0"/>
                <a:ea typeface="Arial" pitchFamily="34" charset="-122"/>
                <a:cs typeface="Arial" pitchFamily="34" charset="-120"/>
              </a:rPr>
              <a:t>Additional analyses available on request</a:t>
            </a:r>
            <a:endParaRPr lang="en-US" sz="2600" dirty="0"/>
          </a:p>
        </p:txBody>
      </p:sp>
      <p:sp>
        <p:nvSpPr>
          <p:cNvPr id="6" name="Shape 4"/>
          <p:cNvSpPr/>
          <p:nvPr/>
        </p:nvSpPr>
        <p:spPr>
          <a:xfrm>
            <a:off x="640080" y="1883664"/>
            <a:ext cx="91440" cy="91440"/>
          </a:xfrm>
          <a:prstGeom prst="ellipse">
            <a:avLst/>
          </a:prstGeom>
          <a:solidFill>
            <a:srgbClr val="6E7F32"/>
          </a:solidFill>
          <a:ln/>
        </p:spPr>
      </p:sp>
      <p:sp>
        <p:nvSpPr>
          <p:cNvPr id="7" name="Text 5"/>
          <p:cNvSpPr/>
          <p:nvPr/>
        </p:nvSpPr>
        <p:spPr>
          <a:xfrm>
            <a:off x="896112" y="1783080"/>
            <a:ext cx="4846320" cy="1005840"/>
          </a:xfrm>
          <a:prstGeom prst="rect">
            <a:avLst/>
          </a:prstGeom>
          <a:noFill/>
          <a:ln/>
        </p:spPr>
        <p:txBody>
          <a:bodyPr wrap="square" lIns="0" tIns="0" rIns="0" bIns="0" rtlCol="0" anchor="t"/>
          <a:lstStyle/>
          <a:p>
            <a:pPr indent="0" marL="0">
              <a:lnSpc>
                <a:spcPct val="105000"/>
              </a:lnSpc>
              <a:buNone/>
            </a:pPr>
            <a:r>
              <a:rPr lang="en-US" sz="1300" b="1" dirty="0">
                <a:solidFill>
                  <a:srgbClr val="16324B"/>
                </a:solidFill>
                <a:latin typeface="Arial" pitchFamily="34" charset="0"/>
                <a:ea typeface="Arial" pitchFamily="34" charset="-122"/>
                <a:cs typeface="Arial" pitchFamily="34" charset="-120"/>
              </a:rPr>
              <a:t>Bridge to the prior analysis: </a:t>
            </a:r>
            <a:pPr indent="0" marL="0">
              <a:lnSpc>
                <a:spcPct val="105000"/>
              </a:lnSpc>
              <a:buNone/>
            </a:pPr>
            <a:r>
              <a:rPr lang="en-US" sz="1300" dirty="0">
                <a:solidFill>
                  <a:srgbClr val="222831"/>
                </a:solidFill>
                <a:latin typeface="Arial" pitchFamily="34" charset="0"/>
                <a:ea typeface="Arial" pitchFamily="34" charset="-122"/>
                <a:cs typeface="Arial" pitchFamily="34" charset="-120"/>
              </a:rPr>
              <a:t>Primary-only counting reproduces the earlier 20%; adding satellites and roster fixes brings the same patients to 46% (next slide).</a:t>
            </a:r>
            <a:endParaRPr lang="en-US" sz="1300" dirty="0"/>
          </a:p>
        </p:txBody>
      </p:sp>
      <p:sp>
        <p:nvSpPr>
          <p:cNvPr id="8" name="Shape 6"/>
          <p:cNvSpPr/>
          <p:nvPr/>
        </p:nvSpPr>
        <p:spPr>
          <a:xfrm>
            <a:off x="640080" y="3026664"/>
            <a:ext cx="91440" cy="91440"/>
          </a:xfrm>
          <a:prstGeom prst="ellipse">
            <a:avLst/>
          </a:prstGeom>
          <a:solidFill>
            <a:srgbClr val="6E7F32"/>
          </a:solidFill>
          <a:ln/>
        </p:spPr>
      </p:sp>
      <p:sp>
        <p:nvSpPr>
          <p:cNvPr id="9" name="Text 7"/>
          <p:cNvSpPr/>
          <p:nvPr/>
        </p:nvSpPr>
        <p:spPr>
          <a:xfrm>
            <a:off x="896112" y="2926080"/>
            <a:ext cx="4846320" cy="1005840"/>
          </a:xfrm>
          <a:prstGeom prst="rect">
            <a:avLst/>
          </a:prstGeom>
          <a:noFill/>
          <a:ln/>
        </p:spPr>
        <p:txBody>
          <a:bodyPr wrap="square" lIns="0" tIns="0" rIns="0" bIns="0" rtlCol="0" anchor="t"/>
          <a:lstStyle/>
          <a:p>
            <a:pPr indent="0" marL="0">
              <a:lnSpc>
                <a:spcPct val="105000"/>
              </a:lnSpc>
              <a:buNone/>
            </a:pPr>
            <a:r>
              <a:rPr lang="en-US" sz="1300" b="1" dirty="0">
                <a:solidFill>
                  <a:srgbClr val="16324B"/>
                </a:solidFill>
                <a:latin typeface="Arial" pitchFamily="34" charset="0"/>
                <a:ea typeface="Arial" pitchFamily="34" charset="-122"/>
                <a:cs typeface="Arial" pitchFamily="34" charset="-120"/>
              </a:rPr>
              <a:t>Satellite reach: </a:t>
            </a:r>
            <a:pPr indent="0" marL="0">
              <a:lnSpc>
                <a:spcPct val="105000"/>
              </a:lnSpc>
              <a:buNone/>
            </a:pPr>
            <a:r>
              <a:rPr lang="en-US" sz="1300" dirty="0">
                <a:solidFill>
                  <a:srgbClr val="222831"/>
                </a:solidFill>
                <a:latin typeface="Arial" pitchFamily="34" charset="0"/>
                <a:ea typeface="Arial" pitchFamily="34" charset="-122"/>
                <a:cs typeface="Arial" pitchFamily="34" charset="-120"/>
              </a:rPr>
              <a:t>57% of ATC patients are reached at sites other than the primary authorized location.</a:t>
            </a:r>
            <a:endParaRPr lang="en-US" sz="1300" dirty="0"/>
          </a:p>
        </p:txBody>
      </p:sp>
      <p:sp>
        <p:nvSpPr>
          <p:cNvPr id="10" name="Shape 8"/>
          <p:cNvSpPr/>
          <p:nvPr/>
        </p:nvSpPr>
        <p:spPr>
          <a:xfrm>
            <a:off x="640080" y="4169664"/>
            <a:ext cx="91440" cy="91440"/>
          </a:xfrm>
          <a:prstGeom prst="ellipse">
            <a:avLst/>
          </a:prstGeom>
          <a:solidFill>
            <a:srgbClr val="6E7F32"/>
          </a:solidFill>
          <a:ln/>
        </p:spPr>
      </p:sp>
      <p:sp>
        <p:nvSpPr>
          <p:cNvPr id="11" name="Text 9"/>
          <p:cNvSpPr/>
          <p:nvPr/>
        </p:nvSpPr>
        <p:spPr>
          <a:xfrm>
            <a:off x="896112" y="4069080"/>
            <a:ext cx="4846320" cy="1005840"/>
          </a:xfrm>
          <a:prstGeom prst="rect">
            <a:avLst/>
          </a:prstGeom>
          <a:noFill/>
          <a:ln/>
        </p:spPr>
        <p:txBody>
          <a:bodyPr wrap="square" lIns="0" tIns="0" rIns="0" bIns="0" rtlCol="0" anchor="t"/>
          <a:lstStyle/>
          <a:p>
            <a:pPr indent="0" marL="0">
              <a:lnSpc>
                <a:spcPct val="105000"/>
              </a:lnSpc>
              <a:buNone/>
            </a:pPr>
            <a:r>
              <a:rPr lang="en-US" sz="1300" b="1" dirty="0">
                <a:solidFill>
                  <a:srgbClr val="16324B"/>
                </a:solidFill>
                <a:latin typeface="Arial" pitchFamily="34" charset="0"/>
                <a:ea typeface="Arial" pitchFamily="34" charset="-122"/>
                <a:cs typeface="Arial" pitchFamily="34" charset="-120"/>
              </a:rPr>
              <a:t>Year-over-year ATC share: </a:t>
            </a:r>
            <a:pPr indent="0" marL="0">
              <a:lnSpc>
                <a:spcPct val="105000"/>
              </a:lnSpc>
              <a:buNone/>
            </a:pPr>
            <a:r>
              <a:rPr lang="en-US" sz="1300" dirty="0">
                <a:solidFill>
                  <a:srgbClr val="222831"/>
                </a:solidFill>
                <a:latin typeface="Arial" pitchFamily="34" charset="0"/>
                <a:ea typeface="Arial" pitchFamily="34" charset="-122"/>
                <a:cs typeface="Arial" pitchFamily="34" charset="-120"/>
              </a:rPr>
              <a:t>About 43% in 2021 rising to about 50% in 2025, based on where patients began treatment.</a:t>
            </a:r>
            <a:endParaRPr lang="en-US" sz="1300" dirty="0"/>
          </a:p>
        </p:txBody>
      </p:sp>
      <p:sp>
        <p:nvSpPr>
          <p:cNvPr id="12" name="Shape 10"/>
          <p:cNvSpPr/>
          <p:nvPr/>
        </p:nvSpPr>
        <p:spPr>
          <a:xfrm>
            <a:off x="6309360" y="1883664"/>
            <a:ext cx="91440" cy="91440"/>
          </a:xfrm>
          <a:prstGeom prst="ellipse">
            <a:avLst/>
          </a:prstGeom>
          <a:solidFill>
            <a:srgbClr val="6E7F32"/>
          </a:solidFill>
          <a:ln/>
        </p:spPr>
      </p:sp>
      <p:sp>
        <p:nvSpPr>
          <p:cNvPr id="13" name="Text 11"/>
          <p:cNvSpPr/>
          <p:nvPr/>
        </p:nvSpPr>
        <p:spPr>
          <a:xfrm>
            <a:off x="6565392" y="1783080"/>
            <a:ext cx="4846320" cy="1005840"/>
          </a:xfrm>
          <a:prstGeom prst="rect">
            <a:avLst/>
          </a:prstGeom>
          <a:noFill/>
          <a:ln/>
        </p:spPr>
        <p:txBody>
          <a:bodyPr wrap="square" lIns="0" tIns="0" rIns="0" bIns="0" rtlCol="0" anchor="t"/>
          <a:lstStyle/>
          <a:p>
            <a:pPr indent="0" marL="0">
              <a:lnSpc>
                <a:spcPct val="105000"/>
              </a:lnSpc>
              <a:buNone/>
            </a:pPr>
            <a:r>
              <a:rPr lang="en-US" sz="1300" b="1" dirty="0">
                <a:solidFill>
                  <a:srgbClr val="16324B"/>
                </a:solidFill>
                <a:latin typeface="Arial" pitchFamily="34" charset="0"/>
                <a:ea typeface="Arial" pitchFamily="34" charset="-122"/>
                <a:cs typeface="Arial" pitchFamily="34" charset="-120"/>
              </a:rPr>
              <a:t>Regional penetration: </a:t>
            </a:r>
            <a:pPr indent="0" marL="0">
              <a:lnSpc>
                <a:spcPct val="105000"/>
              </a:lnSpc>
              <a:buNone/>
            </a:pPr>
            <a:r>
              <a:rPr lang="en-US" sz="1300" dirty="0">
                <a:solidFill>
                  <a:srgbClr val="222831"/>
                </a:solidFill>
                <a:latin typeface="Arial" pitchFamily="34" charset="0"/>
                <a:ea typeface="Arial" pitchFamily="34" charset="-122"/>
                <a:cs typeface="Arial" pitchFamily="34" charset="-120"/>
              </a:rPr>
              <a:t>ATC reach spans 55% in the Northeast down to 26% in the Central region.</a:t>
            </a:r>
            <a:endParaRPr lang="en-US" sz="1300" dirty="0"/>
          </a:p>
        </p:txBody>
      </p:sp>
      <p:sp>
        <p:nvSpPr>
          <p:cNvPr id="14" name="Shape 12"/>
          <p:cNvSpPr/>
          <p:nvPr/>
        </p:nvSpPr>
        <p:spPr>
          <a:xfrm>
            <a:off x="6309360" y="3026664"/>
            <a:ext cx="91440" cy="91440"/>
          </a:xfrm>
          <a:prstGeom prst="ellipse">
            <a:avLst/>
          </a:prstGeom>
          <a:solidFill>
            <a:srgbClr val="6E7F32"/>
          </a:solidFill>
          <a:ln/>
        </p:spPr>
      </p:sp>
      <p:sp>
        <p:nvSpPr>
          <p:cNvPr id="15" name="Text 13"/>
          <p:cNvSpPr/>
          <p:nvPr/>
        </p:nvSpPr>
        <p:spPr>
          <a:xfrm>
            <a:off x="6565392" y="2926080"/>
            <a:ext cx="4846320" cy="1005840"/>
          </a:xfrm>
          <a:prstGeom prst="rect">
            <a:avLst/>
          </a:prstGeom>
          <a:noFill/>
          <a:ln/>
        </p:spPr>
        <p:txBody>
          <a:bodyPr wrap="square" lIns="0" tIns="0" rIns="0" bIns="0" rtlCol="0" anchor="t"/>
          <a:lstStyle/>
          <a:p>
            <a:pPr indent="0" marL="0">
              <a:lnSpc>
                <a:spcPct val="105000"/>
              </a:lnSpc>
              <a:buNone/>
            </a:pPr>
            <a:r>
              <a:rPr lang="en-US" sz="1300" b="1" dirty="0">
                <a:solidFill>
                  <a:srgbClr val="16324B"/>
                </a:solidFill>
                <a:latin typeface="Arial" pitchFamily="34" charset="0"/>
                <a:ea typeface="Arial" pitchFamily="34" charset="-122"/>
                <a:cs typeface="Arial" pitchFamily="34" charset="-120"/>
              </a:rPr>
              <a:t>Sample patient journeys: </a:t>
            </a:r>
            <a:pPr indent="0" marL="0">
              <a:lnSpc>
                <a:spcPct val="105000"/>
              </a:lnSpc>
              <a:buNone/>
            </a:pPr>
            <a:r>
              <a:rPr lang="en-US" sz="1300" dirty="0">
                <a:solidFill>
                  <a:srgbClr val="222831"/>
                </a:solidFill>
                <a:latin typeface="Arial" pitchFamily="34" charset="0"/>
                <a:ea typeface="Arial" pitchFamily="34" charset="-122"/>
                <a:cs typeface="Arial" pitchFamily="34" charset="-120"/>
              </a:rPr>
              <a:t>Individual patient traces showing the path from non-ATC into an ATC.</a:t>
            </a:r>
            <a:endParaRPr lang="en-US" sz="1300" dirty="0"/>
          </a:p>
        </p:txBody>
      </p:sp>
      <p:sp>
        <p:nvSpPr>
          <p:cNvPr id="16" name="Shape 14"/>
          <p:cNvSpPr/>
          <p:nvPr/>
        </p:nvSpPr>
        <p:spPr>
          <a:xfrm>
            <a:off x="6309360" y="4169664"/>
            <a:ext cx="91440" cy="91440"/>
          </a:xfrm>
          <a:prstGeom prst="ellipse">
            <a:avLst/>
          </a:prstGeom>
          <a:solidFill>
            <a:srgbClr val="6E7F32"/>
          </a:solidFill>
          <a:ln/>
        </p:spPr>
      </p:sp>
      <p:sp>
        <p:nvSpPr>
          <p:cNvPr id="17" name="Text 15"/>
          <p:cNvSpPr/>
          <p:nvPr/>
        </p:nvSpPr>
        <p:spPr>
          <a:xfrm>
            <a:off x="6565392" y="4069080"/>
            <a:ext cx="4846320" cy="1005840"/>
          </a:xfrm>
          <a:prstGeom prst="rect">
            <a:avLst/>
          </a:prstGeom>
          <a:noFill/>
          <a:ln/>
        </p:spPr>
        <p:txBody>
          <a:bodyPr wrap="square" lIns="0" tIns="0" rIns="0" bIns="0" rtlCol="0" anchor="t"/>
          <a:lstStyle/>
          <a:p>
            <a:pPr indent="0" marL="0">
              <a:lnSpc>
                <a:spcPct val="105000"/>
              </a:lnSpc>
              <a:buNone/>
            </a:pPr>
            <a:r>
              <a:rPr lang="en-US" sz="1300" b="1" dirty="0">
                <a:solidFill>
                  <a:srgbClr val="16324B"/>
                </a:solidFill>
                <a:latin typeface="Arial" pitchFamily="34" charset="0"/>
                <a:ea typeface="Arial" pitchFamily="34" charset="-122"/>
                <a:cs typeface="Arial" pitchFamily="34" charset="-120"/>
              </a:rPr>
              <a:t>Diagnosis-to-treatment timing: </a:t>
            </a:r>
            <a:pPr indent="0" marL="0">
              <a:lnSpc>
                <a:spcPct val="105000"/>
              </a:lnSpc>
              <a:buNone/>
            </a:pPr>
            <a:r>
              <a:rPr lang="en-US" sz="1300" dirty="0">
                <a:solidFill>
                  <a:srgbClr val="222831"/>
                </a:solidFill>
                <a:latin typeface="Arial" pitchFamily="34" charset="0"/>
                <a:ea typeface="Arial" pitchFamily="34" charset="-122"/>
                <a:cs typeface="Arial" pitchFamily="34" charset="-120"/>
              </a:rPr>
              <a:t>About a 40-day median, similar across both settings.</a:t>
            </a:r>
            <a:endParaRPr lang="en-US" sz="1300" dirty="0"/>
          </a:p>
        </p:txBody>
      </p:sp>
      <p:sp>
        <p:nvSpPr>
          <p:cNvPr id="18" name="Text 16"/>
          <p:cNvSpPr/>
          <p:nvPr/>
        </p:nvSpPr>
        <p:spPr>
          <a:xfrm>
            <a:off x="566928" y="5806440"/>
            <a:ext cx="10972800" cy="457200"/>
          </a:xfrm>
          <a:prstGeom prst="rect">
            <a:avLst/>
          </a:prstGeom>
          <a:noFill/>
          <a:ln/>
        </p:spPr>
        <p:txBody>
          <a:bodyPr wrap="square" lIns="0" tIns="0" rIns="0" bIns="0" rtlCol="0" anchor="t"/>
          <a:lstStyle/>
          <a:p>
            <a:pPr algn="l" indent="0" marL="0">
              <a:lnSpc>
                <a:spcPct val="105000"/>
              </a:lnSpc>
              <a:buNone/>
            </a:pPr>
            <a:r>
              <a:rPr lang="en-US" sz="850" i="1" dirty="0">
                <a:solidFill>
                  <a:srgbClr val="6B7280"/>
                </a:solidFill>
                <a:latin typeface="Arial" pitchFamily="34" charset="0"/>
                <a:ea typeface="Arial" pitchFamily="34" charset="-122"/>
                <a:cs typeface="Arial" pitchFamily="34" charset="-120"/>
              </a:rPr>
              <a:t>Source: McKesson (Compile) medical claims (2021 to 2025). Metastatic melanoma patients treated with Yervoy or Opdualag.</a:t>
            </a:r>
            <a:endParaRPr lang="en-US" sz="850" dirty="0"/>
          </a:p>
        </p:txBody>
      </p:sp>
      <p:sp>
        <p:nvSpPr>
          <p:cNvPr id="19" name="Shape 17"/>
          <p:cNvSpPr/>
          <p:nvPr/>
        </p:nvSpPr>
        <p:spPr>
          <a:xfrm>
            <a:off x="0" y="6455664"/>
            <a:ext cx="12188952" cy="402336"/>
          </a:xfrm>
          <a:prstGeom prst="rect">
            <a:avLst/>
          </a:prstGeom>
          <a:solidFill>
            <a:srgbClr val="8DA640"/>
          </a:solidFill>
          <a:ln/>
        </p:spPr>
      </p:sp>
      <p:sp>
        <p:nvSpPr>
          <p:cNvPr id="20" name="Text 18"/>
          <p:cNvSpPr/>
          <p:nvPr/>
        </p:nvSpPr>
        <p:spPr>
          <a:xfrm>
            <a:off x="502920" y="6455664"/>
            <a:ext cx="7315200" cy="402336"/>
          </a:xfrm>
          <a:prstGeom prst="rect">
            <a:avLst/>
          </a:prstGeom>
          <a:noFill/>
          <a:ln/>
        </p:spPr>
        <p:txBody>
          <a:bodyPr wrap="square" lIns="0" tIns="0" rIns="0" bIns="0" rtlCol="0" anchor="ctr"/>
          <a:lstStyle/>
          <a:p>
            <a:pPr algn="l" indent="0" marL="0">
              <a:buNone/>
            </a:pPr>
            <a:r>
              <a:rPr lang="en-US" sz="800" dirty="0">
                <a:solidFill>
                  <a:srgbClr val="F2F5E9"/>
                </a:solidFill>
                <a:latin typeface="Arial" pitchFamily="34" charset="0"/>
                <a:ea typeface="Arial" pitchFamily="34" charset="-122"/>
                <a:cs typeface="Arial" pitchFamily="34" charset="-120"/>
              </a:rPr>
              <a:t>© 2026, Iovance Biotherapeutics, Inc.  |  Confidential for Internal Use Only</a:t>
            </a:r>
            <a:endParaRPr lang="en-US" sz="800" dirty="0"/>
          </a:p>
        </p:txBody>
      </p:sp>
      <p:sp>
        <p:nvSpPr>
          <p:cNvPr id="21" name="Text 19"/>
          <p:cNvSpPr/>
          <p:nvPr/>
        </p:nvSpPr>
        <p:spPr>
          <a:xfrm>
            <a:off x="10195560" y="6455664"/>
            <a:ext cx="1371600" cy="402336"/>
          </a:xfrm>
          <a:prstGeom prst="rect">
            <a:avLst/>
          </a:prstGeom>
          <a:noFill/>
          <a:ln/>
        </p:spPr>
        <p:txBody>
          <a:bodyPr wrap="square" lIns="0" tIns="0" rIns="0" bIns="0" rtlCol="0" anchor="ctr"/>
          <a:lstStyle/>
          <a:p>
            <a:pPr algn="r" indent="0" marL="0">
              <a:buNone/>
            </a:pPr>
            <a:r>
              <a:rPr lang="en-US" sz="1300" b="1" i="1" spc="100" kern="0" dirty="0">
                <a:solidFill>
                  <a:srgbClr val="FFFFFF"/>
                </a:solidFill>
                <a:latin typeface="Arial" pitchFamily="34" charset="0"/>
                <a:ea typeface="Arial" pitchFamily="34" charset="-122"/>
                <a:cs typeface="Arial" pitchFamily="34" charset="-120"/>
              </a:rPr>
              <a:t>IOVANCE</a:t>
            </a:r>
            <a:endParaRPr lang="en-US" sz="1300" dirty="0"/>
          </a:p>
        </p:txBody>
      </p:sp>
      <p:sp>
        <p:nvSpPr>
          <p:cNvPr id="22" name="Shape 20"/>
          <p:cNvSpPr/>
          <p:nvPr/>
        </p:nvSpPr>
        <p:spPr>
          <a:xfrm>
            <a:off x="11686032" y="6528816"/>
            <a:ext cx="256032" cy="256032"/>
          </a:xfrm>
          <a:prstGeom prst="ellipse">
            <a:avLst/>
          </a:prstGeom>
          <a:solidFill>
            <a:srgbClr val="16324B"/>
          </a:solidFill>
          <a:ln/>
        </p:spPr>
      </p:sp>
      <p:sp>
        <p:nvSpPr>
          <p:cNvPr id="23" name="Text 21"/>
          <p:cNvSpPr/>
          <p:nvPr/>
        </p:nvSpPr>
        <p:spPr>
          <a:xfrm>
            <a:off x="11686032" y="6528816"/>
            <a:ext cx="256032" cy="256032"/>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0058400" cy="274320"/>
          </a:xfrm>
          <a:prstGeom prst="rect">
            <a:avLst/>
          </a:prstGeom>
          <a:noFill/>
          <a:ln/>
        </p:spPr>
        <p:txBody>
          <a:bodyPr wrap="square" lIns="0" tIns="0" rIns="0" bIns="0" rtlCol="0" anchor="ctr"/>
          <a:lstStyle/>
          <a:p>
            <a:pPr indent="0" marL="0">
              <a:buNone/>
            </a:pPr>
            <a:r>
              <a:rPr lang="en-US" sz="1100" b="1" spc="200" kern="0" dirty="0">
                <a:solidFill>
                  <a:srgbClr val="5C7FA6"/>
                </a:solidFill>
                <a:latin typeface="Arial" pitchFamily="34" charset="0"/>
                <a:ea typeface="Arial" pitchFamily="34" charset="-122"/>
                <a:cs typeface="Arial" pitchFamily="34" charset="-120"/>
              </a:rPr>
              <a:t>APPENDIX · BRIDGE TO THE PRIOR ANALYSIS</a:t>
            </a:r>
            <a:endParaRPr lang="en-US" sz="1100" dirty="0"/>
          </a:p>
        </p:txBody>
      </p:sp>
      <p:sp>
        <p:nvSpPr>
          <p:cNvPr id="3" name="Shape 1"/>
          <p:cNvSpPr/>
          <p:nvPr/>
        </p:nvSpPr>
        <p:spPr>
          <a:xfrm>
            <a:off x="566928" y="658368"/>
            <a:ext cx="146304" cy="310896"/>
          </a:xfrm>
          <a:prstGeom prst="rect">
            <a:avLst/>
          </a:prstGeom>
          <a:solidFill>
            <a:srgbClr val="7C8A3B"/>
          </a:solidFill>
          <a:ln/>
        </p:spPr>
      </p:sp>
      <p:sp>
        <p:nvSpPr>
          <p:cNvPr id="4" name="Shape 2"/>
          <p:cNvSpPr/>
          <p:nvPr/>
        </p:nvSpPr>
        <p:spPr>
          <a:xfrm>
            <a:off x="11475720" y="658368"/>
            <a:ext cx="146304" cy="310896"/>
          </a:xfrm>
          <a:prstGeom prst="rect">
            <a:avLst/>
          </a:prstGeom>
          <a:solidFill>
            <a:srgbClr val="7C8A3B"/>
          </a:solidFill>
          <a:ln/>
        </p:spPr>
      </p:sp>
      <p:sp>
        <p:nvSpPr>
          <p:cNvPr id="5" name="Text 3"/>
          <p:cNvSpPr/>
          <p:nvPr/>
        </p:nvSpPr>
        <p:spPr>
          <a:xfrm>
            <a:off x="868680" y="566928"/>
            <a:ext cx="10515600" cy="914400"/>
          </a:xfrm>
          <a:prstGeom prst="rect">
            <a:avLst/>
          </a:prstGeom>
          <a:noFill/>
          <a:ln/>
        </p:spPr>
        <p:txBody>
          <a:bodyPr wrap="square" lIns="0" tIns="0" rIns="0" bIns="0" rtlCol="0" anchor="t"/>
          <a:lstStyle/>
          <a:p>
            <a:pPr algn="l" indent="0" marL="0">
              <a:lnSpc>
                <a:spcPct val="98000"/>
              </a:lnSpc>
              <a:buNone/>
            </a:pPr>
            <a:r>
              <a:rPr lang="en-US" sz="2600" b="1" dirty="0">
                <a:solidFill>
                  <a:srgbClr val="16324B"/>
                </a:solidFill>
                <a:latin typeface="Arial" pitchFamily="34" charset="0"/>
                <a:ea typeface="Arial" pitchFamily="34" charset="-122"/>
                <a:cs typeface="Arial" pitchFamily="34" charset="-120"/>
              </a:rPr>
              <a:t>Counting the whole network brings the same patients from about 20% to 46%</a:t>
            </a:r>
            <a:endParaRPr lang="en-US" sz="2600" dirty="0"/>
          </a:p>
        </p:txBody>
      </p:sp>
      <p:sp>
        <p:nvSpPr>
          <p:cNvPr id="6" name="Shape 4"/>
          <p:cNvSpPr/>
          <p:nvPr/>
        </p:nvSpPr>
        <p:spPr>
          <a:xfrm>
            <a:off x="914400" y="4480560"/>
            <a:ext cx="5212080" cy="0"/>
          </a:xfrm>
          <a:prstGeom prst="line">
            <a:avLst/>
          </a:prstGeom>
          <a:noFill/>
          <a:ln w="12700">
            <a:solidFill>
              <a:srgbClr val="D7DBE0"/>
            </a:solidFill>
            <a:prstDash val="solid"/>
          </a:ln>
        </p:spPr>
      </p:sp>
      <p:sp>
        <p:nvSpPr>
          <p:cNvPr id="7" name="Shape 5"/>
          <p:cNvSpPr/>
          <p:nvPr/>
        </p:nvSpPr>
        <p:spPr>
          <a:xfrm>
            <a:off x="1165860" y="3474720"/>
            <a:ext cx="868680" cy="1005840"/>
          </a:xfrm>
          <a:prstGeom prst="rect">
            <a:avLst/>
          </a:prstGeom>
          <a:solidFill>
            <a:srgbClr val="16324B"/>
          </a:solidFill>
          <a:ln/>
        </p:spPr>
      </p:sp>
      <p:sp>
        <p:nvSpPr>
          <p:cNvPr id="8" name="Shape 6"/>
          <p:cNvSpPr/>
          <p:nvPr/>
        </p:nvSpPr>
        <p:spPr>
          <a:xfrm>
            <a:off x="2446020" y="2333092"/>
            <a:ext cx="868680" cy="1141628"/>
          </a:xfrm>
          <a:prstGeom prst="rect">
            <a:avLst/>
          </a:prstGeom>
          <a:solidFill>
            <a:srgbClr val="D96E1E"/>
          </a:solidFill>
          <a:ln/>
        </p:spPr>
      </p:sp>
      <p:sp>
        <p:nvSpPr>
          <p:cNvPr id="9" name="Shape 7"/>
          <p:cNvSpPr/>
          <p:nvPr/>
        </p:nvSpPr>
        <p:spPr>
          <a:xfrm>
            <a:off x="3726180" y="2157070"/>
            <a:ext cx="868680" cy="176022"/>
          </a:xfrm>
          <a:prstGeom prst="rect">
            <a:avLst/>
          </a:prstGeom>
          <a:solidFill>
            <a:srgbClr val="6E7F32"/>
          </a:solidFill>
          <a:ln/>
        </p:spPr>
      </p:sp>
      <p:sp>
        <p:nvSpPr>
          <p:cNvPr id="10" name="Shape 8"/>
          <p:cNvSpPr/>
          <p:nvPr/>
        </p:nvSpPr>
        <p:spPr>
          <a:xfrm>
            <a:off x="5006340" y="2157070"/>
            <a:ext cx="868680" cy="2323490"/>
          </a:xfrm>
          <a:prstGeom prst="rect">
            <a:avLst/>
          </a:prstGeom>
          <a:solidFill>
            <a:srgbClr val="6E7F32"/>
          </a:solidFill>
          <a:ln/>
        </p:spPr>
      </p:sp>
      <p:sp>
        <p:nvSpPr>
          <p:cNvPr id="11" name="Shape 9"/>
          <p:cNvSpPr/>
          <p:nvPr/>
        </p:nvSpPr>
        <p:spPr>
          <a:xfrm>
            <a:off x="2034540" y="3474720"/>
            <a:ext cx="411480" cy="0"/>
          </a:xfrm>
          <a:prstGeom prst="line">
            <a:avLst/>
          </a:prstGeom>
          <a:noFill/>
          <a:ln w="9525">
            <a:solidFill>
              <a:srgbClr val="6B7280"/>
            </a:solidFill>
            <a:prstDash val="dash"/>
          </a:ln>
        </p:spPr>
      </p:sp>
      <p:sp>
        <p:nvSpPr>
          <p:cNvPr id="12" name="Shape 10"/>
          <p:cNvSpPr/>
          <p:nvPr/>
        </p:nvSpPr>
        <p:spPr>
          <a:xfrm>
            <a:off x="3314700" y="2333092"/>
            <a:ext cx="411480" cy="0"/>
          </a:xfrm>
          <a:prstGeom prst="line">
            <a:avLst/>
          </a:prstGeom>
          <a:noFill/>
          <a:ln w="9525">
            <a:solidFill>
              <a:srgbClr val="6B7280"/>
            </a:solidFill>
            <a:prstDash val="dash"/>
          </a:ln>
        </p:spPr>
      </p:sp>
      <p:sp>
        <p:nvSpPr>
          <p:cNvPr id="13" name="Shape 11"/>
          <p:cNvSpPr/>
          <p:nvPr/>
        </p:nvSpPr>
        <p:spPr>
          <a:xfrm>
            <a:off x="4594860" y="2157070"/>
            <a:ext cx="411480" cy="0"/>
          </a:xfrm>
          <a:prstGeom prst="line">
            <a:avLst/>
          </a:prstGeom>
          <a:noFill/>
          <a:ln w="9525">
            <a:solidFill>
              <a:srgbClr val="6B7280"/>
            </a:solidFill>
            <a:prstDash val="dash"/>
          </a:ln>
        </p:spPr>
      </p:sp>
      <p:sp>
        <p:nvSpPr>
          <p:cNvPr id="14" name="Text 12"/>
          <p:cNvSpPr/>
          <p:nvPr/>
        </p:nvSpPr>
        <p:spPr>
          <a:xfrm>
            <a:off x="1051560" y="3182112"/>
            <a:ext cx="1097280" cy="274320"/>
          </a:xfrm>
          <a:prstGeom prst="rect">
            <a:avLst/>
          </a:prstGeom>
          <a:noFill/>
          <a:ln/>
        </p:spPr>
        <p:txBody>
          <a:bodyPr wrap="square" lIns="0" tIns="0" rIns="0" bIns="0" rtlCol="0" anchor="ctr"/>
          <a:lstStyle/>
          <a:p>
            <a:pPr algn="ctr" indent="0" marL="0">
              <a:buNone/>
            </a:pPr>
            <a:r>
              <a:rPr lang="en-US" sz="1200" b="1" dirty="0">
                <a:solidFill>
                  <a:srgbClr val="16324B"/>
                </a:solidFill>
                <a:latin typeface="Arial" pitchFamily="34" charset="0"/>
                <a:ea typeface="Arial" pitchFamily="34" charset="-122"/>
                <a:cs typeface="Arial" pitchFamily="34" charset="-120"/>
              </a:rPr>
              <a:t>20.0%</a:t>
            </a:r>
            <a:endParaRPr lang="en-US" sz="1200" dirty="0"/>
          </a:p>
        </p:txBody>
      </p:sp>
      <p:sp>
        <p:nvSpPr>
          <p:cNvPr id="15" name="Text 13"/>
          <p:cNvSpPr/>
          <p:nvPr/>
        </p:nvSpPr>
        <p:spPr>
          <a:xfrm>
            <a:off x="2194560" y="2040484"/>
            <a:ext cx="1371600" cy="274320"/>
          </a:xfrm>
          <a:prstGeom prst="rect">
            <a:avLst/>
          </a:prstGeom>
          <a:noFill/>
          <a:ln/>
        </p:spPr>
        <p:txBody>
          <a:bodyPr wrap="square" lIns="0" tIns="0" rIns="0" bIns="0" rtlCol="0" anchor="ctr"/>
          <a:lstStyle/>
          <a:p>
            <a:pPr algn="ctr" indent="0" marL="0">
              <a:buNone/>
            </a:pPr>
            <a:r>
              <a:rPr lang="en-US" sz="1200" b="1" dirty="0">
                <a:solidFill>
                  <a:srgbClr val="D96E1E"/>
                </a:solidFill>
                <a:latin typeface="Arial" pitchFamily="34" charset="0"/>
                <a:ea typeface="Arial" pitchFamily="34" charset="-122"/>
                <a:cs typeface="Arial" pitchFamily="34" charset="-120"/>
              </a:rPr>
              <a:t>+22.7 pts</a:t>
            </a:r>
            <a:endParaRPr lang="en-US" sz="1200" dirty="0"/>
          </a:p>
        </p:txBody>
      </p:sp>
      <p:sp>
        <p:nvSpPr>
          <p:cNvPr id="16" name="Text 14"/>
          <p:cNvSpPr/>
          <p:nvPr/>
        </p:nvSpPr>
        <p:spPr>
          <a:xfrm>
            <a:off x="3246120" y="1699870"/>
            <a:ext cx="1280160" cy="274320"/>
          </a:xfrm>
          <a:prstGeom prst="rect">
            <a:avLst/>
          </a:prstGeom>
          <a:noFill/>
          <a:ln/>
        </p:spPr>
        <p:txBody>
          <a:bodyPr wrap="square" lIns="0" tIns="0" rIns="0" bIns="0" rtlCol="0" anchor="ctr"/>
          <a:lstStyle/>
          <a:p>
            <a:pPr algn="ctr" indent="0" marL="0">
              <a:buNone/>
            </a:pPr>
            <a:r>
              <a:rPr lang="en-US" sz="1100" b="1" dirty="0">
                <a:solidFill>
                  <a:srgbClr val="6E7F32"/>
                </a:solidFill>
                <a:latin typeface="Arial" pitchFamily="34" charset="0"/>
                <a:ea typeface="Arial" pitchFamily="34" charset="-122"/>
                <a:cs typeface="Arial" pitchFamily="34" charset="-120"/>
              </a:rPr>
              <a:t>+3.5 pts</a:t>
            </a:r>
            <a:endParaRPr lang="en-US" sz="1100" dirty="0"/>
          </a:p>
        </p:txBody>
      </p:sp>
      <p:sp>
        <p:nvSpPr>
          <p:cNvPr id="17" name="Text 15"/>
          <p:cNvSpPr/>
          <p:nvPr/>
        </p:nvSpPr>
        <p:spPr>
          <a:xfrm>
            <a:off x="4892040" y="1864462"/>
            <a:ext cx="1097280" cy="274320"/>
          </a:xfrm>
          <a:prstGeom prst="rect">
            <a:avLst/>
          </a:prstGeom>
          <a:noFill/>
          <a:ln/>
        </p:spPr>
        <p:txBody>
          <a:bodyPr wrap="square" lIns="0" tIns="0" rIns="0" bIns="0" rtlCol="0" anchor="ctr"/>
          <a:lstStyle/>
          <a:p>
            <a:pPr algn="ctr" indent="0" marL="0">
              <a:buNone/>
            </a:pPr>
            <a:r>
              <a:rPr lang="en-US" sz="1300" b="1" dirty="0">
                <a:solidFill>
                  <a:srgbClr val="6E7F32"/>
                </a:solidFill>
                <a:latin typeface="Arial" pitchFamily="34" charset="0"/>
                <a:ea typeface="Arial" pitchFamily="34" charset="-122"/>
                <a:cs typeface="Arial" pitchFamily="34" charset="-120"/>
              </a:rPr>
              <a:t>46.2%</a:t>
            </a:r>
            <a:endParaRPr lang="en-US" sz="1300" dirty="0"/>
          </a:p>
        </p:txBody>
      </p:sp>
      <p:sp>
        <p:nvSpPr>
          <p:cNvPr id="18" name="Text 16"/>
          <p:cNvSpPr/>
          <p:nvPr/>
        </p:nvSpPr>
        <p:spPr>
          <a:xfrm>
            <a:off x="914400" y="4572000"/>
            <a:ext cx="1371600" cy="411480"/>
          </a:xfrm>
          <a:prstGeom prst="rect">
            <a:avLst/>
          </a:prstGeom>
          <a:noFill/>
          <a:ln/>
        </p:spPr>
        <p:txBody>
          <a:bodyPr wrap="square" lIns="0" tIns="0" rIns="0" bIns="0" rtlCol="0" anchor="t"/>
          <a:lstStyle/>
          <a:p>
            <a:pPr algn="ctr" indent="0" marL="0">
              <a:lnSpc>
                <a:spcPct val="95000"/>
              </a:lnSpc>
              <a:buNone/>
            </a:pPr>
            <a:r>
              <a:rPr lang="en-US" sz="1000" dirty="0">
                <a:solidFill>
                  <a:srgbClr val="222831"/>
                </a:solidFill>
                <a:latin typeface="Arial" pitchFamily="34" charset="0"/>
                <a:ea typeface="Arial" pitchFamily="34" charset="-122"/>
                <a:cs typeface="Arial" pitchFamily="34" charset="-120"/>
              </a:rPr>
              <a:t>Primary</a:t>
            </a:r>
            <a:endParaRPr lang="en-US" sz="1000" dirty="0"/>
          </a:p>
          <a:p>
            <a:pPr algn="ctr" indent="0" marL="0">
              <a:lnSpc>
                <a:spcPct val="95000"/>
              </a:lnSpc>
              <a:buNone/>
            </a:pPr>
            <a:r>
              <a:rPr lang="en-US" sz="1000" dirty="0">
                <a:solidFill>
                  <a:srgbClr val="222831"/>
                </a:solidFill>
                <a:latin typeface="Arial" pitchFamily="34" charset="0"/>
                <a:ea typeface="Arial" pitchFamily="34" charset="-122"/>
                <a:cs typeface="Arial" pitchFamily="34" charset="-120"/>
              </a:rPr>
              <a:t>locations only</a:t>
            </a:r>
            <a:endParaRPr lang="en-US" sz="1000" dirty="0"/>
          </a:p>
        </p:txBody>
      </p:sp>
      <p:sp>
        <p:nvSpPr>
          <p:cNvPr id="19" name="Text 17"/>
          <p:cNvSpPr/>
          <p:nvPr/>
        </p:nvSpPr>
        <p:spPr>
          <a:xfrm>
            <a:off x="2194560" y="4572000"/>
            <a:ext cx="1371600" cy="411480"/>
          </a:xfrm>
          <a:prstGeom prst="rect">
            <a:avLst/>
          </a:prstGeom>
          <a:noFill/>
          <a:ln/>
        </p:spPr>
        <p:txBody>
          <a:bodyPr wrap="square" lIns="0" tIns="0" rIns="0" bIns="0" rtlCol="0" anchor="t"/>
          <a:lstStyle/>
          <a:p>
            <a:pPr algn="ctr" indent="0" marL="0">
              <a:lnSpc>
                <a:spcPct val="95000"/>
              </a:lnSpc>
              <a:buNone/>
            </a:pPr>
            <a:r>
              <a:rPr lang="en-US" sz="1000" dirty="0">
                <a:solidFill>
                  <a:srgbClr val="222831"/>
                </a:solidFill>
                <a:latin typeface="Arial" pitchFamily="34" charset="0"/>
                <a:ea typeface="Arial" pitchFamily="34" charset="-122"/>
                <a:cs typeface="Arial" pitchFamily="34" charset="-120"/>
              </a:rPr>
              <a:t>+ satellite</a:t>
            </a:r>
            <a:endParaRPr lang="en-US" sz="1000" dirty="0"/>
          </a:p>
          <a:p>
            <a:pPr algn="ctr" indent="0" marL="0">
              <a:lnSpc>
                <a:spcPct val="95000"/>
              </a:lnSpc>
              <a:buNone/>
            </a:pPr>
            <a:r>
              <a:rPr lang="en-US" sz="1000" dirty="0">
                <a:solidFill>
                  <a:srgbClr val="222831"/>
                </a:solidFill>
                <a:latin typeface="Arial" pitchFamily="34" charset="0"/>
                <a:ea typeface="Arial" pitchFamily="34" charset="-122"/>
                <a:cs typeface="Arial" pitchFamily="34" charset="-120"/>
              </a:rPr>
              <a:t>sites</a:t>
            </a:r>
            <a:endParaRPr lang="en-US" sz="1000" dirty="0"/>
          </a:p>
        </p:txBody>
      </p:sp>
      <p:sp>
        <p:nvSpPr>
          <p:cNvPr id="20" name="Text 18"/>
          <p:cNvSpPr/>
          <p:nvPr/>
        </p:nvSpPr>
        <p:spPr>
          <a:xfrm>
            <a:off x="3474720" y="4572000"/>
            <a:ext cx="1371600" cy="411480"/>
          </a:xfrm>
          <a:prstGeom prst="rect">
            <a:avLst/>
          </a:prstGeom>
          <a:noFill/>
          <a:ln/>
        </p:spPr>
        <p:txBody>
          <a:bodyPr wrap="square" lIns="0" tIns="0" rIns="0" bIns="0" rtlCol="0" anchor="t"/>
          <a:lstStyle/>
          <a:p>
            <a:pPr algn="ctr" indent="0" marL="0">
              <a:lnSpc>
                <a:spcPct val="95000"/>
              </a:lnSpc>
              <a:buNone/>
            </a:pPr>
            <a:r>
              <a:rPr lang="en-US" sz="1000" dirty="0">
                <a:solidFill>
                  <a:srgbClr val="222831"/>
                </a:solidFill>
                <a:latin typeface="Arial" pitchFamily="34" charset="0"/>
                <a:ea typeface="Arial" pitchFamily="34" charset="-122"/>
                <a:cs typeface="Arial" pitchFamily="34" charset="-120"/>
              </a:rPr>
              <a:t>+ roster</a:t>
            </a:r>
            <a:endParaRPr lang="en-US" sz="1000" dirty="0"/>
          </a:p>
          <a:p>
            <a:pPr algn="ctr" indent="0" marL="0">
              <a:lnSpc>
                <a:spcPct val="95000"/>
              </a:lnSpc>
              <a:buNone/>
            </a:pPr>
            <a:r>
              <a:rPr lang="en-US" sz="1000" dirty="0">
                <a:solidFill>
                  <a:srgbClr val="222831"/>
                </a:solidFill>
                <a:latin typeface="Arial" pitchFamily="34" charset="0"/>
                <a:ea typeface="Arial" pitchFamily="34" charset="-122"/>
                <a:cs typeface="Arial" pitchFamily="34" charset="-120"/>
              </a:rPr>
              <a:t>updates</a:t>
            </a:r>
            <a:endParaRPr lang="en-US" sz="1000" dirty="0"/>
          </a:p>
        </p:txBody>
      </p:sp>
      <p:sp>
        <p:nvSpPr>
          <p:cNvPr id="21" name="Text 19"/>
          <p:cNvSpPr/>
          <p:nvPr/>
        </p:nvSpPr>
        <p:spPr>
          <a:xfrm>
            <a:off x="4754880" y="4572000"/>
            <a:ext cx="1371600" cy="411480"/>
          </a:xfrm>
          <a:prstGeom prst="rect">
            <a:avLst/>
          </a:prstGeom>
          <a:noFill/>
          <a:ln/>
        </p:spPr>
        <p:txBody>
          <a:bodyPr wrap="square" lIns="0" tIns="0" rIns="0" bIns="0" rtlCol="0" anchor="t"/>
          <a:lstStyle/>
          <a:p>
            <a:pPr algn="ctr" indent="0" marL="0">
              <a:lnSpc>
                <a:spcPct val="95000"/>
              </a:lnSpc>
              <a:buNone/>
            </a:pPr>
            <a:r>
              <a:rPr lang="en-US" sz="1000" dirty="0">
                <a:solidFill>
                  <a:srgbClr val="222831"/>
                </a:solidFill>
                <a:latin typeface="Arial" pitchFamily="34" charset="0"/>
                <a:ea typeface="Arial" pitchFamily="34" charset="-122"/>
                <a:cs typeface="Arial" pitchFamily="34" charset="-120"/>
              </a:rPr>
              <a:t>Current</a:t>
            </a:r>
            <a:endParaRPr lang="en-US" sz="1000" dirty="0"/>
          </a:p>
          <a:p>
            <a:pPr algn="ctr" indent="0" marL="0">
              <a:lnSpc>
                <a:spcPct val="95000"/>
              </a:lnSpc>
              <a:buNone/>
            </a:pPr>
            <a:r>
              <a:rPr lang="en-US" sz="1000" dirty="0">
                <a:solidFill>
                  <a:srgbClr val="222831"/>
                </a:solidFill>
                <a:latin typeface="Arial" pitchFamily="34" charset="0"/>
                <a:ea typeface="Arial" pitchFamily="34" charset="-122"/>
                <a:cs typeface="Arial" pitchFamily="34" charset="-120"/>
              </a:rPr>
              <a:t>count</a:t>
            </a:r>
            <a:endParaRPr lang="en-US" sz="1000" dirty="0"/>
          </a:p>
        </p:txBody>
      </p:sp>
      <p:sp>
        <p:nvSpPr>
          <p:cNvPr id="22" name="Shape 20"/>
          <p:cNvSpPr/>
          <p:nvPr/>
        </p:nvSpPr>
        <p:spPr>
          <a:xfrm>
            <a:off x="6858000" y="1920240"/>
            <a:ext cx="4754880" cy="2926080"/>
          </a:xfrm>
          <a:prstGeom prst="rect">
            <a:avLst/>
          </a:prstGeom>
          <a:solidFill>
            <a:srgbClr val="F6F8EF"/>
          </a:solidFill>
          <a:ln w="12700">
            <a:solidFill>
              <a:srgbClr val="6E7F32"/>
            </a:solidFill>
            <a:prstDash val="solid"/>
          </a:ln>
        </p:spPr>
      </p:sp>
      <p:sp>
        <p:nvSpPr>
          <p:cNvPr id="23" name="Text 21"/>
          <p:cNvSpPr/>
          <p:nvPr/>
        </p:nvSpPr>
        <p:spPr>
          <a:xfrm>
            <a:off x="7132320" y="2103120"/>
            <a:ext cx="4206240" cy="365760"/>
          </a:xfrm>
          <a:prstGeom prst="rect">
            <a:avLst/>
          </a:prstGeom>
          <a:noFill/>
          <a:ln/>
        </p:spPr>
        <p:txBody>
          <a:bodyPr wrap="square" lIns="0" tIns="0" rIns="0" bIns="0" rtlCol="0" anchor="ctr"/>
          <a:lstStyle/>
          <a:p>
            <a:pPr indent="0" marL="0">
              <a:buNone/>
            </a:pPr>
            <a:r>
              <a:rPr lang="en-US" sz="1500" b="1" dirty="0">
                <a:solidFill>
                  <a:srgbClr val="16324B"/>
                </a:solidFill>
                <a:latin typeface="Arial" pitchFamily="34" charset="0"/>
                <a:ea typeface="Arial" pitchFamily="34" charset="-122"/>
                <a:cs typeface="Arial" pitchFamily="34" charset="-120"/>
              </a:rPr>
              <a:t>The effort within a network</a:t>
            </a:r>
            <a:endParaRPr lang="en-US" sz="1500" dirty="0"/>
          </a:p>
        </p:txBody>
      </p:sp>
      <p:sp>
        <p:nvSpPr>
          <p:cNvPr id="24" name="Text 22"/>
          <p:cNvSpPr/>
          <p:nvPr/>
        </p:nvSpPr>
        <p:spPr>
          <a:xfrm>
            <a:off x="7132320" y="2606040"/>
            <a:ext cx="4206240" cy="548640"/>
          </a:xfrm>
          <a:prstGeom prst="rect">
            <a:avLst/>
          </a:prstGeom>
          <a:noFill/>
          <a:ln/>
        </p:spPr>
        <p:txBody>
          <a:bodyPr wrap="square" lIns="0" tIns="0" rIns="0" bIns="0" rtlCol="0" anchor="ctr"/>
          <a:lstStyle/>
          <a:p>
            <a:pPr indent="0" marL="0">
              <a:buNone/>
            </a:pPr>
            <a:r>
              <a:rPr lang="en-US" sz="3000" b="1" dirty="0">
                <a:solidFill>
                  <a:srgbClr val="16324B"/>
                </a:solidFill>
                <a:latin typeface="Arial" pitchFamily="34" charset="0"/>
                <a:ea typeface="Arial" pitchFamily="34" charset="-122"/>
                <a:cs typeface="Arial" pitchFamily="34" charset="-120"/>
              </a:rPr>
              <a:t>43%</a:t>
            </a:r>
            <a:pPr indent="0" marL="0">
              <a:buNone/>
            </a:pPr>
            <a:r>
              <a:rPr lang="en-US" sz="1200" dirty="0">
                <a:solidFill>
                  <a:srgbClr val="222831"/>
                </a:solidFill>
                <a:latin typeface="Arial" pitchFamily="34" charset="0"/>
                <a:ea typeface="Arial" pitchFamily="34" charset="-122"/>
                <a:cs typeface="Arial" pitchFamily="34" charset="-120"/>
              </a:rPr>
              <a:t>  at the primary authorized location</a:t>
            </a:r>
            <a:endParaRPr lang="en-US" sz="3000" dirty="0"/>
          </a:p>
        </p:txBody>
      </p:sp>
      <p:sp>
        <p:nvSpPr>
          <p:cNvPr id="25" name="Text 23"/>
          <p:cNvSpPr/>
          <p:nvPr/>
        </p:nvSpPr>
        <p:spPr>
          <a:xfrm>
            <a:off x="7132320" y="3200400"/>
            <a:ext cx="4206240" cy="548640"/>
          </a:xfrm>
          <a:prstGeom prst="rect">
            <a:avLst/>
          </a:prstGeom>
          <a:noFill/>
          <a:ln/>
        </p:spPr>
        <p:txBody>
          <a:bodyPr wrap="square" lIns="0" tIns="0" rIns="0" bIns="0" rtlCol="0" anchor="ctr"/>
          <a:lstStyle/>
          <a:p>
            <a:pPr indent="0" marL="0">
              <a:buNone/>
            </a:pPr>
            <a:r>
              <a:rPr lang="en-US" sz="3000" b="1" dirty="0">
                <a:solidFill>
                  <a:srgbClr val="6E7F32"/>
                </a:solidFill>
                <a:latin typeface="Arial" pitchFamily="34" charset="0"/>
                <a:ea typeface="Arial" pitchFamily="34" charset="-122"/>
                <a:cs typeface="Arial" pitchFamily="34" charset="-120"/>
              </a:rPr>
              <a:t>57%</a:t>
            </a:r>
            <a:pPr indent="0" marL="0">
              <a:buNone/>
            </a:pPr>
            <a:r>
              <a:rPr lang="en-US" sz="1200" dirty="0">
                <a:solidFill>
                  <a:srgbClr val="222831"/>
                </a:solidFill>
                <a:latin typeface="Arial" pitchFamily="34" charset="0"/>
                <a:ea typeface="Arial" pitchFamily="34" charset="-122"/>
                <a:cs typeface="Arial" pitchFamily="34" charset="-120"/>
              </a:rPr>
              <a:t>  at other sites under the same parent</a:t>
            </a:r>
            <a:endParaRPr lang="en-US" sz="3000" dirty="0"/>
          </a:p>
        </p:txBody>
      </p:sp>
      <p:sp>
        <p:nvSpPr>
          <p:cNvPr id="26" name="Text 24"/>
          <p:cNvSpPr/>
          <p:nvPr/>
        </p:nvSpPr>
        <p:spPr>
          <a:xfrm>
            <a:off x="7132320" y="3840480"/>
            <a:ext cx="4206240" cy="914400"/>
          </a:xfrm>
          <a:prstGeom prst="rect">
            <a:avLst/>
          </a:prstGeom>
          <a:noFill/>
          <a:ln/>
        </p:spPr>
        <p:txBody>
          <a:bodyPr wrap="square" lIns="0" tIns="0" rIns="0" bIns="0" rtlCol="0" anchor="t"/>
          <a:lstStyle/>
          <a:p>
            <a:pPr indent="0" marL="0">
              <a:lnSpc>
                <a:spcPct val="105000"/>
              </a:lnSpc>
              <a:buNone/>
            </a:pPr>
            <a:r>
              <a:rPr lang="en-US" sz="1200" dirty="0">
                <a:solidFill>
                  <a:srgbClr val="222831"/>
                </a:solidFill>
                <a:latin typeface="Arial" pitchFamily="34" charset="0"/>
                <a:ea typeface="Arial" pitchFamily="34" charset="-122"/>
                <a:cs typeface="Arial" pitchFamily="34" charset="-120"/>
              </a:rPr>
              <a:t>Most ATC patients are not at the flagship, so covering the full potential inside a network takes the whole network, not only the named center.</a:t>
            </a:r>
            <a:endParaRPr lang="en-US" sz="1200" dirty="0"/>
          </a:p>
        </p:txBody>
      </p:sp>
      <p:sp>
        <p:nvSpPr>
          <p:cNvPr id="27" name="Shape 25"/>
          <p:cNvSpPr/>
          <p:nvPr/>
        </p:nvSpPr>
        <p:spPr>
          <a:xfrm>
            <a:off x="566928" y="5074920"/>
            <a:ext cx="11055096" cy="566928"/>
          </a:xfrm>
          <a:prstGeom prst="rect">
            <a:avLst/>
          </a:prstGeom>
          <a:solidFill>
            <a:srgbClr val="E7E8D3"/>
          </a:solidFill>
          <a:ln/>
        </p:spPr>
      </p:sp>
      <p:sp>
        <p:nvSpPr>
          <p:cNvPr id="28" name="Text 26"/>
          <p:cNvSpPr/>
          <p:nvPr/>
        </p:nvSpPr>
        <p:spPr>
          <a:xfrm>
            <a:off x="822960" y="5074920"/>
            <a:ext cx="10515600" cy="566928"/>
          </a:xfrm>
          <a:prstGeom prst="rect">
            <a:avLst/>
          </a:prstGeom>
          <a:noFill/>
          <a:ln/>
        </p:spPr>
        <p:txBody>
          <a:bodyPr wrap="square" lIns="0" tIns="0" rIns="0" bIns="0" rtlCol="0" anchor="ctr"/>
          <a:lstStyle/>
          <a:p>
            <a:pPr algn="ctr" indent="0" marL="0">
              <a:buNone/>
            </a:pPr>
            <a:r>
              <a:rPr lang="en-US" sz="1400" b="1" dirty="0">
                <a:solidFill>
                  <a:srgbClr val="16324B"/>
                </a:solidFill>
                <a:latin typeface="Arial" pitchFamily="34" charset="0"/>
                <a:ea typeface="Arial" pitchFamily="34" charset="-122"/>
                <a:cs typeface="Arial" pitchFamily="34" charset="-120"/>
              </a:rPr>
              <a:t>The old 20% and the new 46% are the same patients, counted at the flagship versus counted across the whole authorized network.</a:t>
            </a:r>
            <a:endParaRPr lang="en-US" sz="1400" dirty="0"/>
          </a:p>
        </p:txBody>
      </p:sp>
      <p:sp>
        <p:nvSpPr>
          <p:cNvPr id="29" name="Text 27"/>
          <p:cNvSpPr/>
          <p:nvPr/>
        </p:nvSpPr>
        <p:spPr>
          <a:xfrm>
            <a:off x="566928" y="5852160"/>
            <a:ext cx="10972800" cy="457200"/>
          </a:xfrm>
          <a:prstGeom prst="rect">
            <a:avLst/>
          </a:prstGeom>
          <a:noFill/>
          <a:ln/>
        </p:spPr>
        <p:txBody>
          <a:bodyPr wrap="square" lIns="0" tIns="0" rIns="0" bIns="0" rtlCol="0" anchor="t"/>
          <a:lstStyle/>
          <a:p>
            <a:pPr algn="l" indent="0" marL="0">
              <a:lnSpc>
                <a:spcPct val="105000"/>
              </a:lnSpc>
              <a:buNone/>
            </a:pPr>
            <a:r>
              <a:rPr lang="en-US" sz="850" i="1" dirty="0">
                <a:solidFill>
                  <a:srgbClr val="6B7280"/>
                </a:solidFill>
                <a:latin typeface="Arial" pitchFamily="34" charset="0"/>
                <a:ea typeface="Arial" pitchFamily="34" charset="-122"/>
                <a:cs typeface="Arial" pitchFamily="34" charset="-120"/>
              </a:rPr>
              <a:t>Primary location is confirmed by the treating provider NPI on the ATC roster; satellite sites are matched to their ATC parent. Source: McKesson (Compile) medical claims (2021 to 2025). Metastatic melanoma patients treated with Yervoy or Opdualag.</a:t>
            </a:r>
            <a:endParaRPr lang="en-US" sz="850" dirty="0"/>
          </a:p>
        </p:txBody>
      </p:sp>
      <p:sp>
        <p:nvSpPr>
          <p:cNvPr id="30" name="Shape 28"/>
          <p:cNvSpPr/>
          <p:nvPr/>
        </p:nvSpPr>
        <p:spPr>
          <a:xfrm>
            <a:off x="0" y="6455664"/>
            <a:ext cx="12188952" cy="402336"/>
          </a:xfrm>
          <a:prstGeom prst="rect">
            <a:avLst/>
          </a:prstGeom>
          <a:solidFill>
            <a:srgbClr val="8DA640"/>
          </a:solidFill>
          <a:ln/>
        </p:spPr>
      </p:sp>
      <p:sp>
        <p:nvSpPr>
          <p:cNvPr id="31" name="Text 29"/>
          <p:cNvSpPr/>
          <p:nvPr/>
        </p:nvSpPr>
        <p:spPr>
          <a:xfrm>
            <a:off x="502920" y="6455664"/>
            <a:ext cx="7315200" cy="402336"/>
          </a:xfrm>
          <a:prstGeom prst="rect">
            <a:avLst/>
          </a:prstGeom>
          <a:noFill/>
          <a:ln/>
        </p:spPr>
        <p:txBody>
          <a:bodyPr wrap="square" lIns="0" tIns="0" rIns="0" bIns="0" rtlCol="0" anchor="ctr"/>
          <a:lstStyle/>
          <a:p>
            <a:pPr algn="l" indent="0" marL="0">
              <a:buNone/>
            </a:pPr>
            <a:r>
              <a:rPr lang="en-US" sz="800" dirty="0">
                <a:solidFill>
                  <a:srgbClr val="F2F5E9"/>
                </a:solidFill>
                <a:latin typeface="Arial" pitchFamily="34" charset="0"/>
                <a:ea typeface="Arial" pitchFamily="34" charset="-122"/>
                <a:cs typeface="Arial" pitchFamily="34" charset="-120"/>
              </a:rPr>
              <a:t>© 2026, Iovance Biotherapeutics, Inc.  |  Confidential for Internal Use Only</a:t>
            </a:r>
            <a:endParaRPr lang="en-US" sz="800" dirty="0"/>
          </a:p>
        </p:txBody>
      </p:sp>
      <p:sp>
        <p:nvSpPr>
          <p:cNvPr id="32" name="Text 30"/>
          <p:cNvSpPr/>
          <p:nvPr/>
        </p:nvSpPr>
        <p:spPr>
          <a:xfrm>
            <a:off x="10195560" y="6455664"/>
            <a:ext cx="1371600" cy="402336"/>
          </a:xfrm>
          <a:prstGeom prst="rect">
            <a:avLst/>
          </a:prstGeom>
          <a:noFill/>
          <a:ln/>
        </p:spPr>
        <p:txBody>
          <a:bodyPr wrap="square" lIns="0" tIns="0" rIns="0" bIns="0" rtlCol="0" anchor="ctr"/>
          <a:lstStyle/>
          <a:p>
            <a:pPr algn="r" indent="0" marL="0">
              <a:buNone/>
            </a:pPr>
            <a:r>
              <a:rPr lang="en-US" sz="1300" b="1" i="1" spc="100" kern="0" dirty="0">
                <a:solidFill>
                  <a:srgbClr val="FFFFFF"/>
                </a:solidFill>
                <a:latin typeface="Arial" pitchFamily="34" charset="0"/>
                <a:ea typeface="Arial" pitchFamily="34" charset="-122"/>
                <a:cs typeface="Arial" pitchFamily="34" charset="-120"/>
              </a:rPr>
              <a:t>IOVANCE</a:t>
            </a:r>
            <a:endParaRPr lang="en-US" sz="1300" dirty="0"/>
          </a:p>
        </p:txBody>
      </p:sp>
      <p:sp>
        <p:nvSpPr>
          <p:cNvPr id="33" name="Shape 31"/>
          <p:cNvSpPr/>
          <p:nvPr/>
        </p:nvSpPr>
        <p:spPr>
          <a:xfrm>
            <a:off x="11686032" y="6528816"/>
            <a:ext cx="256032" cy="256032"/>
          </a:xfrm>
          <a:prstGeom prst="ellipse">
            <a:avLst/>
          </a:prstGeom>
          <a:solidFill>
            <a:srgbClr val="16324B"/>
          </a:solidFill>
          <a:ln/>
        </p:spPr>
      </p:sp>
      <p:sp>
        <p:nvSpPr>
          <p:cNvPr id="34" name="Text 32"/>
          <p:cNvSpPr/>
          <p:nvPr/>
        </p:nvSpPr>
        <p:spPr>
          <a:xfrm>
            <a:off x="11686032" y="6528816"/>
            <a:ext cx="256032" cy="256032"/>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2026-07-24T23:11:45Z</dcterms:created>
  <dcterms:modified xsi:type="dcterms:W3CDTF">2026-07-24T23:11:45Z</dcterms:modified>
</cp:coreProperties>
</file>