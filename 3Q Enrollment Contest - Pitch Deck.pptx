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Patients</c:v>
                </c:pt>
              </c:strCache>
            </c:strRef>
          </c:tx>
          <c:spPr>
            <a:solidFill>
              <a:srgbClr val="567A2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Sheet1!$A$2:$A$25</c:f>
              <c:multiLvlStrCache>
                <c:ptCount val="24"/>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lvl>
              </c:multiLvlStrCache>
            </c:multiLvlStrRef>
          </c:cat>
          <c:val>
            <c:numRef>
              <c:f>Sheet1!$B$2:$B$25</c:f>
              <c:numCache>
                <c:formatCode>General</c:formatCode>
                <c:ptCount val="24"/>
                <c:pt idx="0">
                  <c:v>1015</c:v>
                </c:pt>
                <c:pt idx="1">
                  <c:v>731</c:v>
                </c:pt>
                <c:pt idx="2">
                  <c:v>637</c:v>
                </c:pt>
                <c:pt idx="3">
                  <c:v>579</c:v>
                </c:pt>
                <c:pt idx="4">
                  <c:v>524</c:v>
                </c:pt>
                <c:pt idx="5">
                  <c:v>426</c:v>
                </c:pt>
                <c:pt idx="6">
                  <c:v>377</c:v>
                </c:pt>
                <c:pt idx="7">
                  <c:v>347</c:v>
                </c:pt>
                <c:pt idx="8">
                  <c:v>310</c:v>
                </c:pt>
                <c:pt idx="9">
                  <c:v>308</c:v>
                </c:pt>
                <c:pt idx="10">
                  <c:v>294</c:v>
                </c:pt>
                <c:pt idx="11">
                  <c:v>275</c:v>
                </c:pt>
                <c:pt idx="12">
                  <c:v>218</c:v>
                </c:pt>
                <c:pt idx="13">
                  <c:v>168</c:v>
                </c:pt>
                <c:pt idx="14">
                  <c:v>142</c:v>
                </c:pt>
                <c:pt idx="15">
                  <c:v>136</c:v>
                </c:pt>
                <c:pt idx="16">
                  <c:v>109</c:v>
                </c:pt>
                <c:pt idx="17">
                  <c:v>89</c:v>
                </c:pt>
                <c:pt idx="18">
                  <c:v>81</c:v>
                </c:pt>
                <c:pt idx="19">
                  <c:v>65</c:v>
                </c:pt>
                <c:pt idx="20">
                  <c:v>40</c:v>
                </c:pt>
                <c:pt idx="21">
                  <c:v>26</c:v>
                </c:pt>
                <c:pt idx="22">
                  <c:v>26</c:v>
                </c:pt>
                <c:pt idx="23">
                  <c:v>12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00"/>
          <c:min val="0"/>
        </c:scaling>
        <c:delete val="0"/>
        <c:axPos val="l"/>
        <c:majorGridlines>
          <c:spPr>
            <a:ln w="12700" cap="flat">
              <a:solidFill>
                <a:srgbClr val="EEEE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A8A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Percent growth</c:v>
                </c:pt>
              </c:strCache>
            </c:strRef>
          </c:tx>
          <c:spPr>
            <a:solidFill>
              <a:srgbClr val="567A2E"/>
            </a:solidFill>
            <a:ln>
              <a:noFill/>
            </a:ln>
            <a:effectLst/>
          </c:spPr>
          <c:marker>
            <c:symbol val="circle"/>
            <c:size val="8"/>
            <c:spPr>
              <a:solidFill>
                <a:srgbClr val="567A2E"/>
              </a:solidFill>
              <a:ln w="9525" cap="flat">
                <a:solidFill>
                  <a:srgbClr val="567A2E"/>
                </a:solidFill>
                <a:prstDash val="solid"/>
                <a:round/>
              </a:ln>
              <a:effectLst/>
            </c:spPr>
          </c:marker>
          <c:xVal>
            <c:numRef>
              <c:f>Sheet1!$A$2:$A$24</c:f>
              <c:numCache>
                <c:formatCode>General</c:formatCode>
                <c:ptCount val="23"/>
                <c:pt idx="0">
                  <c:v>16</c:v>
                </c:pt>
                <c:pt idx="1">
                  <c:v>15</c:v>
                </c:pt>
                <c:pt idx="2">
                  <c:v>16.3</c:v>
                </c:pt>
                <c:pt idx="3">
                  <c:v>13</c:v>
                </c:pt>
                <c:pt idx="4">
                  <c:v>17</c:v>
                </c:pt>
                <c:pt idx="5">
                  <c:v>14.8</c:v>
                </c:pt>
                <c:pt idx="6">
                  <c:v>14</c:v>
                </c:pt>
                <c:pt idx="7">
                  <c:v>14.3</c:v>
                </c:pt>
                <c:pt idx="8">
                  <c:v>7</c:v>
                </c:pt>
                <c:pt idx="9">
                  <c:v>10.8</c:v>
                </c:pt>
                <c:pt idx="10">
                  <c:v>10</c:v>
                </c:pt>
                <c:pt idx="11">
                  <c:v>12</c:v>
                </c:pt>
                <c:pt idx="12">
                  <c:v>8.5</c:v>
                </c:pt>
                <c:pt idx="13">
                  <c:v>12.5</c:v>
                </c:pt>
                <c:pt idx="14">
                  <c:v>8.3</c:v>
                </c:pt>
                <c:pt idx="15">
                  <c:v>7.8</c:v>
                </c:pt>
                <c:pt idx="16">
                  <c:v>3</c:v>
                </c:pt>
                <c:pt idx="17">
                  <c:v>5.5</c:v>
                </c:pt>
                <c:pt idx="18">
                  <c:v>2.8</c:v>
                </c:pt>
                <c:pt idx="19">
                  <c:v>3</c:v>
                </c:pt>
                <c:pt idx="20">
                  <c:v>1.5</c:v>
                </c:pt>
                <c:pt idx="21">
                  <c:v>4.5</c:v>
                </c:pt>
                <c:pt idx="22">
                  <c:v>1.8</c:v>
                </c:pt>
              </c:numCache>
            </c:numRef>
          </c:xVal>
          <c:yVal>
            <c:numRef>
              <c:f>Sheet1!$B$2:$B$24</c:f>
              <c:numCache>
                <c:formatCode>General</c:formatCode>
                <c:ptCount val="23"/>
                <c:pt idx="0">
                  <c:v>-34</c:v>
                </c:pt>
                <c:pt idx="1">
                  <c:v>40</c:v>
                </c:pt>
                <c:pt idx="2">
                  <c:v>-8</c:v>
                </c:pt>
                <c:pt idx="3">
                  <c:v>-54</c:v>
                </c:pt>
                <c:pt idx="4">
                  <c:v>-38</c:v>
                </c:pt>
                <c:pt idx="5">
                  <c:v>-39</c:v>
                </c:pt>
                <c:pt idx="6">
                  <c:v>39</c:v>
                </c:pt>
                <c:pt idx="7">
                  <c:v>-16</c:v>
                </c:pt>
                <c:pt idx="8">
                  <c:v>7</c:v>
                </c:pt>
                <c:pt idx="9">
                  <c:v>-30</c:v>
                </c:pt>
                <c:pt idx="10">
                  <c:v>-10</c:v>
                </c:pt>
                <c:pt idx="11">
                  <c:v>-38</c:v>
                </c:pt>
                <c:pt idx="12">
                  <c:v>-29</c:v>
                </c:pt>
                <c:pt idx="13">
                  <c:v>-40</c:v>
                </c:pt>
                <c:pt idx="14">
                  <c:v>-45</c:v>
                </c:pt>
                <c:pt idx="15">
                  <c:v>-23</c:v>
                </c:pt>
                <c:pt idx="16">
                  <c:v>100</c:v>
                </c:pt>
                <c:pt idx="17">
                  <c:v>118</c:v>
                </c:pt>
                <c:pt idx="18">
                  <c:v>173</c:v>
                </c:pt>
                <c:pt idx="19">
                  <c:v>100</c:v>
                </c:pt>
                <c:pt idx="20">
                  <c:v>200</c:v>
                </c:pt>
                <c:pt idx="21">
                  <c:v>167</c:v>
                </c:pt>
                <c:pt idx="22">
                  <c:v>71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scaling>
        <c:delete val="0"/>
        <c:axPos val="b"/>
        <c:majorGridlines>
          <c:spPr>
            <a:ln w="12700" cap="flat">
              <a:solidFill>
                <a:srgbClr val="EEEEE6"/>
              </a:solidFill>
              <a:prstDash val="solid"/>
              <a:round/>
            </a:ln>
          </c:spPr>
        </c:majorGridlines>
        <c:title>
          <c:tx>
            <c:rich>
              <a:bodyPr/>
              <a:lstStyle/>
              <a:p>
                <a:pPr>
                  <a:defRPr sz="1000" b="0" i="0" u="none" strike="noStrike">
                    <a:solidFill>
                      <a:srgbClr val="8A8A80"/>
                    </a:solidFill>
                    <a:latin typeface="Arial"/>
                  </a:defRPr>
                </a:pPr>
                <a:r>
                  <a:rPr sz="1000" b="0" i="0" u="none" strike="noStrike">
                    <a:solidFill>
                      <a:srgbClr val="8A8A80"/>
                    </a:solidFill>
                    <a:latin typeface="Arial"/>
                  </a:rPr>
                  <a:t>Territory size (average quarter)</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8A8A80"/>
                </a:solidFill>
                <a:latin typeface="Arial"/>
              </a:defRPr>
            </a:pPr>
            <a:endParaRPr lang="en-US"/>
          </a:p>
        </c:txPr>
        <c:crossAx val="2094734552"/>
        <c:crosses val="autoZero"/>
        <c:auto val="1"/>
        <c:lblAlgn val="ctr"/>
        <c:noMultiLvlLbl val="1"/>
      </c:valAx>
      <c:valAx>
        <c:axId val="2094734552"/>
        <c:scaling>
          <c:orientation val="minMax"/>
          <c:max val="220"/>
          <c:min val="-100"/>
        </c:scaling>
        <c:delete val="0"/>
        <c:axPos val="l"/>
        <c:majorGridlines>
          <c:spPr>
            <a:ln w="12700" cap="flat">
              <a:solidFill>
                <a:srgbClr val="EEEEE6"/>
              </a:solidFill>
              <a:prstDash val="solid"/>
              <a:round/>
            </a:ln>
          </c:spPr>
        </c:majorGridlines>
        <c:title>
          <c:tx>
            <c:rich>
              <a:bodyPr/>
              <a:lstStyle/>
              <a:p>
                <a:pPr>
                  <a:defRPr sz="1000" b="0" i="0" u="none" strike="noStrike">
                    <a:solidFill>
                      <a:srgbClr val="8A8A80"/>
                    </a:solidFill>
                    <a:latin typeface="Arial"/>
                  </a:defRPr>
                </a:pPr>
                <a:r>
                  <a:rPr sz="1000" b="0" i="0" u="none" strike="noStrike">
                    <a:solidFill>
                      <a:srgbClr val="8A8A80"/>
                    </a:solidFill>
                    <a:latin typeface="Arial"/>
                  </a:rPr>
                  <a:t>Growth against baseline (%)</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900" b="0" i="0" u="none" strike="noStrike">
                <a:solidFill>
                  <a:srgbClr val="8A8A80"/>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proposal for a two month enrollment contest that runs alongside the IC plan, from August 1 to September 30, 2026. It covers the CTAM territories and the RADs.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have 70 treatment slots a month, up from 50. Weekly enrollments have slipped from about 27 to about 21, and the forecast needs 25 or more. Out of every 100 enrollments, about 70 reach the next step and about 50 reach infusion, which is where revenue lands. The standing plan already rewards infusions, so this contest pushes the top of the funnel.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ideas keep the contest fair. Every territory competes against its own baseline. Territories are grouped by size. We score both the count of patients added and percent growth. And a separate quality prize rewards enrollments that actually move forward to treatment.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Regions are close in size, so a region cut tells us little. Territories are very different, with about 85 times between the largest and the smallest. That is why we group by size before we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 is each territory's average enrollments over the last four quarters, scaled down to the two month window. We rank on patients added and on percent growth inside each size group, average the two ranks, and pay the top two. Ties go to the higher percent. The RADs compete as one group. The quality prize goes to the territory in each group whose patients most often move forward to treatment, with at least five enrollments to qualify, settled about a month after the contest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pot is $30,000 for now, still to be confirmed. Each group pays first place 16.67 percent of the pot, second place 10 percent, and the quality prize 6.67 percent. That is about $5,000, $3,000, and $2,000 per group, and the shares work at any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uses made up numbers. San Diego grows 83 percent and wins the small group, while Illinois grows 4 percent and places third in the large group. A small territory that grows a lot can beat a big one that barely moves. That is the point of splitting by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contest covers 28 territories sorted into three size groups. The names, sizes, and groups shown here are placeholders until the real list arrives. Groups are set from the last four quarters of enrollments and locked the day the contest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the scoring on real enrollments from August and September of last year. Small territories swing hardest on percent, because they start from a small base. That is exactly why we group by size and score on count as well as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is done. To go live we need the real territory list with enrollment and treatment numbers, the confirmed baseline quarters, locked group cutoffs, and the confirmed prize pot. Then the deck is approved and the contest is announced to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405F"/>
        </a:solidFill>
      </p:bgPr>
    </p:bg>
    <p:spTree>
      <p:nvGrpSpPr>
        <p:cNvPr id="1" name=""/>
        <p:cNvGrpSpPr/>
        <p:nvPr/>
      </p:nvGrpSpPr>
      <p:grpSpPr>
        <a:xfrm>
          <a:off x="0" y="0"/>
          <a:ext cx="0" cy="0"/>
          <a:chOff x="0" y="0"/>
          <a:chExt cx="0" cy="0"/>
        </a:xfrm>
      </p:grpSpPr>
      <p:sp>
        <p:nvSpPr>
          <p:cNvPr id="2" name="Shape 0"/>
          <p:cNvSpPr/>
          <p:nvPr/>
        </p:nvSpPr>
        <p:spPr>
          <a:xfrm>
            <a:off x="7680960" y="0"/>
            <a:ext cx="4510735" cy="6858000"/>
          </a:xfrm>
          <a:prstGeom prst="rect">
            <a:avLst/>
          </a:prstGeom>
          <a:solidFill>
            <a:srgbClr val="0F3A55"/>
          </a:solidFill>
          <a:ln/>
        </p:spPr>
      </p:sp>
      <p:sp>
        <p:nvSpPr>
          <p:cNvPr id="3" name="Shape 1"/>
          <p:cNvSpPr/>
          <p:nvPr/>
        </p:nvSpPr>
        <p:spPr>
          <a:xfrm flipH="1">
            <a:off x="7040880" y="0"/>
            <a:ext cx="822960" cy="6858000"/>
          </a:xfrm>
          <a:prstGeom prst="rtTriangle">
            <a:avLst/>
          </a:prstGeom>
          <a:solidFill>
            <a:srgbClr val="0F3A55"/>
          </a:solidFill>
          <a:ln/>
        </p:spPr>
      </p:sp>
      <p:sp>
        <p:nvSpPr>
          <p:cNvPr id="4" name="Shape 2"/>
          <p:cNvSpPr/>
          <p:nvPr/>
        </p:nvSpPr>
        <p:spPr>
          <a:xfrm>
            <a:off x="8229600" y="0"/>
            <a:ext cx="3962095" cy="1078992"/>
          </a:xfrm>
          <a:prstGeom prst="rect">
            <a:avLst/>
          </a:prstGeom>
          <a:solidFill>
            <a:srgbClr val="9DC13C"/>
          </a:solidFill>
          <a:ln/>
        </p:spPr>
      </p:sp>
      <p:sp>
        <p:nvSpPr>
          <p:cNvPr id="5" name="Shape 3"/>
          <p:cNvSpPr/>
          <p:nvPr/>
        </p:nvSpPr>
        <p:spPr>
          <a:xfrm flipH="1" flipV="1">
            <a:off x="7726680" y="0"/>
            <a:ext cx="548640" cy="1078992"/>
          </a:xfrm>
          <a:prstGeom prst="rtTriangle">
            <a:avLst/>
          </a:prstGeom>
          <a:solidFill>
            <a:srgbClr val="9DC13C"/>
          </a:solidFill>
          <a:ln/>
        </p:spPr>
      </p:sp>
      <p:sp>
        <p:nvSpPr>
          <p:cNvPr id="6" name="Text 4"/>
          <p:cNvSpPr/>
          <p:nvPr/>
        </p:nvSpPr>
        <p:spPr>
          <a:xfrm>
            <a:off x="777240" y="777240"/>
            <a:ext cx="6400800" cy="914400"/>
          </a:xfrm>
          <a:prstGeom prst="rect">
            <a:avLst/>
          </a:prstGeom>
          <a:noFill/>
          <a:ln/>
        </p:spPr>
        <p:txBody>
          <a:bodyPr wrap="square" lIns="0" tIns="0" rIns="0" bIns="0" rtlCol="0" anchor="ctr"/>
          <a:lstStyle/>
          <a:p>
            <a:pPr indent="0" marL="0">
              <a:buNone/>
            </a:pPr>
            <a:r>
              <a:rPr lang="en-US" sz="5000" b="1" spc="200" kern="0" dirty="0">
                <a:solidFill>
                  <a:srgbClr val="FFFFFF"/>
                </a:solidFill>
                <a:latin typeface="Cambria" pitchFamily="34" charset="0"/>
                <a:ea typeface="Cambria" pitchFamily="34" charset="-122"/>
                <a:cs typeface="Cambria" pitchFamily="34" charset="-120"/>
              </a:rPr>
              <a:t>IOVANCE</a:t>
            </a:r>
            <a:endParaRPr lang="en-US" sz="5000" dirty="0"/>
          </a:p>
        </p:txBody>
      </p:sp>
      <p:sp>
        <p:nvSpPr>
          <p:cNvPr id="7" name="Text 5"/>
          <p:cNvSpPr/>
          <p:nvPr/>
        </p:nvSpPr>
        <p:spPr>
          <a:xfrm>
            <a:off x="822960" y="1691640"/>
            <a:ext cx="6400800" cy="365760"/>
          </a:xfrm>
          <a:prstGeom prst="rect">
            <a:avLst/>
          </a:prstGeom>
          <a:noFill/>
          <a:ln/>
        </p:spPr>
        <p:txBody>
          <a:bodyPr wrap="square" lIns="0" tIns="0" rIns="0" bIns="0" rtlCol="0" anchor="ctr"/>
          <a:lstStyle/>
          <a:p>
            <a:pPr indent="0" marL="0">
              <a:buNone/>
            </a:pPr>
            <a:r>
              <a:rPr lang="en-US" sz="1400" spc="500" kern="0" dirty="0">
                <a:solidFill>
                  <a:srgbClr val="CFE3A0"/>
                </a:solidFill>
                <a:latin typeface="Segoe UI" pitchFamily="34" charset="0"/>
                <a:ea typeface="Segoe UI" pitchFamily="34" charset="-122"/>
                <a:cs typeface="Segoe UI" pitchFamily="34" charset="-120"/>
              </a:rPr>
              <a:t>B I O T H E R A P E U T I C S</a:t>
            </a:r>
            <a:endParaRPr lang="en-US" sz="1400" dirty="0"/>
          </a:p>
        </p:txBody>
      </p:sp>
      <p:sp>
        <p:nvSpPr>
          <p:cNvPr id="8" name="Shape 6"/>
          <p:cNvSpPr/>
          <p:nvPr/>
        </p:nvSpPr>
        <p:spPr>
          <a:xfrm>
            <a:off x="822960" y="3017520"/>
            <a:ext cx="128016" cy="1280160"/>
          </a:xfrm>
          <a:prstGeom prst="rect">
            <a:avLst/>
          </a:prstGeom>
          <a:solidFill>
            <a:srgbClr val="9DC13C"/>
          </a:solidFill>
          <a:ln/>
        </p:spPr>
      </p:sp>
      <p:sp>
        <p:nvSpPr>
          <p:cNvPr id="9" name="Text 7"/>
          <p:cNvSpPr/>
          <p:nvPr/>
        </p:nvSpPr>
        <p:spPr>
          <a:xfrm>
            <a:off x="1097280" y="2971800"/>
            <a:ext cx="6309360" cy="1280160"/>
          </a:xfrm>
          <a:prstGeom prst="rect">
            <a:avLst/>
          </a:prstGeom>
          <a:noFill/>
          <a:ln/>
        </p:spPr>
        <p:txBody>
          <a:bodyPr wrap="square" lIns="0" tIns="0" rIns="0" bIns="0" rtlCol="0" anchor="t"/>
          <a:lstStyle/>
          <a:p>
            <a:pPr indent="0" marL="0">
              <a:lnSpc>
                <a:spcPct val="102000"/>
              </a:lnSpc>
              <a:buNone/>
            </a:pPr>
            <a:r>
              <a:rPr lang="en-US" sz="3000" b="1" dirty="0">
                <a:solidFill>
                  <a:srgbClr val="FFFFFF"/>
                </a:solidFill>
                <a:latin typeface="Segoe UI" pitchFamily="34" charset="0"/>
                <a:ea typeface="Segoe UI" pitchFamily="34" charset="-122"/>
                <a:cs typeface="Segoe UI" pitchFamily="34" charset="-120"/>
              </a:rPr>
              <a:t>Proposed 3Q 2026 AMTAGVI Enrollment Contest</a:t>
            </a:r>
            <a:endParaRPr lang="en-US" sz="3000" dirty="0"/>
          </a:p>
        </p:txBody>
      </p:sp>
      <p:sp>
        <p:nvSpPr>
          <p:cNvPr id="10" name="Text 8"/>
          <p:cNvSpPr/>
          <p:nvPr/>
        </p:nvSpPr>
        <p:spPr>
          <a:xfrm>
            <a:off x="1115568" y="4526280"/>
            <a:ext cx="6309360" cy="365760"/>
          </a:xfrm>
          <a:prstGeom prst="rect">
            <a:avLst/>
          </a:prstGeom>
          <a:noFill/>
          <a:ln/>
        </p:spPr>
        <p:txBody>
          <a:bodyPr wrap="square" lIns="0" tIns="0" rIns="0" bIns="0" rtlCol="0" anchor="ctr"/>
          <a:lstStyle/>
          <a:p>
            <a:pPr indent="0" marL="0">
              <a:buNone/>
            </a:pPr>
            <a:r>
              <a:rPr lang="en-US" sz="1400" dirty="0">
                <a:solidFill>
                  <a:srgbClr val="CFE3A0"/>
                </a:solidFill>
                <a:latin typeface="Segoe UI" pitchFamily="34" charset="0"/>
                <a:ea typeface="Segoe UI" pitchFamily="34" charset="-122"/>
                <a:cs typeface="Segoe UI" pitchFamily="34" charset="-120"/>
              </a:rPr>
              <a:t>A contest to grow enrollments, for CTAMs and RADs</a:t>
            </a:r>
            <a:endParaRPr lang="en-US" sz="1400" dirty="0"/>
          </a:p>
        </p:txBody>
      </p:sp>
      <p:sp>
        <p:nvSpPr>
          <p:cNvPr id="11" name="Text 9"/>
          <p:cNvSpPr/>
          <p:nvPr/>
        </p:nvSpPr>
        <p:spPr>
          <a:xfrm>
            <a:off x="1115568" y="4937760"/>
            <a:ext cx="6309360" cy="320040"/>
          </a:xfrm>
          <a:prstGeom prst="rect">
            <a:avLst/>
          </a:prstGeom>
          <a:noFill/>
          <a:ln/>
        </p:spPr>
        <p:txBody>
          <a:bodyPr wrap="square" lIns="0" tIns="0" rIns="0" bIns="0" rtlCol="0" anchor="ctr"/>
          <a:lstStyle/>
          <a:p>
            <a:pPr indent="0" marL="0">
              <a:buNone/>
            </a:pPr>
            <a:r>
              <a:rPr lang="en-US" sz="1200" dirty="0">
                <a:solidFill>
                  <a:srgbClr val="BFD7E6"/>
                </a:solidFill>
                <a:latin typeface="Segoe UI" pitchFamily="34" charset="0"/>
                <a:ea typeface="Segoe UI" pitchFamily="34" charset="-122"/>
                <a:cs typeface="Segoe UI" pitchFamily="34" charset="-120"/>
              </a:rPr>
              <a:t>Runs August 1 to September 30, 2026.  Prepared July 2026.</a:t>
            </a:r>
            <a:endParaRPr lang="en-US" sz="1200" dirty="0"/>
          </a:p>
        </p:txBody>
      </p:sp>
      <p:sp>
        <p:nvSpPr>
          <p:cNvPr id="12" name="Shape 10"/>
          <p:cNvSpPr/>
          <p:nvPr/>
        </p:nvSpPr>
        <p:spPr>
          <a:xfrm>
            <a:off x="0" y="6053328"/>
            <a:ext cx="12191695" cy="804672"/>
          </a:xfrm>
          <a:prstGeom prst="rect">
            <a:avLst/>
          </a:prstGeom>
          <a:solidFill>
            <a:srgbClr val="9DC13C"/>
          </a:solidFill>
          <a:ln/>
        </p:spPr>
      </p:sp>
      <p:sp>
        <p:nvSpPr>
          <p:cNvPr id="13" name="Shape 11"/>
          <p:cNvSpPr/>
          <p:nvPr/>
        </p:nvSpPr>
        <p:spPr>
          <a:xfrm flipH="1">
            <a:off x="7406640" y="5641848"/>
            <a:ext cx="685800" cy="411480"/>
          </a:xfrm>
          <a:prstGeom prst="rtTriangle">
            <a:avLst/>
          </a:prstGeom>
          <a:solidFill>
            <a:srgbClr val="9DC13C"/>
          </a:solidFill>
          <a:ln/>
        </p:spPr>
      </p:sp>
      <p:sp>
        <p:nvSpPr>
          <p:cNvPr id="14" name="Shape 12"/>
          <p:cNvSpPr/>
          <p:nvPr/>
        </p:nvSpPr>
        <p:spPr>
          <a:xfrm>
            <a:off x="8074152" y="5641848"/>
            <a:ext cx="4117543" cy="411480"/>
          </a:xfrm>
          <a:prstGeom prst="rect">
            <a:avLst/>
          </a:prstGeom>
          <a:solidFill>
            <a:srgbClr val="9DC13C"/>
          </a:solidFill>
          <a:ln/>
        </p:spPr>
      </p:sp>
      <p:sp>
        <p:nvSpPr>
          <p:cNvPr id="15" name="Text 13"/>
          <p:cNvSpPr/>
          <p:nvPr/>
        </p:nvSpPr>
        <p:spPr>
          <a:xfrm>
            <a:off x="822960" y="6126480"/>
            <a:ext cx="10515600" cy="411480"/>
          </a:xfrm>
          <a:prstGeom prst="rect">
            <a:avLst/>
          </a:prstGeom>
          <a:noFill/>
          <a:ln/>
        </p:spPr>
        <p:txBody>
          <a:bodyPr wrap="square" lIns="0" tIns="0" rIns="0" bIns="0" rtlCol="0" anchor="ctr"/>
          <a:lstStyle/>
          <a:p>
            <a:pPr indent="0" marL="0">
              <a:buNone/>
            </a:pPr>
            <a:r>
              <a:rPr lang="en-US" sz="1800" spc="300" kern="0" dirty="0">
                <a:solidFill>
                  <a:srgbClr val="FFFFFF"/>
                </a:solidFill>
                <a:latin typeface="Segoe UI" pitchFamily="34" charset="0"/>
                <a:ea typeface="Segoe UI" pitchFamily="34" charset="-122"/>
                <a:cs typeface="Segoe UI" pitchFamily="34" charset="-120"/>
              </a:rPr>
              <a:t>A D V A N C I N G   I M M U N O - O N C O L O G Y</a:t>
            </a:r>
            <a:endParaRPr lang="en-US" sz="1800" dirty="0"/>
          </a:p>
        </p:txBody>
      </p:sp>
      <p:sp>
        <p:nvSpPr>
          <p:cNvPr id="16" name="Text 14"/>
          <p:cNvSpPr/>
          <p:nvPr/>
        </p:nvSpPr>
        <p:spPr>
          <a:xfrm>
            <a:off x="822960" y="6537960"/>
            <a:ext cx="10515600" cy="256032"/>
          </a:xfrm>
          <a:prstGeom prst="rect">
            <a:avLst/>
          </a:prstGeom>
          <a:noFill/>
          <a:ln/>
        </p:spPr>
        <p:txBody>
          <a:bodyPr wrap="square" lIns="0" tIns="0" rIns="0" bIns="0" rtlCol="0" anchor="ctr"/>
          <a:lstStyle/>
          <a:p>
            <a:pPr indent="0" marL="0">
              <a:buNone/>
            </a:pPr>
            <a:r>
              <a:rPr lang="en-US" sz="750" dirty="0">
                <a:solidFill>
                  <a:srgbClr val="FFFFFF"/>
                </a:solidFill>
                <a:latin typeface="Segoe UI" pitchFamily="34" charset="0"/>
                <a:ea typeface="Segoe UI" pitchFamily="34" charset="-122"/>
                <a:cs typeface="Segoe UI" pitchFamily="34" charset="-120"/>
              </a:rPr>
              <a:t>© 2026, Iovance Biotherapeutics, Inc.  |  Confidential for Internal Use Only</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74320"/>
          </a:xfrm>
          <a:prstGeom prst="rect">
            <a:avLst/>
          </a:prstGeom>
          <a:noFill/>
          <a:ln/>
        </p:spPr>
        <p:txBody>
          <a:bodyPr wrap="square" lIns="0" tIns="0" rIns="0" bIns="0" rtlCol="0" anchor="ctr"/>
          <a:lstStyle/>
          <a:p>
            <a:pPr indent="0" marL="0">
              <a:buNone/>
            </a:pPr>
            <a:r>
              <a:rPr lang="en-US" sz="1200" b="1" spc="120" kern="0" dirty="0">
                <a:solidFill>
                  <a:srgbClr val="2F5D8A"/>
                </a:solidFill>
                <a:latin typeface="Segoe UI" pitchFamily="34" charset="0"/>
                <a:ea typeface="Segoe UI" pitchFamily="34" charset="-122"/>
                <a:cs typeface="Segoe UI" pitchFamily="34" charset="-120"/>
              </a:rPr>
              <a:t>Overview</a:t>
            </a:r>
            <a:endParaRPr lang="en-US" sz="1200" dirty="0"/>
          </a:p>
        </p:txBody>
      </p:sp>
      <p:sp>
        <p:nvSpPr>
          <p:cNvPr id="3" name="Shape 1"/>
          <p:cNvSpPr/>
          <p:nvPr/>
        </p:nvSpPr>
        <p:spPr>
          <a:xfrm>
            <a:off x="329184" y="731520"/>
            <a:ext cx="109728" cy="109728"/>
          </a:xfrm>
          <a:prstGeom prst="rect">
            <a:avLst/>
          </a:prstGeom>
          <a:solidFill>
            <a:srgbClr val="567A2E"/>
          </a:solidFill>
          <a:ln/>
        </p:spPr>
      </p:sp>
      <p:sp>
        <p:nvSpPr>
          <p:cNvPr id="4" name="Shape 2"/>
          <p:cNvSpPr/>
          <p:nvPr/>
        </p:nvSpPr>
        <p:spPr>
          <a:xfrm>
            <a:off x="11750040" y="731520"/>
            <a:ext cx="109728" cy="109728"/>
          </a:xfrm>
          <a:prstGeom prst="rect">
            <a:avLst/>
          </a:prstGeom>
          <a:solidFill>
            <a:srgbClr val="567A2E"/>
          </a:solidFill>
          <a:ln/>
        </p:spPr>
      </p:sp>
      <p:sp>
        <p:nvSpPr>
          <p:cNvPr id="5" name="Text 3"/>
          <p:cNvSpPr/>
          <p:nvPr/>
        </p:nvSpPr>
        <p:spPr>
          <a:xfrm>
            <a:off x="566928" y="566928"/>
            <a:ext cx="11018520" cy="868680"/>
          </a:xfrm>
          <a:prstGeom prst="rect">
            <a:avLst/>
          </a:prstGeom>
          <a:noFill/>
          <a:ln/>
        </p:spPr>
        <p:txBody>
          <a:bodyPr wrap="square" lIns="0" tIns="0" rIns="0" bIns="0" rtlCol="0" anchor="t"/>
          <a:lstStyle/>
          <a:p>
            <a:pPr indent="0" marL="0">
              <a:lnSpc>
                <a:spcPct val="100000"/>
              </a:lnSpc>
              <a:buNone/>
            </a:pPr>
            <a:r>
              <a:rPr lang="en-US" sz="2300" b="1" dirty="0">
                <a:solidFill>
                  <a:srgbClr val="17344F"/>
                </a:solidFill>
                <a:latin typeface="Segoe UI" pitchFamily="34" charset="0"/>
                <a:ea typeface="Segoe UI" pitchFamily="34" charset="-122"/>
                <a:cs typeface="Segoe UI" pitchFamily="34" charset="-120"/>
              </a:rPr>
              <a:t>We added capacity, but enrollments have dipped, so this contest gives the funnel a short push</a:t>
            </a:r>
            <a:endParaRPr lang="en-US" sz="2300" dirty="0"/>
          </a:p>
        </p:txBody>
      </p:sp>
      <p:sp>
        <p:nvSpPr>
          <p:cNvPr id="6" name="Shape 4"/>
          <p:cNvSpPr/>
          <p:nvPr/>
        </p:nvSpPr>
        <p:spPr>
          <a:xfrm>
            <a:off x="0" y="6556248"/>
            <a:ext cx="12191695" cy="301752"/>
          </a:xfrm>
          <a:prstGeom prst="rect">
            <a:avLst/>
          </a:prstGeom>
          <a:solidFill>
            <a:srgbClr val="9DC13C"/>
          </a:solidFill>
          <a:ln/>
        </p:spPr>
      </p:sp>
      <p:sp>
        <p:nvSpPr>
          <p:cNvPr id="7" name="Shape 5"/>
          <p:cNvSpPr/>
          <p:nvPr/>
        </p:nvSpPr>
        <p:spPr>
          <a:xfrm flipH="1">
            <a:off x="9646920" y="6309360"/>
            <a:ext cx="502920" cy="548640"/>
          </a:xfrm>
          <a:prstGeom prst="rtTriangle">
            <a:avLst/>
          </a:prstGeom>
          <a:solidFill>
            <a:srgbClr val="9DC13C"/>
          </a:solidFill>
          <a:ln/>
        </p:spPr>
      </p:sp>
      <p:sp>
        <p:nvSpPr>
          <p:cNvPr id="8" name="Shape 6"/>
          <p:cNvSpPr/>
          <p:nvPr/>
        </p:nvSpPr>
        <p:spPr>
          <a:xfrm>
            <a:off x="10131552" y="6309360"/>
            <a:ext cx="2060143" cy="548640"/>
          </a:xfrm>
          <a:prstGeom prst="rect">
            <a:avLst/>
          </a:prstGeom>
          <a:solidFill>
            <a:srgbClr val="9DC13C"/>
          </a:solidFill>
          <a:ln/>
        </p:spPr>
      </p:sp>
      <p:sp>
        <p:nvSpPr>
          <p:cNvPr id="9" name="Text 7"/>
          <p:cNvSpPr/>
          <p:nvPr/>
        </p:nvSpPr>
        <p:spPr>
          <a:xfrm>
            <a:off x="274320" y="6556248"/>
            <a:ext cx="7772400" cy="301752"/>
          </a:xfrm>
          <a:prstGeom prst="rect">
            <a:avLst/>
          </a:prstGeom>
          <a:noFill/>
          <a:ln/>
        </p:spPr>
        <p:txBody>
          <a:bodyPr wrap="square" lIns="0" tIns="0" rIns="0" bIns="0" rtlCol="0" anchor="ctr"/>
          <a:lstStyle/>
          <a:p>
            <a:pPr indent="0" marL="0">
              <a:buNone/>
            </a:pPr>
            <a:r>
              <a:rPr lang="en-US" sz="700" dirty="0">
                <a:solidFill>
                  <a:srgbClr val="FFFFFF"/>
                </a:solidFill>
                <a:latin typeface="Segoe UI" pitchFamily="34" charset="0"/>
                <a:ea typeface="Segoe UI" pitchFamily="34" charset="-122"/>
                <a:cs typeface="Segoe UI" pitchFamily="34" charset="-120"/>
              </a:rPr>
              <a:t>© 2026, Iovance Biotherapeutics, Inc.  |  Confidential for Internal Use Only</a:t>
            </a:r>
            <a:endParaRPr lang="en-US" sz="700" dirty="0"/>
          </a:p>
        </p:txBody>
      </p:sp>
      <p:sp>
        <p:nvSpPr>
          <p:cNvPr id="10" name="Text 8"/>
          <p:cNvSpPr/>
          <p:nvPr/>
        </p:nvSpPr>
        <p:spPr>
          <a:xfrm>
            <a:off x="10058400" y="6309360"/>
            <a:ext cx="1600200" cy="548640"/>
          </a:xfrm>
          <a:prstGeom prst="rect">
            <a:avLst/>
          </a:prstGeom>
          <a:noFill/>
          <a:ln/>
        </p:spPr>
        <p:txBody>
          <a:bodyPr wrap="square" lIns="0" tIns="0" rIns="0" bIns="0" rtlCol="0" anchor="ctr"/>
          <a:lstStyle/>
          <a:p>
            <a:pPr algn="r" indent="0" marL="0">
              <a:buNone/>
            </a:pPr>
            <a:r>
              <a:rPr lang="en-US" sz="1300" b="1" spc="100" kern="0" dirty="0">
                <a:solidFill>
                  <a:srgbClr val="FFFFFF"/>
                </a:solidFill>
                <a:latin typeface="Cambria" pitchFamily="34" charset="0"/>
                <a:ea typeface="Cambria" pitchFamily="34" charset="-122"/>
                <a:cs typeface="Cambria" pitchFamily="34" charset="-120"/>
              </a:rPr>
              <a:t>IOVANCE</a:t>
            </a:r>
            <a:endParaRPr lang="en-US" sz="1300" dirty="0"/>
          </a:p>
        </p:txBody>
      </p:sp>
      <p:sp>
        <p:nvSpPr>
          <p:cNvPr id="11" name="Shape 9"/>
          <p:cNvSpPr/>
          <p:nvPr/>
        </p:nvSpPr>
        <p:spPr>
          <a:xfrm>
            <a:off x="11722608" y="6473952"/>
            <a:ext cx="219456" cy="219456"/>
          </a:xfrm>
          <a:prstGeom prst="ellipse">
            <a:avLst/>
          </a:prstGeom>
          <a:solidFill>
            <a:srgbClr val="FFFFFF"/>
          </a:solidFill>
          <a:ln/>
        </p:spPr>
      </p:sp>
      <p:sp>
        <p:nvSpPr>
          <p:cNvPr id="12" name="Text 10"/>
          <p:cNvSpPr/>
          <p:nvPr/>
        </p:nvSpPr>
        <p:spPr>
          <a:xfrm>
            <a:off x="11722608" y="6473952"/>
            <a:ext cx="219456" cy="219456"/>
          </a:xfrm>
          <a:prstGeom prst="rect">
            <a:avLst/>
          </a:prstGeom>
          <a:noFill/>
          <a:ln/>
        </p:spPr>
        <p:txBody>
          <a:bodyPr wrap="square" lIns="0" tIns="0" rIns="0" bIns="0" rtlCol="0" anchor="ctr"/>
          <a:lstStyle/>
          <a:p>
            <a:pPr algn="ctr" indent="0" marL="0">
              <a:buNone/>
            </a:pPr>
            <a:r>
              <a:rPr lang="en-US" sz="900" b="1" dirty="0">
                <a:solidFill>
                  <a:srgbClr val="567A2E"/>
                </a:solidFill>
                <a:latin typeface="Segoe UI" pitchFamily="34" charset="0"/>
                <a:ea typeface="Segoe UI" pitchFamily="34" charset="-122"/>
                <a:cs typeface="Segoe UI" pitchFamily="34" charset="-120"/>
              </a:rPr>
              <a:t>2</a:t>
            </a:r>
            <a:endParaRPr lang="en-US" sz="900" dirty="0"/>
          </a:p>
        </p:txBody>
      </p:sp>
      <p:sp>
        <p:nvSpPr>
          <p:cNvPr id="13" name="Shape 11"/>
          <p:cNvSpPr/>
          <p:nvPr/>
        </p:nvSpPr>
        <p:spPr>
          <a:xfrm>
            <a:off x="566928" y="2148840"/>
            <a:ext cx="4343400" cy="1600200"/>
          </a:xfrm>
          <a:prstGeom prst="roundRect">
            <a:avLst>
              <a:gd name="adj" fmla="val 2857"/>
            </a:avLst>
          </a:prstGeom>
          <a:solidFill>
            <a:srgbClr val="F4F7EC"/>
          </a:solidFill>
          <a:ln/>
        </p:spPr>
      </p:sp>
      <p:sp>
        <p:nvSpPr>
          <p:cNvPr id="14" name="Shape 12"/>
          <p:cNvSpPr/>
          <p:nvPr/>
        </p:nvSpPr>
        <p:spPr>
          <a:xfrm>
            <a:off x="566928" y="2148840"/>
            <a:ext cx="73152" cy="1600200"/>
          </a:xfrm>
          <a:prstGeom prst="rect">
            <a:avLst/>
          </a:prstGeom>
          <a:solidFill>
            <a:srgbClr val="567A2E"/>
          </a:solidFill>
          <a:ln/>
        </p:spPr>
      </p:sp>
      <p:sp>
        <p:nvSpPr>
          <p:cNvPr id="15" name="Text 13"/>
          <p:cNvSpPr/>
          <p:nvPr/>
        </p:nvSpPr>
        <p:spPr>
          <a:xfrm>
            <a:off x="868680" y="2313432"/>
            <a:ext cx="3840480" cy="274320"/>
          </a:xfrm>
          <a:prstGeom prst="rect">
            <a:avLst/>
          </a:prstGeom>
          <a:noFill/>
          <a:ln/>
        </p:spPr>
        <p:txBody>
          <a:bodyPr wrap="square" lIns="0" tIns="0" rIns="0" bIns="0" rtlCol="0" anchor="ctr"/>
          <a:lstStyle/>
          <a:p>
            <a:pPr indent="0" marL="0">
              <a:buNone/>
            </a:pPr>
            <a:r>
              <a:rPr lang="en-US" sz="1100" b="1" spc="100" kern="0" dirty="0">
                <a:solidFill>
                  <a:srgbClr val="8A8A80"/>
                </a:solidFill>
                <a:latin typeface="Segoe UI" pitchFamily="34" charset="0"/>
                <a:ea typeface="Segoe UI" pitchFamily="34" charset="-122"/>
                <a:cs typeface="Segoe UI" pitchFamily="34" charset="-120"/>
              </a:rPr>
              <a:t>MONTHLY TREATMENT CAPACITY</a:t>
            </a:r>
            <a:endParaRPr lang="en-US" sz="1100" dirty="0"/>
          </a:p>
        </p:txBody>
      </p:sp>
      <p:sp>
        <p:nvSpPr>
          <p:cNvPr id="16" name="Text 14"/>
          <p:cNvSpPr/>
          <p:nvPr/>
        </p:nvSpPr>
        <p:spPr>
          <a:xfrm>
            <a:off x="868680" y="2624328"/>
            <a:ext cx="3840480" cy="685800"/>
          </a:xfrm>
          <a:prstGeom prst="rect">
            <a:avLst/>
          </a:prstGeom>
          <a:noFill/>
          <a:ln/>
        </p:spPr>
        <p:txBody>
          <a:bodyPr wrap="square" lIns="0" tIns="0" rIns="0" bIns="0" rtlCol="0" anchor="ctr"/>
          <a:lstStyle/>
          <a:p>
            <a:pPr indent="0" marL="0">
              <a:buNone/>
            </a:pPr>
            <a:r>
              <a:rPr lang="en-US" sz="4400" b="1" dirty="0">
                <a:solidFill>
                  <a:srgbClr val="17344F"/>
                </a:solidFill>
                <a:latin typeface="Segoe UI" pitchFamily="34" charset="0"/>
                <a:ea typeface="Segoe UI" pitchFamily="34" charset="-122"/>
                <a:cs typeface="Segoe UI" pitchFamily="34" charset="-120"/>
              </a:rPr>
              <a:t>70</a:t>
            </a:r>
            <a:pPr indent="0" marL="0">
              <a:buNone/>
            </a:pPr>
            <a:r>
              <a:rPr lang="en-US" sz="1300" dirty="0">
                <a:solidFill>
                  <a:srgbClr val="2B2B2B"/>
                </a:solidFill>
                <a:latin typeface="Segoe UI" pitchFamily="34" charset="0"/>
                <a:ea typeface="Segoe UI" pitchFamily="34" charset="-122"/>
                <a:cs typeface="Segoe UI" pitchFamily="34" charset="-120"/>
              </a:rPr>
              <a:t>  slots a month</a:t>
            </a:r>
            <a:endParaRPr lang="en-US" sz="4400" dirty="0"/>
          </a:p>
        </p:txBody>
      </p:sp>
      <p:sp>
        <p:nvSpPr>
          <p:cNvPr id="17" name="Text 15"/>
          <p:cNvSpPr/>
          <p:nvPr/>
        </p:nvSpPr>
        <p:spPr>
          <a:xfrm>
            <a:off x="868680" y="3319272"/>
            <a:ext cx="3840480" cy="320040"/>
          </a:xfrm>
          <a:prstGeom prst="rect">
            <a:avLst/>
          </a:prstGeom>
          <a:noFill/>
          <a:ln/>
        </p:spPr>
        <p:txBody>
          <a:bodyPr wrap="square" lIns="0" tIns="0" rIns="0" bIns="0" rtlCol="0" anchor="ctr"/>
          <a:lstStyle/>
          <a:p>
            <a:pPr indent="0" marL="0">
              <a:buNone/>
            </a:pPr>
            <a:r>
              <a:rPr lang="en-US" sz="1200" b="1" dirty="0">
                <a:solidFill>
                  <a:srgbClr val="567A2E"/>
                </a:solidFill>
                <a:latin typeface="Segoe UI" pitchFamily="34" charset="0"/>
                <a:ea typeface="Segoe UI" pitchFamily="34" charset="-122"/>
                <a:cs typeface="Segoe UI" pitchFamily="34" charset="-120"/>
              </a:rPr>
              <a:t>Up from 50</a:t>
            </a:r>
            <a:endParaRPr lang="en-US" sz="1200" dirty="0"/>
          </a:p>
        </p:txBody>
      </p:sp>
      <p:sp>
        <p:nvSpPr>
          <p:cNvPr id="18" name="Shape 16"/>
          <p:cNvSpPr/>
          <p:nvPr/>
        </p:nvSpPr>
        <p:spPr>
          <a:xfrm>
            <a:off x="566928" y="4160520"/>
            <a:ext cx="4343400" cy="1600200"/>
          </a:xfrm>
          <a:prstGeom prst="roundRect">
            <a:avLst>
              <a:gd name="adj" fmla="val 2857"/>
            </a:avLst>
          </a:prstGeom>
          <a:solidFill>
            <a:srgbClr val="F4F7EC"/>
          </a:solidFill>
          <a:ln/>
        </p:spPr>
      </p:sp>
      <p:sp>
        <p:nvSpPr>
          <p:cNvPr id="19" name="Shape 17"/>
          <p:cNvSpPr/>
          <p:nvPr/>
        </p:nvSpPr>
        <p:spPr>
          <a:xfrm>
            <a:off x="566928" y="4160520"/>
            <a:ext cx="73152" cy="1600200"/>
          </a:xfrm>
          <a:prstGeom prst="rect">
            <a:avLst/>
          </a:prstGeom>
          <a:solidFill>
            <a:srgbClr val="567A2E"/>
          </a:solidFill>
          <a:ln/>
        </p:spPr>
      </p:sp>
      <p:sp>
        <p:nvSpPr>
          <p:cNvPr id="20" name="Text 18"/>
          <p:cNvSpPr/>
          <p:nvPr/>
        </p:nvSpPr>
        <p:spPr>
          <a:xfrm>
            <a:off x="868680" y="4325112"/>
            <a:ext cx="3840480" cy="274320"/>
          </a:xfrm>
          <a:prstGeom prst="rect">
            <a:avLst/>
          </a:prstGeom>
          <a:noFill/>
          <a:ln/>
        </p:spPr>
        <p:txBody>
          <a:bodyPr wrap="square" lIns="0" tIns="0" rIns="0" bIns="0" rtlCol="0" anchor="ctr"/>
          <a:lstStyle/>
          <a:p>
            <a:pPr indent="0" marL="0">
              <a:buNone/>
            </a:pPr>
            <a:r>
              <a:rPr lang="en-US" sz="1100" b="1" spc="100" kern="0" dirty="0">
                <a:solidFill>
                  <a:srgbClr val="8A8A80"/>
                </a:solidFill>
                <a:latin typeface="Segoe UI" pitchFamily="34" charset="0"/>
                <a:ea typeface="Segoe UI" pitchFamily="34" charset="-122"/>
                <a:cs typeface="Segoe UI" pitchFamily="34" charset="-120"/>
              </a:rPr>
              <a:t>WEEKLY ENROLLMENTS</a:t>
            </a:r>
            <a:endParaRPr lang="en-US" sz="1100" dirty="0"/>
          </a:p>
        </p:txBody>
      </p:sp>
      <p:sp>
        <p:nvSpPr>
          <p:cNvPr id="21" name="Text 19"/>
          <p:cNvSpPr/>
          <p:nvPr/>
        </p:nvSpPr>
        <p:spPr>
          <a:xfrm>
            <a:off x="868680" y="4636008"/>
            <a:ext cx="3840480" cy="685800"/>
          </a:xfrm>
          <a:prstGeom prst="rect">
            <a:avLst/>
          </a:prstGeom>
          <a:noFill/>
          <a:ln/>
        </p:spPr>
        <p:txBody>
          <a:bodyPr wrap="square" lIns="0" tIns="0" rIns="0" bIns="0" rtlCol="0" anchor="ctr"/>
          <a:lstStyle/>
          <a:p>
            <a:pPr indent="0" marL="0">
              <a:buNone/>
            </a:pPr>
            <a:r>
              <a:rPr lang="en-US" sz="4400" b="1" dirty="0">
                <a:solidFill>
                  <a:srgbClr val="17344F"/>
                </a:solidFill>
                <a:latin typeface="Segoe UI" pitchFamily="34" charset="0"/>
                <a:ea typeface="Segoe UI" pitchFamily="34" charset="-122"/>
                <a:cs typeface="Segoe UI" pitchFamily="34" charset="-120"/>
              </a:rPr>
              <a:t>21</a:t>
            </a:r>
            <a:pPr indent="0" marL="0">
              <a:buNone/>
            </a:pPr>
            <a:r>
              <a:rPr lang="en-US" sz="1300" dirty="0">
                <a:solidFill>
                  <a:srgbClr val="2B2B2B"/>
                </a:solidFill>
                <a:latin typeface="Segoe UI" pitchFamily="34" charset="0"/>
                <a:ea typeface="Segoe UI" pitchFamily="34" charset="-122"/>
                <a:cs typeface="Segoe UI" pitchFamily="34" charset="-120"/>
              </a:rPr>
              <a:t>  a week now</a:t>
            </a:r>
            <a:endParaRPr lang="en-US" sz="4400" dirty="0"/>
          </a:p>
        </p:txBody>
      </p:sp>
      <p:sp>
        <p:nvSpPr>
          <p:cNvPr id="22" name="Text 20"/>
          <p:cNvSpPr/>
          <p:nvPr/>
        </p:nvSpPr>
        <p:spPr>
          <a:xfrm>
            <a:off x="868680" y="5330952"/>
            <a:ext cx="3840480" cy="320040"/>
          </a:xfrm>
          <a:prstGeom prst="rect">
            <a:avLst/>
          </a:prstGeom>
          <a:noFill/>
          <a:ln/>
        </p:spPr>
        <p:txBody>
          <a:bodyPr wrap="square" lIns="0" tIns="0" rIns="0" bIns="0" rtlCol="0" anchor="ctr"/>
          <a:lstStyle/>
          <a:p>
            <a:pPr indent="0" marL="0">
              <a:buNone/>
            </a:pPr>
            <a:r>
              <a:rPr lang="en-US" sz="1200" b="1" dirty="0">
                <a:solidFill>
                  <a:srgbClr val="C0392B"/>
                </a:solidFill>
                <a:latin typeface="Segoe UI" pitchFamily="34" charset="0"/>
                <a:ea typeface="Segoe UI" pitchFamily="34" charset="-122"/>
                <a:cs typeface="Segoe UI" pitchFamily="34" charset="-120"/>
              </a:rPr>
              <a:t>Down from about 27, and the goal is 25 or more</a:t>
            </a:r>
            <a:endParaRPr lang="en-US" sz="1200" dirty="0"/>
          </a:p>
        </p:txBody>
      </p:sp>
      <p:sp>
        <p:nvSpPr>
          <p:cNvPr id="23" name="Text 21"/>
          <p:cNvSpPr/>
          <p:nvPr/>
        </p:nvSpPr>
        <p:spPr>
          <a:xfrm>
            <a:off x="6766560" y="1783080"/>
            <a:ext cx="4206240" cy="274320"/>
          </a:xfrm>
          <a:prstGeom prst="rect">
            <a:avLst/>
          </a:prstGeom>
          <a:noFill/>
          <a:ln/>
        </p:spPr>
        <p:txBody>
          <a:bodyPr wrap="square" lIns="0" tIns="0" rIns="0" bIns="0" rtlCol="0" anchor="ctr"/>
          <a:lstStyle/>
          <a:p>
            <a:pPr algn="ctr" indent="0" marL="0">
              <a:buNone/>
            </a:pPr>
            <a:r>
              <a:rPr lang="en-US" sz="1200" b="1" spc="100" kern="0" dirty="0">
                <a:solidFill>
                  <a:srgbClr val="8A8A80"/>
                </a:solidFill>
                <a:latin typeface="Segoe UI" pitchFamily="34" charset="0"/>
                <a:ea typeface="Segoe UI" pitchFamily="34" charset="-122"/>
                <a:cs typeface="Segoe UI" pitchFamily="34" charset="-120"/>
              </a:rPr>
              <a:t>The enrollment funnel</a:t>
            </a:r>
            <a:endParaRPr lang="en-US" sz="1200" dirty="0"/>
          </a:p>
        </p:txBody>
      </p:sp>
      <p:sp>
        <p:nvSpPr>
          <p:cNvPr id="24" name="Shape 22"/>
          <p:cNvSpPr/>
          <p:nvPr/>
        </p:nvSpPr>
        <p:spPr>
          <a:xfrm>
            <a:off x="6858000" y="2240280"/>
            <a:ext cx="4023360" cy="960120"/>
          </a:xfrm>
          <a:prstGeom prst="rect">
            <a:avLst/>
          </a:prstGeom>
          <a:solidFill>
            <a:srgbClr val="BFD48A"/>
          </a:solidFill>
          <a:ln/>
        </p:spPr>
      </p:sp>
      <p:sp>
        <p:nvSpPr>
          <p:cNvPr id="25" name="Text 23"/>
          <p:cNvSpPr/>
          <p:nvPr/>
        </p:nvSpPr>
        <p:spPr>
          <a:xfrm>
            <a:off x="6858000" y="2240280"/>
            <a:ext cx="4023360" cy="960120"/>
          </a:xfrm>
          <a:prstGeom prst="rect">
            <a:avLst/>
          </a:prstGeom>
          <a:noFill/>
          <a:ln/>
        </p:spPr>
        <p:txBody>
          <a:bodyPr wrap="square" lIns="0" tIns="0" rIns="0" bIns="0" rtlCol="0" anchor="ctr"/>
          <a:lstStyle/>
          <a:p>
            <a:pPr algn="ctr" indent="0" marL="0">
              <a:buNone/>
            </a:pPr>
            <a:r>
              <a:rPr lang="en-US" sz="2600" b="1" dirty="0">
                <a:solidFill>
                  <a:srgbClr val="2B2B2B"/>
                </a:solidFill>
                <a:latin typeface="Segoe UI" pitchFamily="34" charset="0"/>
                <a:ea typeface="Segoe UI" pitchFamily="34" charset="-122"/>
                <a:cs typeface="Segoe UI" pitchFamily="34" charset="-120"/>
              </a:rPr>
              <a:t>100   </a:t>
            </a:r>
            <a:pPr algn="ctr" indent="0" marL="0">
              <a:buNone/>
            </a:pPr>
            <a:r>
              <a:rPr lang="en-US" sz="1250" dirty="0">
                <a:solidFill>
                  <a:srgbClr val="2B2B2B"/>
                </a:solidFill>
                <a:latin typeface="Segoe UI" pitchFamily="34" charset="0"/>
                <a:ea typeface="Segoe UI" pitchFamily="34" charset="-122"/>
                <a:cs typeface="Segoe UI" pitchFamily="34" charset="-120"/>
              </a:rPr>
              <a:t>Enrollments</a:t>
            </a:r>
            <a:endParaRPr lang="en-US" sz="2600" dirty="0"/>
          </a:p>
        </p:txBody>
      </p:sp>
      <p:sp>
        <p:nvSpPr>
          <p:cNvPr id="26" name="Shape 24"/>
          <p:cNvSpPr/>
          <p:nvPr/>
        </p:nvSpPr>
        <p:spPr>
          <a:xfrm flipV="1">
            <a:off x="8705088" y="3218688"/>
            <a:ext cx="329184" cy="201168"/>
          </a:xfrm>
          <a:prstGeom prst="triangle">
            <a:avLst/>
          </a:prstGeom>
          <a:solidFill>
            <a:srgbClr val="C9CEC0"/>
          </a:solidFill>
          <a:ln/>
        </p:spPr>
      </p:sp>
      <p:sp>
        <p:nvSpPr>
          <p:cNvPr id="27" name="Shape 25"/>
          <p:cNvSpPr/>
          <p:nvPr/>
        </p:nvSpPr>
        <p:spPr>
          <a:xfrm>
            <a:off x="7406640" y="3447288"/>
            <a:ext cx="2926080" cy="960120"/>
          </a:xfrm>
          <a:prstGeom prst="rect">
            <a:avLst/>
          </a:prstGeom>
          <a:solidFill>
            <a:srgbClr val="8FB446"/>
          </a:solidFill>
          <a:ln/>
        </p:spPr>
      </p:sp>
      <p:sp>
        <p:nvSpPr>
          <p:cNvPr id="28" name="Text 26"/>
          <p:cNvSpPr/>
          <p:nvPr/>
        </p:nvSpPr>
        <p:spPr>
          <a:xfrm>
            <a:off x="7406640" y="3447288"/>
            <a:ext cx="2926080" cy="960120"/>
          </a:xfrm>
          <a:prstGeom prst="rect">
            <a:avLst/>
          </a:prstGeom>
          <a:noFill/>
          <a:ln/>
        </p:spPr>
        <p:txBody>
          <a:bodyPr wrap="square" lIns="0" tIns="0" rIns="0" bIns="0" rtlCol="0" anchor="ctr"/>
          <a:lstStyle/>
          <a:p>
            <a:pPr algn="ctr" indent="0" marL="0">
              <a:buNone/>
            </a:pPr>
            <a:r>
              <a:rPr lang="en-US" sz="2600" b="1" dirty="0">
                <a:solidFill>
                  <a:srgbClr val="2B2B2B"/>
                </a:solidFill>
                <a:latin typeface="Segoe UI" pitchFamily="34" charset="0"/>
                <a:ea typeface="Segoe UI" pitchFamily="34" charset="-122"/>
                <a:cs typeface="Segoe UI" pitchFamily="34" charset="-120"/>
              </a:rPr>
              <a:t>70   </a:t>
            </a:r>
            <a:pPr algn="ctr" indent="0" marL="0">
              <a:buNone/>
            </a:pPr>
            <a:r>
              <a:rPr lang="en-US" sz="1250" dirty="0">
                <a:solidFill>
                  <a:srgbClr val="2B2B2B"/>
                </a:solidFill>
                <a:latin typeface="Segoe UI" pitchFamily="34" charset="0"/>
                <a:ea typeface="Segoe UI" pitchFamily="34" charset="-122"/>
                <a:cs typeface="Segoe UI" pitchFamily="34" charset="-120"/>
              </a:rPr>
              <a:t>Reach the next step</a:t>
            </a:r>
            <a:endParaRPr lang="en-US" sz="2600" dirty="0"/>
          </a:p>
        </p:txBody>
      </p:sp>
      <p:sp>
        <p:nvSpPr>
          <p:cNvPr id="29" name="Shape 27"/>
          <p:cNvSpPr/>
          <p:nvPr/>
        </p:nvSpPr>
        <p:spPr>
          <a:xfrm flipV="1">
            <a:off x="8705088" y="4425696"/>
            <a:ext cx="329184" cy="201168"/>
          </a:xfrm>
          <a:prstGeom prst="triangle">
            <a:avLst/>
          </a:prstGeom>
          <a:solidFill>
            <a:srgbClr val="C9CEC0"/>
          </a:solidFill>
          <a:ln/>
        </p:spPr>
      </p:sp>
      <p:sp>
        <p:nvSpPr>
          <p:cNvPr id="30" name="Shape 28"/>
          <p:cNvSpPr/>
          <p:nvPr/>
        </p:nvSpPr>
        <p:spPr>
          <a:xfrm>
            <a:off x="7955280" y="4654296"/>
            <a:ext cx="1828800" cy="960120"/>
          </a:xfrm>
          <a:prstGeom prst="rect">
            <a:avLst/>
          </a:prstGeom>
          <a:solidFill>
            <a:srgbClr val="567A2E"/>
          </a:solidFill>
          <a:ln/>
        </p:spPr>
      </p:sp>
      <p:sp>
        <p:nvSpPr>
          <p:cNvPr id="31" name="Text 29"/>
          <p:cNvSpPr/>
          <p:nvPr/>
        </p:nvSpPr>
        <p:spPr>
          <a:xfrm>
            <a:off x="7955280" y="4654296"/>
            <a:ext cx="1828800" cy="960120"/>
          </a:xfrm>
          <a:prstGeom prst="rect">
            <a:avLst/>
          </a:prstGeom>
          <a:noFill/>
          <a:ln/>
        </p:spPr>
        <p:txBody>
          <a:bodyPr wrap="square" lIns="0" tIns="0" rIns="0" bIns="0" rtlCol="0" anchor="ctr"/>
          <a:lstStyle/>
          <a:p>
            <a:pPr algn="ctr" indent="0" marL="0">
              <a:buNone/>
            </a:pPr>
            <a:r>
              <a:rPr lang="en-US" sz="2600" b="1" dirty="0">
                <a:solidFill>
                  <a:srgbClr val="FFFFFF"/>
                </a:solidFill>
                <a:latin typeface="Segoe UI" pitchFamily="34" charset="0"/>
                <a:ea typeface="Segoe UI" pitchFamily="34" charset="-122"/>
                <a:cs typeface="Segoe UI" pitchFamily="34" charset="-120"/>
              </a:rPr>
              <a:t>50   </a:t>
            </a:r>
            <a:pPr algn="ctr" indent="0" marL="0">
              <a:buNone/>
            </a:pPr>
            <a:r>
              <a:rPr lang="en-US" sz="1250" dirty="0">
                <a:solidFill>
                  <a:srgbClr val="FFFFFF"/>
                </a:solidFill>
                <a:latin typeface="Segoe UI" pitchFamily="34" charset="0"/>
                <a:ea typeface="Segoe UI" pitchFamily="34" charset="-122"/>
                <a:cs typeface="Segoe UI" pitchFamily="34" charset="-120"/>
              </a:rPr>
              <a:t>Infusions</a:t>
            </a:r>
            <a:endParaRPr lang="en-US" sz="2600" dirty="0"/>
          </a:p>
        </p:txBody>
      </p:sp>
      <p:sp>
        <p:nvSpPr>
          <p:cNvPr id="32" name="Shape 30"/>
          <p:cNvSpPr/>
          <p:nvPr/>
        </p:nvSpPr>
        <p:spPr>
          <a:xfrm>
            <a:off x="5623560" y="2715768"/>
            <a:ext cx="1207008" cy="0"/>
          </a:xfrm>
          <a:prstGeom prst="line">
            <a:avLst/>
          </a:prstGeom>
          <a:noFill/>
          <a:ln w="25400">
            <a:solidFill>
              <a:srgbClr val="2F5D8A"/>
            </a:solidFill>
            <a:prstDash val="solid"/>
            <a:tailEnd type="triangle"/>
          </a:ln>
        </p:spPr>
      </p:sp>
      <p:sp>
        <p:nvSpPr>
          <p:cNvPr id="33" name="Text 31"/>
          <p:cNvSpPr/>
          <p:nvPr/>
        </p:nvSpPr>
        <p:spPr>
          <a:xfrm>
            <a:off x="4160520" y="2377440"/>
            <a:ext cx="1463040" cy="685800"/>
          </a:xfrm>
          <a:prstGeom prst="rect">
            <a:avLst/>
          </a:prstGeom>
          <a:noFill/>
          <a:ln/>
        </p:spPr>
        <p:txBody>
          <a:bodyPr wrap="square" lIns="0" tIns="0" rIns="0" bIns="0" rtlCol="0" anchor="ctr"/>
          <a:lstStyle/>
          <a:p>
            <a:pPr algn="r" indent="0" marL="0">
              <a:buNone/>
            </a:pPr>
            <a:r>
              <a:rPr lang="en-US" sz="1100" b="1" dirty="0">
                <a:solidFill>
                  <a:srgbClr val="2F5D8A"/>
                </a:solidFill>
                <a:latin typeface="Segoe UI" pitchFamily="34" charset="0"/>
                <a:ea typeface="Segoe UI" pitchFamily="34" charset="-122"/>
                <a:cs typeface="Segoe UI" pitchFamily="34" charset="-120"/>
              </a:rPr>
              <a:t>The contest</a:t>
            </a:r>
            <a:endParaRPr lang="en-US" sz="1100" dirty="0"/>
          </a:p>
          <a:p>
            <a:pPr algn="r" indent="0" marL="0">
              <a:buNone/>
            </a:pPr>
            <a:r>
              <a:rPr lang="en-US" sz="1100" b="1" dirty="0">
                <a:solidFill>
                  <a:srgbClr val="2F5D8A"/>
                </a:solidFill>
                <a:latin typeface="Segoe UI" pitchFamily="34" charset="0"/>
                <a:ea typeface="Segoe UI" pitchFamily="34" charset="-122"/>
                <a:cs typeface="Segoe UI" pitchFamily="34" charset="-120"/>
              </a:rPr>
              <a:t>pushes here</a:t>
            </a:r>
            <a:endParaRPr lang="en-US" sz="1100" dirty="0"/>
          </a:p>
        </p:txBody>
      </p:sp>
      <p:sp>
        <p:nvSpPr>
          <p:cNvPr id="34" name="Text 32"/>
          <p:cNvSpPr/>
          <p:nvPr/>
        </p:nvSpPr>
        <p:spPr>
          <a:xfrm>
            <a:off x="9921240" y="4892040"/>
            <a:ext cx="1554480" cy="548640"/>
          </a:xfrm>
          <a:prstGeom prst="rect">
            <a:avLst/>
          </a:prstGeom>
          <a:noFill/>
          <a:ln/>
        </p:spPr>
        <p:txBody>
          <a:bodyPr wrap="square" lIns="0" tIns="0" rIns="0" bIns="0" rtlCol="0" anchor="ctr"/>
          <a:lstStyle/>
          <a:p>
            <a:pPr algn="l" indent="0" marL="0">
              <a:buNone/>
            </a:pPr>
            <a:r>
              <a:rPr lang="en-US" sz="1050" b="1" dirty="0">
                <a:solidFill>
                  <a:srgbClr val="567A2E"/>
                </a:solidFill>
                <a:latin typeface="Segoe UI" pitchFamily="34" charset="0"/>
                <a:ea typeface="Segoe UI" pitchFamily="34" charset="-122"/>
                <a:cs typeface="Segoe UI" pitchFamily="34" charset="-120"/>
              </a:rPr>
              <a:t>Revenue lands</a:t>
            </a:r>
            <a:endParaRPr lang="en-US" sz="1050" dirty="0"/>
          </a:p>
          <a:p>
            <a:pPr algn="l" indent="0" marL="0">
              <a:buNone/>
            </a:pPr>
            <a:r>
              <a:rPr lang="en-US" sz="1050" b="1" dirty="0">
                <a:solidFill>
                  <a:srgbClr val="567A2E"/>
                </a:solidFill>
                <a:latin typeface="Segoe UI" pitchFamily="34" charset="0"/>
                <a:ea typeface="Segoe UI" pitchFamily="34" charset="-122"/>
                <a:cs typeface="Segoe UI" pitchFamily="34" charset="-120"/>
              </a:rPr>
              <a:t>at this step</a:t>
            </a:r>
            <a:endParaRPr lang="en-US" sz="1050" dirty="0"/>
          </a:p>
        </p:txBody>
      </p:sp>
      <p:sp>
        <p:nvSpPr>
          <p:cNvPr id="35" name="Text 33"/>
          <p:cNvSpPr/>
          <p:nvPr/>
        </p:nvSpPr>
        <p:spPr>
          <a:xfrm>
            <a:off x="566928" y="6272784"/>
            <a:ext cx="8686800" cy="256032"/>
          </a:xfrm>
          <a:prstGeom prst="rect">
            <a:avLst/>
          </a:prstGeom>
          <a:noFill/>
          <a:ln/>
        </p:spPr>
        <p:txBody>
          <a:bodyPr wrap="square" lIns="0" tIns="0" rIns="0" bIns="0" rtlCol="0" anchor="t"/>
          <a:lstStyle/>
          <a:p>
            <a:pPr indent="0" marL="0">
              <a:buNone/>
            </a:pPr>
            <a:r>
              <a:rPr lang="en-US" sz="850" i="1" dirty="0">
                <a:solidFill>
                  <a:srgbClr val="8A8A80"/>
                </a:solidFill>
                <a:latin typeface="Segoe UI" pitchFamily="34" charset="0"/>
                <a:ea typeface="Segoe UI" pitchFamily="34" charset="-122"/>
                <a:cs typeface="Segoe UI" pitchFamily="34" charset="-120"/>
              </a:rPr>
              <a:t>Capacity, enrollment, and funnel figures are the team's current numbers for 2H 2026.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74320"/>
          </a:xfrm>
          <a:prstGeom prst="rect">
            <a:avLst/>
          </a:prstGeom>
          <a:noFill/>
          <a:ln/>
        </p:spPr>
        <p:txBody>
          <a:bodyPr wrap="square" lIns="0" tIns="0" rIns="0" bIns="0" rtlCol="0" anchor="ctr"/>
          <a:lstStyle/>
          <a:p>
            <a:pPr indent="0" marL="0">
              <a:buNone/>
            </a:pPr>
            <a:r>
              <a:rPr lang="en-US" sz="1200" b="1" spc="120" kern="0" dirty="0">
                <a:solidFill>
                  <a:srgbClr val="2F5D8A"/>
                </a:solidFill>
                <a:latin typeface="Segoe UI" pitchFamily="34" charset="0"/>
                <a:ea typeface="Segoe UI" pitchFamily="34" charset="-122"/>
                <a:cs typeface="Segoe UI" pitchFamily="34" charset="-120"/>
              </a:rPr>
              <a:t>The Four Ideas Behind It</a:t>
            </a:r>
            <a:endParaRPr lang="en-US" sz="1200" dirty="0"/>
          </a:p>
        </p:txBody>
      </p:sp>
      <p:sp>
        <p:nvSpPr>
          <p:cNvPr id="3" name="Shape 1"/>
          <p:cNvSpPr/>
          <p:nvPr/>
        </p:nvSpPr>
        <p:spPr>
          <a:xfrm>
            <a:off x="329184" y="731520"/>
            <a:ext cx="109728" cy="109728"/>
          </a:xfrm>
          <a:prstGeom prst="rect">
            <a:avLst/>
          </a:prstGeom>
          <a:solidFill>
            <a:srgbClr val="567A2E"/>
          </a:solidFill>
          <a:ln/>
        </p:spPr>
      </p:sp>
      <p:sp>
        <p:nvSpPr>
          <p:cNvPr id="4" name="Shape 2"/>
          <p:cNvSpPr/>
          <p:nvPr/>
        </p:nvSpPr>
        <p:spPr>
          <a:xfrm>
            <a:off x="11750040" y="731520"/>
            <a:ext cx="109728" cy="109728"/>
          </a:xfrm>
          <a:prstGeom prst="rect">
            <a:avLst/>
          </a:prstGeom>
          <a:solidFill>
            <a:srgbClr val="567A2E"/>
          </a:solidFill>
          <a:ln/>
        </p:spPr>
      </p:sp>
      <p:sp>
        <p:nvSpPr>
          <p:cNvPr id="5" name="Text 3"/>
          <p:cNvSpPr/>
          <p:nvPr/>
        </p:nvSpPr>
        <p:spPr>
          <a:xfrm>
            <a:off x="566928" y="566928"/>
            <a:ext cx="11018520" cy="868680"/>
          </a:xfrm>
          <a:prstGeom prst="rect">
            <a:avLst/>
          </a:prstGeom>
          <a:noFill/>
          <a:ln/>
        </p:spPr>
        <p:txBody>
          <a:bodyPr wrap="square" lIns="0" tIns="0" rIns="0" bIns="0" rtlCol="0" anchor="t"/>
          <a:lstStyle/>
          <a:p>
            <a:pPr indent="0" marL="0">
              <a:lnSpc>
                <a:spcPct val="100000"/>
              </a:lnSpc>
              <a:buNone/>
            </a:pPr>
            <a:r>
              <a:rPr lang="en-US" sz="2300" b="1" dirty="0">
                <a:solidFill>
                  <a:srgbClr val="17344F"/>
                </a:solidFill>
                <a:latin typeface="Segoe UI" pitchFamily="34" charset="0"/>
                <a:ea typeface="Segoe UI" pitchFamily="34" charset="-122"/>
                <a:cs typeface="Segoe UI" pitchFamily="34" charset="-120"/>
              </a:rPr>
              <a:t>We built the contest on four simple ideas, so it stays fair for every territory</a:t>
            </a:r>
            <a:endParaRPr lang="en-US" sz="2300" dirty="0"/>
          </a:p>
        </p:txBody>
      </p:sp>
      <p:sp>
        <p:nvSpPr>
          <p:cNvPr id="6" name="Shape 4"/>
          <p:cNvSpPr/>
          <p:nvPr/>
        </p:nvSpPr>
        <p:spPr>
          <a:xfrm>
            <a:off x="0" y="6556248"/>
            <a:ext cx="12191695" cy="301752"/>
          </a:xfrm>
          <a:prstGeom prst="rect">
            <a:avLst/>
          </a:prstGeom>
          <a:solidFill>
            <a:srgbClr val="9DC13C"/>
          </a:solidFill>
          <a:ln/>
        </p:spPr>
      </p:sp>
      <p:sp>
        <p:nvSpPr>
          <p:cNvPr id="7" name="Shape 5"/>
          <p:cNvSpPr/>
          <p:nvPr/>
        </p:nvSpPr>
        <p:spPr>
          <a:xfrm flipH="1">
            <a:off x="9646920" y="6309360"/>
            <a:ext cx="502920" cy="548640"/>
          </a:xfrm>
          <a:prstGeom prst="rtTriangle">
            <a:avLst/>
          </a:prstGeom>
          <a:solidFill>
            <a:srgbClr val="9DC13C"/>
          </a:solidFill>
          <a:ln/>
        </p:spPr>
      </p:sp>
      <p:sp>
        <p:nvSpPr>
          <p:cNvPr id="8" name="Shape 6"/>
          <p:cNvSpPr/>
          <p:nvPr/>
        </p:nvSpPr>
        <p:spPr>
          <a:xfrm>
            <a:off x="10131552" y="6309360"/>
            <a:ext cx="2060143" cy="548640"/>
          </a:xfrm>
          <a:prstGeom prst="rect">
            <a:avLst/>
          </a:prstGeom>
          <a:solidFill>
            <a:srgbClr val="9DC13C"/>
          </a:solidFill>
          <a:ln/>
        </p:spPr>
      </p:sp>
      <p:sp>
        <p:nvSpPr>
          <p:cNvPr id="9" name="Text 7"/>
          <p:cNvSpPr/>
          <p:nvPr/>
        </p:nvSpPr>
        <p:spPr>
          <a:xfrm>
            <a:off x="274320" y="6556248"/>
            <a:ext cx="7772400" cy="301752"/>
          </a:xfrm>
          <a:prstGeom prst="rect">
            <a:avLst/>
          </a:prstGeom>
          <a:noFill/>
          <a:ln/>
        </p:spPr>
        <p:txBody>
          <a:bodyPr wrap="square" lIns="0" tIns="0" rIns="0" bIns="0" rtlCol="0" anchor="ctr"/>
          <a:lstStyle/>
          <a:p>
            <a:pPr indent="0" marL="0">
              <a:buNone/>
            </a:pPr>
            <a:r>
              <a:rPr lang="en-US" sz="700" dirty="0">
                <a:solidFill>
                  <a:srgbClr val="FFFFFF"/>
                </a:solidFill>
                <a:latin typeface="Segoe UI" pitchFamily="34" charset="0"/>
                <a:ea typeface="Segoe UI" pitchFamily="34" charset="-122"/>
                <a:cs typeface="Segoe UI" pitchFamily="34" charset="-120"/>
              </a:rPr>
              <a:t>© 2026, Iovance Biotherapeutics, Inc.  |  Confidential for Internal Use Only</a:t>
            </a:r>
            <a:endParaRPr lang="en-US" sz="700" dirty="0"/>
          </a:p>
        </p:txBody>
      </p:sp>
      <p:sp>
        <p:nvSpPr>
          <p:cNvPr id="10" name="Text 8"/>
          <p:cNvSpPr/>
          <p:nvPr/>
        </p:nvSpPr>
        <p:spPr>
          <a:xfrm>
            <a:off x="10058400" y="6309360"/>
            <a:ext cx="1600200" cy="548640"/>
          </a:xfrm>
          <a:prstGeom prst="rect">
            <a:avLst/>
          </a:prstGeom>
          <a:noFill/>
          <a:ln/>
        </p:spPr>
        <p:txBody>
          <a:bodyPr wrap="square" lIns="0" tIns="0" rIns="0" bIns="0" rtlCol="0" anchor="ctr"/>
          <a:lstStyle/>
          <a:p>
            <a:pPr algn="r" indent="0" marL="0">
              <a:buNone/>
            </a:pPr>
            <a:r>
              <a:rPr lang="en-US" sz="1300" b="1" spc="100" kern="0" dirty="0">
                <a:solidFill>
                  <a:srgbClr val="FFFFFF"/>
                </a:solidFill>
                <a:latin typeface="Cambria" pitchFamily="34" charset="0"/>
                <a:ea typeface="Cambria" pitchFamily="34" charset="-122"/>
                <a:cs typeface="Cambria" pitchFamily="34" charset="-120"/>
              </a:rPr>
              <a:t>IOVANCE</a:t>
            </a:r>
            <a:endParaRPr lang="en-US" sz="1300" dirty="0"/>
          </a:p>
        </p:txBody>
      </p:sp>
      <p:sp>
        <p:nvSpPr>
          <p:cNvPr id="11" name="Shape 9"/>
          <p:cNvSpPr/>
          <p:nvPr/>
        </p:nvSpPr>
        <p:spPr>
          <a:xfrm>
            <a:off x="11722608" y="6473952"/>
            <a:ext cx="219456" cy="219456"/>
          </a:xfrm>
          <a:prstGeom prst="ellipse">
            <a:avLst/>
          </a:prstGeom>
          <a:solidFill>
            <a:srgbClr val="FFFFFF"/>
          </a:solidFill>
          <a:ln/>
        </p:spPr>
      </p:sp>
      <p:sp>
        <p:nvSpPr>
          <p:cNvPr id="12" name="Text 10"/>
          <p:cNvSpPr/>
          <p:nvPr/>
        </p:nvSpPr>
        <p:spPr>
          <a:xfrm>
            <a:off x="11722608" y="6473952"/>
            <a:ext cx="219456" cy="219456"/>
          </a:xfrm>
          <a:prstGeom prst="rect">
            <a:avLst/>
          </a:prstGeom>
          <a:noFill/>
          <a:ln/>
        </p:spPr>
        <p:txBody>
          <a:bodyPr wrap="square" lIns="0" tIns="0" rIns="0" bIns="0" rtlCol="0" anchor="ctr"/>
          <a:lstStyle/>
          <a:p>
            <a:pPr algn="ctr" indent="0" marL="0">
              <a:buNone/>
            </a:pPr>
            <a:r>
              <a:rPr lang="en-US" sz="900" b="1" dirty="0">
                <a:solidFill>
                  <a:srgbClr val="567A2E"/>
                </a:solidFill>
                <a:latin typeface="Segoe UI" pitchFamily="34" charset="0"/>
                <a:ea typeface="Segoe UI" pitchFamily="34" charset="-122"/>
                <a:cs typeface="Segoe UI" pitchFamily="34" charset="-120"/>
              </a:rPr>
              <a:t>3</a:t>
            </a:r>
            <a:endParaRPr lang="en-US" sz="900" dirty="0"/>
          </a:p>
        </p:txBody>
      </p:sp>
      <p:sp>
        <p:nvSpPr>
          <p:cNvPr id="13" name="Shape 11"/>
          <p:cNvSpPr/>
          <p:nvPr/>
        </p:nvSpPr>
        <p:spPr>
          <a:xfrm>
            <a:off x="4352544" y="2194560"/>
            <a:ext cx="3474720" cy="3474720"/>
          </a:xfrm>
          <a:prstGeom prst="pie">
            <a:avLst>
              <a:gd name="adj1" fmla="val 10800000"/>
              <a:gd name="adj2" fmla="val 16200000"/>
            </a:avLst>
          </a:prstGeom>
          <a:solidFill>
            <a:srgbClr val="4A6B2E"/>
          </a:solidFill>
          <a:ln/>
        </p:spPr>
      </p:sp>
      <p:sp>
        <p:nvSpPr>
          <p:cNvPr id="14" name="Shape 12"/>
          <p:cNvSpPr/>
          <p:nvPr/>
        </p:nvSpPr>
        <p:spPr>
          <a:xfrm>
            <a:off x="4352544" y="2194560"/>
            <a:ext cx="3474720" cy="3474720"/>
          </a:xfrm>
          <a:prstGeom prst="pie">
            <a:avLst>
              <a:gd name="adj1" fmla="val 16200000"/>
              <a:gd name="adj2" fmla="val 21600000"/>
            </a:avLst>
          </a:prstGeom>
          <a:solidFill>
            <a:srgbClr val="2E6DA4"/>
          </a:solidFill>
          <a:ln/>
        </p:spPr>
      </p:sp>
      <p:sp>
        <p:nvSpPr>
          <p:cNvPr id="15" name="Shape 13"/>
          <p:cNvSpPr/>
          <p:nvPr/>
        </p:nvSpPr>
        <p:spPr>
          <a:xfrm>
            <a:off x="4352544" y="2194560"/>
            <a:ext cx="3474720" cy="3474720"/>
          </a:xfrm>
          <a:prstGeom prst="pie">
            <a:avLst>
              <a:gd name="adj1" fmla="val 5400000"/>
              <a:gd name="adj2" fmla="val 10800000"/>
            </a:avLst>
          </a:prstGeom>
          <a:solidFill>
            <a:srgbClr val="1F3A56"/>
          </a:solidFill>
          <a:ln/>
        </p:spPr>
      </p:sp>
      <p:sp>
        <p:nvSpPr>
          <p:cNvPr id="16" name="Shape 14"/>
          <p:cNvSpPr/>
          <p:nvPr/>
        </p:nvSpPr>
        <p:spPr>
          <a:xfrm>
            <a:off x="4352544" y="2194560"/>
            <a:ext cx="3474720" cy="3474720"/>
          </a:xfrm>
          <a:prstGeom prst="pie">
            <a:avLst>
              <a:gd name="adj1" fmla="val 0"/>
              <a:gd name="adj2" fmla="val 5400000"/>
            </a:avLst>
          </a:prstGeom>
          <a:solidFill>
            <a:srgbClr val="7F8B8F"/>
          </a:solidFill>
          <a:ln/>
        </p:spPr>
      </p:sp>
      <p:sp>
        <p:nvSpPr>
          <p:cNvPr id="17" name="Text 15"/>
          <p:cNvSpPr/>
          <p:nvPr/>
        </p:nvSpPr>
        <p:spPr>
          <a:xfrm>
            <a:off x="4398264" y="2651760"/>
            <a:ext cx="1417320" cy="777240"/>
          </a:xfrm>
          <a:prstGeom prst="rect">
            <a:avLst/>
          </a:prstGeom>
          <a:noFill/>
          <a:ln/>
        </p:spPr>
        <p:txBody>
          <a:bodyPr wrap="square" lIns="0" tIns="0" rIns="0" bIns="0" rtlCol="0" anchor="ctr"/>
          <a:lstStyle/>
          <a:p>
            <a:pPr algn="ctr" indent="0" marL="0">
              <a:buNone/>
            </a:pPr>
            <a:r>
              <a:rPr lang="en-US" sz="1350" b="1" dirty="0">
                <a:solidFill>
                  <a:srgbClr val="FFFFFF"/>
                </a:solidFill>
                <a:latin typeface="Segoe UI" pitchFamily="34" charset="0"/>
                <a:ea typeface="Segoe UI" pitchFamily="34" charset="-122"/>
                <a:cs typeface="Segoe UI" pitchFamily="34" charset="-120"/>
              </a:rPr>
              <a:t>Grow over</a:t>
            </a:r>
            <a:endParaRPr lang="en-US" sz="1350" dirty="0"/>
          </a:p>
          <a:p>
            <a:pPr algn="ctr" indent="0" marL="0">
              <a:buNone/>
            </a:pPr>
            <a:r>
              <a:rPr lang="en-US" sz="1350" b="1" dirty="0">
                <a:solidFill>
                  <a:srgbClr val="FFFFFF"/>
                </a:solidFill>
                <a:latin typeface="Segoe UI" pitchFamily="34" charset="0"/>
                <a:ea typeface="Segoe UI" pitchFamily="34" charset="-122"/>
                <a:cs typeface="Segoe UI" pitchFamily="34" charset="-120"/>
              </a:rPr>
              <a:t>Baseline</a:t>
            </a:r>
            <a:endParaRPr lang="en-US" sz="1350" dirty="0"/>
          </a:p>
        </p:txBody>
      </p:sp>
      <p:sp>
        <p:nvSpPr>
          <p:cNvPr id="18" name="Text 16"/>
          <p:cNvSpPr/>
          <p:nvPr/>
        </p:nvSpPr>
        <p:spPr>
          <a:xfrm>
            <a:off x="6409944" y="2697480"/>
            <a:ext cx="1371600" cy="731520"/>
          </a:xfrm>
          <a:prstGeom prst="rect">
            <a:avLst/>
          </a:prstGeom>
          <a:noFill/>
          <a:ln/>
        </p:spPr>
        <p:txBody>
          <a:bodyPr wrap="square" lIns="0" tIns="0" rIns="0" bIns="0" rtlCol="0" anchor="ctr"/>
          <a:lstStyle/>
          <a:p>
            <a:pPr algn="ctr" indent="0" marL="0">
              <a:buNone/>
            </a:pPr>
            <a:r>
              <a:rPr lang="en-US" sz="1350" b="1" dirty="0">
                <a:solidFill>
                  <a:srgbClr val="FFFFFF"/>
                </a:solidFill>
                <a:latin typeface="Segoe UI" pitchFamily="34" charset="0"/>
                <a:ea typeface="Segoe UI" pitchFamily="34" charset="-122"/>
                <a:cs typeface="Segoe UI" pitchFamily="34" charset="-120"/>
              </a:rPr>
              <a:t>Fair by</a:t>
            </a:r>
            <a:endParaRPr lang="en-US" sz="1350" dirty="0"/>
          </a:p>
          <a:p>
            <a:pPr algn="ctr" indent="0" marL="0">
              <a:buNone/>
            </a:pPr>
            <a:r>
              <a:rPr lang="en-US" sz="1350" b="1" dirty="0">
                <a:solidFill>
                  <a:srgbClr val="FFFFFF"/>
                </a:solidFill>
                <a:latin typeface="Segoe UI" pitchFamily="34" charset="0"/>
                <a:ea typeface="Segoe UI" pitchFamily="34" charset="-122"/>
                <a:cs typeface="Segoe UI" pitchFamily="34" charset="-120"/>
              </a:rPr>
              <a:t>Size</a:t>
            </a:r>
            <a:endParaRPr lang="en-US" sz="1350" dirty="0"/>
          </a:p>
        </p:txBody>
      </p:sp>
      <p:sp>
        <p:nvSpPr>
          <p:cNvPr id="19" name="Text 17"/>
          <p:cNvSpPr/>
          <p:nvPr/>
        </p:nvSpPr>
        <p:spPr>
          <a:xfrm>
            <a:off x="4398264" y="4389120"/>
            <a:ext cx="1417320" cy="777240"/>
          </a:xfrm>
          <a:prstGeom prst="rect">
            <a:avLst/>
          </a:prstGeom>
          <a:noFill/>
          <a:ln/>
        </p:spPr>
        <p:txBody>
          <a:bodyPr wrap="square" lIns="0" tIns="0" rIns="0" bIns="0" rtlCol="0" anchor="ctr"/>
          <a:lstStyle/>
          <a:p>
            <a:pPr algn="ctr" indent="0" marL="0">
              <a:buNone/>
            </a:pPr>
            <a:r>
              <a:rPr lang="en-US" sz="1350" b="1" dirty="0">
                <a:solidFill>
                  <a:srgbClr val="FFFFFF"/>
                </a:solidFill>
                <a:latin typeface="Segoe UI" pitchFamily="34" charset="0"/>
                <a:ea typeface="Segoe UI" pitchFamily="34" charset="-122"/>
                <a:cs typeface="Segoe UI" pitchFamily="34" charset="-120"/>
              </a:rPr>
              <a:t>Count and</a:t>
            </a:r>
            <a:endParaRPr lang="en-US" sz="1350" dirty="0"/>
          </a:p>
          <a:p>
            <a:pPr algn="ctr" indent="0" marL="0">
              <a:buNone/>
            </a:pPr>
            <a:r>
              <a:rPr lang="en-US" sz="1350" b="1" dirty="0">
                <a:solidFill>
                  <a:srgbClr val="FFFFFF"/>
                </a:solidFill>
                <a:latin typeface="Segoe UI" pitchFamily="34" charset="0"/>
                <a:ea typeface="Segoe UI" pitchFamily="34" charset="-122"/>
                <a:cs typeface="Segoe UI" pitchFamily="34" charset="-120"/>
              </a:rPr>
              <a:t>Percent</a:t>
            </a:r>
            <a:endParaRPr lang="en-US" sz="1350" dirty="0"/>
          </a:p>
        </p:txBody>
      </p:sp>
      <p:sp>
        <p:nvSpPr>
          <p:cNvPr id="20" name="Text 18"/>
          <p:cNvSpPr/>
          <p:nvPr/>
        </p:nvSpPr>
        <p:spPr>
          <a:xfrm>
            <a:off x="6409944" y="4434840"/>
            <a:ext cx="1371600" cy="640080"/>
          </a:xfrm>
          <a:prstGeom prst="rect">
            <a:avLst/>
          </a:prstGeom>
          <a:noFill/>
          <a:ln/>
        </p:spPr>
        <p:txBody>
          <a:bodyPr wrap="square" lIns="0" tIns="0" rIns="0" bIns="0" rtlCol="0" anchor="ctr"/>
          <a:lstStyle/>
          <a:p>
            <a:pPr algn="ctr" indent="0" marL="0">
              <a:buNone/>
            </a:pPr>
            <a:r>
              <a:rPr lang="en-US" sz="1350" b="1" dirty="0">
                <a:solidFill>
                  <a:srgbClr val="FFFFFF"/>
                </a:solidFill>
                <a:latin typeface="Segoe UI" pitchFamily="34" charset="0"/>
                <a:ea typeface="Segoe UI" pitchFamily="34" charset="-122"/>
                <a:cs typeface="Segoe UI" pitchFamily="34" charset="-120"/>
              </a:rPr>
              <a:t>Quality</a:t>
            </a:r>
            <a:endParaRPr lang="en-US" sz="1350" dirty="0"/>
          </a:p>
        </p:txBody>
      </p:sp>
      <p:sp>
        <p:nvSpPr>
          <p:cNvPr id="21" name="Shape 19"/>
          <p:cNvSpPr/>
          <p:nvPr/>
        </p:nvSpPr>
        <p:spPr>
          <a:xfrm>
            <a:off x="5312664" y="3154680"/>
            <a:ext cx="1554480" cy="1554480"/>
          </a:xfrm>
          <a:prstGeom prst="ellipse">
            <a:avLst/>
          </a:prstGeom>
          <a:solidFill>
            <a:srgbClr val="FFFFFF"/>
          </a:solidFill>
          <a:ln w="19050">
            <a:solidFill>
              <a:srgbClr val="567A2E"/>
            </a:solidFill>
            <a:prstDash val="solid"/>
          </a:ln>
        </p:spPr>
      </p:sp>
      <p:sp>
        <p:nvSpPr>
          <p:cNvPr id="22" name="Text 20"/>
          <p:cNvSpPr/>
          <p:nvPr/>
        </p:nvSpPr>
        <p:spPr>
          <a:xfrm>
            <a:off x="5312664" y="3154680"/>
            <a:ext cx="1554480" cy="1554480"/>
          </a:xfrm>
          <a:prstGeom prst="rect">
            <a:avLst/>
          </a:prstGeom>
          <a:noFill/>
          <a:ln/>
        </p:spPr>
        <p:txBody>
          <a:bodyPr wrap="square" lIns="0" tIns="0" rIns="0" bIns="0" rtlCol="0" anchor="ctr"/>
          <a:lstStyle/>
          <a:p>
            <a:pPr algn="ctr" indent="0" marL="0">
              <a:buNone/>
            </a:pPr>
            <a:r>
              <a:rPr lang="en-US" sz="1200" b="1" dirty="0">
                <a:solidFill>
                  <a:srgbClr val="567A2E"/>
                </a:solidFill>
                <a:latin typeface="Segoe UI" pitchFamily="34" charset="0"/>
                <a:ea typeface="Segoe UI" pitchFamily="34" charset="-122"/>
                <a:cs typeface="Segoe UI" pitchFamily="34" charset="-120"/>
              </a:rPr>
              <a:t>Reward</a:t>
            </a:r>
            <a:endParaRPr lang="en-US" sz="1200" dirty="0"/>
          </a:p>
          <a:p>
            <a:pPr algn="ctr" indent="0" marL="0">
              <a:buNone/>
            </a:pPr>
            <a:r>
              <a:rPr lang="en-US" sz="1200" b="1" dirty="0">
                <a:solidFill>
                  <a:srgbClr val="567A2E"/>
                </a:solidFill>
                <a:latin typeface="Segoe UI" pitchFamily="34" charset="0"/>
                <a:ea typeface="Segoe UI" pitchFamily="34" charset="-122"/>
                <a:cs typeface="Segoe UI" pitchFamily="34" charset="-120"/>
              </a:rPr>
              <a:t>enrollment</a:t>
            </a:r>
            <a:endParaRPr lang="en-US" sz="1200" dirty="0"/>
          </a:p>
          <a:p>
            <a:pPr algn="ctr" indent="0" marL="0">
              <a:buNone/>
            </a:pPr>
            <a:r>
              <a:rPr lang="en-US" sz="1200" b="1" dirty="0">
                <a:solidFill>
                  <a:srgbClr val="567A2E"/>
                </a:solidFill>
                <a:latin typeface="Segoe UI" pitchFamily="34" charset="0"/>
                <a:ea typeface="Segoe UI" pitchFamily="34" charset="-122"/>
                <a:cs typeface="Segoe UI" pitchFamily="34" charset="-120"/>
              </a:rPr>
              <a:t>growth</a:t>
            </a:r>
            <a:endParaRPr lang="en-US" sz="1200" dirty="0"/>
          </a:p>
        </p:txBody>
      </p:sp>
      <p:sp>
        <p:nvSpPr>
          <p:cNvPr id="23" name="Shape 21"/>
          <p:cNvSpPr/>
          <p:nvPr/>
        </p:nvSpPr>
        <p:spPr>
          <a:xfrm>
            <a:off x="566928" y="1783080"/>
            <a:ext cx="2514600" cy="1234440"/>
          </a:xfrm>
          <a:prstGeom prst="roundRect">
            <a:avLst>
              <a:gd name="adj" fmla="val 4444"/>
            </a:avLst>
          </a:prstGeom>
          <a:solidFill>
            <a:srgbClr val="F7F9F1"/>
          </a:solidFill>
          <a:ln w="12700">
            <a:solidFill>
              <a:srgbClr val="4A6B2E"/>
            </a:solidFill>
            <a:prstDash val="solid"/>
          </a:ln>
        </p:spPr>
      </p:sp>
      <p:sp>
        <p:nvSpPr>
          <p:cNvPr id="24" name="Text 22"/>
          <p:cNvSpPr/>
          <p:nvPr/>
        </p:nvSpPr>
        <p:spPr>
          <a:xfrm>
            <a:off x="704088" y="1892808"/>
            <a:ext cx="2240280" cy="274320"/>
          </a:xfrm>
          <a:prstGeom prst="rect">
            <a:avLst/>
          </a:prstGeom>
          <a:noFill/>
          <a:ln/>
        </p:spPr>
        <p:txBody>
          <a:bodyPr wrap="square" lIns="0" tIns="0" rIns="0" bIns="0" rtlCol="0" anchor="ctr"/>
          <a:lstStyle/>
          <a:p>
            <a:pPr indent="0" marL="0">
              <a:buNone/>
            </a:pPr>
            <a:r>
              <a:rPr lang="en-US" sz="1250" b="1" dirty="0">
                <a:solidFill>
                  <a:srgbClr val="4A6B2E"/>
                </a:solidFill>
                <a:latin typeface="Segoe UI" pitchFamily="34" charset="0"/>
                <a:ea typeface="Segoe UI" pitchFamily="34" charset="-122"/>
                <a:cs typeface="Segoe UI" pitchFamily="34" charset="-120"/>
              </a:rPr>
              <a:t>Grow over your own baseline</a:t>
            </a:r>
            <a:endParaRPr lang="en-US" sz="1250" dirty="0"/>
          </a:p>
        </p:txBody>
      </p:sp>
      <p:sp>
        <p:nvSpPr>
          <p:cNvPr id="25" name="Text 23"/>
          <p:cNvSpPr/>
          <p:nvPr/>
        </p:nvSpPr>
        <p:spPr>
          <a:xfrm>
            <a:off x="704088" y="2185416"/>
            <a:ext cx="2240280" cy="777240"/>
          </a:xfrm>
          <a:prstGeom prst="rect">
            <a:avLst/>
          </a:prstGeom>
          <a:noFill/>
          <a:ln/>
        </p:spPr>
        <p:txBody>
          <a:bodyPr wrap="square" lIns="0" tIns="0" rIns="0" bIns="0" rtlCol="0" anchor="t"/>
          <a:lstStyle/>
          <a:p>
            <a:pPr indent="0" marL="0">
              <a:lnSpc>
                <a:spcPct val="100000"/>
              </a:lnSpc>
              <a:buNone/>
            </a:pPr>
            <a:r>
              <a:rPr lang="en-US" sz="1050" dirty="0">
                <a:solidFill>
                  <a:srgbClr val="17344F"/>
                </a:solidFill>
                <a:latin typeface="Segoe UI" pitchFamily="34" charset="0"/>
                <a:ea typeface="Segoe UI" pitchFamily="34" charset="-122"/>
                <a:cs typeface="Segoe UI" pitchFamily="34" charset="-120"/>
              </a:rPr>
              <a:t>Each territory is measured against its own past numbers, so no one wins just for being big or loses for being small.</a:t>
            </a:r>
            <a:endParaRPr lang="en-US" sz="1050" dirty="0"/>
          </a:p>
        </p:txBody>
      </p:sp>
      <p:sp>
        <p:nvSpPr>
          <p:cNvPr id="26" name="Shape 24"/>
          <p:cNvSpPr/>
          <p:nvPr/>
        </p:nvSpPr>
        <p:spPr>
          <a:xfrm>
            <a:off x="9107424" y="1783080"/>
            <a:ext cx="2514600" cy="1234440"/>
          </a:xfrm>
          <a:prstGeom prst="roundRect">
            <a:avLst>
              <a:gd name="adj" fmla="val 4444"/>
            </a:avLst>
          </a:prstGeom>
          <a:solidFill>
            <a:srgbClr val="F7F9F1"/>
          </a:solidFill>
          <a:ln w="12700">
            <a:solidFill>
              <a:srgbClr val="2E6DA4"/>
            </a:solidFill>
            <a:prstDash val="solid"/>
          </a:ln>
        </p:spPr>
      </p:sp>
      <p:sp>
        <p:nvSpPr>
          <p:cNvPr id="27" name="Text 25"/>
          <p:cNvSpPr/>
          <p:nvPr/>
        </p:nvSpPr>
        <p:spPr>
          <a:xfrm>
            <a:off x="9244584" y="1892808"/>
            <a:ext cx="2240280" cy="274320"/>
          </a:xfrm>
          <a:prstGeom prst="rect">
            <a:avLst/>
          </a:prstGeom>
          <a:noFill/>
          <a:ln/>
        </p:spPr>
        <p:txBody>
          <a:bodyPr wrap="square" lIns="0" tIns="0" rIns="0" bIns="0" rtlCol="0" anchor="ctr"/>
          <a:lstStyle/>
          <a:p>
            <a:pPr indent="0" marL="0">
              <a:buNone/>
            </a:pPr>
            <a:r>
              <a:rPr lang="en-US" sz="1250" b="1" dirty="0">
                <a:solidFill>
                  <a:srgbClr val="2E6DA4"/>
                </a:solidFill>
                <a:latin typeface="Segoe UI" pitchFamily="34" charset="0"/>
                <a:ea typeface="Segoe UI" pitchFamily="34" charset="-122"/>
                <a:cs typeface="Segoe UI" pitchFamily="34" charset="-120"/>
              </a:rPr>
              <a:t>Fair by size</a:t>
            </a:r>
            <a:endParaRPr lang="en-US" sz="1250" dirty="0"/>
          </a:p>
        </p:txBody>
      </p:sp>
      <p:sp>
        <p:nvSpPr>
          <p:cNvPr id="28" name="Text 26"/>
          <p:cNvSpPr/>
          <p:nvPr/>
        </p:nvSpPr>
        <p:spPr>
          <a:xfrm>
            <a:off x="9244584" y="2185416"/>
            <a:ext cx="2240280" cy="777240"/>
          </a:xfrm>
          <a:prstGeom prst="rect">
            <a:avLst/>
          </a:prstGeom>
          <a:noFill/>
          <a:ln/>
        </p:spPr>
        <p:txBody>
          <a:bodyPr wrap="square" lIns="0" tIns="0" rIns="0" bIns="0" rtlCol="0" anchor="t"/>
          <a:lstStyle/>
          <a:p>
            <a:pPr indent="0" marL="0">
              <a:lnSpc>
                <a:spcPct val="100000"/>
              </a:lnSpc>
              <a:buNone/>
            </a:pPr>
            <a:r>
              <a:rPr lang="en-US" sz="1050" dirty="0">
                <a:solidFill>
                  <a:srgbClr val="17344F"/>
                </a:solidFill>
                <a:latin typeface="Segoe UI" pitchFamily="34" charset="0"/>
                <a:ea typeface="Segoe UI" pitchFamily="34" charset="-122"/>
                <a:cs typeface="Segoe UI" pitchFamily="34" charset="-120"/>
              </a:rPr>
              <a:t>We sort territories into large, medium, and small, so you only compete with others your own size.</a:t>
            </a:r>
            <a:endParaRPr lang="en-US" sz="1050" dirty="0"/>
          </a:p>
        </p:txBody>
      </p:sp>
      <p:sp>
        <p:nvSpPr>
          <p:cNvPr id="29" name="Shape 27"/>
          <p:cNvSpPr/>
          <p:nvPr/>
        </p:nvSpPr>
        <p:spPr>
          <a:xfrm>
            <a:off x="566928" y="4572000"/>
            <a:ext cx="2514600" cy="1234440"/>
          </a:xfrm>
          <a:prstGeom prst="roundRect">
            <a:avLst>
              <a:gd name="adj" fmla="val 4444"/>
            </a:avLst>
          </a:prstGeom>
          <a:solidFill>
            <a:srgbClr val="F7F9F1"/>
          </a:solidFill>
          <a:ln w="12700">
            <a:solidFill>
              <a:srgbClr val="1F3A56"/>
            </a:solidFill>
            <a:prstDash val="solid"/>
          </a:ln>
        </p:spPr>
      </p:sp>
      <p:sp>
        <p:nvSpPr>
          <p:cNvPr id="30" name="Text 28"/>
          <p:cNvSpPr/>
          <p:nvPr/>
        </p:nvSpPr>
        <p:spPr>
          <a:xfrm>
            <a:off x="704088" y="4681728"/>
            <a:ext cx="2240280" cy="274320"/>
          </a:xfrm>
          <a:prstGeom prst="rect">
            <a:avLst/>
          </a:prstGeom>
          <a:noFill/>
          <a:ln/>
        </p:spPr>
        <p:txBody>
          <a:bodyPr wrap="square" lIns="0" tIns="0" rIns="0" bIns="0" rtlCol="0" anchor="ctr"/>
          <a:lstStyle/>
          <a:p>
            <a:pPr indent="0" marL="0">
              <a:buNone/>
            </a:pPr>
            <a:r>
              <a:rPr lang="en-US" sz="1250" b="1" dirty="0">
                <a:solidFill>
                  <a:srgbClr val="1F3A56"/>
                </a:solidFill>
                <a:latin typeface="Segoe UI" pitchFamily="34" charset="0"/>
                <a:ea typeface="Segoe UI" pitchFamily="34" charset="-122"/>
                <a:cs typeface="Segoe UI" pitchFamily="34" charset="-120"/>
              </a:rPr>
              <a:t>Count and percent</a:t>
            </a:r>
            <a:endParaRPr lang="en-US" sz="1250" dirty="0"/>
          </a:p>
        </p:txBody>
      </p:sp>
      <p:sp>
        <p:nvSpPr>
          <p:cNvPr id="31" name="Text 29"/>
          <p:cNvSpPr/>
          <p:nvPr/>
        </p:nvSpPr>
        <p:spPr>
          <a:xfrm>
            <a:off x="704088" y="4974336"/>
            <a:ext cx="2240280" cy="777240"/>
          </a:xfrm>
          <a:prstGeom prst="rect">
            <a:avLst/>
          </a:prstGeom>
          <a:noFill/>
          <a:ln/>
        </p:spPr>
        <p:txBody>
          <a:bodyPr wrap="square" lIns="0" tIns="0" rIns="0" bIns="0" rtlCol="0" anchor="t"/>
          <a:lstStyle/>
          <a:p>
            <a:pPr indent="0" marL="0">
              <a:lnSpc>
                <a:spcPct val="100000"/>
              </a:lnSpc>
              <a:buNone/>
            </a:pPr>
            <a:r>
              <a:rPr lang="en-US" sz="1050" dirty="0">
                <a:solidFill>
                  <a:srgbClr val="17344F"/>
                </a:solidFill>
                <a:latin typeface="Segoe UI" pitchFamily="34" charset="0"/>
                <a:ea typeface="Segoe UI" pitchFamily="34" charset="-122"/>
                <a:cs typeface="Segoe UI" pitchFamily="34" charset="-120"/>
              </a:rPr>
              <a:t>We score both patients added and percent growth, so a big and a small territory both have a real chance.</a:t>
            </a:r>
            <a:endParaRPr lang="en-US" sz="1050" dirty="0"/>
          </a:p>
        </p:txBody>
      </p:sp>
      <p:sp>
        <p:nvSpPr>
          <p:cNvPr id="32" name="Shape 30"/>
          <p:cNvSpPr/>
          <p:nvPr/>
        </p:nvSpPr>
        <p:spPr>
          <a:xfrm>
            <a:off x="9107424" y="4572000"/>
            <a:ext cx="2514600" cy="1234440"/>
          </a:xfrm>
          <a:prstGeom prst="roundRect">
            <a:avLst>
              <a:gd name="adj" fmla="val 4444"/>
            </a:avLst>
          </a:prstGeom>
          <a:solidFill>
            <a:srgbClr val="F7F9F1"/>
          </a:solidFill>
          <a:ln w="12700">
            <a:solidFill>
              <a:srgbClr val="7F8B8F"/>
            </a:solidFill>
            <a:prstDash val="solid"/>
          </a:ln>
        </p:spPr>
      </p:sp>
      <p:sp>
        <p:nvSpPr>
          <p:cNvPr id="33" name="Text 31"/>
          <p:cNvSpPr/>
          <p:nvPr/>
        </p:nvSpPr>
        <p:spPr>
          <a:xfrm>
            <a:off x="9244584" y="4681728"/>
            <a:ext cx="2240280" cy="274320"/>
          </a:xfrm>
          <a:prstGeom prst="rect">
            <a:avLst/>
          </a:prstGeom>
          <a:noFill/>
          <a:ln/>
        </p:spPr>
        <p:txBody>
          <a:bodyPr wrap="square" lIns="0" tIns="0" rIns="0" bIns="0" rtlCol="0" anchor="ctr"/>
          <a:lstStyle/>
          <a:p>
            <a:pPr indent="0" marL="0">
              <a:buNone/>
            </a:pPr>
            <a:r>
              <a:rPr lang="en-US" sz="1250" b="1" dirty="0">
                <a:solidFill>
                  <a:srgbClr val="7F8B8F"/>
                </a:solidFill>
                <a:latin typeface="Segoe UI" pitchFamily="34" charset="0"/>
                <a:ea typeface="Segoe UI" pitchFamily="34" charset="-122"/>
                <a:cs typeface="Segoe UI" pitchFamily="34" charset="-120"/>
              </a:rPr>
              <a:t>Quality, not chasing numbers</a:t>
            </a:r>
            <a:endParaRPr lang="en-US" sz="1250" dirty="0"/>
          </a:p>
        </p:txBody>
      </p:sp>
      <p:sp>
        <p:nvSpPr>
          <p:cNvPr id="34" name="Text 32"/>
          <p:cNvSpPr/>
          <p:nvPr/>
        </p:nvSpPr>
        <p:spPr>
          <a:xfrm>
            <a:off x="9244584" y="4974336"/>
            <a:ext cx="2240280" cy="777240"/>
          </a:xfrm>
          <a:prstGeom prst="rect">
            <a:avLst/>
          </a:prstGeom>
          <a:noFill/>
          <a:ln/>
        </p:spPr>
        <p:txBody>
          <a:bodyPr wrap="square" lIns="0" tIns="0" rIns="0" bIns="0" rtlCol="0" anchor="t"/>
          <a:lstStyle/>
          <a:p>
            <a:pPr indent="0" marL="0">
              <a:lnSpc>
                <a:spcPct val="100000"/>
              </a:lnSpc>
              <a:buNone/>
            </a:pPr>
            <a:r>
              <a:rPr lang="en-US" sz="1050" dirty="0">
                <a:solidFill>
                  <a:srgbClr val="17344F"/>
                </a:solidFill>
                <a:latin typeface="Segoe UI" pitchFamily="34" charset="0"/>
                <a:ea typeface="Segoe UI" pitchFamily="34" charset="-122"/>
                <a:cs typeface="Segoe UI" pitchFamily="34" charset="-120"/>
              </a:rPr>
              <a:t>A separate prize goes to the territories whose patients actually move forward to treatment.</a:t>
            </a:r>
            <a:endParaRPr lang="en-US" sz="1050" dirty="0"/>
          </a:p>
        </p:txBody>
      </p:sp>
      <p:sp>
        <p:nvSpPr>
          <p:cNvPr id="35" name="Shape 33"/>
          <p:cNvSpPr/>
          <p:nvPr/>
        </p:nvSpPr>
        <p:spPr>
          <a:xfrm>
            <a:off x="3081528" y="2377440"/>
            <a:ext cx="1417320" cy="640080"/>
          </a:xfrm>
          <a:prstGeom prst="line">
            <a:avLst/>
          </a:prstGeom>
          <a:noFill/>
          <a:ln w="12700">
            <a:solidFill>
              <a:srgbClr val="D6DBC9"/>
            </a:solidFill>
            <a:prstDash val="solid"/>
          </a:ln>
        </p:spPr>
      </p:sp>
      <p:sp>
        <p:nvSpPr>
          <p:cNvPr id="36" name="Shape 34"/>
          <p:cNvSpPr/>
          <p:nvPr/>
        </p:nvSpPr>
        <p:spPr>
          <a:xfrm>
            <a:off x="7680960" y="2377440"/>
            <a:ext cx="1417320" cy="640080"/>
          </a:xfrm>
          <a:prstGeom prst="line">
            <a:avLst/>
          </a:prstGeom>
          <a:noFill/>
          <a:ln w="12700">
            <a:solidFill>
              <a:srgbClr val="D6DBC9"/>
            </a:solidFill>
            <a:prstDash val="solid"/>
          </a:ln>
        </p:spPr>
      </p:sp>
      <p:sp>
        <p:nvSpPr>
          <p:cNvPr id="37" name="Shape 35"/>
          <p:cNvSpPr/>
          <p:nvPr/>
        </p:nvSpPr>
        <p:spPr>
          <a:xfrm flipV="1">
            <a:off x="3081528" y="4480560"/>
            <a:ext cx="1417320" cy="640080"/>
          </a:xfrm>
          <a:prstGeom prst="line">
            <a:avLst/>
          </a:prstGeom>
          <a:noFill/>
          <a:ln w="12700">
            <a:solidFill>
              <a:srgbClr val="D6DBC9"/>
            </a:solidFill>
            <a:prstDash val="solid"/>
          </a:ln>
        </p:spPr>
      </p:sp>
      <p:sp>
        <p:nvSpPr>
          <p:cNvPr id="38" name="Shape 36"/>
          <p:cNvSpPr/>
          <p:nvPr/>
        </p:nvSpPr>
        <p:spPr>
          <a:xfrm flipV="1">
            <a:off x="7680960" y="4480560"/>
            <a:ext cx="1417320" cy="640080"/>
          </a:xfrm>
          <a:prstGeom prst="line">
            <a:avLst/>
          </a:prstGeom>
          <a:noFill/>
          <a:ln w="12700">
            <a:solidFill>
              <a:srgbClr val="D6DBC9"/>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74320"/>
          </a:xfrm>
          <a:prstGeom prst="rect">
            <a:avLst/>
          </a:prstGeom>
          <a:noFill/>
          <a:ln/>
        </p:spPr>
        <p:txBody>
          <a:bodyPr wrap="square" lIns="0" tIns="0" rIns="0" bIns="0" rtlCol="0" anchor="ctr"/>
          <a:lstStyle/>
          <a:p>
            <a:pPr indent="0" marL="0">
              <a:buNone/>
            </a:pPr>
            <a:r>
              <a:rPr lang="en-US" sz="1200" b="1" spc="120" kern="0" dirty="0">
                <a:solidFill>
                  <a:srgbClr val="2F5D8A"/>
                </a:solidFill>
                <a:latin typeface="Segoe UI" pitchFamily="34" charset="0"/>
                <a:ea typeface="Segoe UI" pitchFamily="34" charset="-122"/>
                <a:cs typeface="Segoe UI" pitchFamily="34" charset="-120"/>
              </a:rPr>
              <a:t>The Fairness Problem</a:t>
            </a:r>
            <a:endParaRPr lang="en-US" sz="1200" dirty="0"/>
          </a:p>
        </p:txBody>
      </p:sp>
      <p:sp>
        <p:nvSpPr>
          <p:cNvPr id="3" name="Shape 1"/>
          <p:cNvSpPr/>
          <p:nvPr/>
        </p:nvSpPr>
        <p:spPr>
          <a:xfrm>
            <a:off x="329184" y="731520"/>
            <a:ext cx="109728" cy="109728"/>
          </a:xfrm>
          <a:prstGeom prst="rect">
            <a:avLst/>
          </a:prstGeom>
          <a:solidFill>
            <a:srgbClr val="567A2E"/>
          </a:solidFill>
          <a:ln/>
        </p:spPr>
      </p:sp>
      <p:sp>
        <p:nvSpPr>
          <p:cNvPr id="4" name="Shape 2"/>
          <p:cNvSpPr/>
          <p:nvPr/>
        </p:nvSpPr>
        <p:spPr>
          <a:xfrm>
            <a:off x="11750040" y="731520"/>
            <a:ext cx="109728" cy="109728"/>
          </a:xfrm>
          <a:prstGeom prst="rect">
            <a:avLst/>
          </a:prstGeom>
          <a:solidFill>
            <a:srgbClr val="567A2E"/>
          </a:solidFill>
          <a:ln/>
        </p:spPr>
      </p:sp>
      <p:sp>
        <p:nvSpPr>
          <p:cNvPr id="5" name="Text 3"/>
          <p:cNvSpPr/>
          <p:nvPr/>
        </p:nvSpPr>
        <p:spPr>
          <a:xfrm>
            <a:off x="566928" y="566928"/>
            <a:ext cx="11018520" cy="868680"/>
          </a:xfrm>
          <a:prstGeom prst="rect">
            <a:avLst/>
          </a:prstGeom>
          <a:noFill/>
          <a:ln/>
        </p:spPr>
        <p:txBody>
          <a:bodyPr wrap="square" lIns="0" tIns="0" rIns="0" bIns="0" rtlCol="0" anchor="t"/>
          <a:lstStyle/>
          <a:p>
            <a:pPr indent="0" marL="0">
              <a:lnSpc>
                <a:spcPct val="100000"/>
              </a:lnSpc>
              <a:buNone/>
            </a:pPr>
            <a:r>
              <a:rPr lang="en-US" sz="2300" b="1" dirty="0">
                <a:solidFill>
                  <a:srgbClr val="17344F"/>
                </a:solidFill>
                <a:latin typeface="Segoe UI" pitchFamily="34" charset="0"/>
                <a:ea typeface="Segoe UI" pitchFamily="34" charset="-122"/>
                <a:cs typeface="Segoe UI" pitchFamily="34" charset="-120"/>
              </a:rPr>
              <a:t>Our territories are far too different in size to compete head to head, so we group them first</a:t>
            </a:r>
            <a:endParaRPr lang="en-US" sz="2300" dirty="0"/>
          </a:p>
        </p:txBody>
      </p:sp>
      <p:sp>
        <p:nvSpPr>
          <p:cNvPr id="6" name="Shape 4"/>
          <p:cNvSpPr/>
          <p:nvPr/>
        </p:nvSpPr>
        <p:spPr>
          <a:xfrm>
            <a:off x="0" y="6556248"/>
            <a:ext cx="12191695" cy="301752"/>
          </a:xfrm>
          <a:prstGeom prst="rect">
            <a:avLst/>
          </a:prstGeom>
          <a:solidFill>
            <a:srgbClr val="9DC13C"/>
          </a:solidFill>
          <a:ln/>
        </p:spPr>
      </p:sp>
      <p:sp>
        <p:nvSpPr>
          <p:cNvPr id="7" name="Shape 5"/>
          <p:cNvSpPr/>
          <p:nvPr/>
        </p:nvSpPr>
        <p:spPr>
          <a:xfrm flipH="1">
            <a:off x="9646920" y="6309360"/>
            <a:ext cx="502920" cy="548640"/>
          </a:xfrm>
          <a:prstGeom prst="rtTriangle">
            <a:avLst/>
          </a:prstGeom>
          <a:solidFill>
            <a:srgbClr val="9DC13C"/>
          </a:solidFill>
          <a:ln/>
        </p:spPr>
      </p:sp>
      <p:sp>
        <p:nvSpPr>
          <p:cNvPr id="8" name="Shape 6"/>
          <p:cNvSpPr/>
          <p:nvPr/>
        </p:nvSpPr>
        <p:spPr>
          <a:xfrm>
            <a:off x="10131552" y="6309360"/>
            <a:ext cx="2060143" cy="548640"/>
          </a:xfrm>
          <a:prstGeom prst="rect">
            <a:avLst/>
          </a:prstGeom>
          <a:solidFill>
            <a:srgbClr val="9DC13C"/>
          </a:solidFill>
          <a:ln/>
        </p:spPr>
      </p:sp>
      <p:sp>
        <p:nvSpPr>
          <p:cNvPr id="9" name="Text 7"/>
          <p:cNvSpPr/>
          <p:nvPr/>
        </p:nvSpPr>
        <p:spPr>
          <a:xfrm>
            <a:off x="274320" y="6556248"/>
            <a:ext cx="7772400" cy="301752"/>
          </a:xfrm>
          <a:prstGeom prst="rect">
            <a:avLst/>
          </a:prstGeom>
          <a:noFill/>
          <a:ln/>
        </p:spPr>
        <p:txBody>
          <a:bodyPr wrap="square" lIns="0" tIns="0" rIns="0" bIns="0" rtlCol="0" anchor="ctr"/>
          <a:lstStyle/>
          <a:p>
            <a:pPr indent="0" marL="0">
              <a:buNone/>
            </a:pPr>
            <a:r>
              <a:rPr lang="en-US" sz="700" dirty="0">
                <a:solidFill>
                  <a:srgbClr val="FFFFFF"/>
                </a:solidFill>
                <a:latin typeface="Segoe UI" pitchFamily="34" charset="0"/>
                <a:ea typeface="Segoe UI" pitchFamily="34" charset="-122"/>
                <a:cs typeface="Segoe UI" pitchFamily="34" charset="-120"/>
              </a:rPr>
              <a:t>© 2026, Iovance Biotherapeutics, Inc.  |  Confidential for Internal Use Only</a:t>
            </a:r>
            <a:endParaRPr lang="en-US" sz="700" dirty="0"/>
          </a:p>
        </p:txBody>
      </p:sp>
      <p:sp>
        <p:nvSpPr>
          <p:cNvPr id="10" name="Text 8"/>
          <p:cNvSpPr/>
          <p:nvPr/>
        </p:nvSpPr>
        <p:spPr>
          <a:xfrm>
            <a:off x="10058400" y="6309360"/>
            <a:ext cx="1600200" cy="548640"/>
          </a:xfrm>
          <a:prstGeom prst="rect">
            <a:avLst/>
          </a:prstGeom>
          <a:noFill/>
          <a:ln/>
        </p:spPr>
        <p:txBody>
          <a:bodyPr wrap="square" lIns="0" tIns="0" rIns="0" bIns="0" rtlCol="0" anchor="ctr"/>
          <a:lstStyle/>
          <a:p>
            <a:pPr algn="r" indent="0" marL="0">
              <a:buNone/>
            </a:pPr>
            <a:r>
              <a:rPr lang="en-US" sz="1300" b="1" spc="100" kern="0" dirty="0">
                <a:solidFill>
                  <a:srgbClr val="FFFFFF"/>
                </a:solidFill>
                <a:latin typeface="Cambria" pitchFamily="34" charset="0"/>
                <a:ea typeface="Cambria" pitchFamily="34" charset="-122"/>
                <a:cs typeface="Cambria" pitchFamily="34" charset="-120"/>
              </a:rPr>
              <a:t>IOVANCE</a:t>
            </a:r>
            <a:endParaRPr lang="en-US" sz="1300" dirty="0"/>
          </a:p>
        </p:txBody>
      </p:sp>
      <p:sp>
        <p:nvSpPr>
          <p:cNvPr id="11" name="Shape 9"/>
          <p:cNvSpPr/>
          <p:nvPr/>
        </p:nvSpPr>
        <p:spPr>
          <a:xfrm>
            <a:off x="11722608" y="6473952"/>
            <a:ext cx="219456" cy="219456"/>
          </a:xfrm>
          <a:prstGeom prst="ellipse">
            <a:avLst/>
          </a:prstGeom>
          <a:solidFill>
            <a:srgbClr val="FFFFFF"/>
          </a:solidFill>
          <a:ln/>
        </p:spPr>
      </p:sp>
      <p:sp>
        <p:nvSpPr>
          <p:cNvPr id="12" name="Text 10"/>
          <p:cNvSpPr/>
          <p:nvPr/>
        </p:nvSpPr>
        <p:spPr>
          <a:xfrm>
            <a:off x="11722608" y="6473952"/>
            <a:ext cx="219456" cy="219456"/>
          </a:xfrm>
          <a:prstGeom prst="rect">
            <a:avLst/>
          </a:prstGeom>
          <a:noFill/>
          <a:ln/>
        </p:spPr>
        <p:txBody>
          <a:bodyPr wrap="square" lIns="0" tIns="0" rIns="0" bIns="0" rtlCol="0" anchor="ctr"/>
          <a:lstStyle/>
          <a:p>
            <a:pPr algn="ctr" indent="0" marL="0">
              <a:buNone/>
            </a:pPr>
            <a:r>
              <a:rPr lang="en-US" sz="900" b="1" dirty="0">
                <a:solidFill>
                  <a:srgbClr val="567A2E"/>
                </a:solidFill>
                <a:latin typeface="Segoe UI" pitchFamily="34" charset="0"/>
                <a:ea typeface="Segoe UI" pitchFamily="34" charset="-122"/>
                <a:cs typeface="Segoe UI" pitchFamily="34" charset="-120"/>
              </a:rPr>
              <a:t>4</a:t>
            </a:r>
            <a:endParaRPr lang="en-US" sz="900" dirty="0"/>
          </a:p>
        </p:txBody>
      </p:sp>
      <p:sp>
        <p:nvSpPr>
          <p:cNvPr id="13" name="Text 11"/>
          <p:cNvSpPr/>
          <p:nvPr/>
        </p:nvSpPr>
        <p:spPr>
          <a:xfrm>
            <a:off x="566928" y="1737360"/>
            <a:ext cx="7498080" cy="274320"/>
          </a:xfrm>
          <a:prstGeom prst="rect">
            <a:avLst/>
          </a:prstGeom>
          <a:noFill/>
          <a:ln/>
        </p:spPr>
        <p:txBody>
          <a:bodyPr wrap="square" lIns="0" tIns="0" rIns="0" bIns="0" rtlCol="0" anchor="ctr"/>
          <a:lstStyle/>
          <a:p>
            <a:pPr indent="0" marL="0">
              <a:buNone/>
            </a:pPr>
            <a:r>
              <a:rPr lang="en-US" sz="1200" b="1" spc="100" kern="0" dirty="0">
                <a:solidFill>
                  <a:srgbClr val="8A8A80"/>
                </a:solidFill>
                <a:latin typeface="Segoe UI" pitchFamily="34" charset="0"/>
                <a:ea typeface="Segoe UI" pitchFamily="34" charset="-122"/>
                <a:cs typeface="Segoe UI" pitchFamily="34" charset="-120"/>
              </a:rPr>
              <a:t>Territory size, largest to smallest</a:t>
            </a:r>
            <a:endParaRPr lang="en-US" sz="1200" dirty="0"/>
          </a:p>
        </p:txBody>
      </p:sp>
      <p:graphicFrame>
        <p:nvGraphicFramePr>
          <p:cNvPr id="14" name="Chart 0" descr=""/>
          <p:cNvGraphicFramePr/>
          <p:nvPr/>
        </p:nvGraphicFramePr>
        <p:xfrm>
          <a:off x="566928" y="2011680"/>
          <a:ext cx="7498080" cy="338328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p:nvPr/>
        </p:nvSpPr>
        <p:spPr>
          <a:xfrm>
            <a:off x="1325880" y="2121408"/>
            <a:ext cx="1737360" cy="548640"/>
          </a:xfrm>
          <a:prstGeom prst="rect">
            <a:avLst/>
          </a:prstGeom>
          <a:noFill/>
          <a:ln/>
        </p:spPr>
        <p:txBody>
          <a:bodyPr wrap="square" lIns="0" tIns="0" rIns="0" bIns="0" rtlCol="0" anchor="t"/>
          <a:lstStyle/>
          <a:p>
            <a:pPr indent="0" marL="0">
              <a:buNone/>
            </a:pPr>
            <a:r>
              <a:rPr lang="en-US" sz="1050" b="1" dirty="0">
                <a:solidFill>
                  <a:srgbClr val="567A2E"/>
                </a:solidFill>
                <a:latin typeface="Segoe UI" pitchFamily="34" charset="0"/>
                <a:ea typeface="Segoe UI" pitchFamily="34" charset="-122"/>
                <a:cs typeface="Segoe UI" pitchFamily="34" charset="-120"/>
              </a:rPr>
              <a:t>About 1,015 patients</a:t>
            </a:r>
            <a:endParaRPr lang="en-US" sz="1050" dirty="0"/>
          </a:p>
          <a:p>
            <a:pPr indent="0" marL="0">
              <a:buNone/>
            </a:pPr>
            <a:r>
              <a:rPr lang="en-US" sz="1050" b="1" dirty="0">
                <a:solidFill>
                  <a:srgbClr val="567A2E"/>
                </a:solidFill>
                <a:latin typeface="Segoe UI" pitchFamily="34" charset="0"/>
                <a:ea typeface="Segoe UI" pitchFamily="34" charset="-122"/>
                <a:cs typeface="Segoe UI" pitchFamily="34" charset="-120"/>
              </a:rPr>
              <a:t>in the largest</a:t>
            </a:r>
            <a:endParaRPr lang="en-US" sz="1050" dirty="0"/>
          </a:p>
        </p:txBody>
      </p:sp>
      <p:sp>
        <p:nvSpPr>
          <p:cNvPr id="16" name="Text 13"/>
          <p:cNvSpPr/>
          <p:nvPr/>
        </p:nvSpPr>
        <p:spPr>
          <a:xfrm>
            <a:off x="6583680" y="4663440"/>
            <a:ext cx="1463040" cy="548640"/>
          </a:xfrm>
          <a:prstGeom prst="rect">
            <a:avLst/>
          </a:prstGeom>
          <a:noFill/>
          <a:ln/>
        </p:spPr>
        <p:txBody>
          <a:bodyPr wrap="square" lIns="0" tIns="0" rIns="0" bIns="0" rtlCol="0" anchor="t"/>
          <a:lstStyle/>
          <a:p>
            <a:pPr algn="r" indent="0" marL="0">
              <a:buNone/>
            </a:pPr>
            <a:r>
              <a:rPr lang="en-US" sz="1050" b="1" dirty="0">
                <a:solidFill>
                  <a:srgbClr val="C0392B"/>
                </a:solidFill>
                <a:latin typeface="Segoe UI" pitchFamily="34" charset="0"/>
                <a:ea typeface="Segoe UI" pitchFamily="34" charset="-122"/>
                <a:cs typeface="Segoe UI" pitchFamily="34" charset="-120"/>
              </a:rPr>
              <a:t>About 12 in</a:t>
            </a:r>
            <a:endParaRPr lang="en-US" sz="1050" dirty="0"/>
          </a:p>
          <a:p>
            <a:pPr algn="r" indent="0" marL="0">
              <a:buNone/>
            </a:pPr>
            <a:r>
              <a:rPr lang="en-US" sz="1050" b="1" dirty="0">
                <a:solidFill>
                  <a:srgbClr val="C0392B"/>
                </a:solidFill>
                <a:latin typeface="Segoe UI" pitchFamily="34" charset="0"/>
                <a:ea typeface="Segoe UI" pitchFamily="34" charset="-122"/>
                <a:cs typeface="Segoe UI" pitchFamily="34" charset="-120"/>
              </a:rPr>
              <a:t>the smallest</a:t>
            </a:r>
            <a:endParaRPr lang="en-US" sz="1050" dirty="0"/>
          </a:p>
        </p:txBody>
      </p:sp>
      <p:sp>
        <p:nvSpPr>
          <p:cNvPr id="17" name="Shape 14"/>
          <p:cNvSpPr/>
          <p:nvPr/>
        </p:nvSpPr>
        <p:spPr>
          <a:xfrm>
            <a:off x="8321040" y="2011680"/>
            <a:ext cx="3310128" cy="1325880"/>
          </a:xfrm>
          <a:prstGeom prst="roundRect">
            <a:avLst>
              <a:gd name="adj" fmla="val 4138"/>
            </a:avLst>
          </a:prstGeom>
          <a:solidFill>
            <a:srgbClr val="F7F9F1"/>
          </a:solidFill>
          <a:ln w="12700">
            <a:solidFill>
              <a:srgbClr val="7F8B8F"/>
            </a:solidFill>
            <a:prstDash val="solid"/>
          </a:ln>
        </p:spPr>
      </p:sp>
      <p:sp>
        <p:nvSpPr>
          <p:cNvPr id="18" name="Text 15"/>
          <p:cNvSpPr/>
          <p:nvPr/>
        </p:nvSpPr>
        <p:spPr>
          <a:xfrm>
            <a:off x="8503920" y="2148840"/>
            <a:ext cx="3017520" cy="274320"/>
          </a:xfrm>
          <a:prstGeom prst="rect">
            <a:avLst/>
          </a:prstGeom>
          <a:noFill/>
          <a:ln/>
        </p:spPr>
        <p:txBody>
          <a:bodyPr wrap="square" lIns="0" tIns="0" rIns="0" bIns="0" rtlCol="0" anchor="ctr"/>
          <a:lstStyle/>
          <a:p>
            <a:pPr indent="0" marL="0">
              <a:buNone/>
            </a:pPr>
            <a:r>
              <a:rPr lang="en-US" sz="1300" b="1" dirty="0">
                <a:solidFill>
                  <a:srgbClr val="7F8B8F"/>
                </a:solidFill>
                <a:latin typeface="Segoe UI" pitchFamily="34" charset="0"/>
                <a:ea typeface="Segoe UI" pitchFamily="34" charset="-122"/>
                <a:cs typeface="Segoe UI" pitchFamily="34" charset="-120"/>
              </a:rPr>
              <a:t>By region, fairly even</a:t>
            </a:r>
            <a:endParaRPr lang="en-US" sz="1300" dirty="0"/>
          </a:p>
        </p:txBody>
      </p:sp>
      <p:sp>
        <p:nvSpPr>
          <p:cNvPr id="19" name="Text 16"/>
          <p:cNvSpPr/>
          <p:nvPr/>
        </p:nvSpPr>
        <p:spPr>
          <a:xfrm>
            <a:off x="8503920" y="2450592"/>
            <a:ext cx="3017520" cy="777240"/>
          </a:xfrm>
          <a:prstGeom prst="rect">
            <a:avLst/>
          </a:prstGeom>
          <a:noFill/>
          <a:ln/>
        </p:spPr>
        <p:txBody>
          <a:bodyPr wrap="square" lIns="0" tIns="0" rIns="0" bIns="0" rtlCol="0" anchor="t"/>
          <a:lstStyle/>
          <a:p>
            <a:pPr indent="0" marL="0">
              <a:buNone/>
            </a:pPr>
            <a:r>
              <a:rPr lang="en-US" sz="1100" dirty="0">
                <a:solidFill>
                  <a:srgbClr val="17344F"/>
                </a:solidFill>
                <a:latin typeface="Segoe UI" pitchFamily="34" charset="0"/>
                <a:ea typeface="Segoe UI" pitchFamily="34" charset="-122"/>
                <a:cs typeface="Segoe UI" pitchFamily="34" charset="-120"/>
              </a:rPr>
              <a:t>The six regions sit close together. Region is too broad a lens to tell one rep apart from another.</a:t>
            </a:r>
            <a:endParaRPr lang="en-US" sz="1100" dirty="0"/>
          </a:p>
        </p:txBody>
      </p:sp>
      <p:sp>
        <p:nvSpPr>
          <p:cNvPr id="20" name="Shape 17"/>
          <p:cNvSpPr/>
          <p:nvPr/>
        </p:nvSpPr>
        <p:spPr>
          <a:xfrm>
            <a:off x="8321040" y="4069080"/>
            <a:ext cx="3310128" cy="1325880"/>
          </a:xfrm>
          <a:prstGeom prst="roundRect">
            <a:avLst>
              <a:gd name="adj" fmla="val 4138"/>
            </a:avLst>
          </a:prstGeom>
          <a:solidFill>
            <a:srgbClr val="F7F9F1"/>
          </a:solidFill>
          <a:ln w="15875">
            <a:solidFill>
              <a:srgbClr val="567A2E"/>
            </a:solidFill>
            <a:prstDash val="solid"/>
          </a:ln>
        </p:spPr>
      </p:sp>
      <p:sp>
        <p:nvSpPr>
          <p:cNvPr id="21" name="Text 18"/>
          <p:cNvSpPr/>
          <p:nvPr/>
        </p:nvSpPr>
        <p:spPr>
          <a:xfrm>
            <a:off x="8503920" y="4206240"/>
            <a:ext cx="3017520" cy="274320"/>
          </a:xfrm>
          <a:prstGeom prst="rect">
            <a:avLst/>
          </a:prstGeom>
          <a:noFill/>
          <a:ln/>
        </p:spPr>
        <p:txBody>
          <a:bodyPr wrap="square" lIns="0" tIns="0" rIns="0" bIns="0" rtlCol="0" anchor="ctr"/>
          <a:lstStyle/>
          <a:p>
            <a:pPr indent="0" marL="0">
              <a:buNone/>
            </a:pPr>
            <a:r>
              <a:rPr lang="en-US" sz="1300" b="1" dirty="0">
                <a:solidFill>
                  <a:srgbClr val="567A2E"/>
                </a:solidFill>
                <a:latin typeface="Segoe UI" pitchFamily="34" charset="0"/>
                <a:ea typeface="Segoe UI" pitchFamily="34" charset="-122"/>
                <a:cs typeface="Segoe UI" pitchFamily="34" charset="-120"/>
              </a:rPr>
              <a:t>By territory, very uneven</a:t>
            </a:r>
            <a:endParaRPr lang="en-US" sz="1300" dirty="0"/>
          </a:p>
        </p:txBody>
      </p:sp>
      <p:sp>
        <p:nvSpPr>
          <p:cNvPr id="22" name="Text 19"/>
          <p:cNvSpPr/>
          <p:nvPr/>
        </p:nvSpPr>
        <p:spPr>
          <a:xfrm>
            <a:off x="8503920" y="4507992"/>
            <a:ext cx="3017520" cy="777240"/>
          </a:xfrm>
          <a:prstGeom prst="rect">
            <a:avLst/>
          </a:prstGeom>
          <a:noFill/>
          <a:ln/>
        </p:spPr>
        <p:txBody>
          <a:bodyPr wrap="square" lIns="0" tIns="0" rIns="0" bIns="0" rtlCol="0" anchor="t"/>
          <a:lstStyle/>
          <a:p>
            <a:pPr indent="0" marL="0">
              <a:buNone/>
            </a:pPr>
            <a:r>
              <a:rPr lang="en-US" sz="1100" b="1" dirty="0">
                <a:solidFill>
                  <a:srgbClr val="17344F"/>
                </a:solidFill>
                <a:latin typeface="Segoe UI" pitchFamily="34" charset="0"/>
                <a:ea typeface="Segoe UI" pitchFamily="34" charset="-122"/>
                <a:cs typeface="Segoe UI" pitchFamily="34" charset="-120"/>
              </a:rPr>
              <a:t>About 85 times</a:t>
            </a:r>
            <a:pPr indent="0" marL="0">
              <a:buNone/>
            </a:pPr>
            <a:r>
              <a:rPr lang="en-US" sz="1100" dirty="0">
                <a:solidFill>
                  <a:srgbClr val="17344F"/>
                </a:solidFill>
                <a:latin typeface="Segoe UI" pitchFamily="34" charset="0"/>
                <a:ea typeface="Segoe UI" pitchFamily="34" charset="-122"/>
                <a:cs typeface="Segoe UI" pitchFamily="34" charset="-120"/>
              </a:rPr>
              <a:t> separates the largest territory from the smallest. Comparing them head to head would never be fair.</a:t>
            </a:r>
            <a:endParaRPr lang="en-US" sz="1100" dirty="0"/>
          </a:p>
        </p:txBody>
      </p:sp>
      <p:sp>
        <p:nvSpPr>
          <p:cNvPr id="23" name="Shape 20"/>
          <p:cNvSpPr/>
          <p:nvPr/>
        </p:nvSpPr>
        <p:spPr>
          <a:xfrm>
            <a:off x="566928" y="5623560"/>
            <a:ext cx="11064240" cy="548640"/>
          </a:xfrm>
          <a:prstGeom prst="rect">
            <a:avLst/>
          </a:prstGeom>
          <a:solidFill>
            <a:srgbClr val="E7EFD6"/>
          </a:solidFill>
          <a:ln/>
        </p:spPr>
      </p:sp>
      <p:sp>
        <p:nvSpPr>
          <p:cNvPr id="24" name="Text 21"/>
          <p:cNvSpPr/>
          <p:nvPr/>
        </p:nvSpPr>
        <p:spPr>
          <a:xfrm>
            <a:off x="749808" y="5623560"/>
            <a:ext cx="10698480" cy="548640"/>
          </a:xfrm>
          <a:prstGeom prst="rect">
            <a:avLst/>
          </a:prstGeom>
          <a:noFill/>
          <a:ln/>
        </p:spPr>
        <p:txBody>
          <a:bodyPr wrap="square" lIns="0" tIns="0" rIns="0" bIns="0" rtlCol="0" anchor="ctr"/>
          <a:lstStyle/>
          <a:p>
            <a:pPr indent="0" marL="0">
              <a:buNone/>
            </a:pPr>
            <a:r>
              <a:rPr lang="en-US" sz="1250" b="1" dirty="0">
                <a:solidFill>
                  <a:srgbClr val="567A2E"/>
                </a:solidFill>
                <a:latin typeface="Segoe UI" pitchFamily="34" charset="0"/>
                <a:ea typeface="Segoe UI" pitchFamily="34" charset="-122"/>
                <a:cs typeface="Segoe UI" pitchFamily="34" charset="-120"/>
              </a:rPr>
              <a:t>So we group first.  </a:t>
            </a:r>
            <a:pPr indent="0" marL="0">
              <a:buNone/>
            </a:pPr>
            <a:r>
              <a:rPr lang="en-US" sz="1250" dirty="0">
                <a:solidFill>
                  <a:srgbClr val="17344F"/>
                </a:solidFill>
                <a:latin typeface="Segoe UI" pitchFamily="34" charset="0"/>
                <a:ea typeface="Segoe UI" pitchFamily="34" charset="-122"/>
                <a:cs typeface="Segoe UI" pitchFamily="34" charset="-120"/>
              </a:rPr>
              <a:t>If we simply counted enrollments, the biggest territories would win every time and the smaller ones could never catch up.</a:t>
            </a:r>
            <a:endParaRPr lang="en-US" sz="1250" dirty="0"/>
          </a:p>
        </p:txBody>
      </p:sp>
      <p:sp>
        <p:nvSpPr>
          <p:cNvPr id="25" name="Text 22"/>
          <p:cNvSpPr/>
          <p:nvPr/>
        </p:nvSpPr>
        <p:spPr>
          <a:xfrm>
            <a:off x="566928" y="6272784"/>
            <a:ext cx="8686800" cy="256032"/>
          </a:xfrm>
          <a:prstGeom prst="rect">
            <a:avLst/>
          </a:prstGeom>
          <a:noFill/>
          <a:ln/>
        </p:spPr>
        <p:txBody>
          <a:bodyPr wrap="square" lIns="0" tIns="0" rIns="0" bIns="0" rtlCol="0" anchor="t"/>
          <a:lstStyle/>
          <a:p>
            <a:pPr indent="0" marL="0">
              <a:buNone/>
            </a:pPr>
            <a:r>
              <a:rPr lang="en-US" sz="850" i="1" dirty="0">
                <a:solidFill>
                  <a:srgbClr val="8A8A80"/>
                </a:solidFill>
                <a:latin typeface="Segoe UI" pitchFamily="34" charset="0"/>
                <a:ea typeface="Segoe UI" pitchFamily="34" charset="-122"/>
                <a:cs typeface="Segoe UI" pitchFamily="34" charset="-120"/>
              </a:rPr>
              <a:t>Territory size uses our claims data as a stand in for how big each patch is. The real groups will be set from the enrollment numbers.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74320"/>
          </a:xfrm>
          <a:prstGeom prst="rect">
            <a:avLst/>
          </a:prstGeom>
          <a:noFill/>
          <a:ln/>
        </p:spPr>
        <p:txBody>
          <a:bodyPr wrap="square" lIns="0" tIns="0" rIns="0" bIns="0" rtlCol="0" anchor="ctr"/>
          <a:lstStyle/>
          <a:p>
            <a:pPr indent="0" marL="0">
              <a:buNone/>
            </a:pPr>
            <a:r>
              <a:rPr lang="en-US" sz="1200" b="1" spc="120" kern="0" dirty="0">
                <a:solidFill>
                  <a:srgbClr val="2F5D8A"/>
                </a:solidFill>
                <a:latin typeface="Segoe UI" pitchFamily="34" charset="0"/>
                <a:ea typeface="Segoe UI" pitchFamily="34" charset="-122"/>
                <a:cs typeface="Segoe UI" pitchFamily="34" charset="-120"/>
              </a:rPr>
              <a:t>How the Scoring Works</a:t>
            </a:r>
            <a:endParaRPr lang="en-US" sz="1200" dirty="0"/>
          </a:p>
        </p:txBody>
      </p:sp>
      <p:sp>
        <p:nvSpPr>
          <p:cNvPr id="3" name="Shape 1"/>
          <p:cNvSpPr/>
          <p:nvPr/>
        </p:nvSpPr>
        <p:spPr>
          <a:xfrm>
            <a:off x="329184" y="731520"/>
            <a:ext cx="109728" cy="109728"/>
          </a:xfrm>
          <a:prstGeom prst="rect">
            <a:avLst/>
          </a:prstGeom>
          <a:solidFill>
            <a:srgbClr val="567A2E"/>
          </a:solidFill>
          <a:ln/>
        </p:spPr>
      </p:sp>
      <p:sp>
        <p:nvSpPr>
          <p:cNvPr id="4" name="Shape 2"/>
          <p:cNvSpPr/>
          <p:nvPr/>
        </p:nvSpPr>
        <p:spPr>
          <a:xfrm>
            <a:off x="11750040" y="731520"/>
            <a:ext cx="109728" cy="109728"/>
          </a:xfrm>
          <a:prstGeom prst="rect">
            <a:avLst/>
          </a:prstGeom>
          <a:solidFill>
            <a:srgbClr val="567A2E"/>
          </a:solidFill>
          <a:ln/>
        </p:spPr>
      </p:sp>
      <p:sp>
        <p:nvSpPr>
          <p:cNvPr id="5" name="Text 3"/>
          <p:cNvSpPr/>
          <p:nvPr/>
        </p:nvSpPr>
        <p:spPr>
          <a:xfrm>
            <a:off x="566928" y="566928"/>
            <a:ext cx="11018520" cy="868680"/>
          </a:xfrm>
          <a:prstGeom prst="rect">
            <a:avLst/>
          </a:prstGeom>
          <a:noFill/>
          <a:ln/>
        </p:spPr>
        <p:txBody>
          <a:bodyPr wrap="square" lIns="0" tIns="0" rIns="0" bIns="0" rtlCol="0" anchor="t"/>
          <a:lstStyle/>
          <a:p>
            <a:pPr indent="0" marL="0">
              <a:lnSpc>
                <a:spcPct val="100000"/>
              </a:lnSpc>
              <a:buNone/>
            </a:pPr>
            <a:r>
              <a:rPr lang="en-US" sz="2300" b="1" dirty="0">
                <a:solidFill>
                  <a:srgbClr val="17344F"/>
                </a:solidFill>
                <a:latin typeface="Segoe UI" pitchFamily="34" charset="0"/>
                <a:ea typeface="Segoe UI" pitchFamily="34" charset="-122"/>
                <a:cs typeface="Segoe UI" pitchFamily="34" charset="-120"/>
              </a:rPr>
              <a:t>Here is how each territory is scored, and how the RAD group and the quality prize work</a:t>
            </a:r>
            <a:endParaRPr lang="en-US" sz="2300" dirty="0"/>
          </a:p>
        </p:txBody>
      </p:sp>
      <p:sp>
        <p:nvSpPr>
          <p:cNvPr id="6" name="Shape 4"/>
          <p:cNvSpPr/>
          <p:nvPr/>
        </p:nvSpPr>
        <p:spPr>
          <a:xfrm>
            <a:off x="0" y="6556248"/>
            <a:ext cx="12191695" cy="301752"/>
          </a:xfrm>
          <a:prstGeom prst="rect">
            <a:avLst/>
          </a:prstGeom>
          <a:solidFill>
            <a:srgbClr val="9DC13C"/>
          </a:solidFill>
          <a:ln/>
        </p:spPr>
      </p:sp>
      <p:sp>
        <p:nvSpPr>
          <p:cNvPr id="7" name="Shape 5"/>
          <p:cNvSpPr/>
          <p:nvPr/>
        </p:nvSpPr>
        <p:spPr>
          <a:xfrm flipH="1">
            <a:off x="9646920" y="6309360"/>
            <a:ext cx="502920" cy="548640"/>
          </a:xfrm>
          <a:prstGeom prst="rtTriangle">
            <a:avLst/>
          </a:prstGeom>
          <a:solidFill>
            <a:srgbClr val="9DC13C"/>
          </a:solidFill>
          <a:ln/>
        </p:spPr>
      </p:sp>
      <p:sp>
        <p:nvSpPr>
          <p:cNvPr id="8" name="Shape 6"/>
          <p:cNvSpPr/>
          <p:nvPr/>
        </p:nvSpPr>
        <p:spPr>
          <a:xfrm>
            <a:off x="10131552" y="6309360"/>
            <a:ext cx="2060143" cy="548640"/>
          </a:xfrm>
          <a:prstGeom prst="rect">
            <a:avLst/>
          </a:prstGeom>
          <a:solidFill>
            <a:srgbClr val="9DC13C"/>
          </a:solidFill>
          <a:ln/>
        </p:spPr>
      </p:sp>
      <p:sp>
        <p:nvSpPr>
          <p:cNvPr id="9" name="Text 7"/>
          <p:cNvSpPr/>
          <p:nvPr/>
        </p:nvSpPr>
        <p:spPr>
          <a:xfrm>
            <a:off x="274320" y="6556248"/>
            <a:ext cx="7772400" cy="301752"/>
          </a:xfrm>
          <a:prstGeom prst="rect">
            <a:avLst/>
          </a:prstGeom>
          <a:noFill/>
          <a:ln/>
        </p:spPr>
        <p:txBody>
          <a:bodyPr wrap="square" lIns="0" tIns="0" rIns="0" bIns="0" rtlCol="0" anchor="ctr"/>
          <a:lstStyle/>
          <a:p>
            <a:pPr indent="0" marL="0">
              <a:buNone/>
            </a:pPr>
            <a:r>
              <a:rPr lang="en-US" sz="700" dirty="0">
                <a:solidFill>
                  <a:srgbClr val="FFFFFF"/>
                </a:solidFill>
                <a:latin typeface="Segoe UI" pitchFamily="34" charset="0"/>
                <a:ea typeface="Segoe UI" pitchFamily="34" charset="-122"/>
                <a:cs typeface="Segoe UI" pitchFamily="34" charset="-120"/>
              </a:rPr>
              <a:t>© 2026, Iovance Biotherapeutics, Inc.  |  Confidential for Internal Use Only</a:t>
            </a:r>
            <a:endParaRPr lang="en-US" sz="700" dirty="0"/>
          </a:p>
        </p:txBody>
      </p:sp>
      <p:sp>
        <p:nvSpPr>
          <p:cNvPr id="10" name="Text 8"/>
          <p:cNvSpPr/>
          <p:nvPr/>
        </p:nvSpPr>
        <p:spPr>
          <a:xfrm>
            <a:off x="10058400" y="6309360"/>
            <a:ext cx="1600200" cy="548640"/>
          </a:xfrm>
          <a:prstGeom prst="rect">
            <a:avLst/>
          </a:prstGeom>
          <a:noFill/>
          <a:ln/>
        </p:spPr>
        <p:txBody>
          <a:bodyPr wrap="square" lIns="0" tIns="0" rIns="0" bIns="0" rtlCol="0" anchor="ctr"/>
          <a:lstStyle/>
          <a:p>
            <a:pPr algn="r" indent="0" marL="0">
              <a:buNone/>
            </a:pPr>
            <a:r>
              <a:rPr lang="en-US" sz="1300" b="1" spc="100" kern="0" dirty="0">
                <a:solidFill>
                  <a:srgbClr val="FFFFFF"/>
                </a:solidFill>
                <a:latin typeface="Cambria" pitchFamily="34" charset="0"/>
                <a:ea typeface="Cambria" pitchFamily="34" charset="-122"/>
                <a:cs typeface="Cambria" pitchFamily="34" charset="-120"/>
              </a:rPr>
              <a:t>IOVANCE</a:t>
            </a:r>
            <a:endParaRPr lang="en-US" sz="1300" dirty="0"/>
          </a:p>
        </p:txBody>
      </p:sp>
      <p:sp>
        <p:nvSpPr>
          <p:cNvPr id="11" name="Shape 9"/>
          <p:cNvSpPr/>
          <p:nvPr/>
        </p:nvSpPr>
        <p:spPr>
          <a:xfrm>
            <a:off x="11722608" y="6473952"/>
            <a:ext cx="219456" cy="219456"/>
          </a:xfrm>
          <a:prstGeom prst="ellipse">
            <a:avLst/>
          </a:prstGeom>
          <a:solidFill>
            <a:srgbClr val="FFFFFF"/>
          </a:solidFill>
          <a:ln/>
        </p:spPr>
      </p:sp>
      <p:sp>
        <p:nvSpPr>
          <p:cNvPr id="12" name="Text 10"/>
          <p:cNvSpPr/>
          <p:nvPr/>
        </p:nvSpPr>
        <p:spPr>
          <a:xfrm>
            <a:off x="11722608" y="6473952"/>
            <a:ext cx="219456" cy="219456"/>
          </a:xfrm>
          <a:prstGeom prst="rect">
            <a:avLst/>
          </a:prstGeom>
          <a:noFill/>
          <a:ln/>
        </p:spPr>
        <p:txBody>
          <a:bodyPr wrap="square" lIns="0" tIns="0" rIns="0" bIns="0" rtlCol="0" anchor="ctr"/>
          <a:lstStyle/>
          <a:p>
            <a:pPr algn="ctr" indent="0" marL="0">
              <a:buNone/>
            </a:pPr>
            <a:r>
              <a:rPr lang="en-US" sz="900" b="1" dirty="0">
                <a:solidFill>
                  <a:srgbClr val="567A2E"/>
                </a:solidFill>
                <a:latin typeface="Segoe UI" pitchFamily="34" charset="0"/>
                <a:ea typeface="Segoe UI" pitchFamily="34" charset="-122"/>
                <a:cs typeface="Segoe UI" pitchFamily="34" charset="-120"/>
              </a:rPr>
              <a:t>5</a:t>
            </a:r>
            <a:endParaRPr lang="en-US" sz="900" dirty="0"/>
          </a:p>
        </p:txBody>
      </p:sp>
      <p:sp>
        <p:nvSpPr>
          <p:cNvPr id="13" name="Text 11"/>
          <p:cNvSpPr/>
          <p:nvPr/>
        </p:nvSpPr>
        <p:spPr>
          <a:xfrm>
            <a:off x="566928" y="1737360"/>
            <a:ext cx="5349240" cy="320040"/>
          </a:xfrm>
          <a:prstGeom prst="rect">
            <a:avLst/>
          </a:prstGeom>
          <a:noFill/>
          <a:ln/>
        </p:spPr>
        <p:txBody>
          <a:bodyPr wrap="square" lIns="0" tIns="0" rIns="0" bIns="0" rtlCol="0" anchor="ctr"/>
          <a:lstStyle/>
          <a:p>
            <a:pPr algn="ctr" indent="0" marL="0">
              <a:buNone/>
            </a:pPr>
            <a:r>
              <a:rPr lang="en-US" sz="1400" b="1" i="1" u="sng" dirty="0">
                <a:solidFill>
                  <a:srgbClr val="17344F"/>
                </a:solidFill>
                <a:latin typeface="Segoe UI" pitchFamily="34" charset="0"/>
                <a:ea typeface="Segoe UI" pitchFamily="34" charset="-122"/>
                <a:cs typeface="Segoe UI" pitchFamily="34" charset="-120"/>
              </a:rPr>
              <a:t>Scoring one territory</a:t>
            </a:r>
            <a:endParaRPr lang="en-US" sz="1400" dirty="0"/>
          </a:p>
        </p:txBody>
      </p:sp>
      <p:sp>
        <p:nvSpPr>
          <p:cNvPr id="14" name="Shape 12"/>
          <p:cNvSpPr/>
          <p:nvPr/>
        </p:nvSpPr>
        <p:spPr>
          <a:xfrm>
            <a:off x="566928" y="2103120"/>
            <a:ext cx="5349240" cy="3840480"/>
          </a:xfrm>
          <a:prstGeom prst="rect">
            <a:avLst/>
          </a:prstGeom>
          <a:solidFill>
            <a:srgbClr val="FBFCF7"/>
          </a:solidFill>
          <a:ln w="12700">
            <a:solidFill>
              <a:srgbClr val="D6DBC9"/>
            </a:solidFill>
            <a:prstDash val="dash"/>
          </a:ln>
        </p:spPr>
      </p:sp>
      <p:sp>
        <p:nvSpPr>
          <p:cNvPr id="15" name="Text 13"/>
          <p:cNvSpPr/>
          <p:nvPr/>
        </p:nvSpPr>
        <p:spPr>
          <a:xfrm>
            <a:off x="6291072" y="1737360"/>
            <a:ext cx="5349240" cy="320040"/>
          </a:xfrm>
          <a:prstGeom prst="rect">
            <a:avLst/>
          </a:prstGeom>
          <a:noFill/>
          <a:ln/>
        </p:spPr>
        <p:txBody>
          <a:bodyPr wrap="square" lIns="0" tIns="0" rIns="0" bIns="0" rtlCol="0" anchor="ctr"/>
          <a:lstStyle/>
          <a:p>
            <a:pPr algn="ctr" indent="0" marL="0">
              <a:buNone/>
            </a:pPr>
            <a:r>
              <a:rPr lang="en-US" sz="1400" b="1" i="1" u="sng" dirty="0">
                <a:solidFill>
                  <a:srgbClr val="17344F"/>
                </a:solidFill>
                <a:latin typeface="Segoe UI" pitchFamily="34" charset="0"/>
                <a:ea typeface="Segoe UI" pitchFamily="34" charset="-122"/>
                <a:cs typeface="Segoe UI" pitchFamily="34" charset="-120"/>
              </a:rPr>
              <a:t>The RAD group and the quality prize</a:t>
            </a:r>
            <a:endParaRPr lang="en-US" sz="1400" dirty="0"/>
          </a:p>
        </p:txBody>
      </p:sp>
      <p:sp>
        <p:nvSpPr>
          <p:cNvPr id="16" name="Shape 14"/>
          <p:cNvSpPr/>
          <p:nvPr/>
        </p:nvSpPr>
        <p:spPr>
          <a:xfrm>
            <a:off x="6291072" y="2103120"/>
            <a:ext cx="5349240" cy="3840480"/>
          </a:xfrm>
          <a:prstGeom prst="rect">
            <a:avLst/>
          </a:prstGeom>
          <a:solidFill>
            <a:srgbClr val="FBFCF7"/>
          </a:solidFill>
          <a:ln w="12700">
            <a:solidFill>
              <a:srgbClr val="D6DBC9"/>
            </a:solidFill>
            <a:prstDash val="dash"/>
          </a:ln>
        </p:spPr>
      </p:sp>
      <p:sp>
        <p:nvSpPr>
          <p:cNvPr id="17" name="Text 15"/>
          <p:cNvSpPr/>
          <p:nvPr/>
        </p:nvSpPr>
        <p:spPr>
          <a:xfrm>
            <a:off x="777240" y="2331720"/>
            <a:ext cx="4892040" cy="3474720"/>
          </a:xfrm>
          <a:prstGeom prst="rect">
            <a:avLst/>
          </a:prstGeom>
          <a:noFill/>
          <a:ln/>
        </p:spPr>
        <p:txBody>
          <a:bodyPr wrap="square" lIns="0" tIns="0" rIns="0" bIns="0" rtlCol="0" anchor="t"/>
          <a:lstStyle/>
          <a:p>
            <a:pPr marL="203200" indent="-203200">
              <a:lnSpc>
                <a:spcPct val="103000"/>
              </a:lnSpc>
              <a:spcAft>
                <a:spcPts val="1100"/>
              </a:spcAft>
              <a:buSzPct val="100000"/>
              <a:buChar char="•"/>
            </a:pPr>
            <a:r>
              <a:rPr lang="en-US" sz="1250" b="1" dirty="0">
                <a:solidFill>
                  <a:srgbClr val="17344F"/>
                </a:solidFill>
                <a:latin typeface="Segoe UI" pitchFamily="34" charset="0"/>
                <a:ea typeface="Segoe UI" pitchFamily="34" charset="-122"/>
                <a:cs typeface="Segoe UI" pitchFamily="34" charset="-120"/>
              </a:rPr>
              <a:t>First we set a baseline.</a:t>
            </a:r>
            <a:pPr indent="0" marL="0">
              <a:lnSpc>
                <a:spcPct val="103000"/>
              </a:lnSpc>
              <a:buNone/>
            </a:pPr>
            <a:r>
              <a:rPr lang="en-US" sz="1250" dirty="0">
                <a:solidFill>
                  <a:srgbClr val="17344F"/>
                </a:solidFill>
                <a:latin typeface="Segoe UI" pitchFamily="34" charset="0"/>
                <a:ea typeface="Segoe UI" pitchFamily="34" charset="-122"/>
                <a:cs typeface="Segoe UI" pitchFamily="34" charset="-120"/>
              </a:rPr>
              <a:t> We take a territory's average enrollments over the last four quarters, </a:t>
            </a:r>
            <a:pPr indent="0" marL="0">
              <a:lnSpc>
                <a:spcPct val="103000"/>
              </a:lnSpc>
              <a:buNone/>
            </a:pPr>
            <a:r>
              <a:rPr lang="en-US" sz="1250" b="1" dirty="0">
                <a:solidFill>
                  <a:srgbClr val="C0392B"/>
                </a:solidFill>
                <a:latin typeface="Segoe UI" pitchFamily="34" charset="0"/>
                <a:ea typeface="Segoe UI" pitchFamily="34" charset="-122"/>
                <a:cs typeface="Segoe UI" pitchFamily="34" charset="-120"/>
              </a:rPr>
              <a:t>Q3 2025 through Q2 2026</a:t>
            </a:r>
            <a:pPr indent="0" marL="0">
              <a:lnSpc>
                <a:spcPct val="103000"/>
              </a:lnSpc>
              <a:buNone/>
            </a:pPr>
            <a:r>
              <a:rPr lang="en-US" sz="1250" dirty="0">
                <a:solidFill>
                  <a:srgbClr val="17344F"/>
                </a:solidFill>
                <a:latin typeface="Segoe UI" pitchFamily="34" charset="0"/>
                <a:ea typeface="Segoe UI" pitchFamily="34" charset="-122"/>
                <a:cs typeface="Segoe UI" pitchFamily="34" charset="-120"/>
              </a:rPr>
              <a:t>, and scale it down to fit the two month contest. That is the number to beat.</a:t>
            </a:r>
            <a:endParaRPr lang="en-US" sz="1250" dirty="0"/>
          </a:p>
          <a:p>
            <a:pPr marL="203200" indent="-203200">
              <a:lnSpc>
                <a:spcPct val="103000"/>
              </a:lnSpc>
              <a:spcAft>
                <a:spcPts val="1100"/>
              </a:spcAft>
              <a:buSzPct val="100000"/>
              <a:buChar char="•"/>
            </a:pPr>
            <a:r>
              <a:rPr lang="en-US" sz="1250" dirty="0">
                <a:solidFill>
                  <a:srgbClr val="17344F"/>
                </a:solidFill>
                <a:latin typeface="Segoe UI" pitchFamily="34" charset="0"/>
                <a:ea typeface="Segoe UI" pitchFamily="34" charset="-122"/>
                <a:cs typeface="Segoe UI" pitchFamily="34" charset="-120"/>
              </a:rPr>
              <a:t>Then we look at two things, how many patients they added, and how much they grew as a percentage.</a:t>
            </a:r>
            <a:endParaRPr lang="en-US" sz="1250" dirty="0"/>
          </a:p>
          <a:p>
            <a:pPr marL="203200" indent="-203200">
              <a:lnSpc>
                <a:spcPct val="103000"/>
              </a:lnSpc>
              <a:spcAft>
                <a:spcPts val="1100"/>
              </a:spcAft>
              <a:buSzPct val="100000"/>
              <a:buChar char="•"/>
            </a:pPr>
            <a:r>
              <a:rPr lang="en-US" sz="1250" dirty="0">
                <a:solidFill>
                  <a:srgbClr val="17344F"/>
                </a:solidFill>
                <a:latin typeface="Segoe UI" pitchFamily="34" charset="0"/>
                <a:ea typeface="Segoe UI" pitchFamily="34" charset="-122"/>
                <a:cs typeface="Segoe UI" pitchFamily="34" charset="-120"/>
              </a:rPr>
              <a:t>We rank them on both, inside their own size group, and average the two ranks into one score.</a:t>
            </a:r>
            <a:endParaRPr lang="en-US" sz="1250" dirty="0"/>
          </a:p>
          <a:p>
            <a:pPr marL="203200" indent="-203200">
              <a:lnSpc>
                <a:spcPct val="103000"/>
              </a:lnSpc>
              <a:spcAft>
                <a:spcPts val="1100"/>
              </a:spcAft>
              <a:buSzPct val="100000"/>
              <a:buChar char="•"/>
            </a:pPr>
            <a:r>
              <a:rPr lang="en-US" sz="1250" b="1" dirty="0">
                <a:solidFill>
                  <a:srgbClr val="17344F"/>
                </a:solidFill>
                <a:latin typeface="Segoe UI" pitchFamily="34" charset="0"/>
                <a:ea typeface="Segoe UI" pitchFamily="34" charset="-122"/>
                <a:cs typeface="Segoe UI" pitchFamily="34" charset="-120"/>
              </a:rPr>
              <a:t>The top two in each group get paid.</a:t>
            </a:r>
            <a:endParaRPr lang="en-US" sz="1250" dirty="0"/>
          </a:p>
          <a:p>
            <a:pPr marL="203200" indent="-203200">
              <a:lnSpc>
                <a:spcPct val="103000"/>
              </a:lnSpc>
              <a:buSzPct val="100000"/>
              <a:buChar char="•"/>
            </a:pPr>
            <a:r>
              <a:rPr lang="en-US" sz="1250" dirty="0">
                <a:solidFill>
                  <a:srgbClr val="17344F"/>
                </a:solidFill>
                <a:latin typeface="Segoe UI" pitchFamily="34" charset="0"/>
                <a:ea typeface="Segoe UI" pitchFamily="34" charset="-122"/>
                <a:cs typeface="Segoe UI" pitchFamily="34" charset="-120"/>
              </a:rPr>
              <a:t>If two are tied, the higher percentage wins.</a:t>
            </a:r>
            <a:endParaRPr lang="en-US" sz="1250" dirty="0"/>
          </a:p>
        </p:txBody>
      </p:sp>
      <p:sp>
        <p:nvSpPr>
          <p:cNvPr id="18" name="Text 16"/>
          <p:cNvSpPr/>
          <p:nvPr/>
        </p:nvSpPr>
        <p:spPr>
          <a:xfrm>
            <a:off x="6501384" y="2331720"/>
            <a:ext cx="4892040" cy="3474720"/>
          </a:xfrm>
          <a:prstGeom prst="rect">
            <a:avLst/>
          </a:prstGeom>
          <a:noFill/>
          <a:ln/>
        </p:spPr>
        <p:txBody>
          <a:bodyPr wrap="square" lIns="0" tIns="0" rIns="0" bIns="0" rtlCol="0" anchor="t"/>
          <a:lstStyle/>
          <a:p>
            <a:pPr marL="203200" indent="-203200">
              <a:lnSpc>
                <a:spcPct val="103000"/>
              </a:lnSpc>
              <a:spcAft>
                <a:spcPts val="1100"/>
              </a:spcAft>
              <a:buSzPct val="100000"/>
              <a:buChar char="•"/>
            </a:pPr>
            <a:r>
              <a:rPr lang="en-US" sz="1250" b="1" dirty="0">
                <a:solidFill>
                  <a:srgbClr val="17344F"/>
                </a:solidFill>
                <a:latin typeface="Segoe UI" pitchFamily="34" charset="0"/>
                <a:ea typeface="Segoe UI" pitchFamily="34" charset="-122"/>
                <a:cs typeface="Segoe UI" pitchFamily="34" charset="-120"/>
              </a:rPr>
              <a:t>The RADs compete as one group,</a:t>
            </a:r>
            <a:pPr indent="0" marL="0">
              <a:lnSpc>
                <a:spcPct val="103000"/>
              </a:lnSpc>
              <a:buNone/>
            </a:pPr>
            <a:r>
              <a:rPr lang="en-US" sz="1250" dirty="0">
                <a:solidFill>
                  <a:srgbClr val="17344F"/>
                </a:solidFill>
                <a:latin typeface="Segoe UI" pitchFamily="34" charset="0"/>
                <a:ea typeface="Segoe UI" pitchFamily="34" charset="-122"/>
                <a:cs typeface="Segoe UI" pitchFamily="34" charset="-120"/>
              </a:rPr>
              <a:t> with no size tiers, since there are only a handful of them. A RAD's baseline is simply the total of the territories they cover.</a:t>
            </a:r>
            <a:endParaRPr lang="en-US" sz="1250" dirty="0"/>
          </a:p>
          <a:p>
            <a:pPr marL="203200" indent="-203200">
              <a:lnSpc>
                <a:spcPct val="103000"/>
              </a:lnSpc>
              <a:spcAft>
                <a:spcPts val="1100"/>
              </a:spcAft>
              <a:buSzPct val="100000"/>
              <a:buChar char="•"/>
            </a:pPr>
            <a:r>
              <a:rPr lang="en-US" sz="1250" b="1" dirty="0">
                <a:solidFill>
                  <a:srgbClr val="17344F"/>
                </a:solidFill>
                <a:latin typeface="Segoe UI" pitchFamily="34" charset="0"/>
                <a:ea typeface="Segoe UI" pitchFamily="34" charset="-122"/>
                <a:cs typeface="Segoe UI" pitchFamily="34" charset="-120"/>
              </a:rPr>
              <a:t>The quality prize</a:t>
            </a:r>
            <a:pPr indent="0" marL="0">
              <a:lnSpc>
                <a:spcPct val="103000"/>
              </a:lnSpc>
              <a:buNone/>
            </a:pPr>
            <a:r>
              <a:rPr lang="en-US" sz="1250" dirty="0">
                <a:solidFill>
                  <a:srgbClr val="17344F"/>
                </a:solidFill>
                <a:latin typeface="Segoe UI" pitchFamily="34" charset="0"/>
                <a:ea typeface="Segoe UI" pitchFamily="34" charset="-122"/>
                <a:cs typeface="Segoe UI" pitchFamily="34" charset="-120"/>
              </a:rPr>
              <a:t> goes to the territory in each group whose patients most often </a:t>
            </a:r>
            <a:pPr indent="0" marL="0">
              <a:lnSpc>
                <a:spcPct val="103000"/>
              </a:lnSpc>
              <a:buNone/>
            </a:pPr>
            <a:r>
              <a:rPr lang="en-US" sz="1250" b="1" dirty="0">
                <a:solidFill>
                  <a:srgbClr val="C0392B"/>
                </a:solidFill>
                <a:latin typeface="Segoe UI" pitchFamily="34" charset="0"/>
                <a:ea typeface="Segoe UI" pitchFamily="34" charset="-122"/>
                <a:cs typeface="Segoe UI" pitchFamily="34" charset="-120"/>
              </a:rPr>
              <a:t>move forward to treatment</a:t>
            </a:r>
            <a:pPr indent="0" marL="0">
              <a:lnSpc>
                <a:spcPct val="103000"/>
              </a:lnSpc>
              <a:buNone/>
            </a:pPr>
            <a:r>
              <a:rPr lang="en-US" sz="1250" dirty="0">
                <a:solidFill>
                  <a:srgbClr val="17344F"/>
                </a:solidFill>
                <a:latin typeface="Segoe UI" pitchFamily="34" charset="0"/>
                <a:ea typeface="Segoe UI" pitchFamily="34" charset="-122"/>
                <a:cs typeface="Segoe UI" pitchFamily="34" charset="-120"/>
              </a:rPr>
              <a:t>. A territory needs at least five enrollments to qualify.</a:t>
            </a:r>
            <a:endParaRPr lang="en-US" sz="1250" dirty="0"/>
          </a:p>
          <a:p>
            <a:pPr marL="203200" indent="-203200">
              <a:lnSpc>
                <a:spcPct val="103000"/>
              </a:lnSpc>
              <a:spcAft>
                <a:spcPts val="1100"/>
              </a:spcAft>
              <a:buSzPct val="100000"/>
              <a:buChar char="•"/>
            </a:pPr>
            <a:r>
              <a:rPr lang="en-US" sz="1250" dirty="0">
                <a:solidFill>
                  <a:srgbClr val="17344F"/>
                </a:solidFill>
                <a:latin typeface="Segoe UI" pitchFamily="34" charset="0"/>
                <a:ea typeface="Segoe UI" pitchFamily="34" charset="-122"/>
                <a:cs typeface="Segoe UI" pitchFamily="34" charset="-120"/>
              </a:rPr>
              <a:t>Because it takes about 30 days to reach that next step, we settle the quality prize about a month after the contest ends, so after October.</a:t>
            </a:r>
            <a:endParaRPr lang="en-US" sz="1250" dirty="0"/>
          </a:p>
          <a:p>
            <a:pPr marL="203200" indent="-203200">
              <a:lnSpc>
                <a:spcPct val="103000"/>
              </a:lnSpc>
              <a:buSzPct val="100000"/>
              <a:buChar char="•"/>
            </a:pPr>
            <a:r>
              <a:rPr lang="en-US" sz="1250" dirty="0">
                <a:solidFill>
                  <a:srgbClr val="17344F"/>
                </a:solidFill>
                <a:latin typeface="Segoe UI" pitchFamily="34" charset="0"/>
                <a:ea typeface="Segoe UI" pitchFamily="34" charset="-122"/>
                <a:cs typeface="Segoe UI" pitchFamily="34" charset="-120"/>
              </a:rPr>
              <a:t>A territory can win the quality prize and still place first or second. It is a separate prize, not a trade off.</a:t>
            </a:r>
            <a:endParaRPr lang="en-US" sz="1250" dirty="0"/>
          </a:p>
        </p:txBody>
      </p:sp>
      <p:sp>
        <p:nvSpPr>
          <p:cNvPr id="19" name="Text 17"/>
          <p:cNvSpPr/>
          <p:nvPr/>
        </p:nvSpPr>
        <p:spPr>
          <a:xfrm>
            <a:off x="566928" y="6272784"/>
            <a:ext cx="8686800" cy="256032"/>
          </a:xfrm>
          <a:prstGeom prst="rect">
            <a:avLst/>
          </a:prstGeom>
          <a:noFill/>
          <a:ln/>
        </p:spPr>
        <p:txBody>
          <a:bodyPr wrap="square" lIns="0" tIns="0" rIns="0" bIns="0" rtlCol="0" anchor="t"/>
          <a:lstStyle/>
          <a:p>
            <a:pPr indent="0" marL="0">
              <a:buNone/>
            </a:pPr>
            <a:r>
              <a:rPr lang="en-US" sz="850" i="1" dirty="0">
                <a:solidFill>
                  <a:srgbClr val="8A8A80"/>
                </a:solidFill>
                <a:latin typeface="Segoe UI" pitchFamily="34" charset="0"/>
                <a:ea typeface="Segoe UI" pitchFamily="34" charset="-122"/>
                <a:cs typeface="Segoe UI" pitchFamily="34" charset="-120"/>
              </a:rPr>
              <a:t>The baseline window is still to be confirmed.</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74320"/>
          </a:xfrm>
          <a:prstGeom prst="rect">
            <a:avLst/>
          </a:prstGeom>
          <a:noFill/>
          <a:ln/>
        </p:spPr>
        <p:txBody>
          <a:bodyPr wrap="square" lIns="0" tIns="0" rIns="0" bIns="0" rtlCol="0" anchor="ctr"/>
          <a:lstStyle/>
          <a:p>
            <a:pPr indent="0" marL="0">
              <a:buNone/>
            </a:pPr>
            <a:r>
              <a:rPr lang="en-US" sz="1200" b="1" spc="120" kern="0" dirty="0">
                <a:solidFill>
                  <a:srgbClr val="2F5D8A"/>
                </a:solidFill>
                <a:latin typeface="Segoe UI" pitchFamily="34" charset="0"/>
                <a:ea typeface="Segoe UI" pitchFamily="34" charset="-122"/>
                <a:cs typeface="Segoe UI" pitchFamily="34" charset="-120"/>
              </a:rPr>
              <a:t>The Payout</a:t>
            </a:r>
            <a:endParaRPr lang="en-US" sz="1200" dirty="0"/>
          </a:p>
        </p:txBody>
      </p:sp>
      <p:sp>
        <p:nvSpPr>
          <p:cNvPr id="3" name="Shape 1"/>
          <p:cNvSpPr/>
          <p:nvPr/>
        </p:nvSpPr>
        <p:spPr>
          <a:xfrm>
            <a:off x="329184" y="731520"/>
            <a:ext cx="109728" cy="109728"/>
          </a:xfrm>
          <a:prstGeom prst="rect">
            <a:avLst/>
          </a:prstGeom>
          <a:solidFill>
            <a:srgbClr val="567A2E"/>
          </a:solidFill>
          <a:ln/>
        </p:spPr>
      </p:sp>
      <p:sp>
        <p:nvSpPr>
          <p:cNvPr id="4" name="Shape 2"/>
          <p:cNvSpPr/>
          <p:nvPr/>
        </p:nvSpPr>
        <p:spPr>
          <a:xfrm>
            <a:off x="11750040" y="731520"/>
            <a:ext cx="109728" cy="109728"/>
          </a:xfrm>
          <a:prstGeom prst="rect">
            <a:avLst/>
          </a:prstGeom>
          <a:solidFill>
            <a:srgbClr val="567A2E"/>
          </a:solidFill>
          <a:ln/>
        </p:spPr>
      </p:sp>
      <p:sp>
        <p:nvSpPr>
          <p:cNvPr id="5" name="Text 3"/>
          <p:cNvSpPr/>
          <p:nvPr/>
        </p:nvSpPr>
        <p:spPr>
          <a:xfrm>
            <a:off x="566928" y="566928"/>
            <a:ext cx="11018520" cy="868680"/>
          </a:xfrm>
          <a:prstGeom prst="rect">
            <a:avLst/>
          </a:prstGeom>
          <a:noFill/>
          <a:ln/>
        </p:spPr>
        <p:txBody>
          <a:bodyPr wrap="square" lIns="0" tIns="0" rIns="0" bIns="0" rtlCol="0" anchor="t"/>
          <a:lstStyle/>
          <a:p>
            <a:pPr indent="0" marL="0">
              <a:lnSpc>
                <a:spcPct val="100000"/>
              </a:lnSpc>
              <a:buNone/>
            </a:pPr>
            <a:r>
              <a:rPr lang="en-US" sz="2300" b="1" dirty="0">
                <a:solidFill>
                  <a:srgbClr val="17344F"/>
                </a:solidFill>
                <a:latin typeface="Segoe UI" pitchFamily="34" charset="0"/>
                <a:ea typeface="Segoe UI" pitchFamily="34" charset="-122"/>
                <a:cs typeface="Segoe UI" pitchFamily="34" charset="-120"/>
              </a:rPr>
              <a:t>Each size group pays its top two, plus a quality prize, all from one shared prize pot</a:t>
            </a:r>
            <a:endParaRPr lang="en-US" sz="2300" dirty="0"/>
          </a:p>
        </p:txBody>
      </p:sp>
      <p:sp>
        <p:nvSpPr>
          <p:cNvPr id="6" name="Shape 4"/>
          <p:cNvSpPr/>
          <p:nvPr/>
        </p:nvSpPr>
        <p:spPr>
          <a:xfrm>
            <a:off x="0" y="6556248"/>
            <a:ext cx="12191695" cy="301752"/>
          </a:xfrm>
          <a:prstGeom prst="rect">
            <a:avLst/>
          </a:prstGeom>
          <a:solidFill>
            <a:srgbClr val="9DC13C"/>
          </a:solidFill>
          <a:ln/>
        </p:spPr>
      </p:sp>
      <p:sp>
        <p:nvSpPr>
          <p:cNvPr id="7" name="Shape 5"/>
          <p:cNvSpPr/>
          <p:nvPr/>
        </p:nvSpPr>
        <p:spPr>
          <a:xfrm flipH="1">
            <a:off x="9646920" y="6309360"/>
            <a:ext cx="502920" cy="548640"/>
          </a:xfrm>
          <a:prstGeom prst="rtTriangle">
            <a:avLst/>
          </a:prstGeom>
          <a:solidFill>
            <a:srgbClr val="9DC13C"/>
          </a:solidFill>
          <a:ln/>
        </p:spPr>
      </p:sp>
      <p:sp>
        <p:nvSpPr>
          <p:cNvPr id="8" name="Shape 6"/>
          <p:cNvSpPr/>
          <p:nvPr/>
        </p:nvSpPr>
        <p:spPr>
          <a:xfrm>
            <a:off x="10131552" y="6309360"/>
            <a:ext cx="2060143" cy="548640"/>
          </a:xfrm>
          <a:prstGeom prst="rect">
            <a:avLst/>
          </a:prstGeom>
          <a:solidFill>
            <a:srgbClr val="9DC13C"/>
          </a:solidFill>
          <a:ln/>
        </p:spPr>
      </p:sp>
      <p:sp>
        <p:nvSpPr>
          <p:cNvPr id="9" name="Text 7"/>
          <p:cNvSpPr/>
          <p:nvPr/>
        </p:nvSpPr>
        <p:spPr>
          <a:xfrm>
            <a:off x="274320" y="6556248"/>
            <a:ext cx="7772400" cy="301752"/>
          </a:xfrm>
          <a:prstGeom prst="rect">
            <a:avLst/>
          </a:prstGeom>
          <a:noFill/>
          <a:ln/>
        </p:spPr>
        <p:txBody>
          <a:bodyPr wrap="square" lIns="0" tIns="0" rIns="0" bIns="0" rtlCol="0" anchor="ctr"/>
          <a:lstStyle/>
          <a:p>
            <a:pPr indent="0" marL="0">
              <a:buNone/>
            </a:pPr>
            <a:r>
              <a:rPr lang="en-US" sz="700" dirty="0">
                <a:solidFill>
                  <a:srgbClr val="FFFFFF"/>
                </a:solidFill>
                <a:latin typeface="Segoe UI" pitchFamily="34" charset="0"/>
                <a:ea typeface="Segoe UI" pitchFamily="34" charset="-122"/>
                <a:cs typeface="Segoe UI" pitchFamily="34" charset="-120"/>
              </a:rPr>
              <a:t>© 2026, Iovance Biotherapeutics, Inc.  |  Confidential for Internal Use Only</a:t>
            </a:r>
            <a:endParaRPr lang="en-US" sz="700" dirty="0"/>
          </a:p>
        </p:txBody>
      </p:sp>
      <p:sp>
        <p:nvSpPr>
          <p:cNvPr id="10" name="Text 8"/>
          <p:cNvSpPr/>
          <p:nvPr/>
        </p:nvSpPr>
        <p:spPr>
          <a:xfrm>
            <a:off x="10058400" y="6309360"/>
            <a:ext cx="1600200" cy="548640"/>
          </a:xfrm>
          <a:prstGeom prst="rect">
            <a:avLst/>
          </a:prstGeom>
          <a:noFill/>
          <a:ln/>
        </p:spPr>
        <p:txBody>
          <a:bodyPr wrap="square" lIns="0" tIns="0" rIns="0" bIns="0" rtlCol="0" anchor="ctr"/>
          <a:lstStyle/>
          <a:p>
            <a:pPr algn="r" indent="0" marL="0">
              <a:buNone/>
            </a:pPr>
            <a:r>
              <a:rPr lang="en-US" sz="1300" b="1" spc="100" kern="0" dirty="0">
                <a:solidFill>
                  <a:srgbClr val="FFFFFF"/>
                </a:solidFill>
                <a:latin typeface="Cambria" pitchFamily="34" charset="0"/>
                <a:ea typeface="Cambria" pitchFamily="34" charset="-122"/>
                <a:cs typeface="Cambria" pitchFamily="34" charset="-120"/>
              </a:rPr>
              <a:t>IOVANCE</a:t>
            </a:r>
            <a:endParaRPr lang="en-US" sz="1300" dirty="0"/>
          </a:p>
        </p:txBody>
      </p:sp>
      <p:sp>
        <p:nvSpPr>
          <p:cNvPr id="11" name="Shape 9"/>
          <p:cNvSpPr/>
          <p:nvPr/>
        </p:nvSpPr>
        <p:spPr>
          <a:xfrm>
            <a:off x="11722608" y="6473952"/>
            <a:ext cx="219456" cy="219456"/>
          </a:xfrm>
          <a:prstGeom prst="ellipse">
            <a:avLst/>
          </a:prstGeom>
          <a:solidFill>
            <a:srgbClr val="FFFFFF"/>
          </a:solidFill>
          <a:ln/>
        </p:spPr>
      </p:sp>
      <p:sp>
        <p:nvSpPr>
          <p:cNvPr id="12" name="Text 10"/>
          <p:cNvSpPr/>
          <p:nvPr/>
        </p:nvSpPr>
        <p:spPr>
          <a:xfrm>
            <a:off x="11722608" y="6473952"/>
            <a:ext cx="219456" cy="219456"/>
          </a:xfrm>
          <a:prstGeom prst="rect">
            <a:avLst/>
          </a:prstGeom>
          <a:noFill/>
          <a:ln/>
        </p:spPr>
        <p:txBody>
          <a:bodyPr wrap="square" lIns="0" tIns="0" rIns="0" bIns="0" rtlCol="0" anchor="ctr"/>
          <a:lstStyle/>
          <a:p>
            <a:pPr algn="ctr" indent="0" marL="0">
              <a:buNone/>
            </a:pPr>
            <a:r>
              <a:rPr lang="en-US" sz="900" b="1" dirty="0">
                <a:solidFill>
                  <a:srgbClr val="567A2E"/>
                </a:solidFill>
                <a:latin typeface="Segoe UI" pitchFamily="34" charset="0"/>
                <a:ea typeface="Segoe UI" pitchFamily="34" charset="-122"/>
                <a:cs typeface="Segoe UI" pitchFamily="34" charset="-120"/>
              </a:rPr>
              <a:t>6</a:t>
            </a:r>
            <a:endParaRPr lang="en-US" sz="900" dirty="0"/>
          </a:p>
        </p:txBody>
      </p:sp>
      <p:sp>
        <p:nvSpPr>
          <p:cNvPr id="13" name="Shape 11"/>
          <p:cNvSpPr/>
          <p:nvPr/>
        </p:nvSpPr>
        <p:spPr>
          <a:xfrm>
            <a:off x="566928" y="1874520"/>
            <a:ext cx="2743200" cy="1371600"/>
          </a:xfrm>
          <a:prstGeom prst="roundRect">
            <a:avLst>
              <a:gd name="adj" fmla="val 5333"/>
            </a:avLst>
          </a:prstGeom>
          <a:solidFill>
            <a:srgbClr val="17344F"/>
          </a:solidFill>
          <a:ln/>
        </p:spPr>
      </p:sp>
      <p:sp>
        <p:nvSpPr>
          <p:cNvPr id="14" name="Text 12"/>
          <p:cNvSpPr/>
          <p:nvPr/>
        </p:nvSpPr>
        <p:spPr>
          <a:xfrm>
            <a:off x="566928" y="2011680"/>
            <a:ext cx="2743200" cy="274320"/>
          </a:xfrm>
          <a:prstGeom prst="rect">
            <a:avLst/>
          </a:prstGeom>
          <a:noFill/>
          <a:ln/>
        </p:spPr>
        <p:txBody>
          <a:bodyPr wrap="square" lIns="0" tIns="0" rIns="0" bIns="0" rtlCol="0" anchor="ctr"/>
          <a:lstStyle/>
          <a:p>
            <a:pPr algn="ctr" indent="0" marL="0">
              <a:buNone/>
            </a:pPr>
            <a:r>
              <a:rPr lang="en-US" sz="1100" b="1" spc="200" kern="0" dirty="0">
                <a:solidFill>
                  <a:srgbClr val="CFE3A0"/>
                </a:solidFill>
                <a:latin typeface="Segoe UI" pitchFamily="34" charset="0"/>
                <a:ea typeface="Segoe UI" pitchFamily="34" charset="-122"/>
                <a:cs typeface="Segoe UI" pitchFamily="34" charset="-120"/>
              </a:rPr>
              <a:t>PRIZE POT</a:t>
            </a:r>
            <a:endParaRPr lang="en-US" sz="1100" dirty="0"/>
          </a:p>
        </p:txBody>
      </p:sp>
      <p:sp>
        <p:nvSpPr>
          <p:cNvPr id="15" name="Text 13"/>
          <p:cNvSpPr/>
          <p:nvPr/>
        </p:nvSpPr>
        <p:spPr>
          <a:xfrm>
            <a:off x="566928" y="2286000"/>
            <a:ext cx="2743200" cy="640080"/>
          </a:xfrm>
          <a:prstGeom prst="rect">
            <a:avLst/>
          </a:prstGeom>
          <a:noFill/>
          <a:ln/>
        </p:spPr>
        <p:txBody>
          <a:bodyPr wrap="square" lIns="0" tIns="0" rIns="0" bIns="0" rtlCol="0" anchor="ctr"/>
          <a:lstStyle/>
          <a:p>
            <a:pPr algn="ctr" indent="0" marL="0">
              <a:buNone/>
            </a:pPr>
            <a:r>
              <a:rPr lang="en-US" sz="3600" b="1" dirty="0">
                <a:solidFill>
                  <a:srgbClr val="FFFFFF"/>
                </a:solidFill>
                <a:latin typeface="Segoe UI" pitchFamily="34" charset="0"/>
                <a:ea typeface="Segoe UI" pitchFamily="34" charset="-122"/>
                <a:cs typeface="Segoe UI" pitchFamily="34" charset="-120"/>
              </a:rPr>
              <a:t>$30,000</a:t>
            </a:r>
            <a:endParaRPr lang="en-US" sz="3600" dirty="0"/>
          </a:p>
        </p:txBody>
      </p:sp>
      <p:sp>
        <p:nvSpPr>
          <p:cNvPr id="16" name="Text 14"/>
          <p:cNvSpPr/>
          <p:nvPr/>
        </p:nvSpPr>
        <p:spPr>
          <a:xfrm>
            <a:off x="566928" y="2907792"/>
            <a:ext cx="2743200" cy="274320"/>
          </a:xfrm>
          <a:prstGeom prst="rect">
            <a:avLst/>
          </a:prstGeom>
          <a:noFill/>
          <a:ln/>
        </p:spPr>
        <p:txBody>
          <a:bodyPr wrap="square" lIns="0" tIns="0" rIns="0" bIns="0" rtlCol="0" anchor="ctr"/>
          <a:lstStyle/>
          <a:p>
            <a:pPr algn="ctr" indent="0" marL="0">
              <a:buNone/>
            </a:pPr>
            <a:r>
              <a:rPr lang="en-US" sz="1050" i="1" dirty="0">
                <a:solidFill>
                  <a:srgbClr val="BFD7E6"/>
                </a:solidFill>
                <a:latin typeface="Segoe UI" pitchFamily="34" charset="0"/>
                <a:ea typeface="Segoe UI" pitchFamily="34" charset="-122"/>
                <a:cs typeface="Segoe UI" pitchFamily="34" charset="-120"/>
              </a:rPr>
              <a:t>for now, to be confirmed</a:t>
            </a:r>
            <a:endParaRPr lang="en-US" sz="1050" dirty="0"/>
          </a:p>
        </p:txBody>
      </p:sp>
      <p:sp>
        <p:nvSpPr>
          <p:cNvPr id="17" name="Shape 15"/>
          <p:cNvSpPr/>
          <p:nvPr/>
        </p:nvSpPr>
        <p:spPr>
          <a:xfrm>
            <a:off x="3401568" y="2395728"/>
            <a:ext cx="384048" cy="329184"/>
          </a:xfrm>
          <a:prstGeom prst="rightArrow">
            <a:avLst/>
          </a:prstGeom>
          <a:solidFill>
            <a:srgbClr val="8A8A80"/>
          </a:solidFill>
          <a:ln/>
        </p:spPr>
      </p:sp>
      <p:sp>
        <p:nvSpPr>
          <p:cNvPr id="18" name="Shape 16"/>
          <p:cNvSpPr/>
          <p:nvPr/>
        </p:nvSpPr>
        <p:spPr>
          <a:xfrm>
            <a:off x="3931920" y="1874520"/>
            <a:ext cx="2377440" cy="1371600"/>
          </a:xfrm>
          <a:prstGeom prst="roundRect">
            <a:avLst>
              <a:gd name="adj" fmla="val 4000"/>
            </a:avLst>
          </a:prstGeom>
          <a:solidFill>
            <a:srgbClr val="F7F9F1"/>
          </a:solidFill>
          <a:ln w="15875">
            <a:solidFill>
              <a:srgbClr val="567A2E"/>
            </a:solidFill>
            <a:prstDash val="solid"/>
          </a:ln>
        </p:spPr>
      </p:sp>
      <p:sp>
        <p:nvSpPr>
          <p:cNvPr id="19" name="Text 17"/>
          <p:cNvSpPr/>
          <p:nvPr/>
        </p:nvSpPr>
        <p:spPr>
          <a:xfrm>
            <a:off x="3931920" y="2011680"/>
            <a:ext cx="2377440" cy="292608"/>
          </a:xfrm>
          <a:prstGeom prst="rect">
            <a:avLst/>
          </a:prstGeom>
          <a:noFill/>
          <a:ln/>
        </p:spPr>
        <p:txBody>
          <a:bodyPr wrap="square" lIns="0" tIns="0" rIns="0" bIns="0" rtlCol="0" anchor="ctr"/>
          <a:lstStyle/>
          <a:p>
            <a:pPr algn="ctr" indent="0" marL="0">
              <a:buNone/>
            </a:pPr>
            <a:r>
              <a:rPr lang="en-US" sz="1300" b="1" dirty="0">
                <a:solidFill>
                  <a:srgbClr val="567A2E"/>
                </a:solidFill>
                <a:latin typeface="Segoe UI" pitchFamily="34" charset="0"/>
                <a:ea typeface="Segoe UI" pitchFamily="34" charset="-122"/>
                <a:cs typeface="Segoe UI" pitchFamily="34" charset="-120"/>
              </a:rPr>
              <a:t>1st place</a:t>
            </a:r>
            <a:endParaRPr lang="en-US" sz="1300" dirty="0"/>
          </a:p>
        </p:txBody>
      </p:sp>
      <p:sp>
        <p:nvSpPr>
          <p:cNvPr id="20" name="Text 18"/>
          <p:cNvSpPr/>
          <p:nvPr/>
        </p:nvSpPr>
        <p:spPr>
          <a:xfrm>
            <a:off x="3931920" y="2304288"/>
            <a:ext cx="2377440" cy="566928"/>
          </a:xfrm>
          <a:prstGeom prst="rect">
            <a:avLst/>
          </a:prstGeom>
          <a:noFill/>
          <a:ln/>
        </p:spPr>
        <p:txBody>
          <a:bodyPr wrap="square" lIns="0" tIns="0" rIns="0" bIns="0" rtlCol="0" anchor="ctr"/>
          <a:lstStyle/>
          <a:p>
            <a:pPr algn="ctr" indent="0" marL="0">
              <a:buNone/>
            </a:pPr>
            <a:r>
              <a:rPr lang="en-US" sz="3200" b="1" dirty="0">
                <a:solidFill>
                  <a:srgbClr val="17344F"/>
                </a:solidFill>
                <a:latin typeface="Segoe UI" pitchFamily="34" charset="0"/>
                <a:ea typeface="Segoe UI" pitchFamily="34" charset="-122"/>
                <a:cs typeface="Segoe UI" pitchFamily="34" charset="-120"/>
              </a:rPr>
              <a:t>16.67%</a:t>
            </a:r>
            <a:endParaRPr lang="en-US" sz="3200" dirty="0"/>
          </a:p>
        </p:txBody>
      </p:sp>
      <p:sp>
        <p:nvSpPr>
          <p:cNvPr id="21" name="Text 19"/>
          <p:cNvSpPr/>
          <p:nvPr/>
        </p:nvSpPr>
        <p:spPr>
          <a:xfrm>
            <a:off x="3931920" y="2889504"/>
            <a:ext cx="2377440" cy="274320"/>
          </a:xfrm>
          <a:prstGeom prst="rect">
            <a:avLst/>
          </a:prstGeom>
          <a:noFill/>
          <a:ln/>
        </p:spPr>
        <p:txBody>
          <a:bodyPr wrap="square" lIns="0" tIns="0" rIns="0" bIns="0" rtlCol="0" anchor="ctr"/>
          <a:lstStyle/>
          <a:p>
            <a:pPr algn="ctr" indent="0" marL="0">
              <a:buNone/>
            </a:pPr>
            <a:r>
              <a:rPr lang="en-US" sz="1000" dirty="0">
                <a:solidFill>
                  <a:srgbClr val="3D5A66"/>
                </a:solidFill>
                <a:latin typeface="Segoe UI" pitchFamily="34" charset="0"/>
                <a:ea typeface="Segoe UI" pitchFamily="34" charset="-122"/>
                <a:cs typeface="Segoe UI" pitchFamily="34" charset="-120"/>
              </a:rPr>
              <a:t>of the pot, per group</a:t>
            </a:r>
            <a:endParaRPr lang="en-US" sz="1000" dirty="0"/>
          </a:p>
        </p:txBody>
      </p:sp>
      <p:sp>
        <p:nvSpPr>
          <p:cNvPr id="22" name="Shape 20"/>
          <p:cNvSpPr/>
          <p:nvPr/>
        </p:nvSpPr>
        <p:spPr>
          <a:xfrm>
            <a:off x="6537960" y="1874520"/>
            <a:ext cx="2377440" cy="1371600"/>
          </a:xfrm>
          <a:prstGeom prst="roundRect">
            <a:avLst>
              <a:gd name="adj" fmla="val 4000"/>
            </a:avLst>
          </a:prstGeom>
          <a:solidFill>
            <a:srgbClr val="F7F9F1"/>
          </a:solidFill>
          <a:ln w="15875">
            <a:solidFill>
              <a:srgbClr val="2E6DA4"/>
            </a:solidFill>
            <a:prstDash val="solid"/>
          </a:ln>
        </p:spPr>
      </p:sp>
      <p:sp>
        <p:nvSpPr>
          <p:cNvPr id="23" name="Text 21"/>
          <p:cNvSpPr/>
          <p:nvPr/>
        </p:nvSpPr>
        <p:spPr>
          <a:xfrm>
            <a:off x="6537960" y="2011680"/>
            <a:ext cx="2377440" cy="292608"/>
          </a:xfrm>
          <a:prstGeom prst="rect">
            <a:avLst/>
          </a:prstGeom>
          <a:noFill/>
          <a:ln/>
        </p:spPr>
        <p:txBody>
          <a:bodyPr wrap="square" lIns="0" tIns="0" rIns="0" bIns="0" rtlCol="0" anchor="ctr"/>
          <a:lstStyle/>
          <a:p>
            <a:pPr algn="ctr" indent="0" marL="0">
              <a:buNone/>
            </a:pPr>
            <a:r>
              <a:rPr lang="en-US" sz="1300" b="1" dirty="0">
                <a:solidFill>
                  <a:srgbClr val="2E6DA4"/>
                </a:solidFill>
                <a:latin typeface="Segoe UI" pitchFamily="34" charset="0"/>
                <a:ea typeface="Segoe UI" pitchFamily="34" charset="-122"/>
                <a:cs typeface="Segoe UI" pitchFamily="34" charset="-120"/>
              </a:rPr>
              <a:t>2nd place</a:t>
            </a:r>
            <a:endParaRPr lang="en-US" sz="1300" dirty="0"/>
          </a:p>
        </p:txBody>
      </p:sp>
      <p:sp>
        <p:nvSpPr>
          <p:cNvPr id="24" name="Text 22"/>
          <p:cNvSpPr/>
          <p:nvPr/>
        </p:nvSpPr>
        <p:spPr>
          <a:xfrm>
            <a:off x="6537960" y="2304288"/>
            <a:ext cx="2377440" cy="566928"/>
          </a:xfrm>
          <a:prstGeom prst="rect">
            <a:avLst/>
          </a:prstGeom>
          <a:noFill/>
          <a:ln/>
        </p:spPr>
        <p:txBody>
          <a:bodyPr wrap="square" lIns="0" tIns="0" rIns="0" bIns="0" rtlCol="0" anchor="ctr"/>
          <a:lstStyle/>
          <a:p>
            <a:pPr algn="ctr" indent="0" marL="0">
              <a:buNone/>
            </a:pPr>
            <a:r>
              <a:rPr lang="en-US" sz="3200" b="1" dirty="0">
                <a:solidFill>
                  <a:srgbClr val="17344F"/>
                </a:solidFill>
                <a:latin typeface="Segoe UI" pitchFamily="34" charset="0"/>
                <a:ea typeface="Segoe UI" pitchFamily="34" charset="-122"/>
                <a:cs typeface="Segoe UI" pitchFamily="34" charset="-120"/>
              </a:rPr>
              <a:t>10%</a:t>
            </a:r>
            <a:endParaRPr lang="en-US" sz="3200" dirty="0"/>
          </a:p>
        </p:txBody>
      </p:sp>
      <p:sp>
        <p:nvSpPr>
          <p:cNvPr id="25" name="Text 23"/>
          <p:cNvSpPr/>
          <p:nvPr/>
        </p:nvSpPr>
        <p:spPr>
          <a:xfrm>
            <a:off x="6537960" y="2889504"/>
            <a:ext cx="2377440" cy="274320"/>
          </a:xfrm>
          <a:prstGeom prst="rect">
            <a:avLst/>
          </a:prstGeom>
          <a:noFill/>
          <a:ln/>
        </p:spPr>
        <p:txBody>
          <a:bodyPr wrap="square" lIns="0" tIns="0" rIns="0" bIns="0" rtlCol="0" anchor="ctr"/>
          <a:lstStyle/>
          <a:p>
            <a:pPr algn="ctr" indent="0" marL="0">
              <a:buNone/>
            </a:pPr>
            <a:r>
              <a:rPr lang="en-US" sz="1000" dirty="0">
                <a:solidFill>
                  <a:srgbClr val="3D5A66"/>
                </a:solidFill>
                <a:latin typeface="Segoe UI" pitchFamily="34" charset="0"/>
                <a:ea typeface="Segoe UI" pitchFamily="34" charset="-122"/>
                <a:cs typeface="Segoe UI" pitchFamily="34" charset="-120"/>
              </a:rPr>
              <a:t>of the pot, per group</a:t>
            </a:r>
            <a:endParaRPr lang="en-US" sz="1000" dirty="0"/>
          </a:p>
        </p:txBody>
      </p:sp>
      <p:sp>
        <p:nvSpPr>
          <p:cNvPr id="26" name="Shape 24"/>
          <p:cNvSpPr/>
          <p:nvPr/>
        </p:nvSpPr>
        <p:spPr>
          <a:xfrm>
            <a:off x="9144000" y="1874520"/>
            <a:ext cx="2377440" cy="1371600"/>
          </a:xfrm>
          <a:prstGeom prst="roundRect">
            <a:avLst>
              <a:gd name="adj" fmla="val 4000"/>
            </a:avLst>
          </a:prstGeom>
          <a:solidFill>
            <a:srgbClr val="F7F9F1"/>
          </a:solidFill>
          <a:ln w="15875">
            <a:solidFill>
              <a:srgbClr val="7F8B8F"/>
            </a:solidFill>
            <a:prstDash val="solid"/>
          </a:ln>
        </p:spPr>
      </p:sp>
      <p:sp>
        <p:nvSpPr>
          <p:cNvPr id="27" name="Text 25"/>
          <p:cNvSpPr/>
          <p:nvPr/>
        </p:nvSpPr>
        <p:spPr>
          <a:xfrm>
            <a:off x="9144000" y="2011680"/>
            <a:ext cx="2377440" cy="292608"/>
          </a:xfrm>
          <a:prstGeom prst="rect">
            <a:avLst/>
          </a:prstGeom>
          <a:noFill/>
          <a:ln/>
        </p:spPr>
        <p:txBody>
          <a:bodyPr wrap="square" lIns="0" tIns="0" rIns="0" bIns="0" rtlCol="0" anchor="ctr"/>
          <a:lstStyle/>
          <a:p>
            <a:pPr algn="ctr" indent="0" marL="0">
              <a:buNone/>
            </a:pPr>
            <a:r>
              <a:rPr lang="en-US" sz="1300" b="1" dirty="0">
                <a:solidFill>
                  <a:srgbClr val="7F8B8F"/>
                </a:solidFill>
                <a:latin typeface="Segoe UI" pitchFamily="34" charset="0"/>
                <a:ea typeface="Segoe UI" pitchFamily="34" charset="-122"/>
                <a:cs typeface="Segoe UI" pitchFamily="34" charset="-120"/>
              </a:rPr>
              <a:t>Quality prize</a:t>
            </a:r>
            <a:endParaRPr lang="en-US" sz="1300" dirty="0"/>
          </a:p>
        </p:txBody>
      </p:sp>
      <p:sp>
        <p:nvSpPr>
          <p:cNvPr id="28" name="Text 26"/>
          <p:cNvSpPr/>
          <p:nvPr/>
        </p:nvSpPr>
        <p:spPr>
          <a:xfrm>
            <a:off x="9144000" y="2304288"/>
            <a:ext cx="2377440" cy="566928"/>
          </a:xfrm>
          <a:prstGeom prst="rect">
            <a:avLst/>
          </a:prstGeom>
          <a:noFill/>
          <a:ln/>
        </p:spPr>
        <p:txBody>
          <a:bodyPr wrap="square" lIns="0" tIns="0" rIns="0" bIns="0" rtlCol="0" anchor="ctr"/>
          <a:lstStyle/>
          <a:p>
            <a:pPr algn="ctr" indent="0" marL="0">
              <a:buNone/>
            </a:pPr>
            <a:r>
              <a:rPr lang="en-US" sz="3200" b="1" dirty="0">
                <a:solidFill>
                  <a:srgbClr val="17344F"/>
                </a:solidFill>
                <a:latin typeface="Segoe UI" pitchFamily="34" charset="0"/>
                <a:ea typeface="Segoe UI" pitchFamily="34" charset="-122"/>
                <a:cs typeface="Segoe UI" pitchFamily="34" charset="-120"/>
              </a:rPr>
              <a:t>6.67%</a:t>
            </a:r>
            <a:endParaRPr lang="en-US" sz="3200" dirty="0"/>
          </a:p>
        </p:txBody>
      </p:sp>
      <p:sp>
        <p:nvSpPr>
          <p:cNvPr id="29" name="Text 27"/>
          <p:cNvSpPr/>
          <p:nvPr/>
        </p:nvSpPr>
        <p:spPr>
          <a:xfrm>
            <a:off x="9144000" y="2889504"/>
            <a:ext cx="2377440" cy="274320"/>
          </a:xfrm>
          <a:prstGeom prst="rect">
            <a:avLst/>
          </a:prstGeom>
          <a:noFill/>
          <a:ln/>
        </p:spPr>
        <p:txBody>
          <a:bodyPr wrap="square" lIns="0" tIns="0" rIns="0" bIns="0" rtlCol="0" anchor="ctr"/>
          <a:lstStyle/>
          <a:p>
            <a:pPr algn="ctr" indent="0" marL="0">
              <a:buNone/>
            </a:pPr>
            <a:r>
              <a:rPr lang="en-US" sz="1000" dirty="0">
                <a:solidFill>
                  <a:srgbClr val="3D5A66"/>
                </a:solidFill>
                <a:latin typeface="Segoe UI" pitchFamily="34" charset="0"/>
                <a:ea typeface="Segoe UI" pitchFamily="34" charset="-122"/>
                <a:cs typeface="Segoe UI" pitchFamily="34" charset="-120"/>
              </a:rPr>
              <a:t>of the pot, per group</a:t>
            </a:r>
            <a:endParaRPr lang="en-US" sz="1000" dirty="0"/>
          </a:p>
        </p:txBody>
      </p:sp>
      <p:sp>
        <p:nvSpPr>
          <p:cNvPr id="30" name="Text 28"/>
          <p:cNvSpPr/>
          <p:nvPr/>
        </p:nvSpPr>
        <p:spPr>
          <a:xfrm>
            <a:off x="566928" y="3611880"/>
            <a:ext cx="2926080" cy="365760"/>
          </a:xfrm>
          <a:prstGeom prst="rect">
            <a:avLst/>
          </a:prstGeom>
          <a:noFill/>
          <a:ln/>
        </p:spPr>
        <p:txBody>
          <a:bodyPr wrap="square" lIns="0" tIns="0" rIns="0" bIns="0" rtlCol="0" anchor="ctr"/>
          <a:lstStyle/>
          <a:p>
            <a:pPr indent="0" marL="0">
              <a:buNone/>
            </a:pPr>
            <a:r>
              <a:rPr lang="en-US" sz="1200" b="1" dirty="0">
                <a:solidFill>
                  <a:srgbClr val="17344F"/>
                </a:solidFill>
                <a:latin typeface="Segoe UI" pitchFamily="34" charset="0"/>
                <a:ea typeface="Segoe UI" pitchFamily="34" charset="-122"/>
                <a:cs typeface="Segoe UI" pitchFamily="34" charset="-120"/>
              </a:rPr>
              <a:t>Across all three groups:</a:t>
            </a:r>
            <a:endParaRPr lang="en-US" sz="1200" dirty="0"/>
          </a:p>
        </p:txBody>
      </p:sp>
      <p:sp>
        <p:nvSpPr>
          <p:cNvPr id="31" name="Shape 29"/>
          <p:cNvSpPr/>
          <p:nvPr/>
        </p:nvSpPr>
        <p:spPr>
          <a:xfrm>
            <a:off x="3566160" y="3639312"/>
            <a:ext cx="4023360" cy="365760"/>
          </a:xfrm>
          <a:prstGeom prst="rect">
            <a:avLst/>
          </a:prstGeom>
          <a:solidFill>
            <a:srgbClr val="567A2E"/>
          </a:solidFill>
          <a:ln/>
        </p:spPr>
      </p:sp>
      <p:sp>
        <p:nvSpPr>
          <p:cNvPr id="32" name="Text 30"/>
          <p:cNvSpPr/>
          <p:nvPr/>
        </p:nvSpPr>
        <p:spPr>
          <a:xfrm>
            <a:off x="3566160" y="3639312"/>
            <a:ext cx="40233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1st, 50%</a:t>
            </a:r>
            <a:endParaRPr lang="en-US" sz="1100" dirty="0"/>
          </a:p>
        </p:txBody>
      </p:sp>
      <p:sp>
        <p:nvSpPr>
          <p:cNvPr id="33" name="Shape 31"/>
          <p:cNvSpPr/>
          <p:nvPr/>
        </p:nvSpPr>
        <p:spPr>
          <a:xfrm>
            <a:off x="7589520" y="3639312"/>
            <a:ext cx="2414016" cy="365760"/>
          </a:xfrm>
          <a:prstGeom prst="rect">
            <a:avLst/>
          </a:prstGeom>
          <a:solidFill>
            <a:srgbClr val="2E6DA4"/>
          </a:solidFill>
          <a:ln/>
        </p:spPr>
      </p:sp>
      <p:sp>
        <p:nvSpPr>
          <p:cNvPr id="34" name="Text 32"/>
          <p:cNvSpPr/>
          <p:nvPr/>
        </p:nvSpPr>
        <p:spPr>
          <a:xfrm>
            <a:off x="7589520" y="3639312"/>
            <a:ext cx="2414016"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2nd, 30%</a:t>
            </a:r>
            <a:endParaRPr lang="en-US" sz="1100" dirty="0"/>
          </a:p>
        </p:txBody>
      </p:sp>
      <p:sp>
        <p:nvSpPr>
          <p:cNvPr id="35" name="Shape 33"/>
          <p:cNvSpPr/>
          <p:nvPr/>
        </p:nvSpPr>
        <p:spPr>
          <a:xfrm>
            <a:off x="10003536" y="3639312"/>
            <a:ext cx="1609344" cy="365760"/>
          </a:xfrm>
          <a:prstGeom prst="rect">
            <a:avLst/>
          </a:prstGeom>
          <a:solidFill>
            <a:srgbClr val="7F8B8F"/>
          </a:solidFill>
          <a:ln/>
        </p:spPr>
      </p:sp>
      <p:sp>
        <p:nvSpPr>
          <p:cNvPr id="36" name="Text 34"/>
          <p:cNvSpPr/>
          <p:nvPr/>
        </p:nvSpPr>
        <p:spPr>
          <a:xfrm>
            <a:off x="10003536" y="3639312"/>
            <a:ext cx="160934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Quality, 20%</a:t>
            </a:r>
            <a:endParaRPr lang="en-US" sz="1100" dirty="0"/>
          </a:p>
        </p:txBody>
      </p:sp>
      <p:sp>
        <p:nvSpPr>
          <p:cNvPr id="37" name="Shape 35"/>
          <p:cNvSpPr/>
          <p:nvPr/>
        </p:nvSpPr>
        <p:spPr>
          <a:xfrm>
            <a:off x="566928" y="4343400"/>
            <a:ext cx="5440680" cy="1325880"/>
          </a:xfrm>
          <a:prstGeom prst="roundRect">
            <a:avLst>
              <a:gd name="adj" fmla="val 4138"/>
            </a:avLst>
          </a:prstGeom>
          <a:solidFill>
            <a:srgbClr val="F7F9F1"/>
          </a:solidFill>
          <a:ln w="9525">
            <a:solidFill>
              <a:srgbClr val="D6DBC9"/>
            </a:solidFill>
            <a:prstDash val="solid"/>
          </a:ln>
        </p:spPr>
      </p:sp>
      <p:sp>
        <p:nvSpPr>
          <p:cNvPr id="38" name="Text 36"/>
          <p:cNvSpPr/>
          <p:nvPr/>
        </p:nvSpPr>
        <p:spPr>
          <a:xfrm>
            <a:off x="749808" y="4480560"/>
            <a:ext cx="5120640" cy="274320"/>
          </a:xfrm>
          <a:prstGeom prst="rect">
            <a:avLst/>
          </a:prstGeom>
          <a:noFill/>
          <a:ln/>
        </p:spPr>
        <p:txBody>
          <a:bodyPr wrap="square" lIns="0" tIns="0" rIns="0" bIns="0" rtlCol="0" anchor="ctr"/>
          <a:lstStyle/>
          <a:p>
            <a:pPr indent="0" marL="0">
              <a:buNone/>
            </a:pPr>
            <a:r>
              <a:rPr lang="en-US" sz="1300" b="1" dirty="0">
                <a:solidFill>
                  <a:srgbClr val="2F5D8A"/>
                </a:solidFill>
                <a:latin typeface="Segoe UI" pitchFamily="34" charset="0"/>
                <a:ea typeface="Segoe UI" pitchFamily="34" charset="-122"/>
                <a:cs typeface="Segoe UI" pitchFamily="34" charset="-120"/>
              </a:rPr>
              <a:t>Keep it competitive</a:t>
            </a:r>
            <a:endParaRPr lang="en-US" sz="1300" dirty="0"/>
          </a:p>
        </p:txBody>
      </p:sp>
      <p:sp>
        <p:nvSpPr>
          <p:cNvPr id="39" name="Text 37"/>
          <p:cNvSpPr/>
          <p:nvPr/>
        </p:nvSpPr>
        <p:spPr>
          <a:xfrm>
            <a:off x="749808" y="4773168"/>
            <a:ext cx="5120640" cy="868680"/>
          </a:xfrm>
          <a:prstGeom prst="rect">
            <a:avLst/>
          </a:prstGeom>
          <a:noFill/>
          <a:ln/>
        </p:spPr>
        <p:txBody>
          <a:bodyPr wrap="square" lIns="0" tIns="0" rIns="0" bIns="0" rtlCol="0" anchor="t"/>
          <a:lstStyle/>
          <a:p>
            <a:pPr marL="177800" indent="-177800">
              <a:lnSpc>
                <a:spcPct val="103000"/>
              </a:lnSpc>
              <a:buSzPct val="100000"/>
              <a:buChar char="•"/>
            </a:pPr>
            <a:r>
              <a:rPr lang="en-US" sz="1100" dirty="0">
                <a:solidFill>
                  <a:srgbClr val="17344F"/>
                </a:solidFill>
                <a:latin typeface="Segoe UI" pitchFamily="34" charset="0"/>
                <a:ea typeface="Segoe UI" pitchFamily="34" charset="-122"/>
                <a:cs typeface="Segoe UI" pitchFamily="34" charset="-120"/>
              </a:rPr>
              <a:t>A live leaderboard for each group during the contest</a:t>
            </a:r>
            <a:endParaRPr lang="en-US" sz="1100" dirty="0"/>
          </a:p>
          <a:p>
            <a:pPr marL="177800" indent="-177800">
              <a:lnSpc>
                <a:spcPct val="103000"/>
              </a:lnSpc>
              <a:buSzPct val="100000"/>
              <a:buChar char="•"/>
            </a:pPr>
            <a:r>
              <a:rPr lang="en-US" sz="1100" dirty="0">
                <a:solidFill>
                  <a:srgbClr val="17344F"/>
                </a:solidFill>
                <a:latin typeface="Segoe UI" pitchFamily="34" charset="0"/>
                <a:ea typeface="Segoe UI" pitchFamily="34" charset="-122"/>
                <a:cs typeface="Segoe UI" pitchFamily="34" charset="-120"/>
              </a:rPr>
              <a:t>Track who is turning enrollments into treatment for the quality prize</a:t>
            </a:r>
            <a:endParaRPr lang="en-US" sz="1100" dirty="0"/>
          </a:p>
          <a:p>
            <a:pPr marL="177800" indent="-177800">
              <a:lnSpc>
                <a:spcPct val="103000"/>
              </a:lnSpc>
              <a:buSzPct val="100000"/>
              <a:buChar char="•"/>
            </a:pPr>
            <a:r>
              <a:rPr lang="en-US" sz="1100" dirty="0">
                <a:solidFill>
                  <a:srgbClr val="17344F"/>
                </a:solidFill>
                <a:latin typeface="Segoe UI" pitchFamily="34" charset="0"/>
                <a:ea typeface="Segoe UI" pitchFamily="34" charset="-122"/>
                <a:cs typeface="Segoe UI" pitchFamily="34" charset="-120"/>
              </a:rPr>
              <a:t>Every group has winners, small territories included</a:t>
            </a:r>
            <a:endParaRPr lang="en-US" sz="1100" dirty="0"/>
          </a:p>
        </p:txBody>
      </p:sp>
      <p:sp>
        <p:nvSpPr>
          <p:cNvPr id="40" name="Shape 38"/>
          <p:cNvSpPr/>
          <p:nvPr/>
        </p:nvSpPr>
        <p:spPr>
          <a:xfrm>
            <a:off x="6190488" y="4343400"/>
            <a:ext cx="5440680" cy="1325880"/>
          </a:xfrm>
          <a:prstGeom prst="roundRect">
            <a:avLst>
              <a:gd name="adj" fmla="val 4138"/>
            </a:avLst>
          </a:prstGeom>
          <a:solidFill>
            <a:srgbClr val="F7F9F1"/>
          </a:solidFill>
          <a:ln w="9525">
            <a:solidFill>
              <a:srgbClr val="D6DBC9"/>
            </a:solidFill>
            <a:prstDash val="solid"/>
          </a:ln>
        </p:spPr>
      </p:sp>
      <p:sp>
        <p:nvSpPr>
          <p:cNvPr id="41" name="Text 39"/>
          <p:cNvSpPr/>
          <p:nvPr/>
        </p:nvSpPr>
        <p:spPr>
          <a:xfrm>
            <a:off x="6373368" y="4480560"/>
            <a:ext cx="5120640" cy="274320"/>
          </a:xfrm>
          <a:prstGeom prst="rect">
            <a:avLst/>
          </a:prstGeom>
          <a:noFill/>
          <a:ln/>
        </p:spPr>
        <p:txBody>
          <a:bodyPr wrap="square" lIns="0" tIns="0" rIns="0" bIns="0" rtlCol="0" anchor="ctr"/>
          <a:lstStyle/>
          <a:p>
            <a:pPr indent="0" marL="0">
              <a:buNone/>
            </a:pPr>
            <a:r>
              <a:rPr lang="en-US" sz="1300" b="1" dirty="0">
                <a:solidFill>
                  <a:srgbClr val="2F5D8A"/>
                </a:solidFill>
                <a:latin typeface="Segoe UI" pitchFamily="34" charset="0"/>
                <a:ea typeface="Segoe UI" pitchFamily="34" charset="-122"/>
                <a:cs typeface="Segoe UI" pitchFamily="34" charset="-120"/>
              </a:rPr>
              <a:t>What that means at $30,000</a:t>
            </a:r>
            <a:endParaRPr lang="en-US" sz="1300" dirty="0"/>
          </a:p>
        </p:txBody>
      </p:sp>
      <p:sp>
        <p:nvSpPr>
          <p:cNvPr id="42" name="Text 40"/>
          <p:cNvSpPr/>
          <p:nvPr/>
        </p:nvSpPr>
        <p:spPr>
          <a:xfrm>
            <a:off x="6373368" y="4773168"/>
            <a:ext cx="5120640" cy="868680"/>
          </a:xfrm>
          <a:prstGeom prst="rect">
            <a:avLst/>
          </a:prstGeom>
          <a:noFill/>
          <a:ln/>
        </p:spPr>
        <p:txBody>
          <a:bodyPr wrap="square" lIns="0" tIns="0" rIns="0" bIns="0" rtlCol="0" anchor="t"/>
          <a:lstStyle/>
          <a:p>
            <a:pPr marL="177800" indent="-177800">
              <a:lnSpc>
                <a:spcPct val="103000"/>
              </a:lnSpc>
              <a:buSzPct val="100000"/>
              <a:buChar char="•"/>
            </a:pPr>
            <a:r>
              <a:rPr lang="en-US" sz="1100" dirty="0">
                <a:solidFill>
                  <a:srgbClr val="17344F"/>
                </a:solidFill>
                <a:latin typeface="Segoe UI" pitchFamily="34" charset="0"/>
                <a:ea typeface="Segoe UI" pitchFamily="34" charset="-122"/>
                <a:cs typeface="Segoe UI" pitchFamily="34" charset="-120"/>
              </a:rPr>
              <a:t>Per group, first about $5,000, second $3,000, quality about $2,000</a:t>
            </a:r>
            <a:endParaRPr lang="en-US" sz="1100" dirty="0"/>
          </a:p>
          <a:p>
            <a:pPr marL="177800" indent="-177800">
              <a:lnSpc>
                <a:spcPct val="103000"/>
              </a:lnSpc>
              <a:buSzPct val="100000"/>
              <a:buChar char="•"/>
            </a:pPr>
            <a:r>
              <a:rPr lang="en-US" sz="1100" dirty="0">
                <a:solidFill>
                  <a:srgbClr val="17344F"/>
                </a:solidFill>
                <a:latin typeface="Segoe UI" pitchFamily="34" charset="0"/>
                <a:ea typeface="Segoe UI" pitchFamily="34" charset="-122"/>
                <a:cs typeface="Segoe UI" pitchFamily="34" charset="-120"/>
              </a:rPr>
              <a:t>That is $10,000 a group, and three groups makes $30,000</a:t>
            </a:r>
            <a:endParaRPr lang="en-US" sz="1100" dirty="0"/>
          </a:p>
          <a:p>
            <a:pPr marL="177800" indent="-177800">
              <a:lnSpc>
                <a:spcPct val="103000"/>
              </a:lnSpc>
              <a:buSzPct val="100000"/>
              <a:buChar char="•"/>
            </a:pPr>
            <a:r>
              <a:rPr lang="en-US" sz="1100" dirty="0">
                <a:solidFill>
                  <a:srgbClr val="17344F"/>
                </a:solidFill>
                <a:latin typeface="Segoe UI" pitchFamily="34" charset="0"/>
                <a:ea typeface="Segoe UI" pitchFamily="34" charset="-122"/>
                <a:cs typeface="Segoe UI" pitchFamily="34" charset="-120"/>
              </a:rPr>
              <a:t>A bigger or smaller pot uses the very same shares</a:t>
            </a:r>
            <a:endParaRPr lang="en-US" sz="1100" dirty="0"/>
          </a:p>
        </p:txBody>
      </p:sp>
      <p:sp>
        <p:nvSpPr>
          <p:cNvPr id="43" name="Text 41"/>
          <p:cNvSpPr/>
          <p:nvPr/>
        </p:nvSpPr>
        <p:spPr>
          <a:xfrm>
            <a:off x="566928" y="6345936"/>
            <a:ext cx="8686800" cy="256032"/>
          </a:xfrm>
          <a:prstGeom prst="rect">
            <a:avLst/>
          </a:prstGeom>
          <a:noFill/>
          <a:ln/>
        </p:spPr>
        <p:txBody>
          <a:bodyPr wrap="square" lIns="0" tIns="0" rIns="0" bIns="0" rtlCol="0" anchor="t"/>
          <a:lstStyle/>
          <a:p>
            <a:pPr indent="0" marL="0">
              <a:buNone/>
            </a:pPr>
            <a:r>
              <a:rPr lang="en-US" sz="850" i="1" dirty="0">
                <a:solidFill>
                  <a:srgbClr val="8A8A80"/>
                </a:solidFill>
                <a:latin typeface="Segoe UI" pitchFamily="34" charset="0"/>
                <a:ea typeface="Segoe UI" pitchFamily="34" charset="-122"/>
                <a:cs typeface="Segoe UI" pitchFamily="34" charset="-120"/>
              </a:rPr>
              <a:t>The pot is set up as a formula, so if leadership picks a different budget every prize updates on its own. The RAD pool is separate and still to be set.</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74320"/>
          </a:xfrm>
          <a:prstGeom prst="rect">
            <a:avLst/>
          </a:prstGeom>
          <a:noFill/>
          <a:ln/>
        </p:spPr>
        <p:txBody>
          <a:bodyPr wrap="square" lIns="0" tIns="0" rIns="0" bIns="0" rtlCol="0" anchor="ctr"/>
          <a:lstStyle/>
          <a:p>
            <a:pPr indent="0" marL="0">
              <a:buNone/>
            </a:pPr>
            <a:r>
              <a:rPr lang="en-US" sz="1200" b="1" spc="120" kern="0" dirty="0">
                <a:solidFill>
                  <a:srgbClr val="2F5D8A"/>
                </a:solidFill>
                <a:latin typeface="Segoe UI" pitchFamily="34" charset="0"/>
                <a:ea typeface="Segoe UI" pitchFamily="34" charset="-122"/>
                <a:cs typeface="Segoe UI" pitchFamily="34" charset="-120"/>
              </a:rPr>
              <a:t>A Worked Example</a:t>
            </a:r>
            <a:endParaRPr lang="en-US" sz="1200" dirty="0"/>
          </a:p>
        </p:txBody>
      </p:sp>
      <p:sp>
        <p:nvSpPr>
          <p:cNvPr id="3" name="Shape 1"/>
          <p:cNvSpPr/>
          <p:nvPr/>
        </p:nvSpPr>
        <p:spPr>
          <a:xfrm>
            <a:off x="329184" y="731520"/>
            <a:ext cx="109728" cy="109728"/>
          </a:xfrm>
          <a:prstGeom prst="rect">
            <a:avLst/>
          </a:prstGeom>
          <a:solidFill>
            <a:srgbClr val="567A2E"/>
          </a:solidFill>
          <a:ln/>
        </p:spPr>
      </p:sp>
      <p:sp>
        <p:nvSpPr>
          <p:cNvPr id="4" name="Shape 2"/>
          <p:cNvSpPr/>
          <p:nvPr/>
        </p:nvSpPr>
        <p:spPr>
          <a:xfrm>
            <a:off x="11750040" y="731520"/>
            <a:ext cx="109728" cy="109728"/>
          </a:xfrm>
          <a:prstGeom prst="rect">
            <a:avLst/>
          </a:prstGeom>
          <a:solidFill>
            <a:srgbClr val="567A2E"/>
          </a:solidFill>
          <a:ln/>
        </p:spPr>
      </p:sp>
      <p:sp>
        <p:nvSpPr>
          <p:cNvPr id="5" name="Text 3"/>
          <p:cNvSpPr/>
          <p:nvPr/>
        </p:nvSpPr>
        <p:spPr>
          <a:xfrm>
            <a:off x="566928" y="566928"/>
            <a:ext cx="11018520" cy="868680"/>
          </a:xfrm>
          <a:prstGeom prst="rect">
            <a:avLst/>
          </a:prstGeom>
          <a:noFill/>
          <a:ln/>
        </p:spPr>
        <p:txBody>
          <a:bodyPr wrap="square" lIns="0" tIns="0" rIns="0" bIns="0" rtlCol="0" anchor="t"/>
          <a:lstStyle/>
          <a:p>
            <a:pPr indent="0" marL="0">
              <a:lnSpc>
                <a:spcPct val="100000"/>
              </a:lnSpc>
              <a:buNone/>
            </a:pPr>
            <a:r>
              <a:rPr lang="en-US" sz="2300" b="1" dirty="0">
                <a:solidFill>
                  <a:srgbClr val="17344F"/>
                </a:solidFill>
                <a:latin typeface="Segoe UI" pitchFamily="34" charset="0"/>
                <a:ea typeface="Segoe UI" pitchFamily="34" charset="-122"/>
                <a:cs typeface="Segoe UI" pitchFamily="34" charset="-120"/>
              </a:rPr>
              <a:t>Here is how the scoring plays out, using made up territories and numbers for each of the three groups</a:t>
            </a:r>
            <a:endParaRPr lang="en-US" sz="2300" dirty="0"/>
          </a:p>
        </p:txBody>
      </p:sp>
      <p:sp>
        <p:nvSpPr>
          <p:cNvPr id="6" name="Shape 4"/>
          <p:cNvSpPr/>
          <p:nvPr/>
        </p:nvSpPr>
        <p:spPr>
          <a:xfrm>
            <a:off x="0" y="6556248"/>
            <a:ext cx="12191695" cy="301752"/>
          </a:xfrm>
          <a:prstGeom prst="rect">
            <a:avLst/>
          </a:prstGeom>
          <a:solidFill>
            <a:srgbClr val="9DC13C"/>
          </a:solidFill>
          <a:ln/>
        </p:spPr>
      </p:sp>
      <p:sp>
        <p:nvSpPr>
          <p:cNvPr id="7" name="Shape 5"/>
          <p:cNvSpPr/>
          <p:nvPr/>
        </p:nvSpPr>
        <p:spPr>
          <a:xfrm flipH="1">
            <a:off x="9646920" y="6309360"/>
            <a:ext cx="502920" cy="548640"/>
          </a:xfrm>
          <a:prstGeom prst="rtTriangle">
            <a:avLst/>
          </a:prstGeom>
          <a:solidFill>
            <a:srgbClr val="9DC13C"/>
          </a:solidFill>
          <a:ln/>
        </p:spPr>
      </p:sp>
      <p:sp>
        <p:nvSpPr>
          <p:cNvPr id="8" name="Shape 6"/>
          <p:cNvSpPr/>
          <p:nvPr/>
        </p:nvSpPr>
        <p:spPr>
          <a:xfrm>
            <a:off x="10131552" y="6309360"/>
            <a:ext cx="2060143" cy="548640"/>
          </a:xfrm>
          <a:prstGeom prst="rect">
            <a:avLst/>
          </a:prstGeom>
          <a:solidFill>
            <a:srgbClr val="9DC13C"/>
          </a:solidFill>
          <a:ln/>
        </p:spPr>
      </p:sp>
      <p:sp>
        <p:nvSpPr>
          <p:cNvPr id="9" name="Text 7"/>
          <p:cNvSpPr/>
          <p:nvPr/>
        </p:nvSpPr>
        <p:spPr>
          <a:xfrm>
            <a:off x="274320" y="6556248"/>
            <a:ext cx="7772400" cy="301752"/>
          </a:xfrm>
          <a:prstGeom prst="rect">
            <a:avLst/>
          </a:prstGeom>
          <a:noFill/>
          <a:ln/>
        </p:spPr>
        <p:txBody>
          <a:bodyPr wrap="square" lIns="0" tIns="0" rIns="0" bIns="0" rtlCol="0" anchor="ctr"/>
          <a:lstStyle/>
          <a:p>
            <a:pPr indent="0" marL="0">
              <a:buNone/>
            </a:pPr>
            <a:r>
              <a:rPr lang="en-US" sz="700" dirty="0">
                <a:solidFill>
                  <a:srgbClr val="FFFFFF"/>
                </a:solidFill>
                <a:latin typeface="Segoe UI" pitchFamily="34" charset="0"/>
                <a:ea typeface="Segoe UI" pitchFamily="34" charset="-122"/>
                <a:cs typeface="Segoe UI" pitchFamily="34" charset="-120"/>
              </a:rPr>
              <a:t>© 2026, Iovance Biotherapeutics, Inc.  |  Confidential for Internal Use Only</a:t>
            </a:r>
            <a:endParaRPr lang="en-US" sz="700" dirty="0"/>
          </a:p>
        </p:txBody>
      </p:sp>
      <p:sp>
        <p:nvSpPr>
          <p:cNvPr id="10" name="Text 8"/>
          <p:cNvSpPr/>
          <p:nvPr/>
        </p:nvSpPr>
        <p:spPr>
          <a:xfrm>
            <a:off x="10058400" y="6309360"/>
            <a:ext cx="1600200" cy="548640"/>
          </a:xfrm>
          <a:prstGeom prst="rect">
            <a:avLst/>
          </a:prstGeom>
          <a:noFill/>
          <a:ln/>
        </p:spPr>
        <p:txBody>
          <a:bodyPr wrap="square" lIns="0" tIns="0" rIns="0" bIns="0" rtlCol="0" anchor="ctr"/>
          <a:lstStyle/>
          <a:p>
            <a:pPr algn="r" indent="0" marL="0">
              <a:buNone/>
            </a:pPr>
            <a:r>
              <a:rPr lang="en-US" sz="1300" b="1" spc="100" kern="0" dirty="0">
                <a:solidFill>
                  <a:srgbClr val="FFFFFF"/>
                </a:solidFill>
                <a:latin typeface="Cambria" pitchFamily="34" charset="0"/>
                <a:ea typeface="Cambria" pitchFamily="34" charset="-122"/>
                <a:cs typeface="Cambria" pitchFamily="34" charset="-120"/>
              </a:rPr>
              <a:t>IOVANCE</a:t>
            </a:r>
            <a:endParaRPr lang="en-US" sz="1300" dirty="0"/>
          </a:p>
        </p:txBody>
      </p:sp>
      <p:sp>
        <p:nvSpPr>
          <p:cNvPr id="11" name="Shape 9"/>
          <p:cNvSpPr/>
          <p:nvPr/>
        </p:nvSpPr>
        <p:spPr>
          <a:xfrm>
            <a:off x="11722608" y="6473952"/>
            <a:ext cx="219456" cy="219456"/>
          </a:xfrm>
          <a:prstGeom prst="ellipse">
            <a:avLst/>
          </a:prstGeom>
          <a:solidFill>
            <a:srgbClr val="FFFFFF"/>
          </a:solidFill>
          <a:ln/>
        </p:spPr>
      </p:sp>
      <p:sp>
        <p:nvSpPr>
          <p:cNvPr id="12" name="Text 10"/>
          <p:cNvSpPr/>
          <p:nvPr/>
        </p:nvSpPr>
        <p:spPr>
          <a:xfrm>
            <a:off x="11722608" y="6473952"/>
            <a:ext cx="219456" cy="219456"/>
          </a:xfrm>
          <a:prstGeom prst="rect">
            <a:avLst/>
          </a:prstGeom>
          <a:noFill/>
          <a:ln/>
        </p:spPr>
        <p:txBody>
          <a:bodyPr wrap="square" lIns="0" tIns="0" rIns="0" bIns="0" rtlCol="0" anchor="ctr"/>
          <a:lstStyle/>
          <a:p>
            <a:pPr algn="ctr" indent="0" marL="0">
              <a:buNone/>
            </a:pPr>
            <a:r>
              <a:rPr lang="en-US" sz="900" b="1" dirty="0">
                <a:solidFill>
                  <a:srgbClr val="567A2E"/>
                </a:solidFill>
                <a:latin typeface="Segoe UI" pitchFamily="34" charset="0"/>
                <a:ea typeface="Segoe UI" pitchFamily="34" charset="-122"/>
                <a:cs typeface="Segoe UI" pitchFamily="34" charset="-120"/>
              </a:rPr>
              <a:t>7</a:t>
            </a:r>
            <a:endParaRPr lang="en-US" sz="900" dirty="0"/>
          </a:p>
        </p:txBody>
      </p:sp>
      <p:sp>
        <p:nvSpPr>
          <p:cNvPr id="13" name="Shape 11"/>
          <p:cNvSpPr/>
          <p:nvPr/>
        </p:nvSpPr>
        <p:spPr>
          <a:xfrm>
            <a:off x="566928" y="1874520"/>
            <a:ext cx="3529584" cy="438912"/>
          </a:xfrm>
          <a:prstGeom prst="rect">
            <a:avLst/>
          </a:prstGeom>
          <a:solidFill>
            <a:srgbClr val="76933C"/>
          </a:solidFill>
          <a:ln/>
        </p:spPr>
      </p:sp>
      <p:sp>
        <p:nvSpPr>
          <p:cNvPr id="14" name="Text 12"/>
          <p:cNvSpPr/>
          <p:nvPr/>
        </p:nvSpPr>
        <p:spPr>
          <a:xfrm>
            <a:off x="566928" y="1874520"/>
            <a:ext cx="3529584" cy="438912"/>
          </a:xfrm>
          <a:prstGeom prst="rect">
            <a:avLst/>
          </a:prstGeom>
          <a:noFill/>
          <a:ln/>
        </p:spPr>
        <p:txBody>
          <a:bodyPr wrap="square" lIns="0" tIns="0" rIns="0" bIns="0" rtlCol="0" anchor="ctr"/>
          <a:lstStyle/>
          <a:p>
            <a:pPr algn="ctr" indent="0" marL="0">
              <a:buNone/>
            </a:pPr>
            <a:r>
              <a:rPr lang="en-US" sz="1300" b="1" dirty="0">
                <a:solidFill>
                  <a:srgbClr val="17344F"/>
                </a:solidFill>
                <a:latin typeface="Segoe UI" pitchFamily="34" charset="0"/>
                <a:ea typeface="Segoe UI" pitchFamily="34" charset="-122"/>
                <a:cs typeface="Segoe UI" pitchFamily="34" charset="-120"/>
              </a:rPr>
              <a:t>Group 1: Large</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2313432"/>
          <a:ext cx="3529584" cy="914400"/>
        </p:xfrm>
        <a:graphic>
          <a:graphicData uri="http://schemas.openxmlformats.org/drawingml/2006/table">
            <a:tbl>
              <a:tblPr/>
              <a:tblGrid>
                <a:gridCol w="1243584"/>
                <a:gridCol w="548640"/>
                <a:gridCol w="603504"/>
                <a:gridCol w="640080"/>
                <a:gridCol w="676656"/>
              </a:tblGrid>
              <a:tr h="475488">
                <a:tc>
                  <a:txBody>
                    <a:bodyPr/>
                    <a:lstStyle/>
                    <a:p>
                      <a:pPr algn="l" indent="0" marL="0">
                        <a:buNone/>
                      </a:pPr>
                      <a:r>
                        <a:rPr lang="en-US" sz="950" b="1" dirty="0">
                          <a:solidFill>
                            <a:srgbClr val="FFFFFF"/>
                          </a:solidFill>
                          <a:latin typeface="Segoe UI" pitchFamily="34" charset="0"/>
                          <a:ea typeface="Segoe UI" pitchFamily="34" charset="-122"/>
                          <a:cs typeface="Segoe UI" pitchFamily="34" charset="-120"/>
                        </a:rPr>
                        <a:t>Territory</a:t>
                      </a:r>
                      <a:endParaRPr lang="en-US" sz="9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17344F"/>
                    </a:solidFill>
                  </a:tcPr>
                </a:tc>
                <a:tc>
                  <a:txBody>
                    <a:bodyPr/>
                    <a:lstStyle/>
                    <a:p>
                      <a:pPr algn="ctr" indent="0" marL="0">
                        <a:buNone/>
                      </a:pPr>
                      <a:r>
                        <a:rPr lang="en-US" sz="950" b="1" dirty="0">
                          <a:solidFill>
                            <a:srgbClr val="FFFFFF"/>
                          </a:solidFill>
                          <a:latin typeface="Segoe UI" pitchFamily="34" charset="0"/>
                          <a:ea typeface="Segoe UI" pitchFamily="34" charset="-122"/>
                          <a:cs typeface="Segoe UI" pitchFamily="34" charset="-120"/>
                        </a:rPr>
                        <a:t>Base</a:t>
                      </a:r>
                      <a:endParaRPr lang="en-US" sz="9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17344F"/>
                    </a:solidFill>
                  </a:tcPr>
                </a:tc>
                <a:tc>
                  <a:txBody>
                    <a:bodyPr/>
                    <a:lstStyle/>
                    <a:p>
                      <a:pPr algn="ctr" indent="0" marL="0">
                        <a:buNone/>
                      </a:pPr>
                      <a:r>
                        <a:rPr lang="en-US" sz="950" b="1" dirty="0">
                          <a:solidFill>
                            <a:srgbClr val="FFFFFF"/>
                          </a:solidFill>
                          <a:latin typeface="Segoe UI" pitchFamily="34" charset="0"/>
                          <a:ea typeface="Segoe UI" pitchFamily="34" charset="-122"/>
                          <a:cs typeface="Segoe UI" pitchFamily="34" charset="-120"/>
                        </a:rPr>
                        <a:t>Actual</a:t>
                      </a:r>
                      <a:endParaRPr lang="en-US" sz="9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17344F"/>
                    </a:solidFill>
                  </a:tcPr>
                </a:tc>
                <a:tc>
                  <a:txBody>
                    <a:bodyPr/>
                    <a:lstStyle/>
                    <a:p>
                      <a:pPr algn="ctr" indent="0" marL="0">
                        <a:buNone/>
                      </a:pPr>
                      <a:r>
                        <a:rPr lang="en-US" sz="950" b="1" dirty="0">
                          <a:solidFill>
                            <a:srgbClr val="FFFFFF"/>
                          </a:solidFill>
                          <a:latin typeface="Segoe UI" pitchFamily="34" charset="0"/>
                          <a:ea typeface="Segoe UI" pitchFamily="34" charset="-122"/>
                          <a:cs typeface="Segoe UI" pitchFamily="34" charset="-120"/>
                        </a:rPr>
                        <a:t>Growth</a:t>
                      </a:r>
                      <a:endParaRPr lang="en-US" sz="9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17344F"/>
                    </a:solidFill>
                  </a:tcPr>
                </a:tc>
                <a:tc>
                  <a:txBody>
                    <a:bodyPr/>
                    <a:lstStyle/>
                    <a:p>
                      <a:pPr algn="ctr" indent="0" marL="0">
                        <a:buNone/>
                      </a:pPr>
                      <a:r>
                        <a:rPr lang="en-US" sz="950" b="1" dirty="0">
                          <a:solidFill>
                            <a:srgbClr val="FFFFFF"/>
                          </a:solidFill>
                          <a:latin typeface="Segoe UI" pitchFamily="34" charset="0"/>
                          <a:ea typeface="Segoe UI" pitchFamily="34" charset="-122"/>
                          <a:cs typeface="Segoe UI" pitchFamily="34" charset="-120"/>
                        </a:rPr>
                        <a:t>Place</a:t>
                      </a:r>
                      <a:endParaRPr lang="en-US" sz="9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17344F"/>
                    </a:solidFill>
                  </a:tcPr>
                </a:tc>
              </a:tr>
              <a:tr h="475488">
                <a:tc>
                  <a:txBody>
                    <a:bodyPr/>
                    <a:lstStyle/>
                    <a:p>
                      <a:pPr algn="l" indent="0" marL="0">
                        <a:buNone/>
                      </a:pPr>
                      <a:r>
                        <a:rPr lang="en-US" sz="1050" b="1" dirty="0">
                          <a:solidFill>
                            <a:srgbClr val="17344F"/>
                          </a:solidFill>
                          <a:latin typeface="Segoe UI" pitchFamily="34" charset="0"/>
                          <a:ea typeface="Segoe UI" pitchFamily="34" charset="-122"/>
                          <a:cs typeface="Segoe UI" pitchFamily="34" charset="-120"/>
                        </a:rPr>
                        <a:t>CT / NYC</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c>
                  <a:txBody>
                    <a:bodyPr/>
                    <a:lstStyle/>
                    <a:p>
                      <a:pPr algn="ctr" indent="0" marL="0">
                        <a:buNone/>
                      </a:pPr>
                      <a:r>
                        <a:rPr lang="en-US" sz="1050" dirty="0">
                          <a:solidFill>
                            <a:srgbClr val="17344F"/>
                          </a:solidFill>
                          <a:latin typeface="Segoe UI" pitchFamily="34" charset="0"/>
                          <a:ea typeface="Segoe UI" pitchFamily="34" charset="-122"/>
                          <a:cs typeface="Segoe UI" pitchFamily="34" charset="-120"/>
                        </a:rPr>
                        <a:t>28</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c>
                  <a:txBody>
                    <a:bodyPr/>
                    <a:lstStyle/>
                    <a:p>
                      <a:pPr algn="ctr" indent="0" marL="0">
                        <a:buNone/>
                      </a:pPr>
                      <a:r>
                        <a:rPr lang="en-US" sz="1050" dirty="0">
                          <a:solidFill>
                            <a:srgbClr val="17344F"/>
                          </a:solidFill>
                          <a:latin typeface="Segoe UI" pitchFamily="34" charset="0"/>
                          <a:ea typeface="Segoe UI" pitchFamily="34" charset="-122"/>
                          <a:cs typeface="Segoe UI" pitchFamily="34" charset="-120"/>
                        </a:rPr>
                        <a:t>34</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c>
                  <a:txBody>
                    <a:bodyPr/>
                    <a:lstStyle/>
                    <a:p>
                      <a:pPr algn="ctr" indent="0" marL="0">
                        <a:buNone/>
                      </a:pPr>
                      <a:r>
                        <a:rPr lang="en-US" sz="1050" dirty="0">
                          <a:solidFill>
                            <a:srgbClr val="17344F"/>
                          </a:solidFill>
                          <a:latin typeface="Segoe UI" pitchFamily="34" charset="0"/>
                          <a:ea typeface="Segoe UI" pitchFamily="34" charset="-122"/>
                          <a:cs typeface="Segoe UI" pitchFamily="34" charset="-120"/>
                        </a:rPr>
                        <a:t>+21%</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c>
                  <a:txBody>
                    <a:bodyPr/>
                    <a:lstStyle/>
                    <a:p>
                      <a:pPr algn="ctr" indent="0" marL="0">
                        <a:buNone/>
                      </a:pPr>
                      <a:r>
                        <a:rPr lang="en-US" sz="1050" b="1" dirty="0">
                          <a:solidFill>
                            <a:srgbClr val="567A2E"/>
                          </a:solidFill>
                          <a:latin typeface="Segoe UI" pitchFamily="34" charset="0"/>
                          <a:ea typeface="Segoe UI" pitchFamily="34" charset="-122"/>
                          <a:cs typeface="Segoe UI" pitchFamily="34" charset="-120"/>
                        </a:rPr>
                        <a:t>1st</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r>
              <a:tr h="475488">
                <a:tc>
                  <a:txBody>
                    <a:bodyPr/>
                    <a:lstStyle/>
                    <a:p>
                      <a:pPr algn="l" indent="0" marL="0">
                        <a:buNone/>
                      </a:pPr>
                      <a:r>
                        <a:rPr lang="en-US" sz="1050" b="1" dirty="0">
                          <a:solidFill>
                            <a:srgbClr val="17344F"/>
                          </a:solidFill>
                          <a:latin typeface="Segoe UI" pitchFamily="34" charset="0"/>
                          <a:ea typeface="Segoe UI" pitchFamily="34" charset="-122"/>
                          <a:cs typeface="Segoe UI" pitchFamily="34" charset="-120"/>
                        </a:rPr>
                        <a:t>South FL</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c>
                  <a:txBody>
                    <a:bodyPr/>
                    <a:lstStyle/>
                    <a:p>
                      <a:pPr algn="ctr" indent="0" marL="0">
                        <a:buNone/>
                      </a:pPr>
                      <a:r>
                        <a:rPr lang="en-US" sz="1050" dirty="0">
                          <a:solidFill>
                            <a:srgbClr val="17344F"/>
                          </a:solidFill>
                          <a:latin typeface="Segoe UI" pitchFamily="34" charset="0"/>
                          <a:ea typeface="Segoe UI" pitchFamily="34" charset="-122"/>
                          <a:cs typeface="Segoe UI" pitchFamily="34" charset="-120"/>
                        </a:rPr>
                        <a:t>26</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c>
                  <a:txBody>
                    <a:bodyPr/>
                    <a:lstStyle/>
                    <a:p>
                      <a:pPr algn="ctr" indent="0" marL="0">
                        <a:buNone/>
                      </a:pPr>
                      <a:r>
                        <a:rPr lang="en-US" sz="1050" dirty="0">
                          <a:solidFill>
                            <a:srgbClr val="17344F"/>
                          </a:solidFill>
                          <a:latin typeface="Segoe UI" pitchFamily="34" charset="0"/>
                          <a:ea typeface="Segoe UI" pitchFamily="34" charset="-122"/>
                          <a:cs typeface="Segoe UI" pitchFamily="34" charset="-120"/>
                        </a:rPr>
                        <a:t>30</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c>
                  <a:txBody>
                    <a:bodyPr/>
                    <a:lstStyle/>
                    <a:p>
                      <a:pPr algn="ctr" indent="0" marL="0">
                        <a:buNone/>
                      </a:pPr>
                      <a:r>
                        <a:rPr lang="en-US" sz="1050" dirty="0">
                          <a:solidFill>
                            <a:srgbClr val="17344F"/>
                          </a:solidFill>
                          <a:latin typeface="Segoe UI" pitchFamily="34" charset="0"/>
                          <a:ea typeface="Segoe UI" pitchFamily="34" charset="-122"/>
                          <a:cs typeface="Segoe UI" pitchFamily="34" charset="-120"/>
                        </a:rPr>
                        <a:t>+15%</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c>
                  <a:txBody>
                    <a:bodyPr/>
                    <a:lstStyle/>
                    <a:p>
                      <a:pPr algn="ctr" indent="0" marL="0">
                        <a:buNone/>
                      </a:pPr>
                      <a:r>
                        <a:rPr lang="en-US" sz="1050" b="1" dirty="0">
                          <a:solidFill>
                            <a:srgbClr val="567A2E"/>
                          </a:solidFill>
                          <a:latin typeface="Segoe UI" pitchFamily="34" charset="0"/>
                          <a:ea typeface="Segoe UI" pitchFamily="34" charset="-122"/>
                          <a:cs typeface="Segoe UI" pitchFamily="34" charset="-120"/>
                        </a:rPr>
                        <a:t>2nd</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r>
              <a:tr h="475488">
                <a:tc>
                  <a:txBody>
                    <a:bodyPr/>
                    <a:lstStyle/>
                    <a:p>
                      <a:pPr algn="l" indent="0" marL="0">
                        <a:buNone/>
                      </a:pPr>
                      <a:r>
                        <a:rPr lang="en-US" sz="1050" b="1" dirty="0">
                          <a:solidFill>
                            <a:srgbClr val="17344F"/>
                          </a:solidFill>
                          <a:latin typeface="Segoe UI" pitchFamily="34" charset="0"/>
                          <a:ea typeface="Segoe UI" pitchFamily="34" charset="-122"/>
                          <a:cs typeface="Segoe UI" pitchFamily="34" charset="-120"/>
                        </a:rPr>
                        <a:t>Illinois</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7344F"/>
                          </a:solidFill>
                          <a:latin typeface="Segoe UI" pitchFamily="34" charset="0"/>
                          <a:ea typeface="Segoe UI" pitchFamily="34" charset="-122"/>
                          <a:cs typeface="Segoe UI" pitchFamily="34" charset="-120"/>
                        </a:rPr>
                        <a:t>24</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7344F"/>
                          </a:solidFill>
                          <a:latin typeface="Segoe UI" pitchFamily="34" charset="0"/>
                          <a:ea typeface="Segoe UI" pitchFamily="34" charset="-122"/>
                          <a:cs typeface="Segoe UI" pitchFamily="34" charset="-120"/>
                        </a:rPr>
                        <a:t>25</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7344F"/>
                          </a:solidFill>
                          <a:latin typeface="Segoe UI" pitchFamily="34" charset="0"/>
                          <a:ea typeface="Segoe UI" pitchFamily="34" charset="-122"/>
                          <a:cs typeface="Segoe UI" pitchFamily="34" charset="-120"/>
                        </a:rPr>
                        <a:t>+4%</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7344F"/>
                          </a:solidFill>
                          <a:latin typeface="Segoe UI" pitchFamily="34" charset="0"/>
                          <a:ea typeface="Segoe UI" pitchFamily="34" charset="-122"/>
                          <a:cs typeface="Segoe UI" pitchFamily="34" charset="-120"/>
                        </a:rPr>
                        <a:t>3rd</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FFFFFF"/>
                    </a:solidFill>
                  </a:tcPr>
                </a:tc>
              </a:tr>
            </a:tbl>
          </a:graphicData>
        </a:graphic>
      </p:graphicFrame>
      <p:sp>
        <p:nvSpPr>
          <p:cNvPr id="16" name="Text 13"/>
          <p:cNvSpPr/>
          <p:nvPr/>
        </p:nvSpPr>
        <p:spPr>
          <a:xfrm>
            <a:off x="566928" y="4315968"/>
            <a:ext cx="3529584" cy="457200"/>
          </a:xfrm>
          <a:prstGeom prst="rect">
            <a:avLst/>
          </a:prstGeom>
          <a:noFill/>
          <a:ln/>
        </p:spPr>
        <p:txBody>
          <a:bodyPr wrap="square" lIns="0" tIns="0" rIns="0" bIns="0" rtlCol="0" anchor="ctr"/>
          <a:lstStyle/>
          <a:p>
            <a:pPr algn="ctr" indent="0" marL="0">
              <a:buNone/>
            </a:pPr>
            <a:r>
              <a:rPr lang="en-US" sz="950" b="1" dirty="0">
                <a:solidFill>
                  <a:srgbClr val="3D5A66"/>
                </a:solidFill>
                <a:latin typeface="Segoe UI" pitchFamily="34" charset="0"/>
                <a:ea typeface="Segoe UI" pitchFamily="34" charset="-122"/>
                <a:cs typeface="Segoe UI" pitchFamily="34" charset="-120"/>
              </a:rPr>
              <a:t>Payout:  </a:t>
            </a:r>
            <a:pPr algn="ctr" indent="0" marL="0">
              <a:buNone/>
            </a:pPr>
            <a:r>
              <a:rPr lang="en-US" sz="950" dirty="0">
                <a:solidFill>
                  <a:srgbClr val="17344F"/>
                </a:solidFill>
                <a:latin typeface="Segoe UI" pitchFamily="34" charset="0"/>
                <a:ea typeface="Segoe UI" pitchFamily="34" charset="-122"/>
                <a:cs typeface="Segoe UI" pitchFamily="34" charset="-120"/>
              </a:rPr>
              <a:t>1st about $5,000, 2nd $3,000</a:t>
            </a:r>
            <a:endParaRPr lang="en-US" sz="950" dirty="0"/>
          </a:p>
        </p:txBody>
      </p:sp>
      <p:sp>
        <p:nvSpPr>
          <p:cNvPr id="17" name="Shape 14"/>
          <p:cNvSpPr/>
          <p:nvPr/>
        </p:nvSpPr>
        <p:spPr>
          <a:xfrm>
            <a:off x="4279392" y="1874520"/>
            <a:ext cx="3529584" cy="438912"/>
          </a:xfrm>
          <a:prstGeom prst="rect">
            <a:avLst/>
          </a:prstGeom>
          <a:solidFill>
            <a:srgbClr val="A9C05A"/>
          </a:solidFill>
          <a:ln/>
        </p:spPr>
      </p:sp>
      <p:sp>
        <p:nvSpPr>
          <p:cNvPr id="18" name="Text 15"/>
          <p:cNvSpPr/>
          <p:nvPr/>
        </p:nvSpPr>
        <p:spPr>
          <a:xfrm>
            <a:off x="4279392" y="1874520"/>
            <a:ext cx="3529584" cy="438912"/>
          </a:xfrm>
          <a:prstGeom prst="rect">
            <a:avLst/>
          </a:prstGeom>
          <a:noFill/>
          <a:ln/>
        </p:spPr>
        <p:txBody>
          <a:bodyPr wrap="square" lIns="0" tIns="0" rIns="0" bIns="0" rtlCol="0" anchor="ctr"/>
          <a:lstStyle/>
          <a:p>
            <a:pPr algn="ctr" indent="0" marL="0">
              <a:buNone/>
            </a:pPr>
            <a:r>
              <a:rPr lang="en-US" sz="1300" b="1" dirty="0">
                <a:solidFill>
                  <a:srgbClr val="17344F"/>
                </a:solidFill>
                <a:latin typeface="Segoe UI" pitchFamily="34" charset="0"/>
                <a:ea typeface="Segoe UI" pitchFamily="34" charset="-122"/>
                <a:cs typeface="Segoe UI" pitchFamily="34" charset="-120"/>
              </a:rPr>
              <a:t>Group 2: Medium</a:t>
            </a:r>
            <a:endParaRPr lang="en-US" sz="13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4279392" y="2313432"/>
          <a:ext cx="3529584" cy="914400"/>
        </p:xfrm>
        <a:graphic>
          <a:graphicData uri="http://schemas.openxmlformats.org/drawingml/2006/table">
            <a:tbl>
              <a:tblPr/>
              <a:tblGrid>
                <a:gridCol w="1243584"/>
                <a:gridCol w="548640"/>
                <a:gridCol w="603504"/>
                <a:gridCol w="640080"/>
                <a:gridCol w="676656"/>
              </a:tblGrid>
              <a:tr h="475488">
                <a:tc>
                  <a:txBody>
                    <a:bodyPr/>
                    <a:lstStyle/>
                    <a:p>
                      <a:pPr algn="l" indent="0" marL="0">
                        <a:buNone/>
                      </a:pPr>
                      <a:r>
                        <a:rPr lang="en-US" sz="950" b="1" dirty="0">
                          <a:solidFill>
                            <a:srgbClr val="FFFFFF"/>
                          </a:solidFill>
                          <a:latin typeface="Segoe UI" pitchFamily="34" charset="0"/>
                          <a:ea typeface="Segoe UI" pitchFamily="34" charset="-122"/>
                          <a:cs typeface="Segoe UI" pitchFamily="34" charset="-120"/>
                        </a:rPr>
                        <a:t>Territory</a:t>
                      </a:r>
                      <a:endParaRPr lang="en-US" sz="9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17344F"/>
                    </a:solidFill>
                  </a:tcPr>
                </a:tc>
                <a:tc>
                  <a:txBody>
                    <a:bodyPr/>
                    <a:lstStyle/>
                    <a:p>
                      <a:pPr algn="ctr" indent="0" marL="0">
                        <a:buNone/>
                      </a:pPr>
                      <a:r>
                        <a:rPr lang="en-US" sz="950" b="1" dirty="0">
                          <a:solidFill>
                            <a:srgbClr val="FFFFFF"/>
                          </a:solidFill>
                          <a:latin typeface="Segoe UI" pitchFamily="34" charset="0"/>
                          <a:ea typeface="Segoe UI" pitchFamily="34" charset="-122"/>
                          <a:cs typeface="Segoe UI" pitchFamily="34" charset="-120"/>
                        </a:rPr>
                        <a:t>Base</a:t>
                      </a:r>
                      <a:endParaRPr lang="en-US" sz="9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17344F"/>
                    </a:solidFill>
                  </a:tcPr>
                </a:tc>
                <a:tc>
                  <a:txBody>
                    <a:bodyPr/>
                    <a:lstStyle/>
                    <a:p>
                      <a:pPr algn="ctr" indent="0" marL="0">
                        <a:buNone/>
                      </a:pPr>
                      <a:r>
                        <a:rPr lang="en-US" sz="950" b="1" dirty="0">
                          <a:solidFill>
                            <a:srgbClr val="FFFFFF"/>
                          </a:solidFill>
                          <a:latin typeface="Segoe UI" pitchFamily="34" charset="0"/>
                          <a:ea typeface="Segoe UI" pitchFamily="34" charset="-122"/>
                          <a:cs typeface="Segoe UI" pitchFamily="34" charset="-120"/>
                        </a:rPr>
                        <a:t>Actual</a:t>
                      </a:r>
                      <a:endParaRPr lang="en-US" sz="9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17344F"/>
                    </a:solidFill>
                  </a:tcPr>
                </a:tc>
                <a:tc>
                  <a:txBody>
                    <a:bodyPr/>
                    <a:lstStyle/>
                    <a:p>
                      <a:pPr algn="ctr" indent="0" marL="0">
                        <a:buNone/>
                      </a:pPr>
                      <a:r>
                        <a:rPr lang="en-US" sz="950" b="1" dirty="0">
                          <a:solidFill>
                            <a:srgbClr val="FFFFFF"/>
                          </a:solidFill>
                          <a:latin typeface="Segoe UI" pitchFamily="34" charset="0"/>
                          <a:ea typeface="Segoe UI" pitchFamily="34" charset="-122"/>
                          <a:cs typeface="Segoe UI" pitchFamily="34" charset="-120"/>
                        </a:rPr>
                        <a:t>Growth</a:t>
                      </a:r>
                      <a:endParaRPr lang="en-US" sz="9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17344F"/>
                    </a:solidFill>
                  </a:tcPr>
                </a:tc>
                <a:tc>
                  <a:txBody>
                    <a:bodyPr/>
                    <a:lstStyle/>
                    <a:p>
                      <a:pPr algn="ctr" indent="0" marL="0">
                        <a:buNone/>
                      </a:pPr>
                      <a:r>
                        <a:rPr lang="en-US" sz="950" b="1" dirty="0">
                          <a:solidFill>
                            <a:srgbClr val="FFFFFF"/>
                          </a:solidFill>
                          <a:latin typeface="Segoe UI" pitchFamily="34" charset="0"/>
                          <a:ea typeface="Segoe UI" pitchFamily="34" charset="-122"/>
                          <a:cs typeface="Segoe UI" pitchFamily="34" charset="-120"/>
                        </a:rPr>
                        <a:t>Place</a:t>
                      </a:r>
                      <a:endParaRPr lang="en-US" sz="9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17344F"/>
                    </a:solidFill>
                  </a:tcPr>
                </a:tc>
              </a:tr>
              <a:tr h="475488">
                <a:tc>
                  <a:txBody>
                    <a:bodyPr/>
                    <a:lstStyle/>
                    <a:p>
                      <a:pPr algn="l" indent="0" marL="0">
                        <a:buNone/>
                      </a:pPr>
                      <a:r>
                        <a:rPr lang="en-US" sz="1050" b="1" dirty="0">
                          <a:solidFill>
                            <a:srgbClr val="17344F"/>
                          </a:solidFill>
                          <a:latin typeface="Segoe UI" pitchFamily="34" charset="0"/>
                          <a:ea typeface="Segoe UI" pitchFamily="34" charset="-122"/>
                          <a:cs typeface="Segoe UI" pitchFamily="34" charset="-120"/>
                        </a:rPr>
                        <a:t>Indiana / KY</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c>
                  <a:txBody>
                    <a:bodyPr/>
                    <a:lstStyle/>
                    <a:p>
                      <a:pPr algn="ctr" indent="0" marL="0">
                        <a:buNone/>
                      </a:pPr>
                      <a:r>
                        <a:rPr lang="en-US" sz="1050" dirty="0">
                          <a:solidFill>
                            <a:srgbClr val="17344F"/>
                          </a:solidFill>
                          <a:latin typeface="Segoe UI" pitchFamily="34" charset="0"/>
                          <a:ea typeface="Segoe UI" pitchFamily="34" charset="-122"/>
                          <a:cs typeface="Segoe UI" pitchFamily="34" charset="-120"/>
                        </a:rPr>
                        <a:t>15</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c>
                  <a:txBody>
                    <a:bodyPr/>
                    <a:lstStyle/>
                    <a:p>
                      <a:pPr algn="ctr" indent="0" marL="0">
                        <a:buNone/>
                      </a:pPr>
                      <a:r>
                        <a:rPr lang="en-US" sz="1050" dirty="0">
                          <a:solidFill>
                            <a:srgbClr val="17344F"/>
                          </a:solidFill>
                          <a:latin typeface="Segoe UI" pitchFamily="34" charset="0"/>
                          <a:ea typeface="Segoe UI" pitchFamily="34" charset="-122"/>
                          <a:cs typeface="Segoe UI" pitchFamily="34" charset="-120"/>
                        </a:rPr>
                        <a:t>21</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c>
                  <a:txBody>
                    <a:bodyPr/>
                    <a:lstStyle/>
                    <a:p>
                      <a:pPr algn="ctr" indent="0" marL="0">
                        <a:buNone/>
                      </a:pPr>
                      <a:r>
                        <a:rPr lang="en-US" sz="1050" dirty="0">
                          <a:solidFill>
                            <a:srgbClr val="17344F"/>
                          </a:solidFill>
                          <a:latin typeface="Segoe UI" pitchFamily="34" charset="0"/>
                          <a:ea typeface="Segoe UI" pitchFamily="34" charset="-122"/>
                          <a:cs typeface="Segoe UI" pitchFamily="34" charset="-120"/>
                        </a:rPr>
                        <a:t>+40%</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c>
                  <a:txBody>
                    <a:bodyPr/>
                    <a:lstStyle/>
                    <a:p>
                      <a:pPr algn="ctr" indent="0" marL="0">
                        <a:buNone/>
                      </a:pPr>
                      <a:r>
                        <a:rPr lang="en-US" sz="1050" b="1" dirty="0">
                          <a:solidFill>
                            <a:srgbClr val="567A2E"/>
                          </a:solidFill>
                          <a:latin typeface="Segoe UI" pitchFamily="34" charset="0"/>
                          <a:ea typeface="Segoe UI" pitchFamily="34" charset="-122"/>
                          <a:cs typeface="Segoe UI" pitchFamily="34" charset="-120"/>
                        </a:rPr>
                        <a:t>1st</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r>
              <a:tr h="475488">
                <a:tc>
                  <a:txBody>
                    <a:bodyPr/>
                    <a:lstStyle/>
                    <a:p>
                      <a:pPr algn="l" indent="0" marL="0">
                        <a:buNone/>
                      </a:pPr>
                      <a:r>
                        <a:rPr lang="en-US" sz="1050" b="1" dirty="0">
                          <a:solidFill>
                            <a:srgbClr val="17344F"/>
                          </a:solidFill>
                          <a:latin typeface="Segoe UI" pitchFamily="34" charset="0"/>
                          <a:ea typeface="Segoe UI" pitchFamily="34" charset="-122"/>
                          <a:cs typeface="Segoe UI" pitchFamily="34" charset="-120"/>
                        </a:rPr>
                        <a:t>Eastern OH</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c>
                  <a:txBody>
                    <a:bodyPr/>
                    <a:lstStyle/>
                    <a:p>
                      <a:pPr algn="ctr" indent="0" marL="0">
                        <a:buNone/>
                      </a:pPr>
                      <a:r>
                        <a:rPr lang="en-US" sz="1050" dirty="0">
                          <a:solidFill>
                            <a:srgbClr val="17344F"/>
                          </a:solidFill>
                          <a:latin typeface="Segoe UI" pitchFamily="34" charset="0"/>
                          <a:ea typeface="Segoe UI" pitchFamily="34" charset="-122"/>
                          <a:cs typeface="Segoe UI" pitchFamily="34" charset="-120"/>
                        </a:rPr>
                        <a:t>16</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c>
                  <a:txBody>
                    <a:bodyPr/>
                    <a:lstStyle/>
                    <a:p>
                      <a:pPr algn="ctr" indent="0" marL="0">
                        <a:buNone/>
                      </a:pPr>
                      <a:r>
                        <a:rPr lang="en-US" sz="1050" dirty="0">
                          <a:solidFill>
                            <a:srgbClr val="17344F"/>
                          </a:solidFill>
                          <a:latin typeface="Segoe UI" pitchFamily="34" charset="0"/>
                          <a:ea typeface="Segoe UI" pitchFamily="34" charset="-122"/>
                          <a:cs typeface="Segoe UI" pitchFamily="34" charset="-120"/>
                        </a:rPr>
                        <a:t>20</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c>
                  <a:txBody>
                    <a:bodyPr/>
                    <a:lstStyle/>
                    <a:p>
                      <a:pPr algn="ctr" indent="0" marL="0">
                        <a:buNone/>
                      </a:pPr>
                      <a:r>
                        <a:rPr lang="en-US" sz="1050" dirty="0">
                          <a:solidFill>
                            <a:srgbClr val="17344F"/>
                          </a:solidFill>
                          <a:latin typeface="Segoe UI" pitchFamily="34" charset="0"/>
                          <a:ea typeface="Segoe UI" pitchFamily="34" charset="-122"/>
                          <a:cs typeface="Segoe UI" pitchFamily="34" charset="-120"/>
                        </a:rPr>
                        <a:t>+25%</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c>
                  <a:txBody>
                    <a:bodyPr/>
                    <a:lstStyle/>
                    <a:p>
                      <a:pPr algn="ctr" indent="0" marL="0">
                        <a:buNone/>
                      </a:pPr>
                      <a:r>
                        <a:rPr lang="en-US" sz="1050" b="1" dirty="0">
                          <a:solidFill>
                            <a:srgbClr val="567A2E"/>
                          </a:solidFill>
                          <a:latin typeface="Segoe UI" pitchFamily="34" charset="0"/>
                          <a:ea typeface="Segoe UI" pitchFamily="34" charset="-122"/>
                          <a:cs typeface="Segoe UI" pitchFamily="34" charset="-120"/>
                        </a:rPr>
                        <a:t>2nd</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r>
              <a:tr h="475488">
                <a:tc>
                  <a:txBody>
                    <a:bodyPr/>
                    <a:lstStyle/>
                    <a:p>
                      <a:pPr algn="l" indent="0" marL="0">
                        <a:buNone/>
                      </a:pPr>
                      <a:r>
                        <a:rPr lang="en-US" sz="1050" b="1" dirty="0">
                          <a:solidFill>
                            <a:srgbClr val="17344F"/>
                          </a:solidFill>
                          <a:latin typeface="Segoe UI" pitchFamily="34" charset="0"/>
                          <a:ea typeface="Segoe UI" pitchFamily="34" charset="-122"/>
                          <a:cs typeface="Segoe UI" pitchFamily="34" charset="-120"/>
                        </a:rPr>
                        <a:t>Carolinas</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7344F"/>
                          </a:solidFill>
                          <a:latin typeface="Segoe UI" pitchFamily="34" charset="0"/>
                          <a:ea typeface="Segoe UI" pitchFamily="34" charset="-122"/>
                          <a:cs typeface="Segoe UI" pitchFamily="34" charset="-120"/>
                        </a:rPr>
                        <a:t>14</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7344F"/>
                          </a:solidFill>
                          <a:latin typeface="Segoe UI" pitchFamily="34" charset="0"/>
                          <a:ea typeface="Segoe UI" pitchFamily="34" charset="-122"/>
                          <a:cs typeface="Segoe UI" pitchFamily="34" charset="-120"/>
                        </a:rPr>
                        <a:t>15</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7344F"/>
                          </a:solidFill>
                          <a:latin typeface="Segoe UI" pitchFamily="34" charset="0"/>
                          <a:ea typeface="Segoe UI" pitchFamily="34" charset="-122"/>
                          <a:cs typeface="Segoe UI" pitchFamily="34" charset="-120"/>
                        </a:rPr>
                        <a:t>+7%</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7344F"/>
                          </a:solidFill>
                          <a:latin typeface="Segoe UI" pitchFamily="34" charset="0"/>
                          <a:ea typeface="Segoe UI" pitchFamily="34" charset="-122"/>
                          <a:cs typeface="Segoe UI" pitchFamily="34" charset="-120"/>
                        </a:rPr>
                        <a:t>3rd</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FFFFFF"/>
                    </a:solidFill>
                  </a:tcPr>
                </a:tc>
              </a:tr>
            </a:tbl>
          </a:graphicData>
        </a:graphic>
      </p:graphicFrame>
      <p:sp>
        <p:nvSpPr>
          <p:cNvPr id="20" name="Text 16"/>
          <p:cNvSpPr/>
          <p:nvPr/>
        </p:nvSpPr>
        <p:spPr>
          <a:xfrm>
            <a:off x="4279392" y="4315968"/>
            <a:ext cx="3529584" cy="457200"/>
          </a:xfrm>
          <a:prstGeom prst="rect">
            <a:avLst/>
          </a:prstGeom>
          <a:noFill/>
          <a:ln/>
        </p:spPr>
        <p:txBody>
          <a:bodyPr wrap="square" lIns="0" tIns="0" rIns="0" bIns="0" rtlCol="0" anchor="ctr"/>
          <a:lstStyle/>
          <a:p>
            <a:pPr algn="ctr" indent="0" marL="0">
              <a:buNone/>
            </a:pPr>
            <a:r>
              <a:rPr lang="en-US" sz="950" b="1" dirty="0">
                <a:solidFill>
                  <a:srgbClr val="3D5A66"/>
                </a:solidFill>
                <a:latin typeface="Segoe UI" pitchFamily="34" charset="0"/>
                <a:ea typeface="Segoe UI" pitchFamily="34" charset="-122"/>
                <a:cs typeface="Segoe UI" pitchFamily="34" charset="-120"/>
              </a:rPr>
              <a:t>Payout:  </a:t>
            </a:r>
            <a:pPr algn="ctr" indent="0" marL="0">
              <a:buNone/>
            </a:pPr>
            <a:r>
              <a:rPr lang="en-US" sz="950" dirty="0">
                <a:solidFill>
                  <a:srgbClr val="17344F"/>
                </a:solidFill>
                <a:latin typeface="Segoe UI" pitchFamily="34" charset="0"/>
                <a:ea typeface="Segoe UI" pitchFamily="34" charset="-122"/>
                <a:cs typeface="Segoe UI" pitchFamily="34" charset="-120"/>
              </a:rPr>
              <a:t>1st about $5,000, 2nd $3,000</a:t>
            </a:r>
            <a:endParaRPr lang="en-US" sz="950" dirty="0"/>
          </a:p>
        </p:txBody>
      </p:sp>
      <p:sp>
        <p:nvSpPr>
          <p:cNvPr id="21" name="Shape 17"/>
          <p:cNvSpPr/>
          <p:nvPr/>
        </p:nvSpPr>
        <p:spPr>
          <a:xfrm>
            <a:off x="7991856" y="1874520"/>
            <a:ext cx="3529584" cy="438912"/>
          </a:xfrm>
          <a:prstGeom prst="rect">
            <a:avLst/>
          </a:prstGeom>
          <a:solidFill>
            <a:srgbClr val="C9DBA0"/>
          </a:solidFill>
          <a:ln/>
        </p:spPr>
      </p:sp>
      <p:sp>
        <p:nvSpPr>
          <p:cNvPr id="22" name="Text 18"/>
          <p:cNvSpPr/>
          <p:nvPr/>
        </p:nvSpPr>
        <p:spPr>
          <a:xfrm>
            <a:off x="7991856" y="1874520"/>
            <a:ext cx="3529584" cy="438912"/>
          </a:xfrm>
          <a:prstGeom prst="rect">
            <a:avLst/>
          </a:prstGeom>
          <a:noFill/>
          <a:ln/>
        </p:spPr>
        <p:txBody>
          <a:bodyPr wrap="square" lIns="0" tIns="0" rIns="0" bIns="0" rtlCol="0" anchor="ctr"/>
          <a:lstStyle/>
          <a:p>
            <a:pPr algn="ctr" indent="0" marL="0">
              <a:buNone/>
            </a:pPr>
            <a:r>
              <a:rPr lang="en-US" sz="1300" b="1" dirty="0">
                <a:solidFill>
                  <a:srgbClr val="17344F"/>
                </a:solidFill>
                <a:latin typeface="Segoe UI" pitchFamily="34" charset="0"/>
                <a:ea typeface="Segoe UI" pitchFamily="34" charset="-122"/>
                <a:cs typeface="Segoe UI" pitchFamily="34" charset="-120"/>
              </a:rPr>
              <a:t>Group 3: Small</a:t>
            </a:r>
            <a:endParaRPr lang="en-US" sz="1300" dirty="0"/>
          </a:p>
        </p:txBody>
      </p:sp>
      <p:graphicFrame>
        <p:nvGraphicFramePr>
          <p:cNvPr id="22" name="Table 2"/>
          <p:cNvGraphicFramePr>
            <a:graphicFrameLocks noGrp="1"/>
          </p:cNvGraphicFramePr>
          <p:nvPr>
            <p:extLst>
              <p:ext uri="{D42A27DB-BD31-4B8C-83A1-F6EECF244321}">
                <p14:modId xmlns:p14="http://schemas.microsoft.com/office/powerpoint/2010/main" val="1579011935"/>
              </p:ext>
            </p:extLst>
          </p:nvPr>
        </p:nvGraphicFramePr>
        <p:xfrm>
          <a:off x="7991856" y="2313432"/>
          <a:ext cx="3529584" cy="914400"/>
        </p:xfrm>
        <a:graphic>
          <a:graphicData uri="http://schemas.openxmlformats.org/drawingml/2006/table">
            <a:tbl>
              <a:tblPr/>
              <a:tblGrid>
                <a:gridCol w="1243584"/>
                <a:gridCol w="548640"/>
                <a:gridCol w="603504"/>
                <a:gridCol w="640080"/>
                <a:gridCol w="676656"/>
              </a:tblGrid>
              <a:tr h="475488">
                <a:tc>
                  <a:txBody>
                    <a:bodyPr/>
                    <a:lstStyle/>
                    <a:p>
                      <a:pPr algn="l" indent="0" marL="0">
                        <a:buNone/>
                      </a:pPr>
                      <a:r>
                        <a:rPr lang="en-US" sz="950" b="1" dirty="0">
                          <a:solidFill>
                            <a:srgbClr val="FFFFFF"/>
                          </a:solidFill>
                          <a:latin typeface="Segoe UI" pitchFamily="34" charset="0"/>
                          <a:ea typeface="Segoe UI" pitchFamily="34" charset="-122"/>
                          <a:cs typeface="Segoe UI" pitchFamily="34" charset="-120"/>
                        </a:rPr>
                        <a:t>Territory</a:t>
                      </a:r>
                      <a:endParaRPr lang="en-US" sz="9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17344F"/>
                    </a:solidFill>
                  </a:tcPr>
                </a:tc>
                <a:tc>
                  <a:txBody>
                    <a:bodyPr/>
                    <a:lstStyle/>
                    <a:p>
                      <a:pPr algn="ctr" indent="0" marL="0">
                        <a:buNone/>
                      </a:pPr>
                      <a:r>
                        <a:rPr lang="en-US" sz="950" b="1" dirty="0">
                          <a:solidFill>
                            <a:srgbClr val="FFFFFF"/>
                          </a:solidFill>
                          <a:latin typeface="Segoe UI" pitchFamily="34" charset="0"/>
                          <a:ea typeface="Segoe UI" pitchFamily="34" charset="-122"/>
                          <a:cs typeface="Segoe UI" pitchFamily="34" charset="-120"/>
                        </a:rPr>
                        <a:t>Base</a:t>
                      </a:r>
                      <a:endParaRPr lang="en-US" sz="9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17344F"/>
                    </a:solidFill>
                  </a:tcPr>
                </a:tc>
                <a:tc>
                  <a:txBody>
                    <a:bodyPr/>
                    <a:lstStyle/>
                    <a:p>
                      <a:pPr algn="ctr" indent="0" marL="0">
                        <a:buNone/>
                      </a:pPr>
                      <a:r>
                        <a:rPr lang="en-US" sz="950" b="1" dirty="0">
                          <a:solidFill>
                            <a:srgbClr val="FFFFFF"/>
                          </a:solidFill>
                          <a:latin typeface="Segoe UI" pitchFamily="34" charset="0"/>
                          <a:ea typeface="Segoe UI" pitchFamily="34" charset="-122"/>
                          <a:cs typeface="Segoe UI" pitchFamily="34" charset="-120"/>
                        </a:rPr>
                        <a:t>Actual</a:t>
                      </a:r>
                      <a:endParaRPr lang="en-US" sz="9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17344F"/>
                    </a:solidFill>
                  </a:tcPr>
                </a:tc>
                <a:tc>
                  <a:txBody>
                    <a:bodyPr/>
                    <a:lstStyle/>
                    <a:p>
                      <a:pPr algn="ctr" indent="0" marL="0">
                        <a:buNone/>
                      </a:pPr>
                      <a:r>
                        <a:rPr lang="en-US" sz="950" b="1" dirty="0">
                          <a:solidFill>
                            <a:srgbClr val="FFFFFF"/>
                          </a:solidFill>
                          <a:latin typeface="Segoe UI" pitchFamily="34" charset="0"/>
                          <a:ea typeface="Segoe UI" pitchFamily="34" charset="-122"/>
                          <a:cs typeface="Segoe UI" pitchFamily="34" charset="-120"/>
                        </a:rPr>
                        <a:t>Growth</a:t>
                      </a:r>
                      <a:endParaRPr lang="en-US" sz="9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17344F"/>
                    </a:solidFill>
                  </a:tcPr>
                </a:tc>
                <a:tc>
                  <a:txBody>
                    <a:bodyPr/>
                    <a:lstStyle/>
                    <a:p>
                      <a:pPr algn="ctr" indent="0" marL="0">
                        <a:buNone/>
                      </a:pPr>
                      <a:r>
                        <a:rPr lang="en-US" sz="950" b="1" dirty="0">
                          <a:solidFill>
                            <a:srgbClr val="FFFFFF"/>
                          </a:solidFill>
                          <a:latin typeface="Segoe UI" pitchFamily="34" charset="0"/>
                          <a:ea typeface="Segoe UI" pitchFamily="34" charset="-122"/>
                          <a:cs typeface="Segoe UI" pitchFamily="34" charset="-120"/>
                        </a:rPr>
                        <a:t>Place</a:t>
                      </a:r>
                      <a:endParaRPr lang="en-US" sz="9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17344F"/>
                    </a:solidFill>
                  </a:tcPr>
                </a:tc>
              </a:tr>
              <a:tr h="475488">
                <a:tc>
                  <a:txBody>
                    <a:bodyPr/>
                    <a:lstStyle/>
                    <a:p>
                      <a:pPr algn="l" indent="0" marL="0">
                        <a:buNone/>
                      </a:pPr>
                      <a:r>
                        <a:rPr lang="en-US" sz="1050" b="1" dirty="0">
                          <a:solidFill>
                            <a:srgbClr val="17344F"/>
                          </a:solidFill>
                          <a:latin typeface="Segoe UI" pitchFamily="34" charset="0"/>
                          <a:ea typeface="Segoe UI" pitchFamily="34" charset="-122"/>
                          <a:cs typeface="Segoe UI" pitchFamily="34" charset="-120"/>
                        </a:rPr>
                        <a:t>San Diego / OC</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c>
                  <a:txBody>
                    <a:bodyPr/>
                    <a:lstStyle/>
                    <a:p>
                      <a:pPr algn="ctr" indent="0" marL="0">
                        <a:buNone/>
                      </a:pPr>
                      <a:r>
                        <a:rPr lang="en-US" sz="1050" dirty="0">
                          <a:solidFill>
                            <a:srgbClr val="17344F"/>
                          </a:solidFill>
                          <a:latin typeface="Segoe UI" pitchFamily="34" charset="0"/>
                          <a:ea typeface="Segoe UI" pitchFamily="34" charset="-122"/>
                          <a:cs typeface="Segoe UI" pitchFamily="34" charset="-120"/>
                        </a:rPr>
                        <a:t>6</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c>
                  <a:txBody>
                    <a:bodyPr/>
                    <a:lstStyle/>
                    <a:p>
                      <a:pPr algn="ctr" indent="0" marL="0">
                        <a:buNone/>
                      </a:pPr>
                      <a:r>
                        <a:rPr lang="en-US" sz="1050" dirty="0">
                          <a:solidFill>
                            <a:srgbClr val="17344F"/>
                          </a:solidFill>
                          <a:latin typeface="Segoe UI" pitchFamily="34" charset="0"/>
                          <a:ea typeface="Segoe UI" pitchFamily="34" charset="-122"/>
                          <a:cs typeface="Segoe UI" pitchFamily="34" charset="-120"/>
                        </a:rPr>
                        <a:t>11</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c>
                  <a:txBody>
                    <a:bodyPr/>
                    <a:lstStyle/>
                    <a:p>
                      <a:pPr algn="ctr" indent="0" marL="0">
                        <a:buNone/>
                      </a:pPr>
                      <a:r>
                        <a:rPr lang="en-US" sz="1050" dirty="0">
                          <a:solidFill>
                            <a:srgbClr val="17344F"/>
                          </a:solidFill>
                          <a:latin typeface="Segoe UI" pitchFamily="34" charset="0"/>
                          <a:ea typeface="Segoe UI" pitchFamily="34" charset="-122"/>
                          <a:cs typeface="Segoe UI" pitchFamily="34" charset="-120"/>
                        </a:rPr>
                        <a:t>+83%</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c>
                  <a:txBody>
                    <a:bodyPr/>
                    <a:lstStyle/>
                    <a:p>
                      <a:pPr algn="ctr" indent="0" marL="0">
                        <a:buNone/>
                      </a:pPr>
                      <a:r>
                        <a:rPr lang="en-US" sz="1050" b="1" dirty="0">
                          <a:solidFill>
                            <a:srgbClr val="567A2E"/>
                          </a:solidFill>
                          <a:latin typeface="Segoe UI" pitchFamily="34" charset="0"/>
                          <a:ea typeface="Segoe UI" pitchFamily="34" charset="-122"/>
                          <a:cs typeface="Segoe UI" pitchFamily="34" charset="-120"/>
                        </a:rPr>
                        <a:t>1st</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r>
              <a:tr h="475488">
                <a:tc>
                  <a:txBody>
                    <a:bodyPr/>
                    <a:lstStyle/>
                    <a:p>
                      <a:pPr algn="l" indent="0" marL="0">
                        <a:buNone/>
                      </a:pPr>
                      <a:r>
                        <a:rPr lang="en-US" sz="1050" b="1" dirty="0">
                          <a:solidFill>
                            <a:srgbClr val="17344F"/>
                          </a:solidFill>
                          <a:latin typeface="Segoe UI" pitchFamily="34" charset="0"/>
                          <a:ea typeface="Segoe UI" pitchFamily="34" charset="-122"/>
                          <a:cs typeface="Segoe UI" pitchFamily="34" charset="-120"/>
                        </a:rPr>
                        <a:t>Michigan</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c>
                  <a:txBody>
                    <a:bodyPr/>
                    <a:lstStyle/>
                    <a:p>
                      <a:pPr algn="ctr" indent="0" marL="0">
                        <a:buNone/>
                      </a:pPr>
                      <a:r>
                        <a:rPr lang="en-US" sz="1050" dirty="0">
                          <a:solidFill>
                            <a:srgbClr val="17344F"/>
                          </a:solidFill>
                          <a:latin typeface="Segoe UI" pitchFamily="34" charset="0"/>
                          <a:ea typeface="Segoe UI" pitchFamily="34" charset="-122"/>
                          <a:cs typeface="Segoe UI" pitchFamily="34" charset="-120"/>
                        </a:rPr>
                        <a:t>8</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c>
                  <a:txBody>
                    <a:bodyPr/>
                    <a:lstStyle/>
                    <a:p>
                      <a:pPr algn="ctr" indent="0" marL="0">
                        <a:buNone/>
                      </a:pPr>
                      <a:r>
                        <a:rPr lang="en-US" sz="1050" dirty="0">
                          <a:solidFill>
                            <a:srgbClr val="17344F"/>
                          </a:solidFill>
                          <a:latin typeface="Segoe UI" pitchFamily="34" charset="0"/>
                          <a:ea typeface="Segoe UI" pitchFamily="34" charset="-122"/>
                          <a:cs typeface="Segoe UI" pitchFamily="34" charset="-120"/>
                        </a:rPr>
                        <a:t>11</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c>
                  <a:txBody>
                    <a:bodyPr/>
                    <a:lstStyle/>
                    <a:p>
                      <a:pPr algn="ctr" indent="0" marL="0">
                        <a:buNone/>
                      </a:pPr>
                      <a:r>
                        <a:rPr lang="en-US" sz="1050" dirty="0">
                          <a:solidFill>
                            <a:srgbClr val="17344F"/>
                          </a:solidFill>
                          <a:latin typeface="Segoe UI" pitchFamily="34" charset="0"/>
                          <a:ea typeface="Segoe UI" pitchFamily="34" charset="-122"/>
                          <a:cs typeface="Segoe UI" pitchFamily="34" charset="-120"/>
                        </a:rPr>
                        <a:t>+38%</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c>
                  <a:txBody>
                    <a:bodyPr/>
                    <a:lstStyle/>
                    <a:p>
                      <a:pPr algn="ctr" indent="0" marL="0">
                        <a:buNone/>
                      </a:pPr>
                      <a:r>
                        <a:rPr lang="en-US" sz="1050" b="1" dirty="0">
                          <a:solidFill>
                            <a:srgbClr val="567A2E"/>
                          </a:solidFill>
                          <a:latin typeface="Segoe UI" pitchFamily="34" charset="0"/>
                          <a:ea typeface="Segoe UI" pitchFamily="34" charset="-122"/>
                          <a:cs typeface="Segoe UI" pitchFamily="34" charset="-120"/>
                        </a:rPr>
                        <a:t>2nd</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r>
              <a:tr h="475488">
                <a:tc>
                  <a:txBody>
                    <a:bodyPr/>
                    <a:lstStyle/>
                    <a:p>
                      <a:pPr algn="l" indent="0" marL="0">
                        <a:buNone/>
                      </a:pPr>
                      <a:r>
                        <a:rPr lang="en-US" sz="1050" b="1" dirty="0">
                          <a:solidFill>
                            <a:srgbClr val="17344F"/>
                          </a:solidFill>
                          <a:latin typeface="Segoe UI" pitchFamily="34" charset="0"/>
                          <a:ea typeface="Segoe UI" pitchFamily="34" charset="-122"/>
                          <a:cs typeface="Segoe UI" pitchFamily="34" charset="-120"/>
                        </a:rPr>
                        <a:t>North FL</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7344F"/>
                          </a:solidFill>
                          <a:latin typeface="Segoe UI" pitchFamily="34" charset="0"/>
                          <a:ea typeface="Segoe UI" pitchFamily="34" charset="-122"/>
                          <a:cs typeface="Segoe UI" pitchFamily="34" charset="-120"/>
                        </a:rPr>
                        <a:t>7</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7344F"/>
                          </a:solidFill>
                          <a:latin typeface="Segoe UI" pitchFamily="34" charset="0"/>
                          <a:ea typeface="Segoe UI" pitchFamily="34" charset="-122"/>
                          <a:cs typeface="Segoe UI" pitchFamily="34" charset="-120"/>
                        </a:rPr>
                        <a:t>8</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7344F"/>
                          </a:solidFill>
                          <a:latin typeface="Segoe UI" pitchFamily="34" charset="0"/>
                          <a:ea typeface="Segoe UI" pitchFamily="34" charset="-122"/>
                          <a:cs typeface="Segoe UI" pitchFamily="34" charset="-120"/>
                        </a:rPr>
                        <a:t>+14%</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7344F"/>
                          </a:solidFill>
                          <a:latin typeface="Segoe UI" pitchFamily="34" charset="0"/>
                          <a:ea typeface="Segoe UI" pitchFamily="34" charset="-122"/>
                          <a:cs typeface="Segoe UI" pitchFamily="34" charset="-120"/>
                        </a:rPr>
                        <a:t>3rd</a:t>
                      </a:r>
                      <a:endParaRPr lang="en-US" sz="105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FFFFFF"/>
                    </a:solidFill>
                  </a:tcPr>
                </a:tc>
              </a:tr>
            </a:tbl>
          </a:graphicData>
        </a:graphic>
      </p:graphicFrame>
      <p:sp>
        <p:nvSpPr>
          <p:cNvPr id="24" name="Text 19"/>
          <p:cNvSpPr/>
          <p:nvPr/>
        </p:nvSpPr>
        <p:spPr>
          <a:xfrm>
            <a:off x="7991856" y="4315968"/>
            <a:ext cx="3529584" cy="457200"/>
          </a:xfrm>
          <a:prstGeom prst="rect">
            <a:avLst/>
          </a:prstGeom>
          <a:noFill/>
          <a:ln/>
        </p:spPr>
        <p:txBody>
          <a:bodyPr wrap="square" lIns="0" tIns="0" rIns="0" bIns="0" rtlCol="0" anchor="ctr"/>
          <a:lstStyle/>
          <a:p>
            <a:pPr algn="ctr" indent="0" marL="0">
              <a:buNone/>
            </a:pPr>
            <a:r>
              <a:rPr lang="en-US" sz="950" b="1" dirty="0">
                <a:solidFill>
                  <a:srgbClr val="3D5A66"/>
                </a:solidFill>
                <a:latin typeface="Segoe UI" pitchFamily="34" charset="0"/>
                <a:ea typeface="Segoe UI" pitchFamily="34" charset="-122"/>
                <a:cs typeface="Segoe UI" pitchFamily="34" charset="-120"/>
              </a:rPr>
              <a:t>Payout:  </a:t>
            </a:r>
            <a:pPr algn="ctr" indent="0" marL="0">
              <a:buNone/>
            </a:pPr>
            <a:r>
              <a:rPr lang="en-US" sz="950" dirty="0">
                <a:solidFill>
                  <a:srgbClr val="17344F"/>
                </a:solidFill>
                <a:latin typeface="Segoe UI" pitchFamily="34" charset="0"/>
                <a:ea typeface="Segoe UI" pitchFamily="34" charset="-122"/>
                <a:cs typeface="Segoe UI" pitchFamily="34" charset="-120"/>
              </a:rPr>
              <a:t>1st about $5,000, 2nd $3,000</a:t>
            </a:r>
            <a:endParaRPr lang="en-US" sz="950" dirty="0"/>
          </a:p>
        </p:txBody>
      </p:sp>
      <p:sp>
        <p:nvSpPr>
          <p:cNvPr id="25" name="Shape 20"/>
          <p:cNvSpPr/>
          <p:nvPr/>
        </p:nvSpPr>
        <p:spPr>
          <a:xfrm>
            <a:off x="566928" y="4983480"/>
            <a:ext cx="11064240" cy="914400"/>
          </a:xfrm>
          <a:prstGeom prst="rect">
            <a:avLst/>
          </a:prstGeom>
          <a:solidFill>
            <a:srgbClr val="E7EFD6"/>
          </a:solidFill>
          <a:ln/>
        </p:spPr>
      </p:sp>
      <p:sp>
        <p:nvSpPr>
          <p:cNvPr id="26" name="Text 21"/>
          <p:cNvSpPr/>
          <p:nvPr/>
        </p:nvSpPr>
        <p:spPr>
          <a:xfrm>
            <a:off x="749808" y="4983480"/>
            <a:ext cx="10698480" cy="914400"/>
          </a:xfrm>
          <a:prstGeom prst="rect">
            <a:avLst/>
          </a:prstGeom>
          <a:noFill/>
          <a:ln/>
        </p:spPr>
        <p:txBody>
          <a:bodyPr wrap="square" lIns="0" tIns="0" rIns="0" bIns="0" rtlCol="0" anchor="ctr"/>
          <a:lstStyle/>
          <a:p>
            <a:pPr indent="0" marL="0">
              <a:lnSpc>
                <a:spcPct val="100000"/>
              </a:lnSpc>
              <a:buNone/>
            </a:pPr>
            <a:r>
              <a:rPr lang="en-US" sz="1250" b="1" dirty="0">
                <a:solidFill>
                  <a:srgbClr val="567A2E"/>
                </a:solidFill>
                <a:latin typeface="Segoe UI" pitchFamily="34" charset="0"/>
                <a:ea typeface="Segoe UI" pitchFamily="34" charset="-122"/>
                <a:cs typeface="Segoe UI" pitchFamily="34" charset="-120"/>
              </a:rPr>
              <a:t>Compare the groups:  </a:t>
            </a:r>
            <a:pPr indent="0" marL="0">
              <a:lnSpc>
                <a:spcPct val="100000"/>
              </a:lnSpc>
              <a:buNone/>
            </a:pPr>
            <a:r>
              <a:rPr lang="en-US" sz="1250" dirty="0">
                <a:solidFill>
                  <a:srgbClr val="17344F"/>
                </a:solidFill>
                <a:latin typeface="Segoe UI" pitchFamily="34" charset="0"/>
                <a:ea typeface="Segoe UI" pitchFamily="34" charset="-122"/>
                <a:cs typeface="Segoe UI" pitchFamily="34" charset="-120"/>
              </a:rPr>
              <a:t>In this example San Diego grew 83 percent and wins its group, while Illinois, a much bigger territory, grew only 4 percent and comes third in its own. A small territory that grows a lot beats a big one that barely moves. That is exactly the point of splitting by size.</a:t>
            </a:r>
            <a:endParaRPr lang="en-US" sz="1250" dirty="0"/>
          </a:p>
        </p:txBody>
      </p:sp>
      <p:sp>
        <p:nvSpPr>
          <p:cNvPr id="27" name="Text 22"/>
          <p:cNvSpPr/>
          <p:nvPr/>
        </p:nvSpPr>
        <p:spPr>
          <a:xfrm>
            <a:off x="566928" y="6272784"/>
            <a:ext cx="8686800" cy="256032"/>
          </a:xfrm>
          <a:prstGeom prst="rect">
            <a:avLst/>
          </a:prstGeom>
          <a:noFill/>
          <a:ln/>
        </p:spPr>
        <p:txBody>
          <a:bodyPr wrap="square" lIns="0" tIns="0" rIns="0" bIns="0" rtlCol="0" anchor="t"/>
          <a:lstStyle/>
          <a:p>
            <a:pPr indent="0" marL="0">
              <a:buNone/>
            </a:pPr>
            <a:r>
              <a:rPr lang="en-US" sz="850" i="1" dirty="0">
                <a:solidFill>
                  <a:srgbClr val="8A8A80"/>
                </a:solidFill>
                <a:latin typeface="Segoe UI" pitchFamily="34" charset="0"/>
                <a:ea typeface="Segoe UI" pitchFamily="34" charset="-122"/>
                <a:cs typeface="Segoe UI" pitchFamily="34" charset="-120"/>
              </a:rPr>
              <a:t>This is a made up example, not real targets. The quality prize is decided separately inside each group.</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74320"/>
          </a:xfrm>
          <a:prstGeom prst="rect">
            <a:avLst/>
          </a:prstGeom>
          <a:noFill/>
          <a:ln/>
        </p:spPr>
        <p:txBody>
          <a:bodyPr wrap="square" lIns="0" tIns="0" rIns="0" bIns="0" rtlCol="0" anchor="ctr"/>
          <a:lstStyle/>
          <a:p>
            <a:pPr indent="0" marL="0">
              <a:buNone/>
            </a:pPr>
            <a:r>
              <a:rPr lang="en-US" sz="1200" b="1" spc="120" kern="0" dirty="0">
                <a:solidFill>
                  <a:srgbClr val="2F5D8A"/>
                </a:solidFill>
                <a:latin typeface="Segoe UI" pitchFamily="34" charset="0"/>
                <a:ea typeface="Segoe UI" pitchFamily="34" charset="-122"/>
                <a:cs typeface="Segoe UI" pitchFamily="34" charset="-120"/>
              </a:rPr>
              <a:t>The 28 Territories</a:t>
            </a:r>
            <a:endParaRPr lang="en-US" sz="1200" dirty="0"/>
          </a:p>
        </p:txBody>
      </p:sp>
      <p:sp>
        <p:nvSpPr>
          <p:cNvPr id="3" name="Shape 1"/>
          <p:cNvSpPr/>
          <p:nvPr/>
        </p:nvSpPr>
        <p:spPr>
          <a:xfrm>
            <a:off x="329184" y="731520"/>
            <a:ext cx="109728" cy="109728"/>
          </a:xfrm>
          <a:prstGeom prst="rect">
            <a:avLst/>
          </a:prstGeom>
          <a:solidFill>
            <a:srgbClr val="567A2E"/>
          </a:solidFill>
          <a:ln/>
        </p:spPr>
      </p:sp>
      <p:sp>
        <p:nvSpPr>
          <p:cNvPr id="4" name="Shape 2"/>
          <p:cNvSpPr/>
          <p:nvPr/>
        </p:nvSpPr>
        <p:spPr>
          <a:xfrm>
            <a:off x="11750040" y="731520"/>
            <a:ext cx="109728" cy="109728"/>
          </a:xfrm>
          <a:prstGeom prst="rect">
            <a:avLst/>
          </a:prstGeom>
          <a:solidFill>
            <a:srgbClr val="567A2E"/>
          </a:solidFill>
          <a:ln/>
        </p:spPr>
      </p:sp>
      <p:sp>
        <p:nvSpPr>
          <p:cNvPr id="5" name="Text 3"/>
          <p:cNvSpPr/>
          <p:nvPr/>
        </p:nvSpPr>
        <p:spPr>
          <a:xfrm>
            <a:off x="566928" y="566928"/>
            <a:ext cx="11018520" cy="868680"/>
          </a:xfrm>
          <a:prstGeom prst="rect">
            <a:avLst/>
          </a:prstGeom>
          <a:noFill/>
          <a:ln/>
        </p:spPr>
        <p:txBody>
          <a:bodyPr wrap="square" lIns="0" tIns="0" rIns="0" bIns="0" rtlCol="0" anchor="t"/>
          <a:lstStyle/>
          <a:p>
            <a:pPr indent="0" marL="0">
              <a:lnSpc>
                <a:spcPct val="100000"/>
              </a:lnSpc>
              <a:buNone/>
            </a:pPr>
            <a:r>
              <a:rPr lang="en-US" sz="2300" b="1" dirty="0">
                <a:solidFill>
                  <a:srgbClr val="17344F"/>
                </a:solidFill>
                <a:latin typeface="Segoe UI" pitchFamily="34" charset="0"/>
                <a:ea typeface="Segoe UI" pitchFamily="34" charset="-122"/>
                <a:cs typeface="Segoe UI" pitchFamily="34" charset="-120"/>
              </a:rPr>
              <a:t>The contest covers 28 territories, sorted into three size groups by their recent enrollments</a:t>
            </a:r>
            <a:endParaRPr lang="en-US" sz="2300" dirty="0"/>
          </a:p>
        </p:txBody>
      </p:sp>
      <p:sp>
        <p:nvSpPr>
          <p:cNvPr id="6" name="Shape 4"/>
          <p:cNvSpPr/>
          <p:nvPr/>
        </p:nvSpPr>
        <p:spPr>
          <a:xfrm>
            <a:off x="0" y="6556248"/>
            <a:ext cx="12191695" cy="301752"/>
          </a:xfrm>
          <a:prstGeom prst="rect">
            <a:avLst/>
          </a:prstGeom>
          <a:solidFill>
            <a:srgbClr val="9DC13C"/>
          </a:solidFill>
          <a:ln/>
        </p:spPr>
      </p:sp>
      <p:sp>
        <p:nvSpPr>
          <p:cNvPr id="7" name="Shape 5"/>
          <p:cNvSpPr/>
          <p:nvPr/>
        </p:nvSpPr>
        <p:spPr>
          <a:xfrm flipH="1">
            <a:off x="9646920" y="6309360"/>
            <a:ext cx="502920" cy="548640"/>
          </a:xfrm>
          <a:prstGeom prst="rtTriangle">
            <a:avLst/>
          </a:prstGeom>
          <a:solidFill>
            <a:srgbClr val="9DC13C"/>
          </a:solidFill>
          <a:ln/>
        </p:spPr>
      </p:sp>
      <p:sp>
        <p:nvSpPr>
          <p:cNvPr id="8" name="Shape 6"/>
          <p:cNvSpPr/>
          <p:nvPr/>
        </p:nvSpPr>
        <p:spPr>
          <a:xfrm>
            <a:off x="10131552" y="6309360"/>
            <a:ext cx="2060143" cy="548640"/>
          </a:xfrm>
          <a:prstGeom prst="rect">
            <a:avLst/>
          </a:prstGeom>
          <a:solidFill>
            <a:srgbClr val="9DC13C"/>
          </a:solidFill>
          <a:ln/>
        </p:spPr>
      </p:sp>
      <p:sp>
        <p:nvSpPr>
          <p:cNvPr id="9" name="Text 7"/>
          <p:cNvSpPr/>
          <p:nvPr/>
        </p:nvSpPr>
        <p:spPr>
          <a:xfrm>
            <a:off x="274320" y="6556248"/>
            <a:ext cx="7772400" cy="301752"/>
          </a:xfrm>
          <a:prstGeom prst="rect">
            <a:avLst/>
          </a:prstGeom>
          <a:noFill/>
          <a:ln/>
        </p:spPr>
        <p:txBody>
          <a:bodyPr wrap="square" lIns="0" tIns="0" rIns="0" bIns="0" rtlCol="0" anchor="ctr"/>
          <a:lstStyle/>
          <a:p>
            <a:pPr indent="0" marL="0">
              <a:buNone/>
            </a:pPr>
            <a:r>
              <a:rPr lang="en-US" sz="700" dirty="0">
                <a:solidFill>
                  <a:srgbClr val="FFFFFF"/>
                </a:solidFill>
                <a:latin typeface="Segoe UI" pitchFamily="34" charset="0"/>
                <a:ea typeface="Segoe UI" pitchFamily="34" charset="-122"/>
                <a:cs typeface="Segoe UI" pitchFamily="34" charset="-120"/>
              </a:rPr>
              <a:t>© 2026, Iovance Biotherapeutics, Inc.  |  Confidential for Internal Use Only</a:t>
            </a:r>
            <a:endParaRPr lang="en-US" sz="700" dirty="0"/>
          </a:p>
        </p:txBody>
      </p:sp>
      <p:sp>
        <p:nvSpPr>
          <p:cNvPr id="10" name="Text 8"/>
          <p:cNvSpPr/>
          <p:nvPr/>
        </p:nvSpPr>
        <p:spPr>
          <a:xfrm>
            <a:off x="10058400" y="6309360"/>
            <a:ext cx="1600200" cy="548640"/>
          </a:xfrm>
          <a:prstGeom prst="rect">
            <a:avLst/>
          </a:prstGeom>
          <a:noFill/>
          <a:ln/>
        </p:spPr>
        <p:txBody>
          <a:bodyPr wrap="square" lIns="0" tIns="0" rIns="0" bIns="0" rtlCol="0" anchor="ctr"/>
          <a:lstStyle/>
          <a:p>
            <a:pPr algn="r" indent="0" marL="0">
              <a:buNone/>
            </a:pPr>
            <a:r>
              <a:rPr lang="en-US" sz="1300" b="1" spc="100" kern="0" dirty="0">
                <a:solidFill>
                  <a:srgbClr val="FFFFFF"/>
                </a:solidFill>
                <a:latin typeface="Cambria" pitchFamily="34" charset="0"/>
                <a:ea typeface="Cambria" pitchFamily="34" charset="-122"/>
                <a:cs typeface="Cambria" pitchFamily="34" charset="-120"/>
              </a:rPr>
              <a:t>IOVANCE</a:t>
            </a:r>
            <a:endParaRPr lang="en-US" sz="1300" dirty="0"/>
          </a:p>
        </p:txBody>
      </p:sp>
      <p:sp>
        <p:nvSpPr>
          <p:cNvPr id="11" name="Shape 9"/>
          <p:cNvSpPr/>
          <p:nvPr/>
        </p:nvSpPr>
        <p:spPr>
          <a:xfrm>
            <a:off x="11722608" y="6473952"/>
            <a:ext cx="219456" cy="219456"/>
          </a:xfrm>
          <a:prstGeom prst="ellipse">
            <a:avLst/>
          </a:prstGeom>
          <a:solidFill>
            <a:srgbClr val="FFFFFF"/>
          </a:solidFill>
          <a:ln/>
        </p:spPr>
      </p:sp>
      <p:sp>
        <p:nvSpPr>
          <p:cNvPr id="12" name="Text 10"/>
          <p:cNvSpPr/>
          <p:nvPr/>
        </p:nvSpPr>
        <p:spPr>
          <a:xfrm>
            <a:off x="11722608" y="6473952"/>
            <a:ext cx="219456" cy="219456"/>
          </a:xfrm>
          <a:prstGeom prst="rect">
            <a:avLst/>
          </a:prstGeom>
          <a:noFill/>
          <a:ln/>
        </p:spPr>
        <p:txBody>
          <a:bodyPr wrap="square" lIns="0" tIns="0" rIns="0" bIns="0" rtlCol="0" anchor="ctr"/>
          <a:lstStyle/>
          <a:p>
            <a:pPr algn="ctr" indent="0" marL="0">
              <a:buNone/>
            </a:pPr>
            <a:r>
              <a:rPr lang="en-US" sz="900" b="1" dirty="0">
                <a:solidFill>
                  <a:srgbClr val="567A2E"/>
                </a:solidFill>
                <a:latin typeface="Segoe UI" pitchFamily="34" charset="0"/>
                <a:ea typeface="Segoe UI" pitchFamily="34" charset="-122"/>
                <a:cs typeface="Segoe UI" pitchFamily="34" charset="-120"/>
              </a:rPr>
              <a:t>8</a:t>
            </a:r>
            <a:endParaRPr lang="en-US" sz="900" dirty="0"/>
          </a:p>
        </p:txBody>
      </p:sp>
      <p:sp>
        <p:nvSpPr>
          <p:cNvPr id="13" name="Text 11"/>
          <p:cNvSpPr/>
          <p:nvPr/>
        </p:nvSpPr>
        <p:spPr>
          <a:xfrm>
            <a:off x="566928" y="1737360"/>
            <a:ext cx="2743200" cy="274320"/>
          </a:xfrm>
          <a:prstGeom prst="rect">
            <a:avLst/>
          </a:prstGeom>
          <a:noFill/>
          <a:ln/>
        </p:spPr>
        <p:txBody>
          <a:bodyPr wrap="square" lIns="0" tIns="0" rIns="0" bIns="0" rtlCol="0" anchor="ctr"/>
          <a:lstStyle/>
          <a:p>
            <a:pPr indent="0" marL="0">
              <a:buNone/>
            </a:pPr>
            <a:r>
              <a:rPr lang="en-US" sz="1250" b="1" dirty="0">
                <a:solidFill>
                  <a:srgbClr val="17344F"/>
                </a:solidFill>
                <a:latin typeface="Segoe UI" pitchFamily="34" charset="0"/>
                <a:ea typeface="Segoe UI" pitchFamily="34" charset="-122"/>
                <a:cs typeface="Segoe UI" pitchFamily="34" charset="-120"/>
              </a:rPr>
              <a:t>Group summary:</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2011680"/>
          <a:ext cx="3657600" cy="914400"/>
        </p:xfrm>
        <a:graphic>
          <a:graphicData uri="http://schemas.openxmlformats.org/drawingml/2006/table">
            <a:tbl>
              <a:tblPr/>
              <a:tblGrid>
                <a:gridCol w="1463040"/>
                <a:gridCol w="1097280"/>
                <a:gridCol w="1097280"/>
              </a:tblGrid>
              <a:tr h="329184">
                <a:tc>
                  <a:txBody>
                    <a:bodyPr/>
                    <a:lstStyle/>
                    <a:p>
                      <a:pPr indent="0" marL="0">
                        <a:buNone/>
                      </a:pPr>
                      <a:r>
                        <a:rPr lang="en-US" sz="1000" b="1" dirty="0">
                          <a:solidFill>
                            <a:srgbClr val="FFFFFF"/>
                          </a:solidFill>
                          <a:latin typeface="Segoe UI" pitchFamily="34" charset="0"/>
                          <a:ea typeface="Segoe UI" pitchFamily="34" charset="-122"/>
                          <a:cs typeface="Segoe UI" pitchFamily="34" charset="-120"/>
                        </a:rPr>
                        <a:t>Group</a:t>
                      </a:r>
                      <a:endParaRPr lang="en-US" sz="100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17344F"/>
                    </a:solidFill>
                  </a:tcPr>
                </a:tc>
                <a:tc>
                  <a:txBody>
                    <a:bodyPr/>
                    <a:lstStyle/>
                    <a:p>
                      <a:pPr algn="ctr" indent="0" marL="0">
                        <a:buNone/>
                      </a:pPr>
                      <a:r>
                        <a:rPr lang="en-US" sz="1000" b="1" dirty="0">
                          <a:solidFill>
                            <a:srgbClr val="FFFFFF"/>
                          </a:solidFill>
                          <a:latin typeface="Segoe UI" pitchFamily="34" charset="0"/>
                          <a:ea typeface="Segoe UI" pitchFamily="34" charset="-122"/>
                          <a:cs typeface="Segoe UI" pitchFamily="34" charset="-120"/>
                        </a:rPr>
                        <a:t>Territories</a:t>
                      </a:r>
                      <a:endParaRPr lang="en-US" sz="100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17344F"/>
                    </a:solidFill>
                  </a:tcPr>
                </a:tc>
                <a:tc>
                  <a:txBody>
                    <a:bodyPr/>
                    <a:lstStyle/>
                    <a:p>
                      <a:pPr algn="ctr" indent="0" marL="0">
                        <a:buNone/>
                      </a:pPr>
                      <a:r>
                        <a:rPr lang="en-US" sz="1000" b="1" dirty="0">
                          <a:solidFill>
                            <a:srgbClr val="FFFFFF"/>
                          </a:solidFill>
                          <a:latin typeface="Segoe UI" pitchFamily="34" charset="0"/>
                          <a:ea typeface="Segoe UI" pitchFamily="34" charset="-122"/>
                          <a:cs typeface="Segoe UI" pitchFamily="34" charset="-120"/>
                        </a:rPr>
                        <a:t>Size band</a:t>
                      </a:r>
                      <a:endParaRPr lang="en-US" sz="100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17344F"/>
                    </a:solidFill>
                  </a:tcPr>
                </a:tc>
              </a:tr>
              <a:tr h="329184">
                <a:tc>
                  <a:txBody>
                    <a:bodyPr/>
                    <a:lstStyle/>
                    <a:p>
                      <a:pPr indent="0" marL="0">
                        <a:buNone/>
                      </a:pPr>
                      <a:r>
                        <a:rPr lang="en-US" sz="1100" b="1" dirty="0">
                          <a:solidFill>
                            <a:srgbClr val="17344F"/>
                          </a:solidFill>
                          <a:latin typeface="Segoe UI" pitchFamily="34" charset="0"/>
                          <a:ea typeface="Segoe UI" pitchFamily="34" charset="-122"/>
                          <a:cs typeface="Segoe UI" pitchFamily="34" charset="-120"/>
                        </a:rPr>
                        <a:t>1: Large</a:t>
                      </a:r>
                      <a:endParaRPr lang="en-US" sz="110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tcPr>
                </a:tc>
                <a:tc>
                  <a:txBody>
                    <a:bodyPr/>
                    <a:lstStyle/>
                    <a:p>
                      <a:pPr algn="ctr" indent="0" marL="0">
                        <a:buNone/>
                      </a:pPr>
                      <a:r>
                        <a:rPr lang="en-US" sz="1100" dirty="0">
                          <a:solidFill>
                            <a:srgbClr val="3D5A66"/>
                          </a:solidFill>
                          <a:latin typeface="Segoe UI" pitchFamily="34" charset="0"/>
                          <a:ea typeface="Segoe UI" pitchFamily="34" charset="-122"/>
                          <a:cs typeface="Segoe UI" pitchFamily="34" charset="-120"/>
                        </a:rPr>
                        <a:t>To be set</a:t>
                      </a:r>
                      <a:endParaRPr lang="en-US" sz="110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tcPr>
                </a:tc>
                <a:tc>
                  <a:txBody>
                    <a:bodyPr/>
                    <a:lstStyle/>
                    <a:p>
                      <a:pPr algn="ctr" indent="0" marL="0">
                        <a:buNone/>
                      </a:pPr>
                      <a:r>
                        <a:rPr lang="en-US" sz="1100" dirty="0">
                          <a:solidFill>
                            <a:srgbClr val="3D5A66"/>
                          </a:solidFill>
                          <a:latin typeface="Segoe UI" pitchFamily="34" charset="0"/>
                          <a:ea typeface="Segoe UI" pitchFamily="34" charset="-122"/>
                          <a:cs typeface="Segoe UI" pitchFamily="34" charset="-120"/>
                        </a:rPr>
                        <a:t>To be set</a:t>
                      </a:r>
                      <a:endParaRPr lang="en-US" sz="110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tcPr>
                </a:tc>
              </a:tr>
              <a:tr h="329184">
                <a:tc>
                  <a:txBody>
                    <a:bodyPr/>
                    <a:lstStyle/>
                    <a:p>
                      <a:pPr indent="0" marL="0">
                        <a:buNone/>
                      </a:pPr>
                      <a:r>
                        <a:rPr lang="en-US" sz="1100" b="1" dirty="0">
                          <a:solidFill>
                            <a:srgbClr val="17344F"/>
                          </a:solidFill>
                          <a:latin typeface="Segoe UI" pitchFamily="34" charset="0"/>
                          <a:ea typeface="Segoe UI" pitchFamily="34" charset="-122"/>
                          <a:cs typeface="Segoe UI" pitchFamily="34" charset="-120"/>
                        </a:rPr>
                        <a:t>2: Medium</a:t>
                      </a:r>
                      <a:endParaRPr lang="en-US" sz="110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tcPr>
                </a:tc>
                <a:tc>
                  <a:txBody>
                    <a:bodyPr/>
                    <a:lstStyle/>
                    <a:p>
                      <a:pPr algn="ctr" indent="0" marL="0">
                        <a:buNone/>
                      </a:pPr>
                      <a:r>
                        <a:rPr lang="en-US" sz="1100" dirty="0">
                          <a:solidFill>
                            <a:srgbClr val="3D5A66"/>
                          </a:solidFill>
                          <a:latin typeface="Segoe UI" pitchFamily="34" charset="0"/>
                          <a:ea typeface="Segoe UI" pitchFamily="34" charset="-122"/>
                          <a:cs typeface="Segoe UI" pitchFamily="34" charset="-120"/>
                        </a:rPr>
                        <a:t>To be set</a:t>
                      </a:r>
                      <a:endParaRPr lang="en-US" sz="110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tcPr>
                </a:tc>
                <a:tc>
                  <a:txBody>
                    <a:bodyPr/>
                    <a:lstStyle/>
                    <a:p>
                      <a:pPr algn="ctr" indent="0" marL="0">
                        <a:buNone/>
                      </a:pPr>
                      <a:r>
                        <a:rPr lang="en-US" sz="1100" dirty="0">
                          <a:solidFill>
                            <a:srgbClr val="3D5A66"/>
                          </a:solidFill>
                          <a:latin typeface="Segoe UI" pitchFamily="34" charset="0"/>
                          <a:ea typeface="Segoe UI" pitchFamily="34" charset="-122"/>
                          <a:cs typeface="Segoe UI" pitchFamily="34" charset="-120"/>
                        </a:rPr>
                        <a:t>To be set</a:t>
                      </a:r>
                      <a:endParaRPr lang="en-US" sz="110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tcPr>
                </a:tc>
              </a:tr>
              <a:tr h="329184">
                <a:tc>
                  <a:txBody>
                    <a:bodyPr/>
                    <a:lstStyle/>
                    <a:p>
                      <a:pPr indent="0" marL="0">
                        <a:buNone/>
                      </a:pPr>
                      <a:r>
                        <a:rPr lang="en-US" sz="1100" b="1" dirty="0">
                          <a:solidFill>
                            <a:srgbClr val="17344F"/>
                          </a:solidFill>
                          <a:latin typeface="Segoe UI" pitchFamily="34" charset="0"/>
                          <a:ea typeface="Segoe UI" pitchFamily="34" charset="-122"/>
                          <a:cs typeface="Segoe UI" pitchFamily="34" charset="-120"/>
                        </a:rPr>
                        <a:t>3: Small</a:t>
                      </a:r>
                      <a:endParaRPr lang="en-US" sz="110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tcPr>
                </a:tc>
                <a:tc>
                  <a:txBody>
                    <a:bodyPr/>
                    <a:lstStyle/>
                    <a:p>
                      <a:pPr algn="ctr" indent="0" marL="0">
                        <a:buNone/>
                      </a:pPr>
                      <a:r>
                        <a:rPr lang="en-US" sz="1100" dirty="0">
                          <a:solidFill>
                            <a:srgbClr val="3D5A66"/>
                          </a:solidFill>
                          <a:latin typeface="Segoe UI" pitchFamily="34" charset="0"/>
                          <a:ea typeface="Segoe UI" pitchFamily="34" charset="-122"/>
                          <a:cs typeface="Segoe UI" pitchFamily="34" charset="-120"/>
                        </a:rPr>
                        <a:t>To be set</a:t>
                      </a:r>
                      <a:endParaRPr lang="en-US" sz="110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tcPr>
                </a:tc>
                <a:tc>
                  <a:txBody>
                    <a:bodyPr/>
                    <a:lstStyle/>
                    <a:p>
                      <a:pPr algn="ctr" indent="0" marL="0">
                        <a:buNone/>
                      </a:pPr>
                      <a:r>
                        <a:rPr lang="en-US" sz="1100" dirty="0">
                          <a:solidFill>
                            <a:srgbClr val="3D5A66"/>
                          </a:solidFill>
                          <a:latin typeface="Segoe UI" pitchFamily="34" charset="0"/>
                          <a:ea typeface="Segoe UI" pitchFamily="34" charset="-122"/>
                          <a:cs typeface="Segoe UI" pitchFamily="34" charset="-120"/>
                        </a:rPr>
                        <a:t>To be set</a:t>
                      </a:r>
                      <a:endParaRPr lang="en-US" sz="110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tcPr>
                </a:tc>
              </a:tr>
              <a:tr h="329184">
                <a:tc>
                  <a:txBody>
                    <a:bodyPr/>
                    <a:lstStyle/>
                    <a:p>
                      <a:pPr indent="0" marL="0">
                        <a:buNone/>
                      </a:pPr>
                      <a:r>
                        <a:rPr lang="en-US" sz="1100" b="1" dirty="0">
                          <a:solidFill>
                            <a:srgbClr val="17344F"/>
                          </a:solidFill>
                          <a:latin typeface="Segoe UI" pitchFamily="34" charset="0"/>
                          <a:ea typeface="Segoe UI" pitchFamily="34" charset="-122"/>
                          <a:cs typeface="Segoe UI" pitchFamily="34" charset="-120"/>
                        </a:rPr>
                        <a:t>Total</a:t>
                      </a:r>
                      <a:endParaRPr lang="en-US" sz="110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c>
                  <a:txBody>
                    <a:bodyPr/>
                    <a:lstStyle/>
                    <a:p>
                      <a:pPr algn="ctr" indent="0" marL="0">
                        <a:buNone/>
                      </a:pPr>
                      <a:r>
                        <a:rPr lang="en-US" sz="1100" b="1" dirty="0">
                          <a:solidFill>
                            <a:srgbClr val="17344F"/>
                          </a:solidFill>
                          <a:latin typeface="Segoe UI" pitchFamily="34" charset="0"/>
                          <a:ea typeface="Segoe UI" pitchFamily="34" charset="-122"/>
                          <a:cs typeface="Segoe UI" pitchFamily="34" charset="-120"/>
                        </a:rPr>
                        <a:t>28</a:t>
                      </a:r>
                      <a:endParaRPr lang="en-US" sz="110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c>
                  <a:txBody>
                    <a:bodyPr/>
                    <a:lstStyle/>
                    <a:p>
                      <a:pPr indent="0" marL="0">
                        <a:buNone/>
                      </a:pPr>
                      <a:r>
                        <a:rPr lang="en-US" sz="1100" dirty="0">
                          <a:solidFill>
                            <a:srgbClr val="17344F"/>
                          </a:solidFill>
                          <a:latin typeface="Segoe UI" pitchFamily="34" charset="0"/>
                          <a:ea typeface="Segoe UI" pitchFamily="34" charset="-122"/>
                          <a:cs typeface="Segoe UI" pitchFamily="34" charset="-120"/>
                        </a:rPr>
                        <a:t> </a:t>
                      </a:r>
                      <a:endParaRPr lang="en-US" sz="1100" dirty="0">
                        <a:latin typeface="Segoe UI" charset="0"/>
                        <a:ea typeface="Segoe UI" charset="0"/>
                        <a:cs typeface="Segoe UI" charset="0"/>
                      </a:endParaRPr>
                    </a:p>
                  </a:txBody>
                  <a:tcPr marL="91440" marR="91440" marT="45720" marB="45720" anchor="ctr">
                    <a:lnL w="6350" cap="flat" cmpd="sng" algn="ctr">
                      <a:solidFill>
                        <a:srgbClr val="D6DBC9"/>
                      </a:solidFill>
                      <a:prstDash val="solid"/>
                      <a:round/>
                      <a:headEnd type="none" w="med" len="med"/>
                      <a:tailEnd type="none" w="med" len="med"/>
                    </a:lnL>
                    <a:lnR w="6350" cap="flat" cmpd="sng" algn="ctr">
                      <a:solidFill>
                        <a:srgbClr val="D6DBC9"/>
                      </a:solidFill>
                      <a:prstDash val="solid"/>
                      <a:round/>
                      <a:headEnd type="none" w="med" len="med"/>
                      <a:tailEnd type="none" w="med" len="med"/>
                    </a:lnR>
                    <a:lnT w="6350" cap="flat" cmpd="sng" algn="ctr">
                      <a:solidFill>
                        <a:srgbClr val="D6DBC9"/>
                      </a:solidFill>
                      <a:prstDash val="solid"/>
                      <a:round/>
                      <a:headEnd type="none" w="med" len="med"/>
                      <a:tailEnd type="none" w="med" len="med"/>
                    </a:lnT>
                    <a:lnB w="6350" cap="flat" cmpd="sng" algn="ctr">
                      <a:solidFill>
                        <a:srgbClr val="D6DBC9"/>
                      </a:solidFill>
                      <a:prstDash val="solid"/>
                      <a:round/>
                      <a:headEnd type="none" w="med" len="med"/>
                      <a:tailEnd type="none" w="med" len="med"/>
                    </a:lnB>
                    <a:solidFill>
                      <a:srgbClr val="E7EFD6"/>
                    </a:solidFill>
                  </a:tcPr>
                </a:tc>
              </a:tr>
            </a:tbl>
          </a:graphicData>
        </a:graphic>
      </p:graphicFrame>
      <p:sp>
        <p:nvSpPr>
          <p:cNvPr id="15" name="Text 12"/>
          <p:cNvSpPr/>
          <p:nvPr/>
        </p:nvSpPr>
        <p:spPr>
          <a:xfrm>
            <a:off x="566928" y="3977640"/>
            <a:ext cx="3657600" cy="274320"/>
          </a:xfrm>
          <a:prstGeom prst="rect">
            <a:avLst/>
          </a:prstGeom>
          <a:noFill/>
          <a:ln/>
        </p:spPr>
        <p:txBody>
          <a:bodyPr wrap="square" lIns="0" tIns="0" rIns="0" bIns="0" rtlCol="0" anchor="ctr"/>
          <a:lstStyle/>
          <a:p>
            <a:pPr indent="0" marL="0">
              <a:buNone/>
            </a:pPr>
            <a:r>
              <a:rPr lang="en-US" sz="1250" b="1" i="1" u="sng" dirty="0">
                <a:solidFill>
                  <a:srgbClr val="17344F"/>
                </a:solidFill>
                <a:latin typeface="Segoe UI" pitchFamily="34" charset="0"/>
                <a:ea typeface="Segoe UI" pitchFamily="34" charset="-122"/>
                <a:cs typeface="Segoe UI" pitchFamily="34" charset="-120"/>
              </a:rPr>
              <a:t>How we set the groups:</a:t>
            </a:r>
            <a:endParaRPr lang="en-US" sz="1250" dirty="0"/>
          </a:p>
        </p:txBody>
      </p:sp>
      <p:sp>
        <p:nvSpPr>
          <p:cNvPr id="16" name="Text 13"/>
          <p:cNvSpPr/>
          <p:nvPr/>
        </p:nvSpPr>
        <p:spPr>
          <a:xfrm>
            <a:off x="566928" y="4279392"/>
            <a:ext cx="3703320" cy="1828800"/>
          </a:xfrm>
          <a:prstGeom prst="rect">
            <a:avLst/>
          </a:prstGeom>
          <a:noFill/>
          <a:ln/>
        </p:spPr>
        <p:txBody>
          <a:bodyPr wrap="square" lIns="0" tIns="0" rIns="0" bIns="0" rtlCol="0" anchor="t"/>
          <a:lstStyle/>
          <a:p>
            <a:pPr marL="177800" indent="-177800">
              <a:lnSpc>
                <a:spcPct val="102000"/>
              </a:lnSpc>
              <a:spcAft>
                <a:spcPts val="800"/>
              </a:spcAft>
              <a:buSzPct val="100000"/>
              <a:buChar char="•"/>
            </a:pPr>
            <a:r>
              <a:rPr lang="en-US" sz="1100" dirty="0">
                <a:solidFill>
                  <a:srgbClr val="17344F"/>
                </a:solidFill>
                <a:latin typeface="Segoe UI" pitchFamily="34" charset="0"/>
                <a:ea typeface="Segoe UI" pitchFamily="34" charset="-122"/>
                <a:cs typeface="Segoe UI" pitchFamily="34" charset="-120"/>
              </a:rPr>
              <a:t>We take each territory's average enrollments over the last four quarters.</a:t>
            </a:r>
            <a:endParaRPr lang="en-US" sz="1100" dirty="0"/>
          </a:p>
          <a:p>
            <a:pPr marL="177800" indent="-177800">
              <a:lnSpc>
                <a:spcPct val="102000"/>
              </a:lnSpc>
              <a:spcAft>
                <a:spcPts val="800"/>
              </a:spcAft>
              <a:buSzPct val="100000"/>
              <a:buChar char="•"/>
            </a:pPr>
            <a:r>
              <a:rPr lang="en-US" sz="1100" dirty="0">
                <a:solidFill>
                  <a:srgbClr val="17344F"/>
                </a:solidFill>
                <a:latin typeface="Segoe UI" pitchFamily="34" charset="0"/>
                <a:ea typeface="Segoe UI" pitchFamily="34" charset="-122"/>
                <a:cs typeface="Segoe UI" pitchFamily="34" charset="-120"/>
              </a:rPr>
              <a:t>We sort them into three groups by that number, so each group holds territories of a similar size.</a:t>
            </a:r>
            <a:endParaRPr lang="en-US" sz="1100" dirty="0"/>
          </a:p>
          <a:p>
            <a:pPr marL="177800" indent="-177800">
              <a:lnSpc>
                <a:spcPct val="102000"/>
              </a:lnSpc>
              <a:spcAft>
                <a:spcPts val="800"/>
              </a:spcAft>
              <a:buSzPct val="100000"/>
              <a:buChar char="•"/>
            </a:pPr>
            <a:r>
              <a:rPr lang="en-US" sz="1100" dirty="0">
                <a:solidFill>
                  <a:srgbClr val="17344F"/>
                </a:solidFill>
                <a:latin typeface="Segoe UI" pitchFamily="34" charset="0"/>
                <a:ea typeface="Segoe UI" pitchFamily="34" charset="-122"/>
                <a:cs typeface="Segoe UI" pitchFamily="34" charset="-120"/>
              </a:rPr>
              <a:t>Newer territories with little history are placed using whatever data we have, so all 28 are included.</a:t>
            </a:r>
            <a:endParaRPr lang="en-US" sz="1100" dirty="0"/>
          </a:p>
          <a:p>
            <a:pPr marL="177800" indent="-177800">
              <a:lnSpc>
                <a:spcPct val="102000"/>
              </a:lnSpc>
              <a:buSzPct val="100000"/>
              <a:buChar char="•"/>
            </a:pPr>
            <a:r>
              <a:rPr lang="en-US" sz="1100" dirty="0">
                <a:solidFill>
                  <a:srgbClr val="17344F"/>
                </a:solidFill>
                <a:latin typeface="Segoe UI" pitchFamily="34" charset="0"/>
                <a:ea typeface="Segoe UI" pitchFamily="34" charset="-122"/>
                <a:cs typeface="Segoe UI" pitchFamily="34" charset="-120"/>
              </a:rPr>
              <a:t>The groups are locked in the day the contest starts, so no one moves between them once it is running.</a:t>
            </a:r>
            <a:endParaRPr lang="en-US" sz="1100" dirty="0"/>
          </a:p>
        </p:txBody>
      </p:sp>
      <p:sp>
        <p:nvSpPr>
          <p:cNvPr id="17" name="Text 14"/>
          <p:cNvSpPr/>
          <p:nvPr/>
        </p:nvSpPr>
        <p:spPr>
          <a:xfrm>
            <a:off x="4526280" y="1481328"/>
            <a:ext cx="2743200" cy="256032"/>
          </a:xfrm>
          <a:prstGeom prst="rect">
            <a:avLst/>
          </a:prstGeom>
          <a:noFill/>
          <a:ln/>
        </p:spPr>
        <p:txBody>
          <a:bodyPr wrap="square" lIns="0" tIns="0" rIns="0" bIns="0" rtlCol="0" anchor="ctr"/>
          <a:lstStyle/>
          <a:p>
            <a:pPr indent="0" marL="0">
              <a:buNone/>
            </a:pPr>
            <a:r>
              <a:rPr lang="en-US" sz="1250" b="1" dirty="0">
                <a:solidFill>
                  <a:srgbClr val="17344F"/>
                </a:solidFill>
                <a:latin typeface="Segoe UI" pitchFamily="34" charset="0"/>
                <a:ea typeface="Segoe UI" pitchFamily="34" charset="-122"/>
                <a:cs typeface="Segoe UI" pitchFamily="34" charset="-120"/>
              </a:rPr>
              <a:t>Territory footprint:</a:t>
            </a:r>
            <a:endParaRPr lang="en-US" sz="1250" dirty="0"/>
          </a:p>
        </p:txBody>
      </p:sp>
      <p:sp>
        <p:nvSpPr>
          <p:cNvPr id="18" name="Shape 15"/>
          <p:cNvSpPr/>
          <p:nvPr/>
        </p:nvSpPr>
        <p:spPr>
          <a:xfrm>
            <a:off x="7360920" y="1417320"/>
            <a:ext cx="4270248" cy="310896"/>
          </a:xfrm>
          <a:prstGeom prst="roundRect">
            <a:avLst>
              <a:gd name="adj" fmla="val 14706"/>
            </a:avLst>
          </a:prstGeom>
          <a:solidFill>
            <a:srgbClr val="FBF1E9"/>
          </a:solidFill>
          <a:ln w="12700">
            <a:solidFill>
              <a:srgbClr val="C0392B"/>
            </a:solidFill>
            <a:prstDash val="solid"/>
          </a:ln>
        </p:spPr>
      </p:sp>
      <p:sp>
        <p:nvSpPr>
          <p:cNvPr id="19" name="Text 16"/>
          <p:cNvSpPr/>
          <p:nvPr/>
        </p:nvSpPr>
        <p:spPr>
          <a:xfrm>
            <a:off x="7360920" y="1417320"/>
            <a:ext cx="4270248" cy="310896"/>
          </a:xfrm>
          <a:prstGeom prst="rect">
            <a:avLst/>
          </a:prstGeom>
          <a:noFill/>
          <a:ln/>
        </p:spPr>
        <p:txBody>
          <a:bodyPr wrap="square" lIns="0" tIns="0" rIns="0" bIns="0" rtlCol="0" anchor="ctr"/>
          <a:lstStyle/>
          <a:p>
            <a:pPr algn="ctr" indent="0" marL="0">
              <a:buNone/>
            </a:pPr>
            <a:r>
              <a:rPr lang="en-US" sz="1000" b="1" dirty="0">
                <a:solidFill>
                  <a:srgbClr val="C0392B"/>
                </a:solidFill>
                <a:latin typeface="Segoe UI" pitchFamily="34" charset="0"/>
                <a:ea typeface="Segoe UI" pitchFamily="34" charset="-122"/>
                <a:cs typeface="Segoe UI" pitchFamily="34" charset="-120"/>
              </a:rPr>
              <a:t>Placeholder, waiting on the real list</a:t>
            </a:r>
            <a:endParaRPr lang="en-US" sz="10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526280" y="1783080"/>
          <a:ext cx="3566160" cy="914400"/>
        </p:xfrm>
        <a:graphic>
          <a:graphicData uri="http://schemas.openxmlformats.org/drawingml/2006/table">
            <a:tbl>
              <a:tblPr/>
              <a:tblGrid>
                <a:gridCol w="2331720"/>
                <a:gridCol w="640080"/>
                <a:gridCol w="594360"/>
              </a:tblGrid>
              <a:tr h="276149">
                <a:tc>
                  <a:txBody>
                    <a:bodyPr/>
                    <a:lstStyle/>
                    <a:p>
                      <a:pPr indent="0" marL="0">
                        <a:buNone/>
                      </a:pPr>
                      <a:r>
                        <a:rPr lang="en-US" sz="900" b="1" dirty="0">
                          <a:solidFill>
                            <a:srgbClr val="FFFFFF"/>
                          </a:solidFill>
                          <a:latin typeface="Segoe UI" pitchFamily="34" charset="0"/>
                          <a:ea typeface="Segoe UI" pitchFamily="34" charset="-122"/>
                          <a:cs typeface="Segoe UI" pitchFamily="34" charset="-120"/>
                        </a:rPr>
                        <a:t>Territory</a:t>
                      </a:r>
                      <a:endParaRPr lang="en-US" sz="90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17344F"/>
                    </a:solidFill>
                  </a:tcPr>
                </a:tc>
                <a:tc>
                  <a:txBody>
                    <a:bodyPr/>
                    <a:lstStyle/>
                    <a:p>
                      <a:pPr algn="ctr" indent="0" marL="0">
                        <a:buNone/>
                      </a:pPr>
                      <a:r>
                        <a:rPr lang="en-US" sz="900" b="1" dirty="0">
                          <a:solidFill>
                            <a:srgbClr val="FFFFFF"/>
                          </a:solidFill>
                          <a:latin typeface="Segoe UI" pitchFamily="34" charset="0"/>
                          <a:ea typeface="Segoe UI" pitchFamily="34" charset="-122"/>
                          <a:cs typeface="Segoe UI" pitchFamily="34" charset="-120"/>
                        </a:rPr>
                        <a:t>Size</a:t>
                      </a:r>
                      <a:endParaRPr lang="en-US" sz="90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17344F"/>
                    </a:solidFill>
                  </a:tcPr>
                </a:tc>
                <a:tc>
                  <a:txBody>
                    <a:bodyPr/>
                    <a:lstStyle/>
                    <a:p>
                      <a:pPr algn="ctr" indent="0" marL="0">
                        <a:buNone/>
                      </a:pPr>
                      <a:r>
                        <a:rPr lang="en-US" sz="900" b="1" dirty="0">
                          <a:solidFill>
                            <a:srgbClr val="FFFFFF"/>
                          </a:solidFill>
                          <a:latin typeface="Segoe UI" pitchFamily="34" charset="0"/>
                          <a:ea typeface="Segoe UI" pitchFamily="34" charset="-122"/>
                          <a:cs typeface="Segoe UI" pitchFamily="34" charset="-120"/>
                        </a:rPr>
                        <a:t>Group</a:t>
                      </a:r>
                      <a:endParaRPr lang="en-US" sz="90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17344F"/>
                    </a:solidFill>
                  </a:tcPr>
                </a:tc>
              </a:tr>
              <a:tr h="276149">
                <a:tc>
                  <a:txBody>
                    <a:bodyPr/>
                    <a:lstStyle/>
                    <a:p>
                      <a:pPr algn="l" indent="0" marL="0">
                        <a:buNone/>
                      </a:pPr>
                      <a:r>
                        <a:rPr lang="en-US" sz="950" dirty="0">
                          <a:solidFill>
                            <a:srgbClr val="17344F"/>
                          </a:solidFill>
                          <a:latin typeface="Segoe UI" pitchFamily="34" charset="0"/>
                          <a:ea typeface="Segoe UI" pitchFamily="34" charset="-122"/>
                          <a:cs typeface="Segoe UI" pitchFamily="34" charset="-120"/>
                        </a:rPr>
                        <a:t>CT / NYC</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3D5A66"/>
                          </a:solidFill>
                          <a:latin typeface="Segoe UI" pitchFamily="34" charset="0"/>
                          <a:ea typeface="Segoe UI" pitchFamily="34" charset="-122"/>
                          <a:cs typeface="Segoe UI" pitchFamily="34" charset="-120"/>
                        </a:rPr>
                        <a:t>24</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17344F"/>
                          </a:solidFill>
                          <a:latin typeface="Segoe UI" pitchFamily="34" charset="0"/>
                          <a:ea typeface="Segoe UI" pitchFamily="34" charset="-122"/>
                          <a:cs typeface="Segoe UI" pitchFamily="34" charset="-120"/>
                        </a:rPr>
                        <a:t>1</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76933C"/>
                    </a:solidFill>
                  </a:tcPr>
                </a:tc>
              </a:tr>
              <a:tr h="276149">
                <a:tc>
                  <a:txBody>
                    <a:bodyPr/>
                    <a:lstStyle/>
                    <a:p>
                      <a:pPr algn="l" indent="0" marL="0">
                        <a:buNone/>
                      </a:pPr>
                      <a:r>
                        <a:rPr lang="en-US" sz="950" dirty="0">
                          <a:solidFill>
                            <a:srgbClr val="17344F"/>
                          </a:solidFill>
                          <a:latin typeface="Segoe UI" pitchFamily="34" charset="0"/>
                          <a:ea typeface="Segoe UI" pitchFamily="34" charset="-122"/>
                          <a:cs typeface="Segoe UI" pitchFamily="34" charset="-120"/>
                        </a:rPr>
                        <a:t>South TX / LA</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3D5A66"/>
                          </a:solidFill>
                          <a:latin typeface="Segoe UI" pitchFamily="34" charset="0"/>
                          <a:ea typeface="Segoe UI" pitchFamily="34" charset="-122"/>
                          <a:cs typeface="Segoe UI" pitchFamily="34" charset="-120"/>
                        </a:rPr>
                        <a:t>19</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17344F"/>
                          </a:solidFill>
                          <a:latin typeface="Segoe UI" pitchFamily="34" charset="0"/>
                          <a:ea typeface="Segoe UI" pitchFamily="34" charset="-122"/>
                          <a:cs typeface="Segoe UI" pitchFamily="34" charset="-120"/>
                        </a:rPr>
                        <a:t>1</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76933C"/>
                    </a:solidFill>
                  </a:tcPr>
                </a:tc>
              </a:tr>
              <a:tr h="276149">
                <a:tc>
                  <a:txBody>
                    <a:bodyPr/>
                    <a:lstStyle/>
                    <a:p>
                      <a:pPr algn="l" indent="0" marL="0">
                        <a:buNone/>
                      </a:pPr>
                      <a:r>
                        <a:rPr lang="en-US" sz="950" dirty="0">
                          <a:solidFill>
                            <a:srgbClr val="17344F"/>
                          </a:solidFill>
                          <a:latin typeface="Segoe UI" pitchFamily="34" charset="0"/>
                          <a:ea typeface="Segoe UI" pitchFamily="34" charset="-122"/>
                          <a:cs typeface="Segoe UI" pitchFamily="34" charset="-120"/>
                        </a:rPr>
                        <a:t>South FL</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3D5A66"/>
                          </a:solidFill>
                          <a:latin typeface="Segoe UI" pitchFamily="34" charset="0"/>
                          <a:ea typeface="Segoe UI" pitchFamily="34" charset="-122"/>
                          <a:cs typeface="Segoe UI" pitchFamily="34" charset="-120"/>
                        </a:rPr>
                        <a:t>19</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17344F"/>
                          </a:solidFill>
                          <a:latin typeface="Segoe UI" pitchFamily="34" charset="0"/>
                          <a:ea typeface="Segoe UI" pitchFamily="34" charset="-122"/>
                          <a:cs typeface="Segoe UI" pitchFamily="34" charset="-120"/>
                        </a:rPr>
                        <a:t>1</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76933C"/>
                    </a:solidFill>
                  </a:tcPr>
                </a:tc>
              </a:tr>
              <a:tr h="276149">
                <a:tc>
                  <a:txBody>
                    <a:bodyPr/>
                    <a:lstStyle/>
                    <a:p>
                      <a:pPr algn="l" indent="0" marL="0">
                        <a:buNone/>
                      </a:pPr>
                      <a:r>
                        <a:rPr lang="en-US" sz="950" dirty="0">
                          <a:solidFill>
                            <a:srgbClr val="17344F"/>
                          </a:solidFill>
                          <a:latin typeface="Segoe UI" pitchFamily="34" charset="0"/>
                          <a:ea typeface="Segoe UI" pitchFamily="34" charset="-122"/>
                          <a:cs typeface="Segoe UI" pitchFamily="34" charset="-120"/>
                        </a:rPr>
                        <a:t>Illinois</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3D5A66"/>
                          </a:solidFill>
                          <a:latin typeface="Segoe UI" pitchFamily="34" charset="0"/>
                          <a:ea typeface="Segoe UI" pitchFamily="34" charset="-122"/>
                          <a:cs typeface="Segoe UI" pitchFamily="34" charset="-120"/>
                        </a:rPr>
                        <a:t>17</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17344F"/>
                          </a:solidFill>
                          <a:latin typeface="Segoe UI" pitchFamily="34" charset="0"/>
                          <a:ea typeface="Segoe UI" pitchFamily="34" charset="-122"/>
                          <a:cs typeface="Segoe UI" pitchFamily="34" charset="-120"/>
                        </a:rPr>
                        <a:t>1</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76933C"/>
                    </a:solidFill>
                  </a:tcPr>
                </a:tc>
              </a:tr>
              <a:tr h="276149">
                <a:tc>
                  <a:txBody>
                    <a:bodyPr/>
                    <a:lstStyle/>
                    <a:p>
                      <a:pPr algn="l" indent="0" marL="0">
                        <a:buNone/>
                      </a:pPr>
                      <a:r>
                        <a:rPr lang="en-US" sz="950" dirty="0">
                          <a:solidFill>
                            <a:srgbClr val="17344F"/>
                          </a:solidFill>
                          <a:latin typeface="Segoe UI" pitchFamily="34" charset="0"/>
                          <a:ea typeface="Segoe UI" pitchFamily="34" charset="-122"/>
                          <a:cs typeface="Segoe UI" pitchFamily="34" charset="-120"/>
                        </a:rPr>
                        <a:t>Virginia / DMV</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3D5A66"/>
                          </a:solidFill>
                          <a:latin typeface="Segoe UI" pitchFamily="34" charset="0"/>
                          <a:ea typeface="Segoe UI" pitchFamily="34" charset="-122"/>
                          <a:cs typeface="Segoe UI" pitchFamily="34" charset="-120"/>
                        </a:rPr>
                        <a:t>15</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17344F"/>
                          </a:solidFill>
                          <a:latin typeface="Segoe UI" pitchFamily="34" charset="0"/>
                          <a:ea typeface="Segoe UI" pitchFamily="34" charset="-122"/>
                          <a:cs typeface="Segoe UI" pitchFamily="34" charset="-120"/>
                        </a:rPr>
                        <a:t>1</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76933C"/>
                    </a:solidFill>
                  </a:tcPr>
                </a:tc>
              </a:tr>
              <a:tr h="276149">
                <a:tc>
                  <a:txBody>
                    <a:bodyPr/>
                    <a:lstStyle/>
                    <a:p>
                      <a:pPr algn="l" indent="0" marL="0">
                        <a:buNone/>
                      </a:pPr>
                      <a:r>
                        <a:rPr lang="en-US" sz="950" dirty="0">
                          <a:solidFill>
                            <a:srgbClr val="17344F"/>
                          </a:solidFill>
                          <a:latin typeface="Segoe UI" pitchFamily="34" charset="0"/>
                          <a:ea typeface="Segoe UI" pitchFamily="34" charset="-122"/>
                          <a:cs typeface="Segoe UI" pitchFamily="34" charset="-120"/>
                        </a:rPr>
                        <a:t>Los Angeles</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3D5A66"/>
                          </a:solidFill>
                          <a:latin typeface="Segoe UI" pitchFamily="34" charset="0"/>
                          <a:ea typeface="Segoe UI" pitchFamily="34" charset="-122"/>
                          <a:cs typeface="Segoe UI" pitchFamily="34" charset="-120"/>
                        </a:rPr>
                        <a:t>14</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17344F"/>
                          </a:solidFill>
                          <a:latin typeface="Segoe UI" pitchFamily="34" charset="0"/>
                          <a:ea typeface="Segoe UI" pitchFamily="34" charset="-122"/>
                          <a:cs typeface="Segoe UI" pitchFamily="34" charset="-120"/>
                        </a:rPr>
                        <a:t>1</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76933C"/>
                    </a:solidFill>
                  </a:tcPr>
                </a:tc>
              </a:tr>
              <a:tr h="276149">
                <a:tc>
                  <a:txBody>
                    <a:bodyPr/>
                    <a:lstStyle/>
                    <a:p>
                      <a:pPr algn="l" indent="0" marL="0">
                        <a:buNone/>
                      </a:pPr>
                      <a:r>
                        <a:rPr lang="en-US" sz="950" dirty="0">
                          <a:solidFill>
                            <a:srgbClr val="17344F"/>
                          </a:solidFill>
                          <a:latin typeface="Segoe UI" pitchFamily="34" charset="0"/>
                          <a:ea typeface="Segoe UI" pitchFamily="34" charset="-122"/>
                          <a:cs typeface="Segoe UI" pitchFamily="34" charset="-120"/>
                        </a:rPr>
                        <a:t>Philly / E. PA</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3D5A66"/>
                          </a:solidFill>
                          <a:latin typeface="Segoe UI" pitchFamily="34" charset="0"/>
                          <a:ea typeface="Segoe UI" pitchFamily="34" charset="-122"/>
                          <a:cs typeface="Segoe UI" pitchFamily="34" charset="-120"/>
                        </a:rPr>
                        <a:t>13</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17344F"/>
                          </a:solidFill>
                          <a:latin typeface="Segoe UI" pitchFamily="34" charset="0"/>
                          <a:ea typeface="Segoe UI" pitchFamily="34" charset="-122"/>
                          <a:cs typeface="Segoe UI" pitchFamily="34" charset="-120"/>
                        </a:rPr>
                        <a:t>1</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76933C"/>
                    </a:solidFill>
                  </a:tcPr>
                </a:tc>
              </a:tr>
              <a:tr h="276149">
                <a:tc>
                  <a:txBody>
                    <a:bodyPr/>
                    <a:lstStyle/>
                    <a:p>
                      <a:pPr algn="l" indent="0" marL="0">
                        <a:buNone/>
                      </a:pPr>
                      <a:r>
                        <a:rPr lang="en-US" sz="950" dirty="0">
                          <a:solidFill>
                            <a:srgbClr val="17344F"/>
                          </a:solidFill>
                          <a:latin typeface="Segoe UI" pitchFamily="34" charset="0"/>
                          <a:ea typeface="Segoe UI" pitchFamily="34" charset="-122"/>
                          <a:cs typeface="Segoe UI" pitchFamily="34" charset="-120"/>
                        </a:rPr>
                        <a:t>New England</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3D5A66"/>
                          </a:solidFill>
                          <a:latin typeface="Segoe UI" pitchFamily="34" charset="0"/>
                          <a:ea typeface="Segoe UI" pitchFamily="34" charset="-122"/>
                          <a:cs typeface="Segoe UI" pitchFamily="34" charset="-120"/>
                        </a:rPr>
                        <a:t>13</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17344F"/>
                          </a:solidFill>
                          <a:latin typeface="Segoe UI" pitchFamily="34" charset="0"/>
                          <a:ea typeface="Segoe UI" pitchFamily="34" charset="-122"/>
                          <a:cs typeface="Segoe UI" pitchFamily="34" charset="-120"/>
                        </a:rPr>
                        <a:t>1</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76933C"/>
                    </a:solidFill>
                  </a:tcPr>
                </a:tc>
              </a:tr>
              <a:tr h="276149">
                <a:tc>
                  <a:txBody>
                    <a:bodyPr/>
                    <a:lstStyle/>
                    <a:p>
                      <a:pPr algn="l" indent="0" marL="0">
                        <a:buNone/>
                      </a:pPr>
                      <a:r>
                        <a:rPr lang="en-US" sz="950" dirty="0">
                          <a:solidFill>
                            <a:srgbClr val="17344F"/>
                          </a:solidFill>
                          <a:latin typeface="Segoe UI" pitchFamily="34" charset="0"/>
                          <a:ea typeface="Segoe UI" pitchFamily="34" charset="-122"/>
                          <a:cs typeface="Segoe UI" pitchFamily="34" charset="-120"/>
                        </a:rPr>
                        <a:t>Western OH</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3D5A66"/>
                          </a:solidFill>
                          <a:latin typeface="Segoe UI" pitchFamily="34" charset="0"/>
                          <a:ea typeface="Segoe UI" pitchFamily="34" charset="-122"/>
                          <a:cs typeface="Segoe UI" pitchFamily="34" charset="-120"/>
                        </a:rPr>
                        <a:t>13</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17344F"/>
                          </a:solidFill>
                          <a:latin typeface="Segoe UI" pitchFamily="34" charset="0"/>
                          <a:ea typeface="Segoe UI" pitchFamily="34" charset="-122"/>
                          <a:cs typeface="Segoe UI" pitchFamily="34" charset="-120"/>
                        </a:rPr>
                        <a:t>1</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76933C"/>
                    </a:solidFill>
                  </a:tcPr>
                </a:tc>
              </a:tr>
              <a:tr h="276149">
                <a:tc>
                  <a:txBody>
                    <a:bodyPr/>
                    <a:lstStyle/>
                    <a:p>
                      <a:pPr algn="l" indent="0" marL="0">
                        <a:buNone/>
                      </a:pPr>
                      <a:r>
                        <a:rPr lang="en-US" sz="950" dirty="0">
                          <a:solidFill>
                            <a:srgbClr val="17344F"/>
                          </a:solidFill>
                          <a:latin typeface="Segoe UI" pitchFamily="34" charset="0"/>
                          <a:ea typeface="Segoe UI" pitchFamily="34" charset="-122"/>
                          <a:cs typeface="Segoe UI" pitchFamily="34" charset="-120"/>
                        </a:rPr>
                        <a:t>Pacific NW</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3D5A66"/>
                          </a:solidFill>
                          <a:latin typeface="Segoe UI" pitchFamily="34" charset="0"/>
                          <a:ea typeface="Segoe UI" pitchFamily="34" charset="-122"/>
                          <a:cs typeface="Segoe UI" pitchFamily="34" charset="-120"/>
                        </a:rPr>
                        <a:t>13</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17344F"/>
                          </a:solidFill>
                          <a:latin typeface="Segoe UI" pitchFamily="34" charset="0"/>
                          <a:ea typeface="Segoe UI" pitchFamily="34" charset="-122"/>
                          <a:cs typeface="Segoe UI" pitchFamily="34" charset="-120"/>
                        </a:rPr>
                        <a:t>2</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A9C05A"/>
                    </a:solidFill>
                  </a:tcPr>
                </a:tc>
              </a:tr>
              <a:tr h="276149">
                <a:tc>
                  <a:txBody>
                    <a:bodyPr/>
                    <a:lstStyle/>
                    <a:p>
                      <a:pPr algn="l" indent="0" marL="0">
                        <a:buNone/>
                      </a:pPr>
                      <a:r>
                        <a:rPr lang="en-US" sz="950" dirty="0">
                          <a:solidFill>
                            <a:srgbClr val="17344F"/>
                          </a:solidFill>
                          <a:latin typeface="Segoe UI" pitchFamily="34" charset="0"/>
                          <a:ea typeface="Segoe UI" pitchFamily="34" charset="-122"/>
                          <a:cs typeface="Segoe UI" pitchFamily="34" charset="-120"/>
                        </a:rPr>
                        <a:t>Rocky Mtns</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3D5A66"/>
                          </a:solidFill>
                          <a:latin typeface="Segoe UI" pitchFamily="34" charset="0"/>
                          <a:ea typeface="Segoe UI" pitchFamily="34" charset="-122"/>
                          <a:cs typeface="Segoe UI" pitchFamily="34" charset="-120"/>
                        </a:rPr>
                        <a:t>13</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17344F"/>
                          </a:solidFill>
                          <a:latin typeface="Segoe UI" pitchFamily="34" charset="0"/>
                          <a:ea typeface="Segoe UI" pitchFamily="34" charset="-122"/>
                          <a:cs typeface="Segoe UI" pitchFamily="34" charset="-120"/>
                        </a:rPr>
                        <a:t>2</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A9C05A"/>
                    </a:solidFill>
                  </a:tcPr>
                </a:tc>
              </a:tr>
              <a:tr h="276149">
                <a:tc>
                  <a:txBody>
                    <a:bodyPr/>
                    <a:lstStyle/>
                    <a:p>
                      <a:pPr algn="l" indent="0" marL="0">
                        <a:buNone/>
                      </a:pPr>
                      <a:r>
                        <a:rPr lang="en-US" sz="950" dirty="0">
                          <a:solidFill>
                            <a:srgbClr val="17344F"/>
                          </a:solidFill>
                          <a:latin typeface="Segoe UI" pitchFamily="34" charset="0"/>
                          <a:ea typeface="Segoe UI" pitchFamily="34" charset="-122"/>
                          <a:cs typeface="Segoe UI" pitchFamily="34" charset="-120"/>
                        </a:rPr>
                        <a:t>Missouri / AR</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3D5A66"/>
                          </a:solidFill>
                          <a:latin typeface="Segoe UI" pitchFamily="34" charset="0"/>
                          <a:ea typeface="Segoe UI" pitchFamily="34" charset="-122"/>
                          <a:cs typeface="Segoe UI" pitchFamily="34" charset="-120"/>
                        </a:rPr>
                        <a:t>11</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17344F"/>
                          </a:solidFill>
                          <a:latin typeface="Segoe UI" pitchFamily="34" charset="0"/>
                          <a:ea typeface="Segoe UI" pitchFamily="34" charset="-122"/>
                          <a:cs typeface="Segoe UI" pitchFamily="34" charset="-120"/>
                        </a:rPr>
                        <a:t>2</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A9C05A"/>
                    </a:solidFill>
                  </a:tcPr>
                </a:tc>
              </a:tr>
              <a:tr h="276149">
                <a:tc>
                  <a:txBody>
                    <a:bodyPr/>
                    <a:lstStyle/>
                    <a:p>
                      <a:pPr algn="l" indent="0" marL="0">
                        <a:buNone/>
                      </a:pPr>
                      <a:r>
                        <a:rPr lang="en-US" sz="950" dirty="0">
                          <a:solidFill>
                            <a:srgbClr val="17344F"/>
                          </a:solidFill>
                          <a:latin typeface="Segoe UI" pitchFamily="34" charset="0"/>
                          <a:ea typeface="Segoe UI" pitchFamily="34" charset="-122"/>
                          <a:cs typeface="Segoe UI" pitchFamily="34" charset="-120"/>
                        </a:rPr>
                        <a:t>Desert Plains</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3D5A66"/>
                          </a:solidFill>
                          <a:latin typeface="Segoe UI" pitchFamily="34" charset="0"/>
                          <a:ea typeface="Segoe UI" pitchFamily="34" charset="-122"/>
                          <a:cs typeface="Segoe UI" pitchFamily="34" charset="-120"/>
                        </a:rPr>
                        <a:t>10</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17344F"/>
                          </a:solidFill>
                          <a:latin typeface="Segoe UI" pitchFamily="34" charset="0"/>
                          <a:ea typeface="Segoe UI" pitchFamily="34" charset="-122"/>
                          <a:cs typeface="Segoe UI" pitchFamily="34" charset="-120"/>
                        </a:rPr>
                        <a:t>2</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A9C05A"/>
                    </a:solidFill>
                  </a:tcPr>
                </a:tc>
              </a:tr>
              <a:tr h="276149">
                <a:tc>
                  <a:txBody>
                    <a:bodyPr/>
                    <a:lstStyle/>
                    <a:p>
                      <a:pPr algn="l" indent="0" marL="0">
                        <a:buNone/>
                      </a:pPr>
                      <a:r>
                        <a:rPr lang="en-US" sz="950" dirty="0">
                          <a:solidFill>
                            <a:srgbClr val="17344F"/>
                          </a:solidFill>
                          <a:latin typeface="Segoe UI" pitchFamily="34" charset="0"/>
                          <a:ea typeface="Segoe UI" pitchFamily="34" charset="-122"/>
                          <a:cs typeface="Segoe UI" pitchFamily="34" charset="-120"/>
                        </a:rPr>
                        <a:t>Wisconsin / MN</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3D5A66"/>
                          </a:solidFill>
                          <a:latin typeface="Segoe UI" pitchFamily="34" charset="0"/>
                          <a:ea typeface="Segoe UI" pitchFamily="34" charset="-122"/>
                          <a:cs typeface="Segoe UI" pitchFamily="34" charset="-120"/>
                        </a:rPr>
                        <a:t>10</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17344F"/>
                          </a:solidFill>
                          <a:latin typeface="Segoe UI" pitchFamily="34" charset="0"/>
                          <a:ea typeface="Segoe UI" pitchFamily="34" charset="-122"/>
                          <a:cs typeface="Segoe UI" pitchFamily="34" charset="-120"/>
                        </a:rPr>
                        <a:t>2</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A9C05A"/>
                    </a:solidFill>
                  </a:tcPr>
                </a:tc>
              </a:tr>
            </a:tbl>
          </a:graphicData>
        </a:graphic>
      </p:graphicFrame>
      <p:graphicFrame>
        <p:nvGraphicFramePr>
          <p:cNvPr id="25" name="Table 2"/>
          <p:cNvGraphicFramePr>
            <a:graphicFrameLocks noGrp="1"/>
          </p:cNvGraphicFramePr>
          <p:nvPr>
            <p:extLst>
              <p:ext uri="{D42A27DB-BD31-4B8C-83A1-F6EECF244321}">
                <p14:modId xmlns:p14="http://schemas.microsoft.com/office/powerpoint/2010/main" val="1579011935"/>
              </p:ext>
            </p:extLst>
          </p:nvPr>
        </p:nvGraphicFramePr>
        <p:xfrm>
          <a:off x="8183880" y="1783080"/>
          <a:ext cx="3566160" cy="914400"/>
        </p:xfrm>
        <a:graphic>
          <a:graphicData uri="http://schemas.openxmlformats.org/drawingml/2006/table">
            <a:tbl>
              <a:tblPr/>
              <a:tblGrid>
                <a:gridCol w="2331720"/>
                <a:gridCol w="640080"/>
                <a:gridCol w="594360"/>
              </a:tblGrid>
              <a:tr h="276149">
                <a:tc>
                  <a:txBody>
                    <a:bodyPr/>
                    <a:lstStyle/>
                    <a:p>
                      <a:pPr indent="0" marL="0">
                        <a:buNone/>
                      </a:pPr>
                      <a:r>
                        <a:rPr lang="en-US" sz="900" b="1" dirty="0">
                          <a:solidFill>
                            <a:srgbClr val="FFFFFF"/>
                          </a:solidFill>
                          <a:latin typeface="Segoe UI" pitchFamily="34" charset="0"/>
                          <a:ea typeface="Segoe UI" pitchFamily="34" charset="-122"/>
                          <a:cs typeface="Segoe UI" pitchFamily="34" charset="-120"/>
                        </a:rPr>
                        <a:t>Territory</a:t>
                      </a:r>
                      <a:endParaRPr lang="en-US" sz="90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17344F"/>
                    </a:solidFill>
                  </a:tcPr>
                </a:tc>
                <a:tc>
                  <a:txBody>
                    <a:bodyPr/>
                    <a:lstStyle/>
                    <a:p>
                      <a:pPr algn="ctr" indent="0" marL="0">
                        <a:buNone/>
                      </a:pPr>
                      <a:r>
                        <a:rPr lang="en-US" sz="900" b="1" dirty="0">
                          <a:solidFill>
                            <a:srgbClr val="FFFFFF"/>
                          </a:solidFill>
                          <a:latin typeface="Segoe UI" pitchFamily="34" charset="0"/>
                          <a:ea typeface="Segoe UI" pitchFamily="34" charset="-122"/>
                          <a:cs typeface="Segoe UI" pitchFamily="34" charset="-120"/>
                        </a:rPr>
                        <a:t>Size</a:t>
                      </a:r>
                      <a:endParaRPr lang="en-US" sz="90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17344F"/>
                    </a:solidFill>
                  </a:tcPr>
                </a:tc>
                <a:tc>
                  <a:txBody>
                    <a:bodyPr/>
                    <a:lstStyle/>
                    <a:p>
                      <a:pPr algn="ctr" indent="0" marL="0">
                        <a:buNone/>
                      </a:pPr>
                      <a:r>
                        <a:rPr lang="en-US" sz="900" b="1" dirty="0">
                          <a:solidFill>
                            <a:srgbClr val="FFFFFF"/>
                          </a:solidFill>
                          <a:latin typeface="Segoe UI" pitchFamily="34" charset="0"/>
                          <a:ea typeface="Segoe UI" pitchFamily="34" charset="-122"/>
                          <a:cs typeface="Segoe UI" pitchFamily="34" charset="-120"/>
                        </a:rPr>
                        <a:t>Group</a:t>
                      </a:r>
                      <a:endParaRPr lang="en-US" sz="90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17344F"/>
                    </a:solidFill>
                  </a:tcPr>
                </a:tc>
              </a:tr>
              <a:tr h="276149">
                <a:tc>
                  <a:txBody>
                    <a:bodyPr/>
                    <a:lstStyle/>
                    <a:p>
                      <a:pPr algn="l" indent="0" marL="0">
                        <a:buNone/>
                      </a:pPr>
                      <a:r>
                        <a:rPr lang="en-US" sz="950" dirty="0">
                          <a:solidFill>
                            <a:srgbClr val="17344F"/>
                          </a:solidFill>
                          <a:latin typeface="Segoe UI" pitchFamily="34" charset="0"/>
                          <a:ea typeface="Segoe UI" pitchFamily="34" charset="-122"/>
                          <a:cs typeface="Segoe UI" pitchFamily="34" charset="-120"/>
                        </a:rPr>
                        <a:t>Western PA / WV</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3D5A66"/>
                          </a:solidFill>
                          <a:latin typeface="Segoe UI" pitchFamily="34" charset="0"/>
                          <a:ea typeface="Segoe UI" pitchFamily="34" charset="-122"/>
                          <a:cs typeface="Segoe UI" pitchFamily="34" charset="-120"/>
                        </a:rPr>
                        <a:t>10</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17344F"/>
                          </a:solidFill>
                          <a:latin typeface="Segoe UI" pitchFamily="34" charset="0"/>
                          <a:ea typeface="Segoe UI" pitchFamily="34" charset="-122"/>
                          <a:cs typeface="Segoe UI" pitchFamily="34" charset="-120"/>
                        </a:rPr>
                        <a:t>2</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A9C05A"/>
                    </a:solidFill>
                  </a:tcPr>
                </a:tc>
              </a:tr>
              <a:tr h="276149">
                <a:tc>
                  <a:txBody>
                    <a:bodyPr/>
                    <a:lstStyle/>
                    <a:p>
                      <a:pPr algn="l" indent="0" marL="0">
                        <a:buNone/>
                      </a:pPr>
                      <a:r>
                        <a:rPr lang="en-US" sz="950" dirty="0">
                          <a:solidFill>
                            <a:srgbClr val="17344F"/>
                          </a:solidFill>
                          <a:latin typeface="Segoe UI" pitchFamily="34" charset="0"/>
                          <a:ea typeface="Segoe UI" pitchFamily="34" charset="-122"/>
                          <a:cs typeface="Segoe UI" pitchFamily="34" charset="-120"/>
                        </a:rPr>
                        <a:t>Indiana / KY</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3D5A66"/>
                          </a:solidFill>
                          <a:latin typeface="Segoe UI" pitchFamily="34" charset="0"/>
                          <a:ea typeface="Segoe UI" pitchFamily="34" charset="-122"/>
                          <a:cs typeface="Segoe UI" pitchFamily="34" charset="-120"/>
                        </a:rPr>
                        <a:t>10</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17344F"/>
                          </a:solidFill>
                          <a:latin typeface="Segoe UI" pitchFamily="34" charset="0"/>
                          <a:ea typeface="Segoe UI" pitchFamily="34" charset="-122"/>
                          <a:cs typeface="Segoe UI" pitchFamily="34" charset="-120"/>
                        </a:rPr>
                        <a:t>2</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A9C05A"/>
                    </a:solidFill>
                  </a:tcPr>
                </a:tc>
              </a:tr>
              <a:tr h="276149">
                <a:tc>
                  <a:txBody>
                    <a:bodyPr/>
                    <a:lstStyle/>
                    <a:p>
                      <a:pPr algn="l" indent="0" marL="0">
                        <a:buNone/>
                      </a:pPr>
                      <a:r>
                        <a:rPr lang="en-US" sz="950" dirty="0">
                          <a:solidFill>
                            <a:srgbClr val="17344F"/>
                          </a:solidFill>
                          <a:latin typeface="Segoe UI" pitchFamily="34" charset="0"/>
                          <a:ea typeface="Segoe UI" pitchFamily="34" charset="-122"/>
                          <a:cs typeface="Segoe UI" pitchFamily="34" charset="-120"/>
                        </a:rPr>
                        <a:t>Eastern OH</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3D5A66"/>
                          </a:solidFill>
                          <a:latin typeface="Segoe UI" pitchFamily="34" charset="0"/>
                          <a:ea typeface="Segoe UI" pitchFamily="34" charset="-122"/>
                          <a:cs typeface="Segoe UI" pitchFamily="34" charset="-120"/>
                        </a:rPr>
                        <a:t>10</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17344F"/>
                          </a:solidFill>
                          <a:latin typeface="Segoe UI" pitchFamily="34" charset="0"/>
                          <a:ea typeface="Segoe UI" pitchFamily="34" charset="-122"/>
                          <a:cs typeface="Segoe UI" pitchFamily="34" charset="-120"/>
                        </a:rPr>
                        <a:t>2</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A9C05A"/>
                    </a:solidFill>
                  </a:tcPr>
                </a:tc>
              </a:tr>
              <a:tr h="276149">
                <a:tc>
                  <a:txBody>
                    <a:bodyPr/>
                    <a:lstStyle/>
                    <a:p>
                      <a:pPr algn="l" indent="0" marL="0">
                        <a:buNone/>
                      </a:pPr>
                      <a:r>
                        <a:rPr lang="en-US" sz="950" dirty="0">
                          <a:solidFill>
                            <a:srgbClr val="17344F"/>
                          </a:solidFill>
                          <a:latin typeface="Segoe UI" pitchFamily="34" charset="0"/>
                          <a:ea typeface="Segoe UI" pitchFamily="34" charset="-122"/>
                          <a:cs typeface="Segoe UI" pitchFamily="34" charset="-120"/>
                        </a:rPr>
                        <a:t>Georgia / E. TN</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3D5A66"/>
                          </a:solidFill>
                          <a:latin typeface="Segoe UI" pitchFamily="34" charset="0"/>
                          <a:ea typeface="Segoe UI" pitchFamily="34" charset="-122"/>
                          <a:cs typeface="Segoe UI" pitchFamily="34" charset="-120"/>
                        </a:rPr>
                        <a:t>10</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17344F"/>
                          </a:solidFill>
                          <a:latin typeface="Segoe UI" pitchFamily="34" charset="0"/>
                          <a:ea typeface="Segoe UI" pitchFamily="34" charset="-122"/>
                          <a:cs typeface="Segoe UI" pitchFamily="34" charset="-120"/>
                        </a:rPr>
                        <a:t>2</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A9C05A"/>
                    </a:solidFill>
                  </a:tcPr>
                </a:tc>
              </a:tr>
              <a:tr h="276149">
                <a:tc>
                  <a:txBody>
                    <a:bodyPr/>
                    <a:lstStyle/>
                    <a:p>
                      <a:pPr algn="l" indent="0" marL="0">
                        <a:buNone/>
                      </a:pPr>
                      <a:r>
                        <a:rPr lang="en-US" sz="950" dirty="0">
                          <a:solidFill>
                            <a:srgbClr val="17344F"/>
                          </a:solidFill>
                          <a:latin typeface="Segoe UI" pitchFamily="34" charset="0"/>
                          <a:ea typeface="Segoe UI" pitchFamily="34" charset="-122"/>
                          <a:cs typeface="Segoe UI" pitchFamily="34" charset="-120"/>
                        </a:rPr>
                        <a:t>Carolinas</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3D5A66"/>
                          </a:solidFill>
                          <a:latin typeface="Segoe UI" pitchFamily="34" charset="0"/>
                          <a:ea typeface="Segoe UI" pitchFamily="34" charset="-122"/>
                          <a:cs typeface="Segoe UI" pitchFamily="34" charset="-120"/>
                        </a:rPr>
                        <a:t>8</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17344F"/>
                          </a:solidFill>
                          <a:latin typeface="Segoe UI" pitchFamily="34" charset="0"/>
                          <a:ea typeface="Segoe UI" pitchFamily="34" charset="-122"/>
                          <a:cs typeface="Segoe UI" pitchFamily="34" charset="-120"/>
                        </a:rPr>
                        <a:t>2</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A9C05A"/>
                    </a:solidFill>
                  </a:tcPr>
                </a:tc>
              </a:tr>
              <a:tr h="276149">
                <a:tc>
                  <a:txBody>
                    <a:bodyPr/>
                    <a:lstStyle/>
                    <a:p>
                      <a:pPr algn="l" indent="0" marL="0">
                        <a:buNone/>
                      </a:pPr>
                      <a:r>
                        <a:rPr lang="en-US" sz="950" dirty="0">
                          <a:solidFill>
                            <a:srgbClr val="17344F"/>
                          </a:solidFill>
                          <a:latin typeface="Segoe UI" pitchFamily="34" charset="0"/>
                          <a:ea typeface="Segoe UI" pitchFamily="34" charset="-122"/>
                          <a:cs typeface="Segoe UI" pitchFamily="34" charset="-120"/>
                        </a:rPr>
                        <a:t>Northern Cal</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3D5A66"/>
                          </a:solidFill>
                          <a:latin typeface="Segoe UI" pitchFamily="34" charset="0"/>
                          <a:ea typeface="Segoe UI" pitchFamily="34" charset="-122"/>
                          <a:cs typeface="Segoe UI" pitchFamily="34" charset="-120"/>
                        </a:rPr>
                        <a:t>8</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17344F"/>
                          </a:solidFill>
                          <a:latin typeface="Segoe UI" pitchFamily="34" charset="0"/>
                          <a:ea typeface="Segoe UI" pitchFamily="34" charset="-122"/>
                          <a:cs typeface="Segoe UI" pitchFamily="34" charset="-120"/>
                        </a:rPr>
                        <a:t>3</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C9DBA0"/>
                    </a:solidFill>
                  </a:tcPr>
                </a:tc>
              </a:tr>
              <a:tr h="276149">
                <a:tc>
                  <a:txBody>
                    <a:bodyPr/>
                    <a:lstStyle/>
                    <a:p>
                      <a:pPr algn="l" indent="0" marL="0">
                        <a:buNone/>
                      </a:pPr>
                      <a:r>
                        <a:rPr lang="en-US" sz="950" dirty="0">
                          <a:solidFill>
                            <a:srgbClr val="17344F"/>
                          </a:solidFill>
                          <a:latin typeface="Segoe UI" pitchFamily="34" charset="0"/>
                          <a:ea typeface="Segoe UI" pitchFamily="34" charset="-122"/>
                          <a:cs typeface="Segoe UI" pitchFamily="34" charset="-120"/>
                        </a:rPr>
                        <a:t>North FL</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3D5A66"/>
                          </a:solidFill>
                          <a:latin typeface="Segoe UI" pitchFamily="34" charset="0"/>
                          <a:ea typeface="Segoe UI" pitchFamily="34" charset="-122"/>
                          <a:cs typeface="Segoe UI" pitchFamily="34" charset="-120"/>
                        </a:rPr>
                        <a:t>6</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17344F"/>
                          </a:solidFill>
                          <a:latin typeface="Segoe UI" pitchFamily="34" charset="0"/>
                          <a:ea typeface="Segoe UI" pitchFamily="34" charset="-122"/>
                          <a:cs typeface="Segoe UI" pitchFamily="34" charset="-120"/>
                        </a:rPr>
                        <a:t>3</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C9DBA0"/>
                    </a:solidFill>
                  </a:tcPr>
                </a:tc>
              </a:tr>
              <a:tr h="276149">
                <a:tc>
                  <a:txBody>
                    <a:bodyPr/>
                    <a:lstStyle/>
                    <a:p>
                      <a:pPr algn="l" indent="0" marL="0">
                        <a:buNone/>
                      </a:pPr>
                      <a:r>
                        <a:rPr lang="en-US" sz="950" dirty="0">
                          <a:solidFill>
                            <a:srgbClr val="17344F"/>
                          </a:solidFill>
                          <a:latin typeface="Segoe UI" pitchFamily="34" charset="0"/>
                          <a:ea typeface="Segoe UI" pitchFamily="34" charset="-122"/>
                          <a:cs typeface="Segoe UI" pitchFamily="34" charset="-120"/>
                        </a:rPr>
                        <a:t>North TX</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3D5A66"/>
                          </a:solidFill>
                          <a:latin typeface="Segoe UI" pitchFamily="34" charset="0"/>
                          <a:ea typeface="Segoe UI" pitchFamily="34" charset="-122"/>
                          <a:cs typeface="Segoe UI" pitchFamily="34" charset="-120"/>
                        </a:rPr>
                        <a:t>5</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17344F"/>
                          </a:solidFill>
                          <a:latin typeface="Segoe UI" pitchFamily="34" charset="0"/>
                          <a:ea typeface="Segoe UI" pitchFamily="34" charset="-122"/>
                          <a:cs typeface="Segoe UI" pitchFamily="34" charset="-120"/>
                        </a:rPr>
                        <a:t>3</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C9DBA0"/>
                    </a:solidFill>
                  </a:tcPr>
                </a:tc>
              </a:tr>
              <a:tr h="276149">
                <a:tc>
                  <a:txBody>
                    <a:bodyPr/>
                    <a:lstStyle/>
                    <a:p>
                      <a:pPr algn="l" indent="0" marL="0">
                        <a:buNone/>
                      </a:pPr>
                      <a:r>
                        <a:rPr lang="en-US" sz="950" dirty="0">
                          <a:solidFill>
                            <a:srgbClr val="17344F"/>
                          </a:solidFill>
                          <a:latin typeface="Segoe UI" pitchFamily="34" charset="0"/>
                          <a:ea typeface="Segoe UI" pitchFamily="34" charset="-122"/>
                          <a:cs typeface="Segoe UI" pitchFamily="34" charset="-120"/>
                        </a:rPr>
                        <a:t>Oklahoma / KS</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3D5A66"/>
                          </a:solidFill>
                          <a:latin typeface="Segoe UI" pitchFamily="34" charset="0"/>
                          <a:ea typeface="Segoe UI" pitchFamily="34" charset="-122"/>
                          <a:cs typeface="Segoe UI" pitchFamily="34" charset="-120"/>
                        </a:rPr>
                        <a:t>5</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17344F"/>
                          </a:solidFill>
                          <a:latin typeface="Segoe UI" pitchFamily="34" charset="0"/>
                          <a:ea typeface="Segoe UI" pitchFamily="34" charset="-122"/>
                          <a:cs typeface="Segoe UI" pitchFamily="34" charset="-120"/>
                        </a:rPr>
                        <a:t>3</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C9DBA0"/>
                    </a:solidFill>
                  </a:tcPr>
                </a:tc>
              </a:tr>
              <a:tr h="276149">
                <a:tc>
                  <a:txBody>
                    <a:bodyPr/>
                    <a:lstStyle/>
                    <a:p>
                      <a:pPr algn="l" indent="0" marL="0">
                        <a:buNone/>
                      </a:pPr>
                      <a:r>
                        <a:rPr lang="en-US" sz="950" dirty="0">
                          <a:solidFill>
                            <a:srgbClr val="17344F"/>
                          </a:solidFill>
                          <a:latin typeface="Segoe UI" pitchFamily="34" charset="0"/>
                          <a:ea typeface="Segoe UI" pitchFamily="34" charset="-122"/>
                          <a:cs typeface="Segoe UI" pitchFamily="34" charset="-120"/>
                        </a:rPr>
                        <a:t>Michigan</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3D5A66"/>
                          </a:solidFill>
                          <a:latin typeface="Segoe UI" pitchFamily="34" charset="0"/>
                          <a:ea typeface="Segoe UI" pitchFamily="34" charset="-122"/>
                          <a:cs typeface="Segoe UI" pitchFamily="34" charset="-120"/>
                        </a:rPr>
                        <a:t>5</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17344F"/>
                          </a:solidFill>
                          <a:latin typeface="Segoe UI" pitchFamily="34" charset="0"/>
                          <a:ea typeface="Segoe UI" pitchFamily="34" charset="-122"/>
                          <a:cs typeface="Segoe UI" pitchFamily="34" charset="-120"/>
                        </a:rPr>
                        <a:t>3</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C9DBA0"/>
                    </a:solidFill>
                  </a:tcPr>
                </a:tc>
              </a:tr>
              <a:tr h="276149">
                <a:tc>
                  <a:txBody>
                    <a:bodyPr/>
                    <a:lstStyle/>
                    <a:p>
                      <a:pPr algn="l" indent="0" marL="0">
                        <a:buNone/>
                      </a:pPr>
                      <a:r>
                        <a:rPr lang="en-US" sz="950" dirty="0">
                          <a:solidFill>
                            <a:srgbClr val="17344F"/>
                          </a:solidFill>
                          <a:latin typeface="Segoe UI" pitchFamily="34" charset="0"/>
                          <a:ea typeface="Segoe UI" pitchFamily="34" charset="-122"/>
                          <a:cs typeface="Segoe UI" pitchFamily="34" charset="-120"/>
                        </a:rPr>
                        <a:t>North Central</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3D5A66"/>
                          </a:solidFill>
                          <a:latin typeface="Segoe UI" pitchFamily="34" charset="0"/>
                          <a:ea typeface="Segoe UI" pitchFamily="34" charset="-122"/>
                          <a:cs typeface="Segoe UI" pitchFamily="34" charset="-120"/>
                        </a:rPr>
                        <a:t>5</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17344F"/>
                          </a:solidFill>
                          <a:latin typeface="Segoe UI" pitchFamily="34" charset="0"/>
                          <a:ea typeface="Segoe UI" pitchFamily="34" charset="-122"/>
                          <a:cs typeface="Segoe UI" pitchFamily="34" charset="-120"/>
                        </a:rPr>
                        <a:t>3</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C9DBA0"/>
                    </a:solidFill>
                  </a:tcPr>
                </a:tc>
              </a:tr>
              <a:tr h="276149">
                <a:tc>
                  <a:txBody>
                    <a:bodyPr/>
                    <a:lstStyle/>
                    <a:p>
                      <a:pPr algn="l" indent="0" marL="0">
                        <a:buNone/>
                      </a:pPr>
                      <a:r>
                        <a:rPr lang="en-US" sz="950" dirty="0">
                          <a:solidFill>
                            <a:srgbClr val="17344F"/>
                          </a:solidFill>
                          <a:latin typeface="Segoe UI" pitchFamily="34" charset="0"/>
                          <a:ea typeface="Segoe UI" pitchFamily="34" charset="-122"/>
                          <a:cs typeface="Segoe UI" pitchFamily="34" charset="-120"/>
                        </a:rPr>
                        <a:t>N. NJ / NYC</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3D5A66"/>
                          </a:solidFill>
                          <a:latin typeface="Segoe UI" pitchFamily="34" charset="0"/>
                          <a:ea typeface="Segoe UI" pitchFamily="34" charset="-122"/>
                          <a:cs typeface="Segoe UI" pitchFamily="34" charset="-120"/>
                        </a:rPr>
                        <a:t>5</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17344F"/>
                          </a:solidFill>
                          <a:latin typeface="Segoe UI" pitchFamily="34" charset="0"/>
                          <a:ea typeface="Segoe UI" pitchFamily="34" charset="-122"/>
                          <a:cs typeface="Segoe UI" pitchFamily="34" charset="-120"/>
                        </a:rPr>
                        <a:t>3</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C9DBA0"/>
                    </a:solidFill>
                  </a:tcPr>
                </a:tc>
              </a:tr>
              <a:tr h="276149">
                <a:tc>
                  <a:txBody>
                    <a:bodyPr/>
                    <a:lstStyle/>
                    <a:p>
                      <a:pPr algn="l" indent="0" marL="0">
                        <a:buNone/>
                      </a:pPr>
                      <a:r>
                        <a:rPr lang="en-US" sz="950" dirty="0">
                          <a:solidFill>
                            <a:srgbClr val="17344F"/>
                          </a:solidFill>
                          <a:latin typeface="Segoe UI" pitchFamily="34" charset="0"/>
                          <a:ea typeface="Segoe UI" pitchFamily="34" charset="-122"/>
                          <a:cs typeface="Segoe UI" pitchFamily="34" charset="-120"/>
                        </a:rPr>
                        <a:t>Memphis / MS</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3D5A66"/>
                          </a:solidFill>
                          <a:latin typeface="Segoe UI" pitchFamily="34" charset="0"/>
                          <a:ea typeface="Segoe UI" pitchFamily="34" charset="-122"/>
                          <a:cs typeface="Segoe UI" pitchFamily="34" charset="-120"/>
                        </a:rPr>
                        <a:t>5</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17344F"/>
                          </a:solidFill>
                          <a:latin typeface="Segoe UI" pitchFamily="34" charset="0"/>
                          <a:ea typeface="Segoe UI" pitchFamily="34" charset="-122"/>
                          <a:cs typeface="Segoe UI" pitchFamily="34" charset="-120"/>
                        </a:rPr>
                        <a:t>3</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C9DBA0"/>
                    </a:solidFill>
                  </a:tcPr>
                </a:tc>
              </a:tr>
              <a:tr h="276149">
                <a:tc>
                  <a:txBody>
                    <a:bodyPr/>
                    <a:lstStyle/>
                    <a:p>
                      <a:pPr algn="l" indent="0" marL="0">
                        <a:buNone/>
                      </a:pPr>
                      <a:r>
                        <a:rPr lang="en-US" sz="950" dirty="0">
                          <a:solidFill>
                            <a:srgbClr val="17344F"/>
                          </a:solidFill>
                          <a:latin typeface="Segoe UI" pitchFamily="34" charset="0"/>
                          <a:ea typeface="Segoe UI" pitchFamily="34" charset="-122"/>
                          <a:cs typeface="Segoe UI" pitchFamily="34" charset="-120"/>
                        </a:rPr>
                        <a:t>San Diego / OC</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3D5A66"/>
                          </a:solidFill>
                          <a:latin typeface="Segoe UI" pitchFamily="34" charset="0"/>
                          <a:ea typeface="Segoe UI" pitchFamily="34" charset="-122"/>
                          <a:cs typeface="Segoe UI" pitchFamily="34" charset="-120"/>
                        </a:rPr>
                        <a:t>5</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tcPr>
                </a:tc>
                <a:tc>
                  <a:txBody>
                    <a:bodyPr/>
                    <a:lstStyle/>
                    <a:p>
                      <a:pPr algn="ctr" indent="0" marL="0">
                        <a:buNone/>
                      </a:pPr>
                      <a:r>
                        <a:rPr lang="en-US" sz="950" b="1" dirty="0">
                          <a:solidFill>
                            <a:srgbClr val="17344F"/>
                          </a:solidFill>
                          <a:latin typeface="Segoe UI" pitchFamily="34" charset="0"/>
                          <a:ea typeface="Segoe UI" pitchFamily="34" charset="-122"/>
                          <a:cs typeface="Segoe UI" pitchFamily="34" charset="-120"/>
                        </a:rPr>
                        <a:t>3</a:t>
                      </a:r>
                      <a:endParaRPr lang="en-US" sz="950" dirty="0">
                        <a:latin typeface="Segoe UI" charset="0"/>
                        <a:ea typeface="Segoe UI" charset="0"/>
                        <a:cs typeface="Segoe UI" charset="0"/>
                      </a:endParaRPr>
                    </a:p>
                  </a:txBody>
                  <a:tcPr marL="91440" marR="91440" marT="45720" marB="45720" anchor="ctr">
                    <a:lnL w="6350" cap="flat" cmpd="sng" algn="ctr">
                      <a:solidFill>
                        <a:srgbClr val="EEEEE6"/>
                      </a:solidFill>
                      <a:prstDash val="solid"/>
                      <a:round/>
                      <a:headEnd type="none" w="med" len="med"/>
                      <a:tailEnd type="none" w="med" len="med"/>
                    </a:lnL>
                    <a:lnR w="6350" cap="flat" cmpd="sng" algn="ctr">
                      <a:solidFill>
                        <a:srgbClr val="EEEEE6"/>
                      </a:solidFill>
                      <a:prstDash val="solid"/>
                      <a:round/>
                      <a:headEnd type="none" w="med" len="med"/>
                      <a:tailEnd type="none" w="med" len="med"/>
                    </a:lnR>
                    <a:lnT w="6350" cap="flat" cmpd="sng" algn="ctr">
                      <a:solidFill>
                        <a:srgbClr val="EEEEE6"/>
                      </a:solidFill>
                      <a:prstDash val="solid"/>
                      <a:round/>
                      <a:headEnd type="none" w="med" len="med"/>
                      <a:tailEnd type="none" w="med" len="med"/>
                    </a:lnT>
                    <a:lnB w="6350" cap="flat" cmpd="sng" algn="ctr">
                      <a:solidFill>
                        <a:srgbClr val="EEEEE6"/>
                      </a:solidFill>
                      <a:prstDash val="solid"/>
                      <a:round/>
                      <a:headEnd type="none" w="med" len="med"/>
                      <a:tailEnd type="none" w="med" len="med"/>
                    </a:lnB>
                    <a:solidFill>
                      <a:srgbClr val="C9DBA0"/>
                    </a:solidFill>
                  </a:tcPr>
                </a:tc>
              </a:tr>
            </a:tbl>
          </a:graphicData>
        </a:graphic>
      </p:graphicFrame>
      <p:sp>
        <p:nvSpPr>
          <p:cNvPr id="22" name="Text 17"/>
          <p:cNvSpPr/>
          <p:nvPr/>
        </p:nvSpPr>
        <p:spPr>
          <a:xfrm>
            <a:off x="566928" y="6272784"/>
            <a:ext cx="8686800" cy="256032"/>
          </a:xfrm>
          <a:prstGeom prst="rect">
            <a:avLst/>
          </a:prstGeom>
          <a:noFill/>
          <a:ln/>
        </p:spPr>
        <p:txBody>
          <a:bodyPr wrap="square" lIns="0" tIns="0" rIns="0" bIns="0" rtlCol="0" anchor="t"/>
          <a:lstStyle/>
          <a:p>
            <a:pPr indent="0" marL="0">
              <a:buNone/>
            </a:pPr>
            <a:r>
              <a:rPr lang="en-US" sz="850" i="1" dirty="0">
                <a:solidFill>
                  <a:srgbClr val="8A8A80"/>
                </a:solidFill>
                <a:latin typeface="Segoe UI" pitchFamily="34" charset="0"/>
                <a:ea typeface="Segoe UI" pitchFamily="34" charset="-122"/>
                <a:cs typeface="Segoe UI" pitchFamily="34" charset="-120"/>
              </a:rPr>
              <a:t>These territory names, sizes, and groups are placeholders. The real 28 territories and their baselines are still to come, and the groups and counts will change once we have them.</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74320"/>
          </a:xfrm>
          <a:prstGeom prst="rect">
            <a:avLst/>
          </a:prstGeom>
          <a:noFill/>
          <a:ln/>
        </p:spPr>
        <p:txBody>
          <a:bodyPr wrap="square" lIns="0" tIns="0" rIns="0" bIns="0" rtlCol="0" anchor="ctr"/>
          <a:lstStyle/>
          <a:p>
            <a:pPr indent="0" marL="0">
              <a:buNone/>
            </a:pPr>
            <a:r>
              <a:rPr lang="en-US" sz="1200" b="1" spc="120" kern="0" dirty="0">
                <a:solidFill>
                  <a:srgbClr val="2F5D8A"/>
                </a:solidFill>
                <a:latin typeface="Segoe UI" pitchFamily="34" charset="0"/>
                <a:ea typeface="Segoe UI" pitchFamily="34" charset="-122"/>
                <a:cs typeface="Segoe UI" pitchFamily="34" charset="-120"/>
              </a:rPr>
              <a:t>Proof It Works</a:t>
            </a:r>
            <a:endParaRPr lang="en-US" sz="1200" dirty="0"/>
          </a:p>
        </p:txBody>
      </p:sp>
      <p:sp>
        <p:nvSpPr>
          <p:cNvPr id="3" name="Shape 1"/>
          <p:cNvSpPr/>
          <p:nvPr/>
        </p:nvSpPr>
        <p:spPr>
          <a:xfrm>
            <a:off x="329184" y="731520"/>
            <a:ext cx="109728" cy="109728"/>
          </a:xfrm>
          <a:prstGeom prst="rect">
            <a:avLst/>
          </a:prstGeom>
          <a:solidFill>
            <a:srgbClr val="567A2E"/>
          </a:solidFill>
          <a:ln/>
        </p:spPr>
      </p:sp>
      <p:sp>
        <p:nvSpPr>
          <p:cNvPr id="4" name="Shape 2"/>
          <p:cNvSpPr/>
          <p:nvPr/>
        </p:nvSpPr>
        <p:spPr>
          <a:xfrm>
            <a:off x="11750040" y="731520"/>
            <a:ext cx="109728" cy="109728"/>
          </a:xfrm>
          <a:prstGeom prst="rect">
            <a:avLst/>
          </a:prstGeom>
          <a:solidFill>
            <a:srgbClr val="567A2E"/>
          </a:solidFill>
          <a:ln/>
        </p:spPr>
      </p:sp>
      <p:sp>
        <p:nvSpPr>
          <p:cNvPr id="5" name="Text 3"/>
          <p:cNvSpPr/>
          <p:nvPr/>
        </p:nvSpPr>
        <p:spPr>
          <a:xfrm>
            <a:off x="566928" y="566928"/>
            <a:ext cx="11018520" cy="868680"/>
          </a:xfrm>
          <a:prstGeom prst="rect">
            <a:avLst/>
          </a:prstGeom>
          <a:noFill/>
          <a:ln/>
        </p:spPr>
        <p:txBody>
          <a:bodyPr wrap="square" lIns="0" tIns="0" rIns="0" bIns="0" rtlCol="0" anchor="t"/>
          <a:lstStyle/>
          <a:p>
            <a:pPr indent="0" marL="0">
              <a:lnSpc>
                <a:spcPct val="100000"/>
              </a:lnSpc>
              <a:buNone/>
            </a:pPr>
            <a:r>
              <a:rPr lang="en-US" sz="2300" b="1" dirty="0">
                <a:solidFill>
                  <a:srgbClr val="17344F"/>
                </a:solidFill>
                <a:latin typeface="Segoe UI" pitchFamily="34" charset="0"/>
                <a:ea typeface="Segoe UI" pitchFamily="34" charset="-122"/>
                <a:cs typeface="Segoe UI" pitchFamily="34" charset="-120"/>
              </a:rPr>
              <a:t>We tested the scoring on last year's real numbers, and it produced clear, sensible winners</a:t>
            </a:r>
            <a:endParaRPr lang="en-US" sz="2300" dirty="0"/>
          </a:p>
        </p:txBody>
      </p:sp>
      <p:sp>
        <p:nvSpPr>
          <p:cNvPr id="6" name="Shape 4"/>
          <p:cNvSpPr/>
          <p:nvPr/>
        </p:nvSpPr>
        <p:spPr>
          <a:xfrm>
            <a:off x="0" y="6556248"/>
            <a:ext cx="12191695" cy="301752"/>
          </a:xfrm>
          <a:prstGeom prst="rect">
            <a:avLst/>
          </a:prstGeom>
          <a:solidFill>
            <a:srgbClr val="9DC13C"/>
          </a:solidFill>
          <a:ln/>
        </p:spPr>
      </p:sp>
      <p:sp>
        <p:nvSpPr>
          <p:cNvPr id="7" name="Shape 5"/>
          <p:cNvSpPr/>
          <p:nvPr/>
        </p:nvSpPr>
        <p:spPr>
          <a:xfrm flipH="1">
            <a:off x="9646920" y="6309360"/>
            <a:ext cx="502920" cy="548640"/>
          </a:xfrm>
          <a:prstGeom prst="rtTriangle">
            <a:avLst/>
          </a:prstGeom>
          <a:solidFill>
            <a:srgbClr val="9DC13C"/>
          </a:solidFill>
          <a:ln/>
        </p:spPr>
      </p:sp>
      <p:sp>
        <p:nvSpPr>
          <p:cNvPr id="8" name="Shape 6"/>
          <p:cNvSpPr/>
          <p:nvPr/>
        </p:nvSpPr>
        <p:spPr>
          <a:xfrm>
            <a:off x="10131552" y="6309360"/>
            <a:ext cx="2060143" cy="548640"/>
          </a:xfrm>
          <a:prstGeom prst="rect">
            <a:avLst/>
          </a:prstGeom>
          <a:solidFill>
            <a:srgbClr val="9DC13C"/>
          </a:solidFill>
          <a:ln/>
        </p:spPr>
      </p:sp>
      <p:sp>
        <p:nvSpPr>
          <p:cNvPr id="9" name="Text 7"/>
          <p:cNvSpPr/>
          <p:nvPr/>
        </p:nvSpPr>
        <p:spPr>
          <a:xfrm>
            <a:off x="274320" y="6556248"/>
            <a:ext cx="7772400" cy="301752"/>
          </a:xfrm>
          <a:prstGeom prst="rect">
            <a:avLst/>
          </a:prstGeom>
          <a:noFill/>
          <a:ln/>
        </p:spPr>
        <p:txBody>
          <a:bodyPr wrap="square" lIns="0" tIns="0" rIns="0" bIns="0" rtlCol="0" anchor="ctr"/>
          <a:lstStyle/>
          <a:p>
            <a:pPr indent="0" marL="0">
              <a:buNone/>
            </a:pPr>
            <a:r>
              <a:rPr lang="en-US" sz="700" dirty="0">
                <a:solidFill>
                  <a:srgbClr val="FFFFFF"/>
                </a:solidFill>
                <a:latin typeface="Segoe UI" pitchFamily="34" charset="0"/>
                <a:ea typeface="Segoe UI" pitchFamily="34" charset="-122"/>
                <a:cs typeface="Segoe UI" pitchFamily="34" charset="-120"/>
              </a:rPr>
              <a:t>© 2026, Iovance Biotherapeutics, Inc.  |  Confidential for Internal Use Only</a:t>
            </a:r>
            <a:endParaRPr lang="en-US" sz="700" dirty="0"/>
          </a:p>
        </p:txBody>
      </p:sp>
      <p:sp>
        <p:nvSpPr>
          <p:cNvPr id="10" name="Text 8"/>
          <p:cNvSpPr/>
          <p:nvPr/>
        </p:nvSpPr>
        <p:spPr>
          <a:xfrm>
            <a:off x="10058400" y="6309360"/>
            <a:ext cx="1600200" cy="548640"/>
          </a:xfrm>
          <a:prstGeom prst="rect">
            <a:avLst/>
          </a:prstGeom>
          <a:noFill/>
          <a:ln/>
        </p:spPr>
        <p:txBody>
          <a:bodyPr wrap="square" lIns="0" tIns="0" rIns="0" bIns="0" rtlCol="0" anchor="ctr"/>
          <a:lstStyle/>
          <a:p>
            <a:pPr algn="r" indent="0" marL="0">
              <a:buNone/>
            </a:pPr>
            <a:r>
              <a:rPr lang="en-US" sz="1300" b="1" spc="100" kern="0" dirty="0">
                <a:solidFill>
                  <a:srgbClr val="FFFFFF"/>
                </a:solidFill>
                <a:latin typeface="Cambria" pitchFamily="34" charset="0"/>
                <a:ea typeface="Cambria" pitchFamily="34" charset="-122"/>
                <a:cs typeface="Cambria" pitchFamily="34" charset="-120"/>
              </a:rPr>
              <a:t>IOVANCE</a:t>
            </a:r>
            <a:endParaRPr lang="en-US" sz="1300" dirty="0"/>
          </a:p>
        </p:txBody>
      </p:sp>
      <p:sp>
        <p:nvSpPr>
          <p:cNvPr id="11" name="Shape 9"/>
          <p:cNvSpPr/>
          <p:nvPr/>
        </p:nvSpPr>
        <p:spPr>
          <a:xfrm>
            <a:off x="11722608" y="6473952"/>
            <a:ext cx="219456" cy="219456"/>
          </a:xfrm>
          <a:prstGeom prst="ellipse">
            <a:avLst/>
          </a:prstGeom>
          <a:solidFill>
            <a:srgbClr val="FFFFFF"/>
          </a:solidFill>
          <a:ln/>
        </p:spPr>
      </p:sp>
      <p:sp>
        <p:nvSpPr>
          <p:cNvPr id="12" name="Text 10"/>
          <p:cNvSpPr/>
          <p:nvPr/>
        </p:nvSpPr>
        <p:spPr>
          <a:xfrm>
            <a:off x="11722608" y="6473952"/>
            <a:ext cx="219456" cy="219456"/>
          </a:xfrm>
          <a:prstGeom prst="rect">
            <a:avLst/>
          </a:prstGeom>
          <a:noFill/>
          <a:ln/>
        </p:spPr>
        <p:txBody>
          <a:bodyPr wrap="square" lIns="0" tIns="0" rIns="0" bIns="0" rtlCol="0" anchor="ctr"/>
          <a:lstStyle/>
          <a:p>
            <a:pPr algn="ctr" indent="0" marL="0">
              <a:buNone/>
            </a:pPr>
            <a:r>
              <a:rPr lang="en-US" sz="900" b="1" dirty="0">
                <a:solidFill>
                  <a:srgbClr val="567A2E"/>
                </a:solidFill>
                <a:latin typeface="Segoe UI" pitchFamily="34" charset="0"/>
                <a:ea typeface="Segoe UI" pitchFamily="34" charset="-122"/>
                <a:cs typeface="Segoe UI" pitchFamily="34" charset="-120"/>
              </a:rPr>
              <a:t>9</a:t>
            </a:r>
            <a:endParaRPr lang="en-US" sz="900" dirty="0"/>
          </a:p>
        </p:txBody>
      </p:sp>
      <p:sp>
        <p:nvSpPr>
          <p:cNvPr id="13" name="Text 11"/>
          <p:cNvSpPr/>
          <p:nvPr/>
        </p:nvSpPr>
        <p:spPr>
          <a:xfrm>
            <a:off x="566928" y="1737360"/>
            <a:ext cx="7498080" cy="274320"/>
          </a:xfrm>
          <a:prstGeom prst="rect">
            <a:avLst/>
          </a:prstGeom>
          <a:noFill/>
          <a:ln/>
        </p:spPr>
        <p:txBody>
          <a:bodyPr wrap="square" lIns="0" tIns="0" rIns="0" bIns="0" rtlCol="0" anchor="ctr"/>
          <a:lstStyle/>
          <a:p>
            <a:pPr indent="0" marL="0">
              <a:buNone/>
            </a:pPr>
            <a:r>
              <a:rPr lang="en-US" sz="1200" b="1" spc="100" kern="0" dirty="0">
                <a:solidFill>
                  <a:srgbClr val="8A8A80"/>
                </a:solidFill>
                <a:latin typeface="Segoe UI" pitchFamily="34" charset="0"/>
                <a:ea typeface="Segoe UI" pitchFamily="34" charset="-122"/>
                <a:cs typeface="Segoe UI" pitchFamily="34" charset="-120"/>
              </a:rPr>
              <a:t>Every territory's growth against its own baseline, by size</a:t>
            </a:r>
            <a:endParaRPr lang="en-US" sz="1200" dirty="0"/>
          </a:p>
        </p:txBody>
      </p:sp>
      <p:graphicFrame>
        <p:nvGraphicFramePr>
          <p:cNvPr id="14" name="Chart 0" descr=""/>
          <p:cNvGraphicFramePr/>
          <p:nvPr/>
        </p:nvGraphicFramePr>
        <p:xfrm>
          <a:off x="566928" y="2011680"/>
          <a:ext cx="7498080" cy="3566160"/>
        </p:xfrm>
        <a:graphic xmlns:a="http://schemas.openxmlformats.org/drawingml/2006/main">
          <a:graphicData uri="http://schemas.openxmlformats.org/drawingml/2006/chart">
            <c:chart xmlns:c="http://schemas.openxmlformats.org/drawingml/2006/chart" r:id="rId1"/>
          </a:graphicData>
        </a:graphic>
      </p:graphicFrame>
      <p:sp>
        <p:nvSpPr>
          <p:cNvPr id="15" name="Shape 12"/>
          <p:cNvSpPr/>
          <p:nvPr/>
        </p:nvSpPr>
        <p:spPr>
          <a:xfrm>
            <a:off x="8321040" y="2011680"/>
            <a:ext cx="3310128" cy="1554480"/>
          </a:xfrm>
          <a:prstGeom prst="roundRect">
            <a:avLst>
              <a:gd name="adj" fmla="val 3529"/>
            </a:avLst>
          </a:prstGeom>
          <a:solidFill>
            <a:srgbClr val="F7F9F1"/>
          </a:solidFill>
          <a:ln w="15875">
            <a:solidFill>
              <a:srgbClr val="567A2E"/>
            </a:solidFill>
            <a:prstDash val="solid"/>
          </a:ln>
        </p:spPr>
      </p:sp>
      <p:sp>
        <p:nvSpPr>
          <p:cNvPr id="16" name="Text 13"/>
          <p:cNvSpPr/>
          <p:nvPr/>
        </p:nvSpPr>
        <p:spPr>
          <a:xfrm>
            <a:off x="8503920" y="2148840"/>
            <a:ext cx="3017520" cy="274320"/>
          </a:xfrm>
          <a:prstGeom prst="rect">
            <a:avLst/>
          </a:prstGeom>
          <a:noFill/>
          <a:ln/>
        </p:spPr>
        <p:txBody>
          <a:bodyPr wrap="square" lIns="0" tIns="0" rIns="0" bIns="0" rtlCol="0" anchor="ctr"/>
          <a:lstStyle/>
          <a:p>
            <a:pPr indent="0" marL="0">
              <a:buNone/>
            </a:pPr>
            <a:r>
              <a:rPr lang="en-US" sz="1300" b="1" dirty="0">
                <a:solidFill>
                  <a:srgbClr val="567A2E"/>
                </a:solidFill>
                <a:latin typeface="Segoe UI" pitchFamily="34" charset="0"/>
                <a:ea typeface="Segoe UI" pitchFamily="34" charset="-122"/>
                <a:cs typeface="Segoe UI" pitchFamily="34" charset="-120"/>
              </a:rPr>
              <a:t>Small territories swing hardest</a:t>
            </a:r>
            <a:endParaRPr lang="en-US" sz="1300" dirty="0"/>
          </a:p>
        </p:txBody>
      </p:sp>
      <p:sp>
        <p:nvSpPr>
          <p:cNvPr id="17" name="Text 14"/>
          <p:cNvSpPr/>
          <p:nvPr/>
        </p:nvSpPr>
        <p:spPr>
          <a:xfrm>
            <a:off x="8503920" y="2450592"/>
            <a:ext cx="3017520" cy="1051560"/>
          </a:xfrm>
          <a:prstGeom prst="rect">
            <a:avLst/>
          </a:prstGeom>
          <a:noFill/>
          <a:ln/>
        </p:spPr>
        <p:txBody>
          <a:bodyPr wrap="square" lIns="0" tIns="0" rIns="0" bIns="0" rtlCol="0" anchor="t"/>
          <a:lstStyle/>
          <a:p>
            <a:pPr indent="0" marL="0">
              <a:buNone/>
            </a:pPr>
            <a:r>
              <a:rPr lang="en-US" sz="1100" dirty="0">
                <a:solidFill>
                  <a:srgbClr val="17344F"/>
                </a:solidFill>
                <a:latin typeface="Segoe UI" pitchFamily="34" charset="0"/>
                <a:ea typeface="Segoe UI" pitchFamily="34" charset="-122"/>
                <a:cs typeface="Segoe UI" pitchFamily="34" charset="-120"/>
              </a:rPr>
              <a:t>Because they start from a small base, one or two extra patients moves their percentage a long way. The left of the chart is wide open, the right is tightly packed.</a:t>
            </a:r>
            <a:endParaRPr lang="en-US" sz="1100" dirty="0"/>
          </a:p>
        </p:txBody>
      </p:sp>
      <p:sp>
        <p:nvSpPr>
          <p:cNvPr id="18" name="Shape 15"/>
          <p:cNvSpPr/>
          <p:nvPr/>
        </p:nvSpPr>
        <p:spPr>
          <a:xfrm>
            <a:off x="8321040" y="3977640"/>
            <a:ext cx="3310128" cy="1600200"/>
          </a:xfrm>
          <a:prstGeom prst="roundRect">
            <a:avLst>
              <a:gd name="adj" fmla="val 3429"/>
            </a:avLst>
          </a:prstGeom>
          <a:solidFill>
            <a:srgbClr val="F7F9F1"/>
          </a:solidFill>
          <a:ln w="12700">
            <a:solidFill>
              <a:srgbClr val="2E6DA4"/>
            </a:solidFill>
            <a:prstDash val="solid"/>
          </a:ln>
        </p:spPr>
      </p:sp>
      <p:sp>
        <p:nvSpPr>
          <p:cNvPr id="19" name="Text 16"/>
          <p:cNvSpPr/>
          <p:nvPr/>
        </p:nvSpPr>
        <p:spPr>
          <a:xfrm>
            <a:off x="8503920" y="4114800"/>
            <a:ext cx="3017520" cy="274320"/>
          </a:xfrm>
          <a:prstGeom prst="rect">
            <a:avLst/>
          </a:prstGeom>
          <a:noFill/>
          <a:ln/>
        </p:spPr>
        <p:txBody>
          <a:bodyPr wrap="square" lIns="0" tIns="0" rIns="0" bIns="0" rtlCol="0" anchor="ctr"/>
          <a:lstStyle/>
          <a:p>
            <a:pPr indent="0" marL="0">
              <a:buNone/>
            </a:pPr>
            <a:r>
              <a:rPr lang="en-US" sz="1300" b="1" dirty="0">
                <a:solidFill>
                  <a:srgbClr val="2E6DA4"/>
                </a:solidFill>
                <a:latin typeface="Segoe UI" pitchFamily="34" charset="0"/>
                <a:ea typeface="Segoe UI" pitchFamily="34" charset="-122"/>
                <a:cs typeface="Segoe UI" pitchFamily="34" charset="-120"/>
              </a:rPr>
              <a:t>Which is why we group and blend</a:t>
            </a:r>
            <a:endParaRPr lang="en-US" sz="1300" dirty="0"/>
          </a:p>
        </p:txBody>
      </p:sp>
      <p:sp>
        <p:nvSpPr>
          <p:cNvPr id="20" name="Text 17"/>
          <p:cNvSpPr/>
          <p:nvPr/>
        </p:nvSpPr>
        <p:spPr>
          <a:xfrm>
            <a:off x="8503920" y="4416552"/>
            <a:ext cx="3017520" cy="1097280"/>
          </a:xfrm>
          <a:prstGeom prst="rect">
            <a:avLst/>
          </a:prstGeom>
          <a:noFill/>
          <a:ln/>
        </p:spPr>
        <p:txBody>
          <a:bodyPr wrap="square" lIns="0" tIns="0" rIns="0" bIns="0" rtlCol="0" anchor="t"/>
          <a:lstStyle/>
          <a:p>
            <a:pPr indent="0" marL="0">
              <a:buNone/>
            </a:pPr>
            <a:r>
              <a:rPr lang="en-US" sz="1100" dirty="0">
                <a:solidFill>
                  <a:srgbClr val="17344F"/>
                </a:solidFill>
                <a:latin typeface="Segoe UI" pitchFamily="34" charset="0"/>
                <a:ea typeface="Segoe UI" pitchFamily="34" charset="-122"/>
                <a:cs typeface="Segoe UI" pitchFamily="34" charset="-120"/>
              </a:rPr>
              <a:t>If we scored everyone together on percentage alone, the smallest territories would take every prize. Grouping by size, and scoring on count as well as percent, is what balances it.</a:t>
            </a:r>
            <a:endParaRPr lang="en-US" sz="1100" dirty="0"/>
          </a:p>
        </p:txBody>
      </p:sp>
      <p:sp>
        <p:nvSpPr>
          <p:cNvPr id="21" name="Text 18"/>
          <p:cNvSpPr/>
          <p:nvPr/>
        </p:nvSpPr>
        <p:spPr>
          <a:xfrm>
            <a:off x="566928" y="6272784"/>
            <a:ext cx="8686800" cy="256032"/>
          </a:xfrm>
          <a:prstGeom prst="rect">
            <a:avLst/>
          </a:prstGeom>
          <a:noFill/>
          <a:ln/>
        </p:spPr>
        <p:txBody>
          <a:bodyPr wrap="square" lIns="0" tIns="0" rIns="0" bIns="0" rtlCol="0" anchor="t"/>
          <a:lstStyle/>
          <a:p>
            <a:pPr indent="0" marL="0">
              <a:buNone/>
            </a:pPr>
            <a:r>
              <a:rPr lang="en-US" sz="850" i="1" dirty="0">
                <a:solidFill>
                  <a:srgbClr val="8A8A80"/>
                </a:solidFill>
                <a:latin typeface="Segoe UI" pitchFamily="34" charset="0"/>
                <a:ea typeface="Segoe UI" pitchFamily="34" charset="-122"/>
                <a:cs typeface="Segoe UI" pitchFamily="34" charset="-120"/>
              </a:rPr>
              <a:t>Backtest on real enrollments from August and September of last year, shown without territory names. Each dot is one territory.</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515600" cy="274320"/>
          </a:xfrm>
          <a:prstGeom prst="rect">
            <a:avLst/>
          </a:prstGeom>
          <a:noFill/>
          <a:ln/>
        </p:spPr>
        <p:txBody>
          <a:bodyPr wrap="square" lIns="0" tIns="0" rIns="0" bIns="0" rtlCol="0" anchor="ctr"/>
          <a:lstStyle/>
          <a:p>
            <a:pPr indent="0" marL="0">
              <a:buNone/>
            </a:pPr>
            <a:r>
              <a:rPr lang="en-US" sz="1200" b="1" spc="120" kern="0" dirty="0">
                <a:solidFill>
                  <a:srgbClr val="2F5D8A"/>
                </a:solidFill>
                <a:latin typeface="Segoe UI" pitchFamily="34" charset="0"/>
                <a:ea typeface="Segoe UI" pitchFamily="34" charset="-122"/>
                <a:cs typeface="Segoe UI" pitchFamily="34" charset="-120"/>
              </a:rPr>
              <a:t>Next Steps</a:t>
            </a:r>
            <a:endParaRPr lang="en-US" sz="1200" dirty="0"/>
          </a:p>
        </p:txBody>
      </p:sp>
      <p:sp>
        <p:nvSpPr>
          <p:cNvPr id="3" name="Shape 1"/>
          <p:cNvSpPr/>
          <p:nvPr/>
        </p:nvSpPr>
        <p:spPr>
          <a:xfrm>
            <a:off x="329184" y="731520"/>
            <a:ext cx="109728" cy="109728"/>
          </a:xfrm>
          <a:prstGeom prst="rect">
            <a:avLst/>
          </a:prstGeom>
          <a:solidFill>
            <a:srgbClr val="567A2E"/>
          </a:solidFill>
          <a:ln/>
        </p:spPr>
      </p:sp>
      <p:sp>
        <p:nvSpPr>
          <p:cNvPr id="4" name="Shape 2"/>
          <p:cNvSpPr/>
          <p:nvPr/>
        </p:nvSpPr>
        <p:spPr>
          <a:xfrm>
            <a:off x="11750040" y="731520"/>
            <a:ext cx="109728" cy="109728"/>
          </a:xfrm>
          <a:prstGeom prst="rect">
            <a:avLst/>
          </a:prstGeom>
          <a:solidFill>
            <a:srgbClr val="567A2E"/>
          </a:solidFill>
          <a:ln/>
        </p:spPr>
      </p:sp>
      <p:sp>
        <p:nvSpPr>
          <p:cNvPr id="5" name="Text 3"/>
          <p:cNvSpPr/>
          <p:nvPr/>
        </p:nvSpPr>
        <p:spPr>
          <a:xfrm>
            <a:off x="566928" y="566928"/>
            <a:ext cx="11018520" cy="868680"/>
          </a:xfrm>
          <a:prstGeom prst="rect">
            <a:avLst/>
          </a:prstGeom>
          <a:noFill/>
          <a:ln/>
        </p:spPr>
        <p:txBody>
          <a:bodyPr wrap="square" lIns="0" tIns="0" rIns="0" bIns="0" rtlCol="0" anchor="t"/>
          <a:lstStyle/>
          <a:p>
            <a:pPr indent="0" marL="0">
              <a:lnSpc>
                <a:spcPct val="100000"/>
              </a:lnSpc>
              <a:buNone/>
            </a:pPr>
            <a:r>
              <a:rPr lang="en-US" sz="2300" b="1" dirty="0">
                <a:solidFill>
                  <a:srgbClr val="17344F"/>
                </a:solidFill>
                <a:latin typeface="Segoe UI" pitchFamily="34" charset="0"/>
                <a:ea typeface="Segoe UI" pitchFamily="34" charset="-122"/>
                <a:cs typeface="Segoe UI" pitchFamily="34" charset="-120"/>
              </a:rPr>
              <a:t>The design is finished, and a few steps are left</a:t>
            </a:r>
            <a:endParaRPr lang="en-US" sz="2300" dirty="0"/>
          </a:p>
          <a:p>
            <a:pPr indent="0" marL="0">
              <a:lnSpc>
                <a:spcPct val="100000"/>
              </a:lnSpc>
              <a:buNone/>
            </a:pPr>
            <a:r>
              <a:rPr lang="en-US" sz="2300" b="1" dirty="0">
                <a:solidFill>
                  <a:srgbClr val="17344F"/>
                </a:solidFill>
                <a:latin typeface="Segoe UI" pitchFamily="34" charset="0"/>
                <a:ea typeface="Segoe UI" pitchFamily="34" charset="-122"/>
                <a:cs typeface="Segoe UI" pitchFamily="34" charset="-120"/>
              </a:rPr>
              <a:t>before the contest can go live on August 1</a:t>
            </a:r>
            <a:endParaRPr lang="en-US" sz="2300" dirty="0"/>
          </a:p>
        </p:txBody>
      </p:sp>
      <p:sp>
        <p:nvSpPr>
          <p:cNvPr id="6" name="Shape 4"/>
          <p:cNvSpPr/>
          <p:nvPr/>
        </p:nvSpPr>
        <p:spPr>
          <a:xfrm>
            <a:off x="0" y="6556248"/>
            <a:ext cx="12191695" cy="301752"/>
          </a:xfrm>
          <a:prstGeom prst="rect">
            <a:avLst/>
          </a:prstGeom>
          <a:solidFill>
            <a:srgbClr val="9DC13C"/>
          </a:solidFill>
          <a:ln/>
        </p:spPr>
      </p:sp>
      <p:sp>
        <p:nvSpPr>
          <p:cNvPr id="7" name="Shape 5"/>
          <p:cNvSpPr/>
          <p:nvPr/>
        </p:nvSpPr>
        <p:spPr>
          <a:xfrm flipH="1">
            <a:off x="9646920" y="6309360"/>
            <a:ext cx="502920" cy="548640"/>
          </a:xfrm>
          <a:prstGeom prst="rtTriangle">
            <a:avLst/>
          </a:prstGeom>
          <a:solidFill>
            <a:srgbClr val="9DC13C"/>
          </a:solidFill>
          <a:ln/>
        </p:spPr>
      </p:sp>
      <p:sp>
        <p:nvSpPr>
          <p:cNvPr id="8" name="Shape 6"/>
          <p:cNvSpPr/>
          <p:nvPr/>
        </p:nvSpPr>
        <p:spPr>
          <a:xfrm>
            <a:off x="10131552" y="6309360"/>
            <a:ext cx="2060143" cy="548640"/>
          </a:xfrm>
          <a:prstGeom prst="rect">
            <a:avLst/>
          </a:prstGeom>
          <a:solidFill>
            <a:srgbClr val="9DC13C"/>
          </a:solidFill>
          <a:ln/>
        </p:spPr>
      </p:sp>
      <p:sp>
        <p:nvSpPr>
          <p:cNvPr id="9" name="Text 7"/>
          <p:cNvSpPr/>
          <p:nvPr/>
        </p:nvSpPr>
        <p:spPr>
          <a:xfrm>
            <a:off x="274320" y="6556248"/>
            <a:ext cx="7772400" cy="301752"/>
          </a:xfrm>
          <a:prstGeom prst="rect">
            <a:avLst/>
          </a:prstGeom>
          <a:noFill/>
          <a:ln/>
        </p:spPr>
        <p:txBody>
          <a:bodyPr wrap="square" lIns="0" tIns="0" rIns="0" bIns="0" rtlCol="0" anchor="ctr"/>
          <a:lstStyle/>
          <a:p>
            <a:pPr indent="0" marL="0">
              <a:buNone/>
            </a:pPr>
            <a:r>
              <a:rPr lang="en-US" sz="700" dirty="0">
                <a:solidFill>
                  <a:srgbClr val="FFFFFF"/>
                </a:solidFill>
                <a:latin typeface="Segoe UI" pitchFamily="34" charset="0"/>
                <a:ea typeface="Segoe UI" pitchFamily="34" charset="-122"/>
                <a:cs typeface="Segoe UI" pitchFamily="34" charset="-120"/>
              </a:rPr>
              <a:t>© 2026, Iovance Biotherapeutics, Inc.  |  Confidential for Internal Use Only</a:t>
            </a:r>
            <a:endParaRPr lang="en-US" sz="700" dirty="0"/>
          </a:p>
        </p:txBody>
      </p:sp>
      <p:sp>
        <p:nvSpPr>
          <p:cNvPr id="10" name="Text 8"/>
          <p:cNvSpPr/>
          <p:nvPr/>
        </p:nvSpPr>
        <p:spPr>
          <a:xfrm>
            <a:off x="10058400" y="6309360"/>
            <a:ext cx="1600200" cy="548640"/>
          </a:xfrm>
          <a:prstGeom prst="rect">
            <a:avLst/>
          </a:prstGeom>
          <a:noFill/>
          <a:ln/>
        </p:spPr>
        <p:txBody>
          <a:bodyPr wrap="square" lIns="0" tIns="0" rIns="0" bIns="0" rtlCol="0" anchor="ctr"/>
          <a:lstStyle/>
          <a:p>
            <a:pPr algn="r" indent="0" marL="0">
              <a:buNone/>
            </a:pPr>
            <a:r>
              <a:rPr lang="en-US" sz="1300" b="1" spc="100" kern="0" dirty="0">
                <a:solidFill>
                  <a:srgbClr val="FFFFFF"/>
                </a:solidFill>
                <a:latin typeface="Cambria" pitchFamily="34" charset="0"/>
                <a:ea typeface="Cambria" pitchFamily="34" charset="-122"/>
                <a:cs typeface="Cambria" pitchFamily="34" charset="-120"/>
              </a:rPr>
              <a:t>IOVANCE</a:t>
            </a:r>
            <a:endParaRPr lang="en-US" sz="1300" dirty="0"/>
          </a:p>
        </p:txBody>
      </p:sp>
      <p:sp>
        <p:nvSpPr>
          <p:cNvPr id="11" name="Shape 9"/>
          <p:cNvSpPr/>
          <p:nvPr/>
        </p:nvSpPr>
        <p:spPr>
          <a:xfrm>
            <a:off x="11722608" y="6473952"/>
            <a:ext cx="219456" cy="219456"/>
          </a:xfrm>
          <a:prstGeom prst="ellipse">
            <a:avLst/>
          </a:prstGeom>
          <a:solidFill>
            <a:srgbClr val="FFFFFF"/>
          </a:solidFill>
          <a:ln/>
        </p:spPr>
      </p:sp>
      <p:sp>
        <p:nvSpPr>
          <p:cNvPr id="12" name="Text 10"/>
          <p:cNvSpPr/>
          <p:nvPr/>
        </p:nvSpPr>
        <p:spPr>
          <a:xfrm>
            <a:off x="11722608" y="6473952"/>
            <a:ext cx="219456" cy="219456"/>
          </a:xfrm>
          <a:prstGeom prst="rect">
            <a:avLst/>
          </a:prstGeom>
          <a:noFill/>
          <a:ln/>
        </p:spPr>
        <p:txBody>
          <a:bodyPr wrap="square" lIns="0" tIns="0" rIns="0" bIns="0" rtlCol="0" anchor="ctr"/>
          <a:lstStyle/>
          <a:p>
            <a:pPr algn="ctr" indent="0" marL="0">
              <a:buNone/>
            </a:pPr>
            <a:r>
              <a:rPr lang="en-US" sz="900" b="1" dirty="0">
                <a:solidFill>
                  <a:srgbClr val="567A2E"/>
                </a:solidFill>
                <a:latin typeface="Segoe UI" pitchFamily="34" charset="0"/>
                <a:ea typeface="Segoe UI" pitchFamily="34" charset="-122"/>
                <a:cs typeface="Segoe UI" pitchFamily="34" charset="-120"/>
              </a:rPr>
              <a:t>10</a:t>
            </a:r>
            <a:endParaRPr lang="en-US" sz="900" dirty="0"/>
          </a:p>
        </p:txBody>
      </p:sp>
      <p:sp>
        <p:nvSpPr>
          <p:cNvPr id="13" name="Text 11"/>
          <p:cNvSpPr/>
          <p:nvPr/>
        </p:nvSpPr>
        <p:spPr>
          <a:xfrm>
            <a:off x="566928" y="1783080"/>
            <a:ext cx="5212080" cy="292608"/>
          </a:xfrm>
          <a:prstGeom prst="rect">
            <a:avLst/>
          </a:prstGeom>
          <a:noFill/>
          <a:ln/>
        </p:spPr>
        <p:txBody>
          <a:bodyPr wrap="square" lIns="0" tIns="0" rIns="0" bIns="0" rtlCol="0" anchor="ctr"/>
          <a:lstStyle/>
          <a:p>
            <a:pPr indent="0" marL="0">
              <a:buNone/>
            </a:pPr>
            <a:r>
              <a:rPr lang="en-US" sz="1300" b="1" dirty="0">
                <a:solidFill>
                  <a:srgbClr val="2F5D8A"/>
                </a:solidFill>
                <a:latin typeface="Segoe UI" pitchFamily="34" charset="0"/>
                <a:ea typeface="Segoe UI" pitchFamily="34" charset="-122"/>
                <a:cs typeface="Segoe UI" pitchFamily="34" charset="-120"/>
              </a:rPr>
              <a:t>The contest in short</a:t>
            </a:r>
            <a:endParaRPr lang="en-US" sz="1300" dirty="0"/>
          </a:p>
        </p:txBody>
      </p:sp>
      <p:sp>
        <p:nvSpPr>
          <p:cNvPr id="14" name="Text 12"/>
          <p:cNvSpPr/>
          <p:nvPr/>
        </p:nvSpPr>
        <p:spPr>
          <a:xfrm>
            <a:off x="566928" y="2148840"/>
            <a:ext cx="5349240" cy="2377440"/>
          </a:xfrm>
          <a:prstGeom prst="rect">
            <a:avLst/>
          </a:prstGeom>
          <a:noFill/>
          <a:ln/>
        </p:spPr>
        <p:txBody>
          <a:bodyPr wrap="square" lIns="0" tIns="0" rIns="0" bIns="0" rtlCol="0" anchor="t"/>
          <a:lstStyle/>
          <a:p>
            <a:pPr marL="177800" indent="-177800">
              <a:lnSpc>
                <a:spcPct val="103000"/>
              </a:lnSpc>
              <a:spcAft>
                <a:spcPts val="900"/>
              </a:spcAft>
              <a:buSzPct val="100000"/>
              <a:buChar char="•"/>
            </a:pPr>
            <a:r>
              <a:rPr lang="en-US" sz="1300" dirty="0">
                <a:solidFill>
                  <a:srgbClr val="17344F"/>
                </a:solidFill>
                <a:latin typeface="Segoe UI" pitchFamily="34" charset="0"/>
                <a:ea typeface="Segoe UI" pitchFamily="34" charset="-122"/>
                <a:cs typeface="Segoe UI" pitchFamily="34" charset="-120"/>
              </a:rPr>
              <a:t>A two month contest on top of the IC plan, August 1 to September 30.</a:t>
            </a:r>
            <a:endParaRPr lang="en-US" sz="1300" dirty="0"/>
          </a:p>
          <a:p>
            <a:pPr marL="177800" indent="-177800">
              <a:lnSpc>
                <a:spcPct val="103000"/>
              </a:lnSpc>
              <a:spcAft>
                <a:spcPts val="900"/>
              </a:spcAft>
              <a:buSzPct val="100000"/>
              <a:buChar char="•"/>
            </a:pPr>
            <a:r>
              <a:rPr lang="en-US" sz="1300" dirty="0">
                <a:solidFill>
                  <a:srgbClr val="17344F"/>
                </a:solidFill>
                <a:latin typeface="Segoe UI" pitchFamily="34" charset="0"/>
                <a:ea typeface="Segoe UI" pitchFamily="34" charset="-122"/>
                <a:cs typeface="Segoe UI" pitchFamily="34" charset="-120"/>
              </a:rPr>
              <a:t>It rewards each territory for enrolling more than it usually does.</a:t>
            </a:r>
            <a:endParaRPr lang="en-US" sz="1300" dirty="0"/>
          </a:p>
          <a:p>
            <a:pPr marL="177800" indent="-177800">
              <a:lnSpc>
                <a:spcPct val="103000"/>
              </a:lnSpc>
              <a:spcAft>
                <a:spcPts val="900"/>
              </a:spcAft>
              <a:buSzPct val="100000"/>
              <a:buChar char="•"/>
            </a:pPr>
            <a:r>
              <a:rPr lang="en-US" sz="1300" dirty="0">
                <a:solidFill>
                  <a:srgbClr val="17344F"/>
                </a:solidFill>
                <a:latin typeface="Segoe UI" pitchFamily="34" charset="0"/>
                <a:ea typeface="Segoe UI" pitchFamily="34" charset="-122"/>
                <a:cs typeface="Segoe UI" pitchFamily="34" charset="-120"/>
              </a:rPr>
              <a:t>Fair by size, three groups, scored on count and percent, top two paid.</a:t>
            </a:r>
            <a:endParaRPr lang="en-US" sz="1300" dirty="0"/>
          </a:p>
          <a:p>
            <a:pPr marL="177800" indent="-177800">
              <a:lnSpc>
                <a:spcPct val="103000"/>
              </a:lnSpc>
              <a:spcAft>
                <a:spcPts val="900"/>
              </a:spcAft>
              <a:buSzPct val="100000"/>
              <a:buChar char="•"/>
            </a:pPr>
            <a:r>
              <a:rPr lang="en-US" sz="1300" dirty="0">
                <a:solidFill>
                  <a:srgbClr val="17344F"/>
                </a:solidFill>
                <a:latin typeface="Segoe UI" pitchFamily="34" charset="0"/>
                <a:ea typeface="Segoe UI" pitchFamily="34" charset="-122"/>
                <a:cs typeface="Segoe UI" pitchFamily="34" charset="-120"/>
              </a:rPr>
              <a:t>A separate quality prize for patients who move forward to treatment.</a:t>
            </a:r>
            <a:endParaRPr lang="en-US" sz="1300" dirty="0"/>
          </a:p>
          <a:p>
            <a:pPr marL="177800" indent="-177800">
              <a:lnSpc>
                <a:spcPct val="103000"/>
              </a:lnSpc>
              <a:spcAft>
                <a:spcPts val="900"/>
              </a:spcAft>
              <a:buSzPct val="100000"/>
              <a:buChar char="•"/>
            </a:pPr>
            <a:r>
              <a:rPr lang="en-US" sz="1300" dirty="0">
                <a:solidFill>
                  <a:srgbClr val="17344F"/>
                </a:solidFill>
                <a:latin typeface="Segoe UI" pitchFamily="34" charset="0"/>
                <a:ea typeface="Segoe UI" pitchFamily="34" charset="-122"/>
                <a:cs typeface="Segoe UI" pitchFamily="34" charset="-120"/>
              </a:rPr>
              <a:t>The RADs are scored as one group of their own.</a:t>
            </a:r>
            <a:endParaRPr lang="en-US" sz="1300" dirty="0"/>
          </a:p>
          <a:p>
            <a:pPr marL="177800" indent="-177800">
              <a:lnSpc>
                <a:spcPct val="103000"/>
              </a:lnSpc>
              <a:buSzPct val="100000"/>
              <a:buChar char="•"/>
            </a:pPr>
            <a:r>
              <a:rPr lang="en-US" sz="1300" dirty="0">
                <a:solidFill>
                  <a:srgbClr val="17344F"/>
                </a:solidFill>
                <a:latin typeface="Segoe UI" pitchFamily="34" charset="0"/>
                <a:ea typeface="Segoe UI" pitchFamily="34" charset="-122"/>
                <a:cs typeface="Segoe UI" pitchFamily="34" charset="-120"/>
              </a:rPr>
              <a:t>The payout uses fixed shares, so any budget works.</a:t>
            </a:r>
            <a:endParaRPr lang="en-US" sz="1300" dirty="0"/>
          </a:p>
        </p:txBody>
      </p:sp>
      <p:sp>
        <p:nvSpPr>
          <p:cNvPr id="15" name="Text 13"/>
          <p:cNvSpPr/>
          <p:nvPr/>
        </p:nvSpPr>
        <p:spPr>
          <a:xfrm>
            <a:off x="566928" y="4617720"/>
            <a:ext cx="2743200" cy="292608"/>
          </a:xfrm>
          <a:prstGeom prst="rect">
            <a:avLst/>
          </a:prstGeom>
          <a:noFill/>
          <a:ln/>
        </p:spPr>
        <p:txBody>
          <a:bodyPr wrap="square" lIns="0" tIns="0" rIns="0" bIns="0" rtlCol="0" anchor="ctr"/>
          <a:lstStyle/>
          <a:p>
            <a:pPr indent="0" marL="0">
              <a:buNone/>
            </a:pPr>
            <a:r>
              <a:rPr lang="en-US" sz="1300" b="1" dirty="0">
                <a:solidFill>
                  <a:srgbClr val="2F5D8A"/>
                </a:solidFill>
                <a:latin typeface="Segoe UI" pitchFamily="34" charset="0"/>
                <a:ea typeface="Segoe UI" pitchFamily="34" charset="-122"/>
                <a:cs typeface="Segoe UI" pitchFamily="34" charset="-120"/>
              </a:rPr>
              <a:t>The timeline</a:t>
            </a:r>
            <a:endParaRPr lang="en-US" sz="1300" dirty="0"/>
          </a:p>
        </p:txBody>
      </p:sp>
      <p:sp>
        <p:nvSpPr>
          <p:cNvPr id="16" name="Shape 14"/>
          <p:cNvSpPr/>
          <p:nvPr/>
        </p:nvSpPr>
        <p:spPr>
          <a:xfrm>
            <a:off x="566928" y="4983480"/>
            <a:ext cx="1691640" cy="777240"/>
          </a:xfrm>
          <a:prstGeom prst="roundRect">
            <a:avLst>
              <a:gd name="adj" fmla="val 7059"/>
            </a:avLst>
          </a:prstGeom>
          <a:solidFill>
            <a:srgbClr val="F7F9F1"/>
          </a:solidFill>
          <a:ln w="12700">
            <a:solidFill>
              <a:srgbClr val="2E6DA4"/>
            </a:solidFill>
            <a:prstDash val="solid"/>
          </a:ln>
        </p:spPr>
      </p:sp>
      <p:sp>
        <p:nvSpPr>
          <p:cNvPr id="17" name="Text 15"/>
          <p:cNvSpPr/>
          <p:nvPr/>
        </p:nvSpPr>
        <p:spPr>
          <a:xfrm>
            <a:off x="676656" y="5084064"/>
            <a:ext cx="1472184" cy="256032"/>
          </a:xfrm>
          <a:prstGeom prst="rect">
            <a:avLst/>
          </a:prstGeom>
          <a:noFill/>
          <a:ln/>
        </p:spPr>
        <p:txBody>
          <a:bodyPr wrap="square" lIns="0" tIns="0" rIns="0" bIns="0" rtlCol="0" anchor="ctr"/>
          <a:lstStyle/>
          <a:p>
            <a:pPr indent="0" marL="0">
              <a:buNone/>
            </a:pPr>
            <a:r>
              <a:rPr lang="en-US" sz="1100" b="1" dirty="0">
                <a:solidFill>
                  <a:srgbClr val="2E6DA4"/>
                </a:solidFill>
                <a:latin typeface="Segoe UI" pitchFamily="34" charset="0"/>
                <a:ea typeface="Segoe UI" pitchFamily="34" charset="-122"/>
                <a:cs typeface="Segoe UI" pitchFamily="34" charset="-120"/>
              </a:rPr>
              <a:t>July</a:t>
            </a:r>
            <a:endParaRPr lang="en-US" sz="1100" dirty="0"/>
          </a:p>
        </p:txBody>
      </p:sp>
      <p:sp>
        <p:nvSpPr>
          <p:cNvPr id="18" name="Text 16"/>
          <p:cNvSpPr/>
          <p:nvPr/>
        </p:nvSpPr>
        <p:spPr>
          <a:xfrm>
            <a:off x="676656" y="5358384"/>
            <a:ext cx="1472184" cy="320040"/>
          </a:xfrm>
          <a:prstGeom prst="rect">
            <a:avLst/>
          </a:prstGeom>
          <a:noFill/>
          <a:ln/>
        </p:spPr>
        <p:txBody>
          <a:bodyPr wrap="square" lIns="0" tIns="0" rIns="0" bIns="0" rtlCol="0" anchor="t"/>
          <a:lstStyle/>
          <a:p>
            <a:pPr indent="0" marL="0">
              <a:buNone/>
            </a:pPr>
            <a:r>
              <a:rPr lang="en-US" sz="950" dirty="0">
                <a:solidFill>
                  <a:srgbClr val="17344F"/>
                </a:solidFill>
                <a:latin typeface="Segoe UI" pitchFamily="34" charset="0"/>
                <a:ea typeface="Segoe UI" pitchFamily="34" charset="-122"/>
                <a:cs typeface="Segoe UI" pitchFamily="34" charset="-120"/>
              </a:rPr>
              <a:t>Approve and announce</a:t>
            </a:r>
            <a:endParaRPr lang="en-US" sz="950" dirty="0"/>
          </a:p>
        </p:txBody>
      </p:sp>
      <p:sp>
        <p:nvSpPr>
          <p:cNvPr id="19" name="Shape 17"/>
          <p:cNvSpPr/>
          <p:nvPr/>
        </p:nvSpPr>
        <p:spPr>
          <a:xfrm>
            <a:off x="2395728" y="4983480"/>
            <a:ext cx="1691640" cy="777240"/>
          </a:xfrm>
          <a:prstGeom prst="roundRect">
            <a:avLst>
              <a:gd name="adj" fmla="val 7059"/>
            </a:avLst>
          </a:prstGeom>
          <a:solidFill>
            <a:srgbClr val="F7F9F1"/>
          </a:solidFill>
          <a:ln w="12700">
            <a:solidFill>
              <a:srgbClr val="567A2E"/>
            </a:solidFill>
            <a:prstDash val="solid"/>
          </a:ln>
        </p:spPr>
      </p:sp>
      <p:sp>
        <p:nvSpPr>
          <p:cNvPr id="20" name="Text 18"/>
          <p:cNvSpPr/>
          <p:nvPr/>
        </p:nvSpPr>
        <p:spPr>
          <a:xfrm>
            <a:off x="2505456" y="5084064"/>
            <a:ext cx="1472184" cy="256032"/>
          </a:xfrm>
          <a:prstGeom prst="rect">
            <a:avLst/>
          </a:prstGeom>
          <a:noFill/>
          <a:ln/>
        </p:spPr>
        <p:txBody>
          <a:bodyPr wrap="square" lIns="0" tIns="0" rIns="0" bIns="0" rtlCol="0" anchor="ctr"/>
          <a:lstStyle/>
          <a:p>
            <a:pPr indent="0" marL="0">
              <a:buNone/>
            </a:pPr>
            <a:r>
              <a:rPr lang="en-US" sz="1100" b="1" dirty="0">
                <a:solidFill>
                  <a:srgbClr val="567A2E"/>
                </a:solidFill>
                <a:latin typeface="Segoe UI" pitchFamily="34" charset="0"/>
                <a:ea typeface="Segoe UI" pitchFamily="34" charset="-122"/>
                <a:cs typeface="Segoe UI" pitchFamily="34" charset="-120"/>
              </a:rPr>
              <a:t>Aug 1 to Sep 30</a:t>
            </a:r>
            <a:endParaRPr lang="en-US" sz="1100" dirty="0"/>
          </a:p>
        </p:txBody>
      </p:sp>
      <p:sp>
        <p:nvSpPr>
          <p:cNvPr id="21" name="Text 19"/>
          <p:cNvSpPr/>
          <p:nvPr/>
        </p:nvSpPr>
        <p:spPr>
          <a:xfrm>
            <a:off x="2505456" y="5358384"/>
            <a:ext cx="1472184" cy="320040"/>
          </a:xfrm>
          <a:prstGeom prst="rect">
            <a:avLst/>
          </a:prstGeom>
          <a:noFill/>
          <a:ln/>
        </p:spPr>
        <p:txBody>
          <a:bodyPr wrap="square" lIns="0" tIns="0" rIns="0" bIns="0" rtlCol="0" anchor="t"/>
          <a:lstStyle/>
          <a:p>
            <a:pPr indent="0" marL="0">
              <a:buNone/>
            </a:pPr>
            <a:r>
              <a:rPr lang="en-US" sz="950" dirty="0">
                <a:solidFill>
                  <a:srgbClr val="17344F"/>
                </a:solidFill>
                <a:latin typeface="Segoe UI" pitchFamily="34" charset="0"/>
                <a:ea typeface="Segoe UI" pitchFamily="34" charset="-122"/>
                <a:cs typeface="Segoe UI" pitchFamily="34" charset="-120"/>
              </a:rPr>
              <a:t>The contest runs</a:t>
            </a:r>
            <a:endParaRPr lang="en-US" sz="950" dirty="0"/>
          </a:p>
        </p:txBody>
      </p:sp>
      <p:sp>
        <p:nvSpPr>
          <p:cNvPr id="22" name="Shape 20"/>
          <p:cNvSpPr/>
          <p:nvPr/>
        </p:nvSpPr>
        <p:spPr>
          <a:xfrm>
            <a:off x="4224528" y="4983480"/>
            <a:ext cx="1691640" cy="777240"/>
          </a:xfrm>
          <a:prstGeom prst="roundRect">
            <a:avLst>
              <a:gd name="adj" fmla="val 7059"/>
            </a:avLst>
          </a:prstGeom>
          <a:solidFill>
            <a:srgbClr val="F7F9F1"/>
          </a:solidFill>
          <a:ln w="12700">
            <a:solidFill>
              <a:srgbClr val="7F8B8F"/>
            </a:solidFill>
            <a:prstDash val="solid"/>
          </a:ln>
        </p:spPr>
      </p:sp>
      <p:sp>
        <p:nvSpPr>
          <p:cNvPr id="23" name="Text 21"/>
          <p:cNvSpPr/>
          <p:nvPr/>
        </p:nvSpPr>
        <p:spPr>
          <a:xfrm>
            <a:off x="4334256" y="5084064"/>
            <a:ext cx="1472184" cy="256032"/>
          </a:xfrm>
          <a:prstGeom prst="rect">
            <a:avLst/>
          </a:prstGeom>
          <a:noFill/>
          <a:ln/>
        </p:spPr>
        <p:txBody>
          <a:bodyPr wrap="square" lIns="0" tIns="0" rIns="0" bIns="0" rtlCol="0" anchor="ctr"/>
          <a:lstStyle/>
          <a:p>
            <a:pPr indent="0" marL="0">
              <a:buNone/>
            </a:pPr>
            <a:r>
              <a:rPr lang="en-US" sz="1100" b="1" dirty="0">
                <a:solidFill>
                  <a:srgbClr val="7F8B8F"/>
                </a:solidFill>
                <a:latin typeface="Segoe UI" pitchFamily="34" charset="0"/>
                <a:ea typeface="Segoe UI" pitchFamily="34" charset="-122"/>
                <a:cs typeface="Segoe UI" pitchFamily="34" charset="-120"/>
              </a:rPr>
              <a:t>After October</a:t>
            </a:r>
            <a:endParaRPr lang="en-US" sz="1100" dirty="0"/>
          </a:p>
        </p:txBody>
      </p:sp>
      <p:sp>
        <p:nvSpPr>
          <p:cNvPr id="24" name="Text 22"/>
          <p:cNvSpPr/>
          <p:nvPr/>
        </p:nvSpPr>
        <p:spPr>
          <a:xfrm>
            <a:off x="4334256" y="5358384"/>
            <a:ext cx="1472184" cy="320040"/>
          </a:xfrm>
          <a:prstGeom prst="rect">
            <a:avLst/>
          </a:prstGeom>
          <a:noFill/>
          <a:ln/>
        </p:spPr>
        <p:txBody>
          <a:bodyPr wrap="square" lIns="0" tIns="0" rIns="0" bIns="0" rtlCol="0" anchor="t"/>
          <a:lstStyle/>
          <a:p>
            <a:pPr indent="0" marL="0">
              <a:buNone/>
            </a:pPr>
            <a:r>
              <a:rPr lang="en-US" sz="950" dirty="0">
                <a:solidFill>
                  <a:srgbClr val="17344F"/>
                </a:solidFill>
                <a:latin typeface="Segoe UI" pitchFamily="34" charset="0"/>
                <a:ea typeface="Segoe UI" pitchFamily="34" charset="-122"/>
                <a:cs typeface="Segoe UI" pitchFamily="34" charset="-120"/>
              </a:rPr>
              <a:t>Quality prize paid</a:t>
            </a:r>
            <a:endParaRPr lang="en-US" sz="950" dirty="0"/>
          </a:p>
        </p:txBody>
      </p:sp>
      <p:sp>
        <p:nvSpPr>
          <p:cNvPr id="25" name="Shape 23"/>
          <p:cNvSpPr/>
          <p:nvPr/>
        </p:nvSpPr>
        <p:spPr>
          <a:xfrm>
            <a:off x="6309360" y="1783080"/>
            <a:ext cx="5321808" cy="3977640"/>
          </a:xfrm>
          <a:prstGeom prst="roundRect">
            <a:avLst>
              <a:gd name="adj" fmla="val 1379"/>
            </a:avLst>
          </a:prstGeom>
          <a:solidFill>
            <a:srgbClr val="F7F9F1"/>
          </a:solidFill>
          <a:ln w="9525">
            <a:solidFill>
              <a:srgbClr val="D6DBC9"/>
            </a:solidFill>
            <a:prstDash val="solid"/>
          </a:ln>
        </p:spPr>
      </p:sp>
      <p:sp>
        <p:nvSpPr>
          <p:cNvPr id="26" name="Text 24"/>
          <p:cNvSpPr/>
          <p:nvPr/>
        </p:nvSpPr>
        <p:spPr>
          <a:xfrm>
            <a:off x="6537960" y="1965960"/>
            <a:ext cx="4937760" cy="310896"/>
          </a:xfrm>
          <a:prstGeom prst="rect">
            <a:avLst/>
          </a:prstGeom>
          <a:noFill/>
          <a:ln/>
        </p:spPr>
        <p:txBody>
          <a:bodyPr wrap="square" lIns="0" tIns="0" rIns="0" bIns="0" rtlCol="0" anchor="ctr"/>
          <a:lstStyle/>
          <a:p>
            <a:pPr indent="0" marL="0">
              <a:buNone/>
            </a:pPr>
            <a:r>
              <a:rPr lang="en-US" sz="1400" b="1" dirty="0">
                <a:solidFill>
                  <a:srgbClr val="2F5D8A"/>
                </a:solidFill>
                <a:latin typeface="Segoe UI" pitchFamily="34" charset="0"/>
                <a:ea typeface="Segoe UI" pitchFamily="34" charset="-122"/>
                <a:cs typeface="Segoe UI" pitchFamily="34" charset="-120"/>
              </a:rPr>
              <a:t>Steps to go live</a:t>
            </a:r>
            <a:endParaRPr lang="en-US" sz="1400" dirty="0"/>
          </a:p>
        </p:txBody>
      </p:sp>
      <p:sp>
        <p:nvSpPr>
          <p:cNvPr id="27" name="Shape 25"/>
          <p:cNvSpPr/>
          <p:nvPr/>
        </p:nvSpPr>
        <p:spPr>
          <a:xfrm>
            <a:off x="6537960" y="2487168"/>
            <a:ext cx="237744" cy="237744"/>
          </a:xfrm>
          <a:prstGeom prst="ellipse">
            <a:avLst/>
          </a:prstGeom>
          <a:solidFill>
            <a:srgbClr val="FFFFFF"/>
          </a:solidFill>
          <a:ln w="15875">
            <a:solidFill>
              <a:srgbClr val="567A2E"/>
            </a:solidFill>
            <a:prstDash val="solid"/>
          </a:ln>
        </p:spPr>
      </p:sp>
      <p:sp>
        <p:nvSpPr>
          <p:cNvPr id="28" name="Text 26"/>
          <p:cNvSpPr/>
          <p:nvPr/>
        </p:nvSpPr>
        <p:spPr>
          <a:xfrm>
            <a:off x="6537960" y="2487168"/>
            <a:ext cx="237744" cy="237744"/>
          </a:xfrm>
          <a:prstGeom prst="rect">
            <a:avLst/>
          </a:prstGeom>
          <a:noFill/>
          <a:ln/>
        </p:spPr>
        <p:txBody>
          <a:bodyPr wrap="square" lIns="0" tIns="0" rIns="0" bIns="0" rtlCol="0" anchor="ctr"/>
          <a:lstStyle/>
          <a:p>
            <a:pPr algn="ctr" indent="0" marL="0">
              <a:buNone/>
            </a:pPr>
            <a:r>
              <a:rPr lang="en-US" sz="1100" b="1" dirty="0">
                <a:solidFill>
                  <a:srgbClr val="567A2E"/>
                </a:solidFill>
                <a:latin typeface="Segoe UI" pitchFamily="34" charset="0"/>
                <a:ea typeface="Segoe UI" pitchFamily="34" charset="-122"/>
                <a:cs typeface="Segoe UI" pitchFamily="34" charset="-120"/>
              </a:rPr>
              <a:t>1</a:t>
            </a:r>
            <a:endParaRPr lang="en-US" sz="1100" dirty="0"/>
          </a:p>
        </p:txBody>
      </p:sp>
      <p:sp>
        <p:nvSpPr>
          <p:cNvPr id="29" name="Text 27"/>
          <p:cNvSpPr/>
          <p:nvPr/>
        </p:nvSpPr>
        <p:spPr>
          <a:xfrm>
            <a:off x="6903720" y="2377440"/>
            <a:ext cx="4572000" cy="457200"/>
          </a:xfrm>
          <a:prstGeom prst="rect">
            <a:avLst/>
          </a:prstGeom>
          <a:noFill/>
          <a:ln/>
        </p:spPr>
        <p:txBody>
          <a:bodyPr wrap="square" lIns="0" tIns="0" rIns="0" bIns="0" rtlCol="0" anchor="ctr"/>
          <a:lstStyle/>
          <a:p>
            <a:pPr indent="0" marL="0">
              <a:buNone/>
            </a:pPr>
            <a:r>
              <a:rPr lang="en-US" sz="1250" dirty="0">
                <a:solidFill>
                  <a:srgbClr val="17344F"/>
                </a:solidFill>
                <a:latin typeface="Segoe UI" pitchFamily="34" charset="0"/>
                <a:ea typeface="Segoe UI" pitchFamily="34" charset="-122"/>
                <a:cs typeface="Segoe UI" pitchFamily="34" charset="-120"/>
              </a:rPr>
              <a:t>Load the real 28 territories with their enrollment and treatment numbers</a:t>
            </a:r>
            <a:endParaRPr lang="en-US" sz="1250" dirty="0"/>
          </a:p>
        </p:txBody>
      </p:sp>
      <p:sp>
        <p:nvSpPr>
          <p:cNvPr id="30" name="Shape 28"/>
          <p:cNvSpPr/>
          <p:nvPr/>
        </p:nvSpPr>
        <p:spPr>
          <a:xfrm>
            <a:off x="6537960" y="3108960"/>
            <a:ext cx="237744" cy="237744"/>
          </a:xfrm>
          <a:prstGeom prst="ellipse">
            <a:avLst/>
          </a:prstGeom>
          <a:solidFill>
            <a:srgbClr val="FFFFFF"/>
          </a:solidFill>
          <a:ln w="15875">
            <a:solidFill>
              <a:srgbClr val="567A2E"/>
            </a:solidFill>
            <a:prstDash val="solid"/>
          </a:ln>
        </p:spPr>
      </p:sp>
      <p:sp>
        <p:nvSpPr>
          <p:cNvPr id="31" name="Text 29"/>
          <p:cNvSpPr/>
          <p:nvPr/>
        </p:nvSpPr>
        <p:spPr>
          <a:xfrm>
            <a:off x="6537960" y="3108960"/>
            <a:ext cx="237744" cy="237744"/>
          </a:xfrm>
          <a:prstGeom prst="rect">
            <a:avLst/>
          </a:prstGeom>
          <a:noFill/>
          <a:ln/>
        </p:spPr>
        <p:txBody>
          <a:bodyPr wrap="square" lIns="0" tIns="0" rIns="0" bIns="0" rtlCol="0" anchor="ctr"/>
          <a:lstStyle/>
          <a:p>
            <a:pPr algn="ctr" indent="0" marL="0">
              <a:buNone/>
            </a:pPr>
            <a:r>
              <a:rPr lang="en-US" sz="1100" b="1" dirty="0">
                <a:solidFill>
                  <a:srgbClr val="567A2E"/>
                </a:solidFill>
                <a:latin typeface="Segoe UI" pitchFamily="34" charset="0"/>
                <a:ea typeface="Segoe UI" pitchFamily="34" charset="-122"/>
                <a:cs typeface="Segoe UI" pitchFamily="34" charset="-120"/>
              </a:rPr>
              <a:t>2</a:t>
            </a:r>
            <a:endParaRPr lang="en-US" sz="1100" dirty="0"/>
          </a:p>
        </p:txBody>
      </p:sp>
      <p:sp>
        <p:nvSpPr>
          <p:cNvPr id="32" name="Text 30"/>
          <p:cNvSpPr/>
          <p:nvPr/>
        </p:nvSpPr>
        <p:spPr>
          <a:xfrm>
            <a:off x="6903720" y="2999232"/>
            <a:ext cx="4572000" cy="457200"/>
          </a:xfrm>
          <a:prstGeom prst="rect">
            <a:avLst/>
          </a:prstGeom>
          <a:noFill/>
          <a:ln/>
        </p:spPr>
        <p:txBody>
          <a:bodyPr wrap="square" lIns="0" tIns="0" rIns="0" bIns="0" rtlCol="0" anchor="ctr"/>
          <a:lstStyle/>
          <a:p>
            <a:pPr indent="0" marL="0">
              <a:buNone/>
            </a:pPr>
            <a:r>
              <a:rPr lang="en-US" sz="1250" dirty="0">
                <a:solidFill>
                  <a:srgbClr val="17344F"/>
                </a:solidFill>
                <a:latin typeface="Segoe UI" pitchFamily="34" charset="0"/>
                <a:ea typeface="Segoe UI" pitchFamily="34" charset="-122"/>
                <a:cs typeface="Segoe UI" pitchFamily="34" charset="-120"/>
              </a:rPr>
              <a:t>Confirm which four quarters to use for the baseline</a:t>
            </a:r>
            <a:endParaRPr lang="en-US" sz="1250" dirty="0"/>
          </a:p>
        </p:txBody>
      </p:sp>
      <p:sp>
        <p:nvSpPr>
          <p:cNvPr id="33" name="Shape 31"/>
          <p:cNvSpPr/>
          <p:nvPr/>
        </p:nvSpPr>
        <p:spPr>
          <a:xfrm>
            <a:off x="6537960" y="3730752"/>
            <a:ext cx="237744" cy="237744"/>
          </a:xfrm>
          <a:prstGeom prst="ellipse">
            <a:avLst/>
          </a:prstGeom>
          <a:solidFill>
            <a:srgbClr val="FFFFFF"/>
          </a:solidFill>
          <a:ln w="15875">
            <a:solidFill>
              <a:srgbClr val="567A2E"/>
            </a:solidFill>
            <a:prstDash val="solid"/>
          </a:ln>
        </p:spPr>
      </p:sp>
      <p:sp>
        <p:nvSpPr>
          <p:cNvPr id="34" name="Text 32"/>
          <p:cNvSpPr/>
          <p:nvPr/>
        </p:nvSpPr>
        <p:spPr>
          <a:xfrm>
            <a:off x="6537960" y="3730752"/>
            <a:ext cx="237744" cy="237744"/>
          </a:xfrm>
          <a:prstGeom prst="rect">
            <a:avLst/>
          </a:prstGeom>
          <a:noFill/>
          <a:ln/>
        </p:spPr>
        <p:txBody>
          <a:bodyPr wrap="square" lIns="0" tIns="0" rIns="0" bIns="0" rtlCol="0" anchor="ctr"/>
          <a:lstStyle/>
          <a:p>
            <a:pPr algn="ctr" indent="0" marL="0">
              <a:buNone/>
            </a:pPr>
            <a:r>
              <a:rPr lang="en-US" sz="1100" b="1" dirty="0">
                <a:solidFill>
                  <a:srgbClr val="567A2E"/>
                </a:solidFill>
                <a:latin typeface="Segoe UI" pitchFamily="34" charset="0"/>
                <a:ea typeface="Segoe UI" pitchFamily="34" charset="-122"/>
                <a:cs typeface="Segoe UI" pitchFamily="34" charset="-120"/>
              </a:rPr>
              <a:t>3</a:t>
            </a:r>
            <a:endParaRPr lang="en-US" sz="1100" dirty="0"/>
          </a:p>
        </p:txBody>
      </p:sp>
      <p:sp>
        <p:nvSpPr>
          <p:cNvPr id="35" name="Text 33"/>
          <p:cNvSpPr/>
          <p:nvPr/>
        </p:nvSpPr>
        <p:spPr>
          <a:xfrm>
            <a:off x="6903720" y="3621024"/>
            <a:ext cx="4572000" cy="457200"/>
          </a:xfrm>
          <a:prstGeom prst="rect">
            <a:avLst/>
          </a:prstGeom>
          <a:noFill/>
          <a:ln/>
        </p:spPr>
        <p:txBody>
          <a:bodyPr wrap="square" lIns="0" tIns="0" rIns="0" bIns="0" rtlCol="0" anchor="ctr"/>
          <a:lstStyle/>
          <a:p>
            <a:pPr indent="0" marL="0">
              <a:buNone/>
            </a:pPr>
            <a:r>
              <a:rPr lang="en-US" sz="1250" dirty="0">
                <a:solidFill>
                  <a:srgbClr val="17344F"/>
                </a:solidFill>
                <a:latin typeface="Segoe UI" pitchFamily="34" charset="0"/>
                <a:ea typeface="Segoe UI" pitchFamily="34" charset="-122"/>
                <a:cs typeface="Segoe UI" pitchFamily="34" charset="-120"/>
              </a:rPr>
              <a:t>Set the group cutoffs from the real numbers and lock them in</a:t>
            </a:r>
            <a:endParaRPr lang="en-US" sz="1250" dirty="0"/>
          </a:p>
        </p:txBody>
      </p:sp>
      <p:sp>
        <p:nvSpPr>
          <p:cNvPr id="36" name="Shape 34"/>
          <p:cNvSpPr/>
          <p:nvPr/>
        </p:nvSpPr>
        <p:spPr>
          <a:xfrm>
            <a:off x="6537960" y="4352544"/>
            <a:ext cx="237744" cy="237744"/>
          </a:xfrm>
          <a:prstGeom prst="ellipse">
            <a:avLst/>
          </a:prstGeom>
          <a:solidFill>
            <a:srgbClr val="FFFFFF"/>
          </a:solidFill>
          <a:ln w="15875">
            <a:solidFill>
              <a:srgbClr val="567A2E"/>
            </a:solidFill>
            <a:prstDash val="solid"/>
          </a:ln>
        </p:spPr>
      </p:sp>
      <p:sp>
        <p:nvSpPr>
          <p:cNvPr id="37" name="Text 35"/>
          <p:cNvSpPr/>
          <p:nvPr/>
        </p:nvSpPr>
        <p:spPr>
          <a:xfrm>
            <a:off x="6537960" y="4352544"/>
            <a:ext cx="237744" cy="237744"/>
          </a:xfrm>
          <a:prstGeom prst="rect">
            <a:avLst/>
          </a:prstGeom>
          <a:noFill/>
          <a:ln/>
        </p:spPr>
        <p:txBody>
          <a:bodyPr wrap="square" lIns="0" tIns="0" rIns="0" bIns="0" rtlCol="0" anchor="ctr"/>
          <a:lstStyle/>
          <a:p>
            <a:pPr algn="ctr" indent="0" marL="0">
              <a:buNone/>
            </a:pPr>
            <a:r>
              <a:rPr lang="en-US" sz="1100" b="1" dirty="0">
                <a:solidFill>
                  <a:srgbClr val="567A2E"/>
                </a:solidFill>
                <a:latin typeface="Segoe UI" pitchFamily="34" charset="0"/>
                <a:ea typeface="Segoe UI" pitchFamily="34" charset="-122"/>
                <a:cs typeface="Segoe UI" pitchFamily="34" charset="-120"/>
              </a:rPr>
              <a:t>4</a:t>
            </a:r>
            <a:endParaRPr lang="en-US" sz="1100" dirty="0"/>
          </a:p>
        </p:txBody>
      </p:sp>
      <p:sp>
        <p:nvSpPr>
          <p:cNvPr id="38" name="Text 36"/>
          <p:cNvSpPr/>
          <p:nvPr/>
        </p:nvSpPr>
        <p:spPr>
          <a:xfrm>
            <a:off x="6903720" y="4242816"/>
            <a:ext cx="4572000" cy="457200"/>
          </a:xfrm>
          <a:prstGeom prst="rect">
            <a:avLst/>
          </a:prstGeom>
          <a:noFill/>
          <a:ln/>
        </p:spPr>
        <p:txBody>
          <a:bodyPr wrap="square" lIns="0" tIns="0" rIns="0" bIns="0" rtlCol="0" anchor="ctr"/>
          <a:lstStyle/>
          <a:p>
            <a:pPr indent="0" marL="0">
              <a:buNone/>
            </a:pPr>
            <a:r>
              <a:rPr lang="en-US" sz="1250" dirty="0">
                <a:solidFill>
                  <a:srgbClr val="17344F"/>
                </a:solidFill>
                <a:latin typeface="Segoe UI" pitchFamily="34" charset="0"/>
                <a:ea typeface="Segoe UI" pitchFamily="34" charset="-122"/>
                <a:cs typeface="Segoe UI" pitchFamily="34" charset="-120"/>
              </a:rPr>
              <a:t>Confirm the prize pot and the separate RAD pool</a:t>
            </a:r>
            <a:endParaRPr lang="en-US" sz="1250" dirty="0"/>
          </a:p>
        </p:txBody>
      </p:sp>
      <p:sp>
        <p:nvSpPr>
          <p:cNvPr id="39" name="Shape 37"/>
          <p:cNvSpPr/>
          <p:nvPr/>
        </p:nvSpPr>
        <p:spPr>
          <a:xfrm>
            <a:off x="6537960" y="4974336"/>
            <a:ext cx="237744" cy="237744"/>
          </a:xfrm>
          <a:prstGeom prst="ellipse">
            <a:avLst/>
          </a:prstGeom>
          <a:solidFill>
            <a:srgbClr val="FFFFFF"/>
          </a:solidFill>
          <a:ln w="15875">
            <a:solidFill>
              <a:srgbClr val="567A2E"/>
            </a:solidFill>
            <a:prstDash val="solid"/>
          </a:ln>
        </p:spPr>
      </p:sp>
      <p:sp>
        <p:nvSpPr>
          <p:cNvPr id="40" name="Text 38"/>
          <p:cNvSpPr/>
          <p:nvPr/>
        </p:nvSpPr>
        <p:spPr>
          <a:xfrm>
            <a:off x="6537960" y="4974336"/>
            <a:ext cx="237744" cy="237744"/>
          </a:xfrm>
          <a:prstGeom prst="rect">
            <a:avLst/>
          </a:prstGeom>
          <a:noFill/>
          <a:ln/>
        </p:spPr>
        <p:txBody>
          <a:bodyPr wrap="square" lIns="0" tIns="0" rIns="0" bIns="0" rtlCol="0" anchor="ctr"/>
          <a:lstStyle/>
          <a:p>
            <a:pPr algn="ctr" indent="0" marL="0">
              <a:buNone/>
            </a:pPr>
            <a:r>
              <a:rPr lang="en-US" sz="1100" b="1" dirty="0">
                <a:solidFill>
                  <a:srgbClr val="567A2E"/>
                </a:solidFill>
                <a:latin typeface="Segoe UI" pitchFamily="34" charset="0"/>
                <a:ea typeface="Segoe UI" pitchFamily="34" charset="-122"/>
                <a:cs typeface="Segoe UI" pitchFamily="34" charset="-120"/>
              </a:rPr>
              <a:t>5</a:t>
            </a:r>
            <a:endParaRPr lang="en-US" sz="1100" dirty="0"/>
          </a:p>
        </p:txBody>
      </p:sp>
      <p:sp>
        <p:nvSpPr>
          <p:cNvPr id="41" name="Text 39"/>
          <p:cNvSpPr/>
          <p:nvPr/>
        </p:nvSpPr>
        <p:spPr>
          <a:xfrm>
            <a:off x="6903720" y="4864608"/>
            <a:ext cx="4572000" cy="457200"/>
          </a:xfrm>
          <a:prstGeom prst="rect">
            <a:avLst/>
          </a:prstGeom>
          <a:noFill/>
          <a:ln/>
        </p:spPr>
        <p:txBody>
          <a:bodyPr wrap="square" lIns="0" tIns="0" rIns="0" bIns="0" rtlCol="0" anchor="ctr"/>
          <a:lstStyle/>
          <a:p>
            <a:pPr indent="0" marL="0">
              <a:buNone/>
            </a:pPr>
            <a:r>
              <a:rPr lang="en-US" sz="1250" dirty="0">
                <a:solidFill>
                  <a:srgbClr val="17344F"/>
                </a:solidFill>
                <a:latin typeface="Segoe UI" pitchFamily="34" charset="0"/>
                <a:ea typeface="Segoe UI" pitchFamily="34" charset="-122"/>
                <a:cs typeface="Segoe UI" pitchFamily="34" charset="-120"/>
              </a:rPr>
              <a:t>Approve the deck, then announce it to the field</a:t>
            </a:r>
            <a:endParaRPr lang="en-US" sz="1250" dirty="0"/>
          </a:p>
        </p:txBody>
      </p:sp>
      <p:sp>
        <p:nvSpPr>
          <p:cNvPr id="42" name="Text 40"/>
          <p:cNvSpPr/>
          <p:nvPr/>
        </p:nvSpPr>
        <p:spPr>
          <a:xfrm>
            <a:off x="566928" y="6272784"/>
            <a:ext cx="8686800" cy="256032"/>
          </a:xfrm>
          <a:prstGeom prst="rect">
            <a:avLst/>
          </a:prstGeom>
          <a:noFill/>
          <a:ln/>
        </p:spPr>
        <p:txBody>
          <a:bodyPr wrap="square" lIns="0" tIns="0" rIns="0" bIns="0" rtlCol="0" anchor="t"/>
          <a:lstStyle/>
          <a:p>
            <a:pPr indent="0" marL="0">
              <a:buNone/>
            </a:pPr>
            <a:r>
              <a:rPr lang="en-US" sz="850" i="1" dirty="0">
                <a:solidFill>
                  <a:srgbClr val="8A8A80"/>
                </a:solidFill>
                <a:latin typeface="Segoe UI" pitchFamily="34" charset="0"/>
                <a:ea typeface="Segoe UI" pitchFamily="34" charset="-122"/>
                <a:cs typeface="Segoe UI" pitchFamily="34" charset="-120"/>
              </a:rPr>
              <a:t>Still to confirm: which four quarters to use for the baseline, the prize budget, and how brand new territories with no history get a starting number.</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Proposed 3Q 2026 AMTAGVI Enrollment Contest</dc:title>
  <dc:subject>PptxGenJS Presentation</dc:subject>
  <dc:creator>BAI Team</dc:creator>
  <cp:lastModifiedBy>BAI Team</cp:lastModifiedBy>
  <cp:revision>1</cp:revision>
  <dcterms:created xsi:type="dcterms:W3CDTF">2026-07-16T16:21:08Z</dcterms:created>
  <dcterms:modified xsi:type="dcterms:W3CDTF">2026-07-16T16:21:08Z</dcterms:modified>
</cp:coreProperties>
</file>